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www.reddit.com/r/samsclub/comments/1u2bgdw/why_do_you_guys_sell_whole_pizzas_made_hours_ago/"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1E42"/>
        </a:solidFill>
        <a:effectLst/>
      </p:bgPr>
    </p:bg>
    <p:spTree>
      <p:nvGrpSpPr>
        <p:cNvPr id="1" name=""/>
        <p:cNvGrpSpPr/>
        <p:nvPr/>
      </p:nvGrpSpPr>
      <p:grpSpPr>
        <a:xfrm>
          <a:off x="0" y="0"/>
          <a:ext cx="0" cy="0"/>
          <a:chOff x="0" y="0"/>
          <a:chExt cx="0" cy="0"/>
        </a:xfrm>
      </p:grpSpPr>
      <p:sp>
        <p:nvSpPr>
          <p:cNvPr id="2" name="Rectangle 1"/>
          <p:cNvSpPr/>
          <p:nvPr/>
        </p:nvSpPr>
        <p:spPr>
          <a:xfrm>
            <a:off x="0" y="1645920"/>
            <a:ext cx="365760" cy="310896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640080"/>
            <a:ext cx="10515600" cy="822960"/>
          </a:xfrm>
          <a:prstGeom prst="rect">
            <a:avLst/>
          </a:prstGeom>
          <a:noFill/>
        </p:spPr>
        <p:txBody>
          <a:bodyPr wrap="square" anchor="t">
            <a:spAutoFit/>
          </a:bodyPr>
          <a:lstStyle/>
          <a:p>
            <a:pPr algn="l"/>
            <a:r>
              <a:rPr sz="4000" b="1" i="0">
                <a:solidFill>
                  <a:srgbClr val="FFFFFF"/>
                </a:solidFill>
              </a:rPr>
              <a:t>Retail Sentiment Intelligence</a:t>
            </a:r>
          </a:p>
        </p:txBody>
      </p:sp>
      <p:sp>
        <p:nvSpPr>
          <p:cNvPr id="4" name="TextBox 3"/>
          <p:cNvSpPr txBox="1"/>
          <p:nvPr/>
        </p:nvSpPr>
        <p:spPr>
          <a:xfrm>
            <a:off x="822960" y="1463040"/>
            <a:ext cx="10515600" cy="1280160"/>
          </a:xfrm>
          <a:prstGeom prst="rect">
            <a:avLst/>
          </a:prstGeom>
          <a:noFill/>
        </p:spPr>
        <p:txBody>
          <a:bodyPr wrap="square" anchor="t">
            <a:spAutoFit/>
          </a:bodyPr>
          <a:lstStyle/>
          <a:p>
            <a:pPr algn="l"/>
            <a:r>
              <a:rPr sz="1900" b="0" i="0">
                <a:solidFill>
                  <a:srgbClr val="FFC220"/>
                </a:solidFill>
              </a:rPr>
              <a:t>Real-Time Social Media Mining and Trust-Aware Sentiment Analysis</a:t>
            </a:r>
          </a:p>
          <a:p>
            <a:pPr algn="l"/>
            <a:r>
              <a:rPr sz="1900" b="0" i="0">
                <a:solidFill>
                  <a:srgbClr val="FFC220"/>
                </a:solidFill>
              </a:rPr>
              <a:t>Using Large Language Models for Retail Feedback Optimization</a:t>
            </a:r>
          </a:p>
        </p:txBody>
      </p:sp>
      <p:sp>
        <p:nvSpPr>
          <p:cNvPr id="5" name="TextBox 4"/>
          <p:cNvSpPr txBox="1"/>
          <p:nvPr/>
        </p:nvSpPr>
        <p:spPr>
          <a:xfrm>
            <a:off x="822960" y="2697480"/>
            <a:ext cx="10515600" cy="365760"/>
          </a:xfrm>
          <a:prstGeom prst="rect">
            <a:avLst/>
          </a:prstGeom>
          <a:noFill/>
        </p:spPr>
        <p:txBody>
          <a:bodyPr wrap="square" anchor="t">
            <a:spAutoFit/>
          </a:bodyPr>
          <a:lstStyle/>
          <a:p>
            <a:pPr algn="l"/>
            <a:r>
              <a:rPr sz="1400" b="1" i="0">
                <a:solidFill>
                  <a:srgbClr val="FFFFFF"/>
                </a:solidFill>
              </a:rPr>
              <a:t>BITS ZG628T   ·   Dissertation   ·   Post Mid-Semester Presentation</a:t>
            </a:r>
          </a:p>
        </p:txBody>
      </p:sp>
      <p:sp>
        <p:nvSpPr>
          <p:cNvPr id="6" name="Rectangle 5"/>
          <p:cNvSpPr/>
          <p:nvPr/>
        </p:nvSpPr>
        <p:spPr>
          <a:xfrm>
            <a:off x="822960" y="3246120"/>
            <a:ext cx="3657600" cy="36576"/>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3520440"/>
            <a:ext cx="10515600" cy="365760"/>
          </a:xfrm>
          <a:prstGeom prst="rect">
            <a:avLst/>
          </a:prstGeom>
          <a:noFill/>
        </p:spPr>
        <p:txBody>
          <a:bodyPr wrap="square" anchor="t">
            <a:spAutoFit/>
          </a:bodyPr>
          <a:lstStyle/>
          <a:p>
            <a:pPr algn="l"/>
            <a:r>
              <a:rPr sz="1600" b="1" i="0">
                <a:solidFill>
                  <a:srgbClr val="FFFFFF"/>
                </a:solidFill>
              </a:rPr>
              <a:t>Faculty Mentor:   Ms. Pradnya Kashikar</a:t>
            </a:r>
          </a:p>
        </p:txBody>
      </p:sp>
      <p:sp>
        <p:nvSpPr>
          <p:cNvPr id="8" name="TextBox 7"/>
          <p:cNvSpPr txBox="1"/>
          <p:nvPr/>
        </p:nvSpPr>
        <p:spPr>
          <a:xfrm>
            <a:off x="822960" y="3931920"/>
            <a:ext cx="10515600" cy="365760"/>
          </a:xfrm>
          <a:prstGeom prst="rect">
            <a:avLst/>
          </a:prstGeom>
          <a:noFill/>
        </p:spPr>
        <p:txBody>
          <a:bodyPr wrap="square" anchor="t">
            <a:spAutoFit/>
          </a:bodyPr>
          <a:lstStyle/>
          <a:p>
            <a:pPr algn="l"/>
            <a:r>
              <a:rPr sz="1200" b="0" i="0">
                <a:solidFill>
                  <a:srgbClr val="E8F4FD"/>
                </a:solidFill>
              </a:rPr>
              <a:t>BITS Pilani (WILP)</a:t>
            </a:r>
          </a:p>
        </p:txBody>
      </p:sp>
      <p:sp>
        <p:nvSpPr>
          <p:cNvPr id="9" name="TextBox 8"/>
          <p:cNvSpPr txBox="1"/>
          <p:nvPr/>
        </p:nvSpPr>
        <p:spPr>
          <a:xfrm>
            <a:off x="822960" y="4480560"/>
            <a:ext cx="10515600" cy="365760"/>
          </a:xfrm>
          <a:prstGeom prst="rect">
            <a:avLst/>
          </a:prstGeom>
          <a:noFill/>
        </p:spPr>
        <p:txBody>
          <a:bodyPr wrap="square" anchor="t">
            <a:spAutoFit/>
          </a:bodyPr>
          <a:lstStyle/>
          <a:p>
            <a:pPr algn="l"/>
            <a:r>
              <a:rPr sz="1600" b="1" i="0">
                <a:solidFill>
                  <a:srgbClr val="FFFFFF"/>
                </a:solidFill>
              </a:rPr>
              <a:t>Supervisor:   Mr. Varunendra Pratap Singh</a:t>
            </a:r>
          </a:p>
        </p:txBody>
      </p:sp>
      <p:sp>
        <p:nvSpPr>
          <p:cNvPr id="10" name="TextBox 9"/>
          <p:cNvSpPr txBox="1"/>
          <p:nvPr/>
        </p:nvSpPr>
        <p:spPr>
          <a:xfrm>
            <a:off x="822960" y="4892040"/>
            <a:ext cx="10515600" cy="365760"/>
          </a:xfrm>
          <a:prstGeom prst="rect">
            <a:avLst/>
          </a:prstGeom>
          <a:noFill/>
        </p:spPr>
        <p:txBody>
          <a:bodyPr wrap="square" anchor="t">
            <a:spAutoFit/>
          </a:bodyPr>
          <a:lstStyle/>
          <a:p>
            <a:pPr algn="l"/>
            <a:r>
              <a:rPr sz="1200" b="0" i="0">
                <a:solidFill>
                  <a:srgbClr val="E8F4FD"/>
                </a:solidFill>
              </a:rPr>
              <a:t>Principal Software Engineer  ·  Walmart Global Tech, Bengaluru</a:t>
            </a:r>
          </a:p>
        </p:txBody>
      </p:sp>
      <p:sp>
        <p:nvSpPr>
          <p:cNvPr id="11" name="TextBox 10"/>
          <p:cNvSpPr txBox="1"/>
          <p:nvPr/>
        </p:nvSpPr>
        <p:spPr>
          <a:xfrm>
            <a:off x="822960" y="5440680"/>
            <a:ext cx="10515600" cy="365760"/>
          </a:xfrm>
          <a:prstGeom prst="rect">
            <a:avLst/>
          </a:prstGeom>
          <a:noFill/>
        </p:spPr>
        <p:txBody>
          <a:bodyPr wrap="square" anchor="t">
            <a:spAutoFit/>
          </a:bodyPr>
          <a:lstStyle/>
          <a:p>
            <a:pPr algn="l"/>
            <a:r>
              <a:rPr sz="1600" b="1" i="0">
                <a:solidFill>
                  <a:srgbClr val="FFFFFF"/>
                </a:solidFill>
              </a:rPr>
              <a:t>Candidate:   Vishal Singh   ·   2020AA05641</a:t>
            </a:r>
          </a:p>
        </p:txBody>
      </p:sp>
      <p:sp>
        <p:nvSpPr>
          <p:cNvPr id="12" name="TextBox 11"/>
          <p:cNvSpPr txBox="1"/>
          <p:nvPr/>
        </p:nvSpPr>
        <p:spPr>
          <a:xfrm>
            <a:off x="822960" y="5852160"/>
            <a:ext cx="10515600" cy="365760"/>
          </a:xfrm>
          <a:prstGeom prst="rect">
            <a:avLst/>
          </a:prstGeom>
          <a:noFill/>
        </p:spPr>
        <p:txBody>
          <a:bodyPr wrap="square" anchor="t">
            <a:spAutoFit/>
          </a:bodyPr>
          <a:lstStyle/>
          <a:p>
            <a:pPr algn="l"/>
            <a:r>
              <a:rPr sz="1200" b="0" i="0">
                <a:solidFill>
                  <a:srgbClr val="E8F4FD"/>
                </a:solidFill>
              </a:rPr>
              <a:t>M.Tech (AI &amp; ML)  ·  Birla Institute of Technology &amp; Science, Pilani (WILP)</a:t>
            </a:r>
          </a:p>
        </p:txBody>
      </p:sp>
      <p:sp>
        <p:nvSpPr>
          <p:cNvPr id="13" name="TextBox 12"/>
          <p:cNvSpPr txBox="1"/>
          <p:nvPr/>
        </p:nvSpPr>
        <p:spPr>
          <a:xfrm>
            <a:off x="822960" y="6492240"/>
            <a:ext cx="10515600" cy="274320"/>
          </a:xfrm>
          <a:prstGeom prst="rect">
            <a:avLst/>
          </a:prstGeom>
          <a:noFill/>
        </p:spPr>
        <p:txBody>
          <a:bodyPr wrap="square" anchor="t">
            <a:spAutoFit/>
          </a:bodyPr>
          <a:lstStyle/>
          <a:p>
            <a:pPr algn="l"/>
            <a:r>
              <a:rPr sz="1000" b="0" i="0">
                <a:solidFill>
                  <a:srgbClr val="666666"/>
                </a:solidFill>
              </a:rPr>
              <a:t>August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Agenda</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Focus of today — post mid-semester work only</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960120"/>
            <a:ext cx="5623560" cy="566928"/>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960120"/>
            <a:ext cx="548640" cy="566928"/>
          </a:xfrm>
          <a:prstGeom prst="rect">
            <a:avLst/>
          </a:prstGeom>
          <a:noFill/>
        </p:spPr>
        <p:txBody>
          <a:bodyPr wrap="square" anchor="ctr">
            <a:spAutoFit/>
          </a:bodyPr>
          <a:lstStyle/>
          <a:p>
            <a:pPr algn="l"/>
            <a:r>
              <a:rPr sz="1400" b="1" i="0">
                <a:solidFill>
                  <a:srgbClr val="0071DC"/>
                </a:solidFill>
              </a:rPr>
              <a:t>1</a:t>
            </a:r>
          </a:p>
        </p:txBody>
      </p:sp>
      <p:sp>
        <p:nvSpPr>
          <p:cNvPr id="8" name="TextBox 7"/>
          <p:cNvSpPr txBox="1"/>
          <p:nvPr/>
        </p:nvSpPr>
        <p:spPr>
          <a:xfrm>
            <a:off x="1143000" y="1024128"/>
            <a:ext cx="4846320" cy="256032"/>
          </a:xfrm>
          <a:prstGeom prst="rect">
            <a:avLst/>
          </a:prstGeom>
          <a:noFill/>
        </p:spPr>
        <p:txBody>
          <a:bodyPr wrap="square" anchor="t">
            <a:spAutoFit/>
          </a:bodyPr>
          <a:lstStyle/>
          <a:p>
            <a:pPr algn="l"/>
            <a:r>
              <a:rPr sz="1200" b="1" i="0">
                <a:solidFill>
                  <a:srgbClr val="041E42"/>
                </a:solidFill>
              </a:rPr>
              <a:t>Since Mid-Sem — What's New</a:t>
            </a:r>
          </a:p>
        </p:txBody>
      </p:sp>
      <p:sp>
        <p:nvSpPr>
          <p:cNvPr id="9" name="TextBox 8"/>
          <p:cNvSpPr txBox="1"/>
          <p:nvPr/>
        </p:nvSpPr>
        <p:spPr>
          <a:xfrm>
            <a:off x="1143000" y="1271016"/>
            <a:ext cx="4846320" cy="237744"/>
          </a:xfrm>
          <a:prstGeom prst="rect">
            <a:avLst/>
          </a:prstGeom>
          <a:noFill/>
        </p:spPr>
        <p:txBody>
          <a:bodyPr wrap="square" anchor="t">
            <a:spAutoFit/>
          </a:bodyPr>
          <a:lstStyle/>
          <a:p>
            <a:pPr algn="l"/>
            <a:r>
              <a:rPr sz="1000" b="0" i="0">
                <a:solidFill>
                  <a:srgbClr val="666666"/>
                </a:solidFill>
              </a:rPr>
              <a:t>Post-midsem workstream map</a:t>
            </a:r>
          </a:p>
        </p:txBody>
      </p:sp>
      <p:sp>
        <p:nvSpPr>
          <p:cNvPr id="10" name="Rectangle 9"/>
          <p:cNvSpPr/>
          <p:nvPr/>
        </p:nvSpPr>
        <p:spPr>
          <a:xfrm>
            <a:off x="457200" y="1636776"/>
            <a:ext cx="5623560" cy="566928"/>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1636776"/>
            <a:ext cx="548640" cy="566928"/>
          </a:xfrm>
          <a:prstGeom prst="rect">
            <a:avLst/>
          </a:prstGeom>
          <a:noFill/>
        </p:spPr>
        <p:txBody>
          <a:bodyPr wrap="square" anchor="ctr">
            <a:spAutoFit/>
          </a:bodyPr>
          <a:lstStyle/>
          <a:p>
            <a:pPr algn="l"/>
            <a:r>
              <a:rPr sz="1400" b="1" i="0">
                <a:solidFill>
                  <a:srgbClr val="0071DC"/>
                </a:solidFill>
              </a:rPr>
              <a:t>2</a:t>
            </a:r>
          </a:p>
        </p:txBody>
      </p:sp>
      <p:sp>
        <p:nvSpPr>
          <p:cNvPr id="12" name="TextBox 11"/>
          <p:cNvSpPr txBox="1"/>
          <p:nvPr/>
        </p:nvSpPr>
        <p:spPr>
          <a:xfrm>
            <a:off x="1143000" y="1700784"/>
            <a:ext cx="4846320" cy="256032"/>
          </a:xfrm>
          <a:prstGeom prst="rect">
            <a:avLst/>
          </a:prstGeom>
          <a:noFill/>
        </p:spPr>
        <p:txBody>
          <a:bodyPr wrap="square" anchor="t">
            <a:spAutoFit/>
          </a:bodyPr>
          <a:lstStyle/>
          <a:p>
            <a:pPr algn="l"/>
            <a:r>
              <a:rPr sz="1200" b="1" i="0">
                <a:solidFill>
                  <a:srgbClr val="041E42"/>
                </a:solidFill>
              </a:rPr>
              <a:t>Review &amp; Validate  (HITL)</a:t>
            </a:r>
          </a:p>
        </p:txBody>
      </p:sp>
      <p:sp>
        <p:nvSpPr>
          <p:cNvPr id="13" name="TextBox 12"/>
          <p:cNvSpPr txBox="1"/>
          <p:nvPr/>
        </p:nvSpPr>
        <p:spPr>
          <a:xfrm>
            <a:off x="1143000" y="1947672"/>
            <a:ext cx="4846320" cy="237744"/>
          </a:xfrm>
          <a:prstGeom prst="rect">
            <a:avLst/>
          </a:prstGeom>
          <a:noFill/>
        </p:spPr>
        <p:txBody>
          <a:bodyPr wrap="square" anchor="t">
            <a:spAutoFit/>
          </a:bodyPr>
          <a:lstStyle/>
          <a:p>
            <a:pPr algn="l"/>
            <a:r>
              <a:rPr sz="1000" b="0" i="0">
                <a:solidFill>
                  <a:srgbClr val="666666"/>
                </a:solidFill>
              </a:rPr>
              <a:t>Human-in-the-loop correction workflow</a:t>
            </a:r>
          </a:p>
        </p:txBody>
      </p:sp>
      <p:sp>
        <p:nvSpPr>
          <p:cNvPr id="14" name="Rectangle 13"/>
          <p:cNvSpPr/>
          <p:nvPr/>
        </p:nvSpPr>
        <p:spPr>
          <a:xfrm>
            <a:off x="457200" y="2313432"/>
            <a:ext cx="5623560" cy="566928"/>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2313432"/>
            <a:ext cx="548640" cy="566928"/>
          </a:xfrm>
          <a:prstGeom prst="rect">
            <a:avLst/>
          </a:prstGeom>
          <a:noFill/>
        </p:spPr>
        <p:txBody>
          <a:bodyPr wrap="square" anchor="ctr">
            <a:spAutoFit/>
          </a:bodyPr>
          <a:lstStyle/>
          <a:p>
            <a:pPr algn="l"/>
            <a:r>
              <a:rPr sz="1400" b="1" i="0">
                <a:solidFill>
                  <a:srgbClr val="0071DC"/>
                </a:solidFill>
              </a:rPr>
              <a:t>3</a:t>
            </a:r>
          </a:p>
        </p:txBody>
      </p:sp>
      <p:sp>
        <p:nvSpPr>
          <p:cNvPr id="16" name="TextBox 15"/>
          <p:cNvSpPr txBox="1"/>
          <p:nvPr/>
        </p:nvSpPr>
        <p:spPr>
          <a:xfrm>
            <a:off x="1143000" y="2377440"/>
            <a:ext cx="4846320" cy="256032"/>
          </a:xfrm>
          <a:prstGeom prst="rect">
            <a:avLst/>
          </a:prstGeom>
          <a:noFill/>
        </p:spPr>
        <p:txBody>
          <a:bodyPr wrap="square" anchor="t">
            <a:spAutoFit/>
          </a:bodyPr>
          <a:lstStyle/>
          <a:p>
            <a:pPr algn="l"/>
            <a:r>
              <a:rPr sz="1200" b="1" i="0">
                <a:solidFill>
                  <a:srgbClr val="041E42"/>
                </a:solidFill>
              </a:rPr>
              <a:t>Smart Reply  —  Triple Draft</a:t>
            </a:r>
          </a:p>
        </p:txBody>
      </p:sp>
      <p:sp>
        <p:nvSpPr>
          <p:cNvPr id="17" name="TextBox 16"/>
          <p:cNvSpPr txBox="1"/>
          <p:nvPr/>
        </p:nvSpPr>
        <p:spPr>
          <a:xfrm>
            <a:off x="1143000" y="2624328"/>
            <a:ext cx="4846320" cy="237744"/>
          </a:xfrm>
          <a:prstGeom prst="rect">
            <a:avLst/>
          </a:prstGeom>
          <a:noFill/>
        </p:spPr>
        <p:txBody>
          <a:bodyPr wrap="square" anchor="t">
            <a:spAutoFit/>
          </a:bodyPr>
          <a:lstStyle/>
          <a:p>
            <a:pPr algn="l"/>
            <a:r>
              <a:rPr sz="1000" b="0" i="0">
                <a:solidFill>
                  <a:srgbClr val="666666"/>
                </a:solidFill>
              </a:rPr>
              <a:t>GPT-4o  +  Mistral 7B  +  Smart Composer</a:t>
            </a:r>
          </a:p>
        </p:txBody>
      </p:sp>
      <p:sp>
        <p:nvSpPr>
          <p:cNvPr id="18" name="Rectangle 17"/>
          <p:cNvSpPr/>
          <p:nvPr/>
        </p:nvSpPr>
        <p:spPr>
          <a:xfrm>
            <a:off x="457200" y="2990088"/>
            <a:ext cx="5623560" cy="566928"/>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2990088"/>
            <a:ext cx="548640" cy="566928"/>
          </a:xfrm>
          <a:prstGeom prst="rect">
            <a:avLst/>
          </a:prstGeom>
          <a:noFill/>
        </p:spPr>
        <p:txBody>
          <a:bodyPr wrap="square" anchor="ctr">
            <a:spAutoFit/>
          </a:bodyPr>
          <a:lstStyle/>
          <a:p>
            <a:pPr algn="l"/>
            <a:r>
              <a:rPr sz="1400" b="1" i="0">
                <a:solidFill>
                  <a:srgbClr val="0071DC"/>
                </a:solidFill>
              </a:rPr>
              <a:t>4</a:t>
            </a:r>
          </a:p>
        </p:txBody>
      </p:sp>
      <p:sp>
        <p:nvSpPr>
          <p:cNvPr id="20" name="TextBox 19"/>
          <p:cNvSpPr txBox="1"/>
          <p:nvPr/>
        </p:nvSpPr>
        <p:spPr>
          <a:xfrm>
            <a:off x="1143000" y="3054096"/>
            <a:ext cx="4846320" cy="256032"/>
          </a:xfrm>
          <a:prstGeom prst="rect">
            <a:avLst/>
          </a:prstGeom>
          <a:noFill/>
        </p:spPr>
        <p:txBody>
          <a:bodyPr wrap="square" anchor="t">
            <a:spAutoFit/>
          </a:bodyPr>
          <a:lstStyle/>
          <a:p>
            <a:pPr algn="l"/>
            <a:r>
              <a:rPr sz="1200" b="1" i="0">
                <a:solidFill>
                  <a:srgbClr val="041E42"/>
                </a:solidFill>
              </a:rPr>
              <a:t>Smart Reply  —  Prompt &amp; Few-Shot</a:t>
            </a:r>
          </a:p>
        </p:txBody>
      </p:sp>
      <p:sp>
        <p:nvSpPr>
          <p:cNvPr id="21" name="TextBox 20"/>
          <p:cNvSpPr txBox="1"/>
          <p:nvPr/>
        </p:nvSpPr>
        <p:spPr>
          <a:xfrm>
            <a:off x="1143000" y="3300984"/>
            <a:ext cx="4846320" cy="237744"/>
          </a:xfrm>
          <a:prstGeom prst="rect">
            <a:avLst/>
          </a:prstGeom>
          <a:noFill/>
        </p:spPr>
        <p:txBody>
          <a:bodyPr wrap="square" anchor="t">
            <a:spAutoFit/>
          </a:bodyPr>
          <a:lstStyle/>
          <a:p>
            <a:pPr algn="l"/>
            <a:r>
              <a:rPr sz="1000" b="0" i="0">
                <a:solidFill>
                  <a:srgbClr val="666666"/>
                </a:solidFill>
              </a:rPr>
              <a:t>Prompt template + past validated replies</a:t>
            </a:r>
          </a:p>
        </p:txBody>
      </p:sp>
      <p:sp>
        <p:nvSpPr>
          <p:cNvPr id="22" name="Rectangle 21"/>
          <p:cNvSpPr/>
          <p:nvPr/>
        </p:nvSpPr>
        <p:spPr>
          <a:xfrm>
            <a:off x="457200" y="3666744"/>
            <a:ext cx="5623560" cy="566928"/>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3666744"/>
            <a:ext cx="548640" cy="566928"/>
          </a:xfrm>
          <a:prstGeom prst="rect">
            <a:avLst/>
          </a:prstGeom>
          <a:noFill/>
        </p:spPr>
        <p:txBody>
          <a:bodyPr wrap="square" anchor="ctr">
            <a:spAutoFit/>
          </a:bodyPr>
          <a:lstStyle/>
          <a:p>
            <a:pPr algn="l"/>
            <a:r>
              <a:rPr sz="1400" b="1" i="0">
                <a:solidFill>
                  <a:srgbClr val="0071DC"/>
                </a:solidFill>
              </a:rPr>
              <a:t>5</a:t>
            </a:r>
          </a:p>
        </p:txBody>
      </p:sp>
      <p:sp>
        <p:nvSpPr>
          <p:cNvPr id="24" name="TextBox 23"/>
          <p:cNvSpPr txBox="1"/>
          <p:nvPr/>
        </p:nvSpPr>
        <p:spPr>
          <a:xfrm>
            <a:off x="1143000" y="3730752"/>
            <a:ext cx="4846320" cy="256032"/>
          </a:xfrm>
          <a:prstGeom prst="rect">
            <a:avLst/>
          </a:prstGeom>
          <a:noFill/>
        </p:spPr>
        <p:txBody>
          <a:bodyPr wrap="square" anchor="t">
            <a:spAutoFit/>
          </a:bodyPr>
          <a:lstStyle/>
          <a:p>
            <a:pPr algn="l"/>
            <a:r>
              <a:rPr sz="1200" b="1" i="0">
                <a:solidFill>
                  <a:srgbClr val="041E42"/>
                </a:solidFill>
              </a:rPr>
              <a:t>Smart Reply  —  Worked Example</a:t>
            </a:r>
          </a:p>
        </p:txBody>
      </p:sp>
      <p:sp>
        <p:nvSpPr>
          <p:cNvPr id="25" name="TextBox 24"/>
          <p:cNvSpPr txBox="1"/>
          <p:nvPr/>
        </p:nvSpPr>
        <p:spPr>
          <a:xfrm>
            <a:off x="1143000" y="3977640"/>
            <a:ext cx="4846320" cy="237744"/>
          </a:xfrm>
          <a:prstGeom prst="rect">
            <a:avLst/>
          </a:prstGeom>
          <a:noFill/>
        </p:spPr>
        <p:txBody>
          <a:bodyPr wrap="square" anchor="t">
            <a:spAutoFit/>
          </a:bodyPr>
          <a:lstStyle/>
          <a:p>
            <a:pPr algn="l"/>
            <a:r>
              <a:rPr sz="1000" b="0" i="0">
                <a:solidFill>
                  <a:srgbClr val="666666"/>
                </a:solidFill>
              </a:rPr>
              <a:t>One complaint  →  three drafts</a:t>
            </a:r>
          </a:p>
        </p:txBody>
      </p:sp>
      <p:sp>
        <p:nvSpPr>
          <p:cNvPr id="26" name="Rectangle 25"/>
          <p:cNvSpPr/>
          <p:nvPr/>
        </p:nvSpPr>
        <p:spPr>
          <a:xfrm>
            <a:off x="457200" y="4343400"/>
            <a:ext cx="5623560" cy="566928"/>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8640" y="4343400"/>
            <a:ext cx="548640" cy="566928"/>
          </a:xfrm>
          <a:prstGeom prst="rect">
            <a:avLst/>
          </a:prstGeom>
          <a:noFill/>
        </p:spPr>
        <p:txBody>
          <a:bodyPr wrap="square" anchor="ctr">
            <a:spAutoFit/>
          </a:bodyPr>
          <a:lstStyle/>
          <a:p>
            <a:pPr algn="l"/>
            <a:r>
              <a:rPr sz="1400" b="1" i="0">
                <a:solidFill>
                  <a:srgbClr val="0071DC"/>
                </a:solidFill>
              </a:rPr>
              <a:t>6</a:t>
            </a:r>
          </a:p>
        </p:txBody>
      </p:sp>
      <p:sp>
        <p:nvSpPr>
          <p:cNvPr id="28" name="TextBox 27"/>
          <p:cNvSpPr txBox="1"/>
          <p:nvPr/>
        </p:nvSpPr>
        <p:spPr>
          <a:xfrm>
            <a:off x="1143000" y="4407408"/>
            <a:ext cx="4846320" cy="256032"/>
          </a:xfrm>
          <a:prstGeom prst="rect">
            <a:avLst/>
          </a:prstGeom>
          <a:noFill/>
        </p:spPr>
        <p:txBody>
          <a:bodyPr wrap="square" anchor="t">
            <a:spAutoFit/>
          </a:bodyPr>
          <a:lstStyle/>
          <a:p>
            <a:pPr algn="l"/>
            <a:r>
              <a:rPr sz="1200" b="1" i="0">
                <a:solidFill>
                  <a:srgbClr val="041E42"/>
                </a:solidFill>
              </a:rPr>
              <a:t>Learning Loop</a:t>
            </a:r>
          </a:p>
        </p:txBody>
      </p:sp>
      <p:sp>
        <p:nvSpPr>
          <p:cNvPr id="29" name="TextBox 28"/>
          <p:cNvSpPr txBox="1"/>
          <p:nvPr/>
        </p:nvSpPr>
        <p:spPr>
          <a:xfrm>
            <a:off x="1143000" y="4654296"/>
            <a:ext cx="4846320" cy="237744"/>
          </a:xfrm>
          <a:prstGeom prst="rect">
            <a:avLst/>
          </a:prstGeom>
          <a:noFill/>
        </p:spPr>
        <p:txBody>
          <a:bodyPr wrap="square" anchor="t">
            <a:spAutoFit/>
          </a:bodyPr>
          <a:lstStyle/>
          <a:p>
            <a:pPr algn="l"/>
            <a:r>
              <a:rPr sz="1000" b="0" i="0">
                <a:solidFill>
                  <a:srgbClr val="666666"/>
                </a:solidFill>
              </a:rPr>
              <a:t>Corrections + posted replies → retraining</a:t>
            </a:r>
          </a:p>
        </p:txBody>
      </p:sp>
      <p:sp>
        <p:nvSpPr>
          <p:cNvPr id="30" name="Rectangle 29"/>
          <p:cNvSpPr/>
          <p:nvPr/>
        </p:nvSpPr>
        <p:spPr>
          <a:xfrm>
            <a:off x="457200" y="5020056"/>
            <a:ext cx="5623560" cy="566928"/>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8640" y="5020056"/>
            <a:ext cx="548640" cy="566928"/>
          </a:xfrm>
          <a:prstGeom prst="rect">
            <a:avLst/>
          </a:prstGeom>
          <a:noFill/>
        </p:spPr>
        <p:txBody>
          <a:bodyPr wrap="square" anchor="ctr">
            <a:spAutoFit/>
          </a:bodyPr>
          <a:lstStyle/>
          <a:p>
            <a:pPr algn="l"/>
            <a:r>
              <a:rPr sz="1400" b="1" i="0">
                <a:solidFill>
                  <a:srgbClr val="0071DC"/>
                </a:solidFill>
              </a:rPr>
              <a:t>7</a:t>
            </a:r>
          </a:p>
        </p:txBody>
      </p:sp>
      <p:sp>
        <p:nvSpPr>
          <p:cNvPr id="32" name="TextBox 31"/>
          <p:cNvSpPr txBox="1"/>
          <p:nvPr/>
        </p:nvSpPr>
        <p:spPr>
          <a:xfrm>
            <a:off x="1143000" y="5084064"/>
            <a:ext cx="4846320" cy="256032"/>
          </a:xfrm>
          <a:prstGeom prst="rect">
            <a:avLst/>
          </a:prstGeom>
          <a:noFill/>
        </p:spPr>
        <p:txBody>
          <a:bodyPr wrap="square" anchor="t">
            <a:spAutoFit/>
          </a:bodyPr>
          <a:lstStyle/>
          <a:p>
            <a:pPr algn="l"/>
            <a:r>
              <a:rPr sz="1200" b="1" i="0">
                <a:solidFill>
                  <a:srgbClr val="041E42"/>
                </a:solidFill>
              </a:rPr>
              <a:t>Post Explorer</a:t>
            </a:r>
          </a:p>
        </p:txBody>
      </p:sp>
      <p:sp>
        <p:nvSpPr>
          <p:cNvPr id="33" name="TextBox 32"/>
          <p:cNvSpPr txBox="1"/>
          <p:nvPr/>
        </p:nvSpPr>
        <p:spPr>
          <a:xfrm>
            <a:off x="1143000" y="5330952"/>
            <a:ext cx="4846320" cy="237744"/>
          </a:xfrm>
          <a:prstGeom prst="rect">
            <a:avLst/>
          </a:prstGeom>
          <a:noFill/>
        </p:spPr>
        <p:txBody>
          <a:bodyPr wrap="square" anchor="t">
            <a:spAutoFit/>
          </a:bodyPr>
          <a:lstStyle/>
          <a:p>
            <a:pPr algn="l"/>
            <a:r>
              <a:rPr sz="1000" b="0" i="0">
                <a:solidFill>
                  <a:srgbClr val="666666"/>
                </a:solidFill>
              </a:rPr>
              <a:t>Multi-facet search across analysed posts</a:t>
            </a:r>
          </a:p>
        </p:txBody>
      </p:sp>
      <p:sp>
        <p:nvSpPr>
          <p:cNvPr id="34" name="Rectangle 33"/>
          <p:cNvSpPr/>
          <p:nvPr/>
        </p:nvSpPr>
        <p:spPr>
          <a:xfrm>
            <a:off x="457200" y="5696712"/>
            <a:ext cx="5623560" cy="566928"/>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48640" y="5696712"/>
            <a:ext cx="548640" cy="566928"/>
          </a:xfrm>
          <a:prstGeom prst="rect">
            <a:avLst/>
          </a:prstGeom>
          <a:noFill/>
        </p:spPr>
        <p:txBody>
          <a:bodyPr wrap="square" anchor="ctr">
            <a:spAutoFit/>
          </a:bodyPr>
          <a:lstStyle/>
          <a:p>
            <a:pPr algn="l"/>
            <a:r>
              <a:rPr sz="1400" b="1" i="0">
                <a:solidFill>
                  <a:srgbClr val="0071DC"/>
                </a:solidFill>
              </a:rPr>
              <a:t>8</a:t>
            </a:r>
          </a:p>
        </p:txBody>
      </p:sp>
      <p:sp>
        <p:nvSpPr>
          <p:cNvPr id="36" name="TextBox 35"/>
          <p:cNvSpPr txBox="1"/>
          <p:nvPr/>
        </p:nvSpPr>
        <p:spPr>
          <a:xfrm>
            <a:off x="1143000" y="5760720"/>
            <a:ext cx="4846320" cy="256032"/>
          </a:xfrm>
          <a:prstGeom prst="rect">
            <a:avLst/>
          </a:prstGeom>
          <a:noFill/>
        </p:spPr>
        <p:txBody>
          <a:bodyPr wrap="square" anchor="t">
            <a:spAutoFit/>
          </a:bodyPr>
          <a:lstStyle/>
          <a:p>
            <a:pPr algn="l"/>
            <a:r>
              <a:rPr sz="1200" b="1" i="0">
                <a:solidFill>
                  <a:srgbClr val="041E42"/>
                </a:solidFill>
              </a:rPr>
              <a:t>Post Lifecycle  (Kanban)</a:t>
            </a:r>
          </a:p>
        </p:txBody>
      </p:sp>
      <p:sp>
        <p:nvSpPr>
          <p:cNvPr id="37" name="TextBox 36"/>
          <p:cNvSpPr txBox="1"/>
          <p:nvPr/>
        </p:nvSpPr>
        <p:spPr>
          <a:xfrm>
            <a:off x="1143000" y="6007608"/>
            <a:ext cx="4846320" cy="237744"/>
          </a:xfrm>
          <a:prstGeom prst="rect">
            <a:avLst/>
          </a:prstGeom>
          <a:noFill/>
        </p:spPr>
        <p:txBody>
          <a:bodyPr wrap="square" anchor="t">
            <a:spAutoFit/>
          </a:bodyPr>
          <a:lstStyle/>
          <a:p>
            <a:pPr algn="l"/>
            <a:r>
              <a:rPr sz="1000" b="0" i="0">
                <a:solidFill>
                  <a:srgbClr val="666666"/>
                </a:solidFill>
              </a:rPr>
              <a:t>Triage → Acknowledged → In-Progress → Resolved</a:t>
            </a:r>
          </a:p>
        </p:txBody>
      </p:sp>
      <p:sp>
        <p:nvSpPr>
          <p:cNvPr id="38" name="Rectangle 37"/>
          <p:cNvSpPr/>
          <p:nvPr/>
        </p:nvSpPr>
        <p:spPr>
          <a:xfrm>
            <a:off x="6217920" y="960120"/>
            <a:ext cx="5623560" cy="566928"/>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09360" y="960120"/>
            <a:ext cx="548640" cy="566928"/>
          </a:xfrm>
          <a:prstGeom prst="rect">
            <a:avLst/>
          </a:prstGeom>
          <a:noFill/>
        </p:spPr>
        <p:txBody>
          <a:bodyPr wrap="square" anchor="ctr">
            <a:spAutoFit/>
          </a:bodyPr>
          <a:lstStyle/>
          <a:p>
            <a:pPr algn="l"/>
            <a:r>
              <a:rPr sz="1400" b="1" i="0">
                <a:solidFill>
                  <a:srgbClr val="0071DC"/>
                </a:solidFill>
              </a:rPr>
              <a:t>9</a:t>
            </a:r>
          </a:p>
        </p:txBody>
      </p:sp>
      <p:sp>
        <p:nvSpPr>
          <p:cNvPr id="40" name="TextBox 39"/>
          <p:cNvSpPr txBox="1"/>
          <p:nvPr/>
        </p:nvSpPr>
        <p:spPr>
          <a:xfrm>
            <a:off x="6903720" y="1024128"/>
            <a:ext cx="4846320" cy="256032"/>
          </a:xfrm>
          <a:prstGeom prst="rect">
            <a:avLst/>
          </a:prstGeom>
          <a:noFill/>
        </p:spPr>
        <p:txBody>
          <a:bodyPr wrap="square" anchor="t">
            <a:spAutoFit/>
          </a:bodyPr>
          <a:lstStyle/>
          <a:p>
            <a:pPr algn="l"/>
            <a:r>
              <a:rPr sz="1200" b="1" i="0">
                <a:solidFill>
                  <a:srgbClr val="041E42"/>
                </a:solidFill>
              </a:rPr>
              <a:t>Insights &amp; Competitor Analysis</a:t>
            </a:r>
          </a:p>
        </p:txBody>
      </p:sp>
      <p:sp>
        <p:nvSpPr>
          <p:cNvPr id="41" name="TextBox 40"/>
          <p:cNvSpPr txBox="1"/>
          <p:nvPr/>
        </p:nvSpPr>
        <p:spPr>
          <a:xfrm>
            <a:off x="6903720" y="1271016"/>
            <a:ext cx="4846320" cy="237744"/>
          </a:xfrm>
          <a:prstGeom prst="rect">
            <a:avLst/>
          </a:prstGeom>
          <a:noFill/>
        </p:spPr>
        <p:txBody>
          <a:bodyPr wrap="square" anchor="t">
            <a:spAutoFit/>
          </a:bodyPr>
          <a:lstStyle/>
          <a:p>
            <a:pPr algn="l"/>
            <a:r>
              <a:rPr sz="1000" b="0" i="0">
                <a:solidFill>
                  <a:srgbClr val="666666"/>
                </a:solidFill>
              </a:rPr>
              <a:t>Strategic weekly summaries + cross-brand</a:t>
            </a:r>
          </a:p>
        </p:txBody>
      </p:sp>
      <p:sp>
        <p:nvSpPr>
          <p:cNvPr id="42" name="Rectangle 41"/>
          <p:cNvSpPr/>
          <p:nvPr/>
        </p:nvSpPr>
        <p:spPr>
          <a:xfrm>
            <a:off x="6217920" y="1636776"/>
            <a:ext cx="5623560" cy="566928"/>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309360" y="1636776"/>
            <a:ext cx="548640" cy="566928"/>
          </a:xfrm>
          <a:prstGeom prst="rect">
            <a:avLst/>
          </a:prstGeom>
          <a:noFill/>
        </p:spPr>
        <p:txBody>
          <a:bodyPr wrap="square" anchor="ctr">
            <a:spAutoFit/>
          </a:bodyPr>
          <a:lstStyle/>
          <a:p>
            <a:pPr algn="l"/>
            <a:r>
              <a:rPr sz="1400" b="1" i="0">
                <a:solidFill>
                  <a:srgbClr val="0071DC"/>
                </a:solidFill>
              </a:rPr>
              <a:t>10</a:t>
            </a:r>
          </a:p>
        </p:txBody>
      </p:sp>
      <p:sp>
        <p:nvSpPr>
          <p:cNvPr id="44" name="TextBox 43"/>
          <p:cNvSpPr txBox="1"/>
          <p:nvPr/>
        </p:nvSpPr>
        <p:spPr>
          <a:xfrm>
            <a:off x="6903720" y="1700784"/>
            <a:ext cx="4846320" cy="256032"/>
          </a:xfrm>
          <a:prstGeom prst="rect">
            <a:avLst/>
          </a:prstGeom>
          <a:noFill/>
        </p:spPr>
        <p:txBody>
          <a:bodyPr wrap="square" anchor="t">
            <a:spAutoFit/>
          </a:bodyPr>
          <a:lstStyle/>
          <a:p>
            <a:pPr algn="l"/>
            <a:r>
              <a:rPr sz="1200" b="1" i="0">
                <a:solidFill>
                  <a:srgbClr val="041E42"/>
                </a:solidFill>
              </a:rPr>
              <a:t>Alert Feed</a:t>
            </a:r>
          </a:p>
        </p:txBody>
      </p:sp>
      <p:sp>
        <p:nvSpPr>
          <p:cNvPr id="45" name="TextBox 44"/>
          <p:cNvSpPr txBox="1"/>
          <p:nvPr/>
        </p:nvSpPr>
        <p:spPr>
          <a:xfrm>
            <a:off x="6903720" y="1947672"/>
            <a:ext cx="4846320" cy="237744"/>
          </a:xfrm>
          <a:prstGeom prst="rect">
            <a:avLst/>
          </a:prstGeom>
          <a:noFill/>
        </p:spPr>
        <p:txBody>
          <a:bodyPr wrap="square" anchor="t">
            <a:spAutoFit/>
          </a:bodyPr>
          <a:lstStyle/>
          <a:p>
            <a:pPr algn="l"/>
            <a:r>
              <a:rPr sz="1000" b="0" i="0">
                <a:solidFill>
                  <a:srgbClr val="666666"/>
                </a:solidFill>
              </a:rPr>
              <a:t>Live risk detection + editable rule thresholds</a:t>
            </a:r>
          </a:p>
        </p:txBody>
      </p:sp>
      <p:sp>
        <p:nvSpPr>
          <p:cNvPr id="46" name="Rectangle 45"/>
          <p:cNvSpPr/>
          <p:nvPr/>
        </p:nvSpPr>
        <p:spPr>
          <a:xfrm>
            <a:off x="6217920" y="2313432"/>
            <a:ext cx="5623560" cy="566928"/>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309360" y="2313432"/>
            <a:ext cx="548640" cy="566928"/>
          </a:xfrm>
          <a:prstGeom prst="rect">
            <a:avLst/>
          </a:prstGeom>
          <a:noFill/>
        </p:spPr>
        <p:txBody>
          <a:bodyPr wrap="square" anchor="ctr">
            <a:spAutoFit/>
          </a:bodyPr>
          <a:lstStyle/>
          <a:p>
            <a:pPr algn="l"/>
            <a:r>
              <a:rPr sz="1400" b="1" i="0">
                <a:solidFill>
                  <a:srgbClr val="0071DC"/>
                </a:solidFill>
              </a:rPr>
              <a:t>11</a:t>
            </a:r>
          </a:p>
        </p:txBody>
      </p:sp>
      <p:sp>
        <p:nvSpPr>
          <p:cNvPr id="48" name="TextBox 47"/>
          <p:cNvSpPr txBox="1"/>
          <p:nvPr/>
        </p:nvSpPr>
        <p:spPr>
          <a:xfrm>
            <a:off x="6903720" y="2377440"/>
            <a:ext cx="4846320" cy="256032"/>
          </a:xfrm>
          <a:prstGeom prst="rect">
            <a:avLst/>
          </a:prstGeom>
          <a:noFill/>
        </p:spPr>
        <p:txBody>
          <a:bodyPr wrap="square" anchor="t">
            <a:spAutoFit/>
          </a:bodyPr>
          <a:lstStyle/>
          <a:p>
            <a:pPr algn="l"/>
            <a:r>
              <a:rPr sz="1200" b="1" i="0">
                <a:solidFill>
                  <a:srgbClr val="041E42"/>
                </a:solidFill>
              </a:rPr>
              <a:t>Notification Centre</a:t>
            </a:r>
          </a:p>
        </p:txBody>
      </p:sp>
      <p:sp>
        <p:nvSpPr>
          <p:cNvPr id="49" name="TextBox 48"/>
          <p:cNvSpPr txBox="1"/>
          <p:nvPr/>
        </p:nvSpPr>
        <p:spPr>
          <a:xfrm>
            <a:off x="6903720" y="2624328"/>
            <a:ext cx="4846320" cy="237744"/>
          </a:xfrm>
          <a:prstGeom prst="rect">
            <a:avLst/>
          </a:prstGeom>
          <a:noFill/>
        </p:spPr>
        <p:txBody>
          <a:bodyPr wrap="square" anchor="t">
            <a:spAutoFit/>
          </a:bodyPr>
          <a:lstStyle/>
          <a:p>
            <a:pPr algn="l"/>
            <a:r>
              <a:rPr sz="1000" b="0" i="0">
                <a:solidFill>
                  <a:srgbClr val="666666"/>
                </a:solidFill>
              </a:rPr>
              <a:t>In-app + email + Slack, group-routed</a:t>
            </a:r>
          </a:p>
        </p:txBody>
      </p:sp>
      <p:sp>
        <p:nvSpPr>
          <p:cNvPr id="50" name="Rectangle 49"/>
          <p:cNvSpPr/>
          <p:nvPr/>
        </p:nvSpPr>
        <p:spPr>
          <a:xfrm>
            <a:off x="6217920" y="2990088"/>
            <a:ext cx="5623560" cy="566928"/>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309360" y="2990088"/>
            <a:ext cx="548640" cy="566928"/>
          </a:xfrm>
          <a:prstGeom prst="rect">
            <a:avLst/>
          </a:prstGeom>
          <a:noFill/>
        </p:spPr>
        <p:txBody>
          <a:bodyPr wrap="square" anchor="ctr">
            <a:spAutoFit/>
          </a:bodyPr>
          <a:lstStyle/>
          <a:p>
            <a:pPr algn="l"/>
            <a:r>
              <a:rPr sz="1400" b="1" i="0">
                <a:solidFill>
                  <a:srgbClr val="0071DC"/>
                </a:solidFill>
              </a:rPr>
              <a:t>12</a:t>
            </a:r>
          </a:p>
        </p:txBody>
      </p:sp>
      <p:sp>
        <p:nvSpPr>
          <p:cNvPr id="52" name="TextBox 51"/>
          <p:cNvSpPr txBox="1"/>
          <p:nvPr/>
        </p:nvSpPr>
        <p:spPr>
          <a:xfrm>
            <a:off x="6903720" y="3054096"/>
            <a:ext cx="4846320" cy="256032"/>
          </a:xfrm>
          <a:prstGeom prst="rect">
            <a:avLst/>
          </a:prstGeom>
          <a:noFill/>
        </p:spPr>
        <p:txBody>
          <a:bodyPr wrap="square" anchor="t">
            <a:spAutoFit/>
          </a:bodyPr>
          <a:lstStyle/>
          <a:p>
            <a:pPr algn="l"/>
            <a:r>
              <a:rPr sz="1200" b="1" i="0">
                <a:solidFill>
                  <a:srgbClr val="041E42"/>
                </a:solidFill>
              </a:rPr>
              <a:t>ModernBERT — Final Results</a:t>
            </a:r>
          </a:p>
        </p:txBody>
      </p:sp>
      <p:sp>
        <p:nvSpPr>
          <p:cNvPr id="53" name="TextBox 52"/>
          <p:cNvSpPr txBox="1"/>
          <p:nvPr/>
        </p:nvSpPr>
        <p:spPr>
          <a:xfrm>
            <a:off x="6903720" y="3300984"/>
            <a:ext cx="4846320" cy="237744"/>
          </a:xfrm>
          <a:prstGeom prst="rect">
            <a:avLst/>
          </a:prstGeom>
          <a:noFill/>
        </p:spPr>
        <p:txBody>
          <a:bodyPr wrap="square" anchor="t">
            <a:spAutoFit/>
          </a:bodyPr>
          <a:lstStyle/>
          <a:p>
            <a:pPr algn="l"/>
            <a:r>
              <a:rPr sz="1000" b="0" i="0">
                <a:solidFill>
                  <a:srgbClr val="666666"/>
                </a:solidFill>
              </a:rPr>
              <a:t>Macro-F1  0.6272 → 0.7642  (+13.7 pts)</a:t>
            </a:r>
          </a:p>
        </p:txBody>
      </p:sp>
      <p:sp>
        <p:nvSpPr>
          <p:cNvPr id="54" name="Rectangle 53"/>
          <p:cNvSpPr/>
          <p:nvPr/>
        </p:nvSpPr>
        <p:spPr>
          <a:xfrm>
            <a:off x="6217920" y="3666744"/>
            <a:ext cx="5623560" cy="566928"/>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309360" y="3666744"/>
            <a:ext cx="548640" cy="566928"/>
          </a:xfrm>
          <a:prstGeom prst="rect">
            <a:avLst/>
          </a:prstGeom>
          <a:noFill/>
        </p:spPr>
        <p:txBody>
          <a:bodyPr wrap="square" anchor="ctr">
            <a:spAutoFit/>
          </a:bodyPr>
          <a:lstStyle/>
          <a:p>
            <a:pPr algn="l"/>
            <a:r>
              <a:rPr sz="1400" b="1" i="0">
                <a:solidFill>
                  <a:srgbClr val="0071DC"/>
                </a:solidFill>
              </a:rPr>
              <a:t>13</a:t>
            </a:r>
          </a:p>
        </p:txBody>
      </p:sp>
      <p:sp>
        <p:nvSpPr>
          <p:cNvPr id="56" name="TextBox 55"/>
          <p:cNvSpPr txBox="1"/>
          <p:nvPr/>
        </p:nvSpPr>
        <p:spPr>
          <a:xfrm>
            <a:off x="6903720" y="3730752"/>
            <a:ext cx="4846320" cy="256032"/>
          </a:xfrm>
          <a:prstGeom prst="rect">
            <a:avLst/>
          </a:prstGeom>
          <a:noFill/>
        </p:spPr>
        <p:txBody>
          <a:bodyPr wrap="square" anchor="t">
            <a:spAutoFit/>
          </a:bodyPr>
          <a:lstStyle/>
          <a:p>
            <a:pPr algn="l"/>
            <a:r>
              <a:rPr sz="1200" b="1" i="0">
                <a:solidFill>
                  <a:srgbClr val="041E42"/>
                </a:solidFill>
              </a:rPr>
              <a:t>Vision — Multi-Pass Payoff</a:t>
            </a:r>
          </a:p>
        </p:txBody>
      </p:sp>
      <p:sp>
        <p:nvSpPr>
          <p:cNvPr id="57" name="TextBox 56"/>
          <p:cNvSpPr txBox="1"/>
          <p:nvPr/>
        </p:nvSpPr>
        <p:spPr>
          <a:xfrm>
            <a:off x="6903720" y="3977640"/>
            <a:ext cx="4846320" cy="237744"/>
          </a:xfrm>
          <a:prstGeom prst="rect">
            <a:avLst/>
          </a:prstGeom>
          <a:noFill/>
        </p:spPr>
        <p:txBody>
          <a:bodyPr wrap="square" anchor="t">
            <a:spAutoFit/>
          </a:bodyPr>
          <a:lstStyle/>
          <a:p>
            <a:pPr algn="l"/>
            <a:r>
              <a:rPr sz="1000" b="0" i="0">
                <a:solidFill>
                  <a:srgbClr val="666666"/>
                </a:solidFill>
              </a:rPr>
              <a:t>Hallucination  50% → 0%,  extraction 25% → 75%</a:t>
            </a:r>
          </a:p>
        </p:txBody>
      </p:sp>
      <p:sp>
        <p:nvSpPr>
          <p:cNvPr id="58" name="Rectangle 57"/>
          <p:cNvSpPr/>
          <p:nvPr/>
        </p:nvSpPr>
        <p:spPr>
          <a:xfrm>
            <a:off x="6217920" y="4343400"/>
            <a:ext cx="5623560" cy="566928"/>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309360" y="4343400"/>
            <a:ext cx="548640" cy="566928"/>
          </a:xfrm>
          <a:prstGeom prst="rect">
            <a:avLst/>
          </a:prstGeom>
          <a:noFill/>
        </p:spPr>
        <p:txBody>
          <a:bodyPr wrap="square" anchor="ctr">
            <a:spAutoFit/>
          </a:bodyPr>
          <a:lstStyle/>
          <a:p>
            <a:pPr algn="l"/>
            <a:r>
              <a:rPr sz="1400" b="1" i="0">
                <a:solidFill>
                  <a:srgbClr val="0071DC"/>
                </a:solidFill>
              </a:rPr>
              <a:t>14</a:t>
            </a:r>
          </a:p>
        </p:txBody>
      </p:sp>
      <p:sp>
        <p:nvSpPr>
          <p:cNvPr id="60" name="TextBox 59"/>
          <p:cNvSpPr txBox="1"/>
          <p:nvPr/>
        </p:nvSpPr>
        <p:spPr>
          <a:xfrm>
            <a:off x="6903720" y="4407408"/>
            <a:ext cx="4846320" cy="256032"/>
          </a:xfrm>
          <a:prstGeom prst="rect">
            <a:avLst/>
          </a:prstGeom>
          <a:noFill/>
        </p:spPr>
        <p:txBody>
          <a:bodyPr wrap="square" anchor="t">
            <a:spAutoFit/>
          </a:bodyPr>
          <a:lstStyle/>
          <a:p>
            <a:pPr algn="l"/>
            <a:r>
              <a:rPr sz="1200" b="1" i="0">
                <a:solidFill>
                  <a:srgbClr val="041E42"/>
                </a:solidFill>
              </a:rPr>
              <a:t>Trust-Score Evaluation</a:t>
            </a:r>
          </a:p>
        </p:txBody>
      </p:sp>
      <p:sp>
        <p:nvSpPr>
          <p:cNvPr id="61" name="TextBox 60"/>
          <p:cNvSpPr txBox="1"/>
          <p:nvPr/>
        </p:nvSpPr>
        <p:spPr>
          <a:xfrm>
            <a:off x="6903720" y="4654296"/>
            <a:ext cx="4846320" cy="237744"/>
          </a:xfrm>
          <a:prstGeom prst="rect">
            <a:avLst/>
          </a:prstGeom>
          <a:noFill/>
        </p:spPr>
        <p:txBody>
          <a:bodyPr wrap="square" anchor="t">
            <a:spAutoFit/>
          </a:bodyPr>
          <a:lstStyle/>
          <a:p>
            <a:pPr algn="l"/>
            <a:r>
              <a:rPr sz="1000" b="0" i="0">
                <a:solidFill>
                  <a:srgbClr val="666666"/>
                </a:solidFill>
              </a:rPr>
              <a:t>15% flagged; 12 of 15 confirmed by annotator</a:t>
            </a:r>
          </a:p>
        </p:txBody>
      </p:sp>
      <p:sp>
        <p:nvSpPr>
          <p:cNvPr id="62" name="Rectangle 61"/>
          <p:cNvSpPr/>
          <p:nvPr/>
        </p:nvSpPr>
        <p:spPr>
          <a:xfrm>
            <a:off x="6217920" y="5020056"/>
            <a:ext cx="5623560" cy="566928"/>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309360" y="5020056"/>
            <a:ext cx="548640" cy="566928"/>
          </a:xfrm>
          <a:prstGeom prst="rect">
            <a:avLst/>
          </a:prstGeom>
          <a:noFill/>
        </p:spPr>
        <p:txBody>
          <a:bodyPr wrap="square" anchor="ctr">
            <a:spAutoFit/>
          </a:bodyPr>
          <a:lstStyle/>
          <a:p>
            <a:pPr algn="l"/>
            <a:r>
              <a:rPr sz="1400" b="1" i="0">
                <a:solidFill>
                  <a:srgbClr val="0071DC"/>
                </a:solidFill>
              </a:rPr>
              <a:t>15</a:t>
            </a:r>
          </a:p>
        </p:txBody>
      </p:sp>
      <p:sp>
        <p:nvSpPr>
          <p:cNvPr id="64" name="TextBox 63"/>
          <p:cNvSpPr txBox="1"/>
          <p:nvPr/>
        </p:nvSpPr>
        <p:spPr>
          <a:xfrm>
            <a:off x="6903720" y="5084064"/>
            <a:ext cx="4846320" cy="256032"/>
          </a:xfrm>
          <a:prstGeom prst="rect">
            <a:avLst/>
          </a:prstGeom>
          <a:noFill/>
        </p:spPr>
        <p:txBody>
          <a:bodyPr wrap="square" anchor="t">
            <a:spAutoFit/>
          </a:bodyPr>
          <a:lstStyle/>
          <a:p>
            <a:pPr algn="l"/>
            <a:r>
              <a:rPr sz="1200" b="1" i="0">
                <a:solidFill>
                  <a:srgbClr val="041E42"/>
                </a:solidFill>
              </a:rPr>
              <a:t>Live Demo</a:t>
            </a:r>
          </a:p>
        </p:txBody>
      </p:sp>
      <p:sp>
        <p:nvSpPr>
          <p:cNvPr id="65" name="TextBox 64"/>
          <p:cNvSpPr txBox="1"/>
          <p:nvPr/>
        </p:nvSpPr>
        <p:spPr>
          <a:xfrm>
            <a:off x="6903720" y="5330952"/>
            <a:ext cx="4846320" cy="237744"/>
          </a:xfrm>
          <a:prstGeom prst="rect">
            <a:avLst/>
          </a:prstGeom>
          <a:noFill/>
        </p:spPr>
        <p:txBody>
          <a:bodyPr wrap="square" anchor="t">
            <a:spAutoFit/>
          </a:bodyPr>
          <a:lstStyle/>
          <a:p>
            <a:pPr algn="l"/>
            <a:r>
              <a:rPr sz="1000" b="0" i="0">
                <a:solidFill>
                  <a:srgbClr val="666666"/>
                </a:solidFill>
              </a:rPr>
              <a:t>Dashboard walkthrough (screenshots)</a:t>
            </a:r>
          </a:p>
        </p:txBody>
      </p:sp>
      <p:sp>
        <p:nvSpPr>
          <p:cNvPr id="66" name="Rectangle 65"/>
          <p:cNvSpPr/>
          <p:nvPr/>
        </p:nvSpPr>
        <p:spPr>
          <a:xfrm>
            <a:off x="6217920" y="5696712"/>
            <a:ext cx="5623560" cy="566928"/>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309360" y="5696712"/>
            <a:ext cx="548640" cy="566928"/>
          </a:xfrm>
          <a:prstGeom prst="rect">
            <a:avLst/>
          </a:prstGeom>
          <a:noFill/>
        </p:spPr>
        <p:txBody>
          <a:bodyPr wrap="square" anchor="ctr">
            <a:spAutoFit/>
          </a:bodyPr>
          <a:lstStyle/>
          <a:p>
            <a:pPr algn="l"/>
            <a:r>
              <a:rPr sz="1400" b="1" i="0">
                <a:solidFill>
                  <a:srgbClr val="0071DC"/>
                </a:solidFill>
              </a:rPr>
              <a:t>16</a:t>
            </a:r>
          </a:p>
        </p:txBody>
      </p:sp>
      <p:sp>
        <p:nvSpPr>
          <p:cNvPr id="68" name="TextBox 67"/>
          <p:cNvSpPr txBox="1"/>
          <p:nvPr/>
        </p:nvSpPr>
        <p:spPr>
          <a:xfrm>
            <a:off x="6903720" y="5760720"/>
            <a:ext cx="4846320" cy="256032"/>
          </a:xfrm>
          <a:prstGeom prst="rect">
            <a:avLst/>
          </a:prstGeom>
          <a:noFill/>
        </p:spPr>
        <p:txBody>
          <a:bodyPr wrap="square" anchor="t">
            <a:spAutoFit/>
          </a:bodyPr>
          <a:lstStyle/>
          <a:p>
            <a:pPr algn="l"/>
            <a:r>
              <a:rPr sz="1200" b="1" i="0">
                <a:solidFill>
                  <a:srgbClr val="041E42"/>
                </a:solidFill>
              </a:rPr>
              <a:t>Conclusions &amp; Future Work</a:t>
            </a:r>
          </a:p>
        </p:txBody>
      </p:sp>
      <p:sp>
        <p:nvSpPr>
          <p:cNvPr id="69" name="TextBox 68"/>
          <p:cNvSpPr txBox="1"/>
          <p:nvPr/>
        </p:nvSpPr>
        <p:spPr>
          <a:xfrm>
            <a:off x="6903720" y="6007608"/>
            <a:ext cx="4846320" cy="237744"/>
          </a:xfrm>
          <a:prstGeom prst="rect">
            <a:avLst/>
          </a:prstGeom>
          <a:noFill/>
        </p:spPr>
        <p:txBody>
          <a:bodyPr wrap="square" anchor="t">
            <a:spAutoFit/>
          </a:bodyPr>
          <a:lstStyle/>
          <a:p>
            <a:pPr algn="l"/>
            <a:r>
              <a:rPr sz="1000" b="0" i="0">
                <a:solidFill>
                  <a:srgbClr val="666666"/>
                </a:solidFill>
              </a:rPr>
              <a:t>RQ1–RQ4 outcomes + realistic roadmap</a:t>
            </a:r>
          </a:p>
        </p:txBody>
      </p:sp>
      <p:sp>
        <p:nvSpPr>
          <p:cNvPr id="70" name="TextBox 69"/>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71" name="TextBox 70"/>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2 / 24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Since Mid-Sem — What's New</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Mid-sem shipped the pipeline; post-midsem made it usable for analysts</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914400"/>
            <a:ext cx="5486400" cy="320040"/>
          </a:xfrm>
          <a:prstGeom prst="rect">
            <a:avLst/>
          </a:prstGeom>
          <a:noFill/>
        </p:spPr>
        <p:txBody>
          <a:bodyPr wrap="square" anchor="t">
            <a:spAutoFit/>
          </a:bodyPr>
          <a:lstStyle/>
          <a:p>
            <a:pPr algn="l"/>
            <a:r>
              <a:rPr sz="1100" b="1" i="0">
                <a:solidFill>
                  <a:srgbClr val="D97706"/>
                </a:solidFill>
              </a:rPr>
              <a:t>DELIVERED AT MID-SEM</a:t>
            </a:r>
          </a:p>
        </p:txBody>
      </p:sp>
      <p:sp>
        <p:nvSpPr>
          <p:cNvPr id="7" name="Rectangle 6"/>
          <p:cNvSpPr/>
          <p:nvPr/>
        </p:nvSpPr>
        <p:spPr>
          <a:xfrm>
            <a:off x="365760" y="1234440"/>
            <a:ext cx="5760720" cy="3749039"/>
          </a:xfrm>
          <a:prstGeom prst="rect">
            <a:avLst/>
          </a:prstGeom>
          <a:solidFill>
            <a:srgbClr val="FEF3C7"/>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371600"/>
            <a:ext cx="5486400" cy="3520440"/>
          </a:xfrm>
          <a:prstGeom prst="rect">
            <a:avLst/>
          </a:prstGeom>
          <a:noFill/>
        </p:spPr>
        <p:txBody>
          <a:bodyPr wrap="square">
            <a:spAutoFit/>
          </a:bodyPr>
          <a:lstStyle/>
          <a:p>
            <a:pPr>
              <a:spcAft>
                <a:spcPts val="400"/>
              </a:spcAft>
            </a:pPr>
            <a:r>
              <a:rPr sz="1300" b="0">
                <a:solidFill>
                  <a:srgbClr val="333333"/>
                </a:solidFill>
              </a:rPr>
              <a:t>•  6-layer offline-first pipeline (25 subreddits)</a:t>
            </a:r>
          </a:p>
          <a:p>
            <a:pPr>
              <a:spcAft>
                <a:spcPts val="400"/>
              </a:spcAft>
            </a:pPr>
            <a:r>
              <a:rPr sz="1300" b="0">
                <a:solidFill>
                  <a:srgbClr val="333333"/>
                </a:solidFill>
              </a:rPr>
              <a:t>•  ModernBERT fine-tuning up to Stage 2  (F1 0.7285)</a:t>
            </a:r>
          </a:p>
          <a:p>
            <a:pPr>
              <a:spcAft>
                <a:spcPts val="400"/>
              </a:spcAft>
            </a:pPr>
            <a:r>
              <a:rPr sz="1300" b="0">
                <a:solidFill>
                  <a:srgbClr val="333333"/>
                </a:solidFill>
              </a:rPr>
              <a:t>•  Multi-pass vision with 0% hallucination on pilot</a:t>
            </a:r>
          </a:p>
          <a:p>
            <a:pPr>
              <a:spcAft>
                <a:spcPts val="400"/>
              </a:spcAft>
            </a:pPr>
            <a:r>
              <a:rPr sz="1300" b="0">
                <a:solidFill>
                  <a:srgbClr val="333333"/>
                </a:solidFill>
              </a:rPr>
              <a:t>•  Trust-score design + weighted formula</a:t>
            </a:r>
          </a:p>
          <a:p>
            <a:pPr>
              <a:spcAft>
                <a:spcPts val="400"/>
              </a:spcAft>
            </a:pPr>
            <a:r>
              <a:rPr sz="1300" b="0">
                <a:solidFill>
                  <a:srgbClr val="333333"/>
                </a:solidFill>
              </a:rPr>
              <a:t>•  Brand-Health + Alert Feed dashboard pages</a:t>
            </a:r>
          </a:p>
          <a:p>
            <a:pPr>
              <a:spcAft>
                <a:spcPts val="400"/>
              </a:spcAft>
            </a:pPr>
            <a:r>
              <a:rPr sz="1300" b="0">
                <a:solidFill>
                  <a:srgbClr val="333333"/>
                </a:solidFill>
              </a:rPr>
              <a:t>•  Group-routed email / Slack notifications</a:t>
            </a:r>
          </a:p>
        </p:txBody>
      </p:sp>
      <p:sp>
        <p:nvSpPr>
          <p:cNvPr id="9" name="TextBox 8"/>
          <p:cNvSpPr txBox="1"/>
          <p:nvPr/>
        </p:nvSpPr>
        <p:spPr>
          <a:xfrm>
            <a:off x="6263640" y="914400"/>
            <a:ext cx="5486400" cy="320040"/>
          </a:xfrm>
          <a:prstGeom prst="rect">
            <a:avLst/>
          </a:prstGeom>
          <a:noFill/>
        </p:spPr>
        <p:txBody>
          <a:bodyPr wrap="square" anchor="t">
            <a:spAutoFit/>
          </a:bodyPr>
          <a:lstStyle/>
          <a:p>
            <a:pPr algn="l"/>
            <a:r>
              <a:rPr sz="1100" b="1" i="0">
                <a:solidFill>
                  <a:srgbClr val="10B981"/>
                </a:solidFill>
              </a:rPr>
              <a:t>ADDED POST-MIDSEM  (this deck)</a:t>
            </a:r>
          </a:p>
        </p:txBody>
      </p:sp>
      <p:sp>
        <p:nvSpPr>
          <p:cNvPr id="10" name="Rectangle 9"/>
          <p:cNvSpPr/>
          <p:nvPr/>
        </p:nvSpPr>
        <p:spPr>
          <a:xfrm>
            <a:off x="6172200" y="1234440"/>
            <a:ext cx="5623560" cy="3749039"/>
          </a:xfrm>
          <a:prstGeom prst="rect">
            <a:avLst/>
          </a:prstGeom>
          <a:solidFill>
            <a:srgbClr val="DCFCE7"/>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5080" y="1371600"/>
            <a:ext cx="5349240" cy="3520440"/>
          </a:xfrm>
          <a:prstGeom prst="rect">
            <a:avLst/>
          </a:prstGeom>
          <a:noFill/>
        </p:spPr>
        <p:txBody>
          <a:bodyPr wrap="square">
            <a:spAutoFit/>
          </a:bodyPr>
          <a:lstStyle/>
          <a:p>
            <a:pPr>
              <a:spcAft>
                <a:spcPts val="400"/>
              </a:spcAft>
            </a:pPr>
            <a:r>
              <a:rPr sz="1200" b="0">
                <a:solidFill>
                  <a:srgbClr val="333333"/>
                </a:solidFill>
              </a:rPr>
              <a:t>•  Review &amp; Validate  —  human-in-the-loop UI + backend</a:t>
            </a:r>
          </a:p>
          <a:p>
            <a:pPr>
              <a:spcAft>
                <a:spcPts val="400"/>
              </a:spcAft>
            </a:pPr>
            <a:r>
              <a:rPr sz="1200" b="0">
                <a:solidFill>
                  <a:srgbClr val="333333"/>
                </a:solidFill>
              </a:rPr>
              <a:t>•  Smart Reply Composer  —  triple-draft (GPT-4o + Mistral + Smart)</a:t>
            </a:r>
          </a:p>
          <a:p>
            <a:pPr>
              <a:spcAft>
                <a:spcPts val="400"/>
              </a:spcAft>
            </a:pPr>
            <a:r>
              <a:rPr sz="1200" b="0">
                <a:solidFill>
                  <a:srgbClr val="333333"/>
                </a:solidFill>
              </a:rPr>
              <a:t>•  Learning-loop store  —  corrections &amp; posted replies</a:t>
            </a:r>
          </a:p>
          <a:p>
            <a:pPr>
              <a:spcAft>
                <a:spcPts val="400"/>
              </a:spcAft>
            </a:pPr>
            <a:r>
              <a:rPr sz="1200" b="0">
                <a:solidFill>
                  <a:srgbClr val="333333"/>
                </a:solidFill>
              </a:rPr>
              <a:t>•  Post Explorer  —  multi-facet search</a:t>
            </a:r>
          </a:p>
          <a:p>
            <a:pPr>
              <a:spcAft>
                <a:spcPts val="400"/>
              </a:spcAft>
            </a:pPr>
            <a:r>
              <a:rPr sz="1200" b="0">
                <a:solidFill>
                  <a:srgbClr val="333333"/>
                </a:solidFill>
              </a:rPr>
              <a:t>•  Post Lifecycle  —  Kanban with 2-step Resolve</a:t>
            </a:r>
          </a:p>
          <a:p>
            <a:pPr>
              <a:spcAft>
                <a:spcPts val="400"/>
              </a:spcAft>
            </a:pPr>
            <a:r>
              <a:rPr sz="1200" b="0">
                <a:solidFill>
                  <a:srgbClr val="333333"/>
                </a:solidFill>
              </a:rPr>
              <a:t>•  Insights &amp; Competitor Analysis page</a:t>
            </a:r>
          </a:p>
          <a:p>
            <a:pPr>
              <a:spcAft>
                <a:spcPts val="400"/>
              </a:spcAft>
            </a:pPr>
            <a:r>
              <a:rPr sz="1200" b="0">
                <a:solidFill>
                  <a:srgbClr val="333333"/>
                </a:solidFill>
              </a:rPr>
              <a:t>•  In-app Notification Centre mirroring the digest</a:t>
            </a:r>
          </a:p>
          <a:p>
            <a:pPr>
              <a:spcAft>
                <a:spcPts val="400"/>
              </a:spcAft>
            </a:pPr>
            <a:r>
              <a:rPr sz="1200" b="0">
                <a:solidFill>
                  <a:srgbClr val="333333"/>
                </a:solidFill>
              </a:rPr>
              <a:t>•  ModernBERT Stage 3 (final)  —  0.7285 → 0.7642  (5-fold OOF)</a:t>
            </a:r>
          </a:p>
          <a:p>
            <a:pPr>
              <a:spcAft>
                <a:spcPts val="400"/>
              </a:spcAft>
            </a:pPr>
            <a:r>
              <a:rPr sz="1200" b="0">
                <a:solidFill>
                  <a:srgbClr val="333333"/>
                </a:solidFill>
              </a:rPr>
              <a:t>•  Trust-score end-to-end evaluation (n = 200)</a:t>
            </a:r>
          </a:p>
        </p:txBody>
      </p:sp>
      <p:sp>
        <p:nvSpPr>
          <p:cNvPr id="12" name="Rectangle 11"/>
          <p:cNvSpPr/>
          <p:nvPr/>
        </p:nvSpPr>
        <p:spPr>
          <a:xfrm>
            <a:off x="457200" y="5212080"/>
            <a:ext cx="11247120" cy="1234440"/>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5257800"/>
            <a:ext cx="548640" cy="1097280"/>
          </a:xfrm>
          <a:prstGeom prst="rect">
            <a:avLst/>
          </a:prstGeom>
          <a:noFill/>
        </p:spPr>
        <p:txBody>
          <a:bodyPr wrap="square" anchor="ctr">
            <a:spAutoFit/>
          </a:bodyPr>
          <a:lstStyle/>
          <a:p>
            <a:pPr algn="l"/>
            <a:r>
              <a:rPr sz="5200" b="1" i="0">
                <a:solidFill>
                  <a:srgbClr val="0071DC"/>
                </a:solidFill>
              </a:rPr>
              <a:t>“</a:t>
            </a:r>
          </a:p>
        </p:txBody>
      </p:sp>
      <p:sp>
        <p:nvSpPr>
          <p:cNvPr id="14" name="TextBox 13"/>
          <p:cNvSpPr txBox="1"/>
          <p:nvPr/>
        </p:nvSpPr>
        <p:spPr>
          <a:xfrm>
            <a:off x="1188720" y="5321808"/>
            <a:ext cx="10424160" cy="320040"/>
          </a:xfrm>
          <a:prstGeom prst="rect">
            <a:avLst/>
          </a:prstGeom>
          <a:noFill/>
        </p:spPr>
        <p:txBody>
          <a:bodyPr wrap="square" anchor="t">
            <a:spAutoFit/>
          </a:bodyPr>
          <a:lstStyle/>
          <a:p>
            <a:pPr algn="l"/>
            <a:r>
              <a:rPr sz="1100" b="1" i="0">
                <a:solidFill>
                  <a:srgbClr val="0071DC"/>
                </a:solidFill>
              </a:rPr>
              <a:t>THE FRAMING QUESTION</a:t>
            </a:r>
          </a:p>
        </p:txBody>
      </p:sp>
      <p:sp>
        <p:nvSpPr>
          <p:cNvPr id="15" name="TextBox 14"/>
          <p:cNvSpPr txBox="1"/>
          <p:nvPr/>
        </p:nvSpPr>
        <p:spPr>
          <a:xfrm>
            <a:off x="1188720" y="5623560"/>
            <a:ext cx="10424160" cy="777240"/>
          </a:xfrm>
          <a:prstGeom prst="rect">
            <a:avLst/>
          </a:prstGeom>
          <a:noFill/>
        </p:spPr>
        <p:txBody>
          <a:bodyPr wrap="square" anchor="t">
            <a:spAutoFit/>
          </a:bodyPr>
          <a:lstStyle/>
          <a:p>
            <a:pPr algn="l"/>
            <a:r>
              <a:rPr sz="1200" b="0" i="0">
                <a:solidFill>
                  <a:srgbClr val="333333"/>
                </a:solidFill>
              </a:rPr>
              <a:t>Mid-sem answered  can the pipeline produce trust-weighted sentiment?    Post-midsem answers  can an analyst act on it, correct it, and feed the corrections back into the model?</a:t>
            </a:r>
          </a:p>
        </p:txBody>
      </p:sp>
      <p:sp>
        <p:nvSpPr>
          <p:cNvPr id="16" name="TextBox 15"/>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17" name="TextBox 16"/>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3 / 24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Review &amp; Validate  —  Human-in-the-Loop</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Every prediction can be corrected; every correction is logged</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914400"/>
            <a:ext cx="5486400" cy="320040"/>
          </a:xfrm>
          <a:prstGeom prst="rect">
            <a:avLst/>
          </a:prstGeom>
          <a:noFill/>
        </p:spPr>
        <p:txBody>
          <a:bodyPr wrap="square" anchor="t">
            <a:spAutoFit/>
          </a:bodyPr>
          <a:lstStyle/>
          <a:p>
            <a:pPr algn="l"/>
            <a:r>
              <a:rPr sz="1100" b="1" i="0">
                <a:solidFill>
                  <a:srgbClr val="0071DC"/>
                </a:solidFill>
              </a:rPr>
              <a:t>WORKFLOW</a:t>
            </a:r>
          </a:p>
        </p:txBody>
      </p:sp>
      <p:sp>
        <p:nvSpPr>
          <p:cNvPr id="7" name="TextBox 6"/>
          <p:cNvSpPr txBox="1"/>
          <p:nvPr/>
        </p:nvSpPr>
        <p:spPr>
          <a:xfrm>
            <a:off x="457200" y="1234440"/>
            <a:ext cx="5486400" cy="2468880"/>
          </a:xfrm>
          <a:prstGeom prst="rect">
            <a:avLst/>
          </a:prstGeom>
          <a:noFill/>
        </p:spPr>
        <p:txBody>
          <a:bodyPr wrap="square">
            <a:spAutoFit/>
          </a:bodyPr>
          <a:lstStyle/>
          <a:p>
            <a:pPr>
              <a:spcAft>
                <a:spcPts val="400"/>
              </a:spcAft>
            </a:pPr>
            <a:r>
              <a:rPr sz="1200" b="0">
                <a:solidFill>
                  <a:srgbClr val="333333"/>
                </a:solidFill>
              </a:rPr>
              <a:t>•  Queue sorted by  priority (P1 first)  ·  trust × confidence</a:t>
            </a:r>
          </a:p>
          <a:p>
            <a:pPr>
              <a:spcAft>
                <a:spcPts val="400"/>
              </a:spcAft>
            </a:pPr>
            <a:r>
              <a:rPr sz="1200" b="0">
                <a:solidFill>
                  <a:srgbClr val="333333"/>
                </a:solidFill>
              </a:rPr>
              <a:t>•  Analyst can override sentiment and aspect tags in one click</a:t>
            </a:r>
          </a:p>
          <a:p>
            <a:pPr>
              <a:spcAft>
                <a:spcPts val="400"/>
              </a:spcAft>
            </a:pPr>
            <a:r>
              <a:rPr sz="1200" b="0">
                <a:solidFill>
                  <a:srgbClr val="333333"/>
                </a:solidFill>
              </a:rPr>
              <a:t>•  Corrections written to  feedback table  with analyst + timestamp</a:t>
            </a:r>
          </a:p>
          <a:p>
            <a:pPr>
              <a:spcAft>
                <a:spcPts val="400"/>
              </a:spcAft>
            </a:pPr>
            <a:r>
              <a:rPr sz="1200" b="0">
                <a:solidFill>
                  <a:srgbClr val="333333"/>
                </a:solidFill>
              </a:rPr>
              <a:t>•  Generate Drafts  →  three reply options  (GPT-4o + Mistral + Smart)</a:t>
            </a:r>
          </a:p>
          <a:p>
            <a:pPr>
              <a:spcAft>
                <a:spcPts val="400"/>
              </a:spcAft>
            </a:pPr>
            <a:r>
              <a:rPr sz="1200" b="0">
                <a:solidFill>
                  <a:srgbClr val="333333"/>
                </a:solidFill>
              </a:rPr>
              <a:t>•  Analyst picks A, B or C, edits inline, and posts to Reddit</a:t>
            </a:r>
          </a:p>
          <a:p>
            <a:pPr>
              <a:spcAft>
                <a:spcPts val="400"/>
              </a:spcAft>
            </a:pPr>
            <a:r>
              <a:rPr sz="1200" b="0">
                <a:solidFill>
                  <a:srgbClr val="333333"/>
                </a:solidFill>
              </a:rPr>
              <a:t>•  Posted replies also captured  →  future few-shot pool</a:t>
            </a:r>
          </a:p>
        </p:txBody>
      </p:sp>
      <p:pic>
        <p:nvPicPr>
          <p:cNvPr id="8" name="Picture 7" descr="review_validate.png"/>
          <p:cNvPicPr>
            <a:picLocks noChangeAspect="1"/>
          </p:cNvPicPr>
          <p:nvPr/>
        </p:nvPicPr>
        <p:blipFill>
          <a:blip r:embed="rId2"/>
          <a:stretch>
            <a:fillRect/>
          </a:stretch>
        </p:blipFill>
        <p:spPr>
          <a:xfrm>
            <a:off x="6172200" y="960120"/>
            <a:ext cx="5669280" cy="11338560"/>
          </a:xfrm>
          <a:prstGeom prst="rect">
            <a:avLst/>
          </a:prstGeom>
        </p:spPr>
      </p:pic>
      <p:sp>
        <p:nvSpPr>
          <p:cNvPr id="9" name="Rectangle 8"/>
          <p:cNvSpPr/>
          <p:nvPr/>
        </p:nvSpPr>
        <p:spPr>
          <a:xfrm>
            <a:off x="457200" y="3794760"/>
            <a:ext cx="5486400" cy="1188720"/>
          </a:xfrm>
          <a:prstGeom prst="rect">
            <a:avLst/>
          </a:prstGeom>
          <a:solidFill>
            <a:srgbClr val="DCFCE7"/>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913632"/>
            <a:ext cx="5120640" cy="320040"/>
          </a:xfrm>
          <a:prstGeom prst="rect">
            <a:avLst/>
          </a:prstGeom>
          <a:noFill/>
        </p:spPr>
        <p:txBody>
          <a:bodyPr wrap="square" anchor="t">
            <a:spAutoFit/>
          </a:bodyPr>
          <a:lstStyle/>
          <a:p>
            <a:pPr algn="l"/>
            <a:r>
              <a:rPr sz="1100" b="1" i="0">
                <a:solidFill>
                  <a:srgbClr val="10B981"/>
                </a:solidFill>
              </a:rPr>
              <a:t>WHY IT MATTERS</a:t>
            </a:r>
          </a:p>
        </p:txBody>
      </p:sp>
      <p:sp>
        <p:nvSpPr>
          <p:cNvPr id="11" name="TextBox 10"/>
          <p:cNvSpPr txBox="1"/>
          <p:nvPr/>
        </p:nvSpPr>
        <p:spPr>
          <a:xfrm>
            <a:off x="640080" y="4206240"/>
            <a:ext cx="5120640" cy="777240"/>
          </a:xfrm>
          <a:prstGeom prst="rect">
            <a:avLst/>
          </a:prstGeom>
          <a:noFill/>
        </p:spPr>
        <p:txBody>
          <a:bodyPr wrap="square" anchor="t">
            <a:spAutoFit/>
          </a:bodyPr>
          <a:lstStyle/>
          <a:p>
            <a:pPr algn="l"/>
            <a:r>
              <a:rPr sz="1100" b="0" i="0">
                <a:solidFill>
                  <a:srgbClr val="333333"/>
                </a:solidFill>
              </a:rPr>
              <a:t>Turns a passive dashboard into a training signal — corrections harvested here drive the ModernBERT re-training loop and reply few-shot pool.</a:t>
            </a:r>
          </a:p>
        </p:txBody>
      </p:sp>
      <p:sp>
        <p:nvSpPr>
          <p:cNvPr id="12" name="Rectangle 11"/>
          <p:cNvSpPr/>
          <p:nvPr/>
        </p:nvSpPr>
        <p:spPr>
          <a:xfrm>
            <a:off x="457200" y="5120640"/>
            <a:ext cx="5486400" cy="1280160"/>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5230368"/>
            <a:ext cx="5120640" cy="320040"/>
          </a:xfrm>
          <a:prstGeom prst="rect">
            <a:avLst/>
          </a:prstGeom>
          <a:noFill/>
        </p:spPr>
        <p:txBody>
          <a:bodyPr wrap="square" anchor="t">
            <a:spAutoFit/>
          </a:bodyPr>
          <a:lstStyle/>
          <a:p>
            <a:pPr algn="l"/>
            <a:r>
              <a:rPr sz="1100" b="1" i="0">
                <a:solidFill>
                  <a:srgbClr val="0071DC"/>
                </a:solidFill>
              </a:rPr>
              <a:t>NUMBERS TODAY  (live capture)</a:t>
            </a:r>
          </a:p>
        </p:txBody>
      </p:sp>
      <p:sp>
        <p:nvSpPr>
          <p:cNvPr id="14" name="TextBox 13"/>
          <p:cNvSpPr txBox="1"/>
          <p:nvPr/>
        </p:nvSpPr>
        <p:spPr>
          <a:xfrm>
            <a:off x="640080" y="5532120"/>
            <a:ext cx="5120640" cy="822960"/>
          </a:xfrm>
          <a:prstGeom prst="rect">
            <a:avLst/>
          </a:prstGeom>
          <a:noFill/>
        </p:spPr>
        <p:txBody>
          <a:bodyPr wrap="square" anchor="t">
            <a:spAutoFit/>
          </a:bodyPr>
          <a:lstStyle/>
          <a:p>
            <a:pPr algn="l"/>
            <a:r>
              <a:rPr sz="1100" b="0" i="0">
                <a:solidFill>
                  <a:srgbClr val="333333"/>
                </a:solidFill>
              </a:rPr>
              <a:t>18 posted replies logged  ·  60 total feedback rows  ·  ≈90 % analyst – model agreement on the last 30 reviews.</a:t>
            </a:r>
          </a:p>
        </p:txBody>
      </p:sp>
      <p:sp>
        <p:nvSpPr>
          <p:cNvPr id="15" name="TextBox 14"/>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16" name="TextBox 15"/>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4 / 24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Smart Reply Composer  —  Triple Draft</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One prompt, three generators; analyst picks the best draft</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960120"/>
            <a:ext cx="3794760" cy="3063240"/>
          </a:xfrm>
          <a:prstGeom prst="rect">
            <a:avLst/>
          </a:prstGeom>
          <a:solidFill>
            <a:srgbClr val="F5F5F5"/>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960120"/>
            <a:ext cx="3794760" cy="457200"/>
          </a:xfrm>
          <a:prstGeom prst="rect">
            <a:avLst/>
          </a:prstGeom>
          <a:solidFill>
            <a:srgbClr val="007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033272"/>
            <a:ext cx="3794760" cy="320040"/>
          </a:xfrm>
          <a:prstGeom prst="rect">
            <a:avLst/>
          </a:prstGeom>
          <a:noFill/>
        </p:spPr>
        <p:txBody>
          <a:bodyPr wrap="square" anchor="t">
            <a:spAutoFit/>
          </a:bodyPr>
          <a:lstStyle/>
          <a:p>
            <a:pPr algn="ctr"/>
            <a:r>
              <a:rPr sz="1300" b="1" i="0">
                <a:solidFill>
                  <a:srgbClr val="FFFFFF"/>
                </a:solidFill>
              </a:rPr>
              <a:t>Draft A</a:t>
            </a:r>
          </a:p>
        </p:txBody>
      </p:sp>
      <p:sp>
        <p:nvSpPr>
          <p:cNvPr id="9" name="TextBox 8"/>
          <p:cNvSpPr txBox="1"/>
          <p:nvPr/>
        </p:nvSpPr>
        <p:spPr>
          <a:xfrm>
            <a:off x="365760" y="1554480"/>
            <a:ext cx="3794760" cy="365760"/>
          </a:xfrm>
          <a:prstGeom prst="rect">
            <a:avLst/>
          </a:prstGeom>
          <a:noFill/>
        </p:spPr>
        <p:txBody>
          <a:bodyPr wrap="square" anchor="t">
            <a:spAutoFit/>
          </a:bodyPr>
          <a:lstStyle/>
          <a:p>
            <a:pPr algn="ctr"/>
            <a:r>
              <a:rPr sz="1700" b="1" i="0">
                <a:solidFill>
                  <a:srgbClr val="041E42"/>
                </a:solidFill>
              </a:rPr>
              <a:t>GPT-4o</a:t>
            </a:r>
          </a:p>
        </p:txBody>
      </p:sp>
      <p:sp>
        <p:nvSpPr>
          <p:cNvPr id="10" name="TextBox 9"/>
          <p:cNvSpPr txBox="1"/>
          <p:nvPr/>
        </p:nvSpPr>
        <p:spPr>
          <a:xfrm>
            <a:off x="365760" y="1965960"/>
            <a:ext cx="3794760" cy="274320"/>
          </a:xfrm>
          <a:prstGeom prst="rect">
            <a:avLst/>
          </a:prstGeom>
          <a:noFill/>
        </p:spPr>
        <p:txBody>
          <a:bodyPr wrap="square" anchor="t">
            <a:spAutoFit/>
          </a:bodyPr>
          <a:lstStyle/>
          <a:p>
            <a:pPr algn="ctr"/>
            <a:r>
              <a:rPr sz="1000" b="0" i="0">
                <a:solidFill>
                  <a:srgbClr val="666666"/>
                </a:solidFill>
              </a:rPr>
              <a:t>Walmart LLM Gateway</a:t>
            </a:r>
          </a:p>
        </p:txBody>
      </p:sp>
      <p:sp>
        <p:nvSpPr>
          <p:cNvPr id="11" name="Rectangle 10"/>
          <p:cNvSpPr/>
          <p:nvPr/>
        </p:nvSpPr>
        <p:spPr>
          <a:xfrm>
            <a:off x="822960" y="2331720"/>
            <a:ext cx="2880360" cy="18288"/>
          </a:xfrm>
          <a:prstGeom prst="rect">
            <a:avLst/>
          </a:prstGeom>
          <a:solidFill>
            <a:srgbClr val="007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2468880"/>
            <a:ext cx="3429000" cy="1463040"/>
          </a:xfrm>
          <a:prstGeom prst="rect">
            <a:avLst/>
          </a:prstGeom>
          <a:noFill/>
        </p:spPr>
        <p:txBody>
          <a:bodyPr wrap="square" anchor="t">
            <a:spAutoFit/>
          </a:bodyPr>
          <a:lstStyle/>
          <a:p>
            <a:pPr algn="ctr"/>
            <a:r>
              <a:rPr sz="1200" b="0" i="0">
                <a:solidFill>
                  <a:srgbClr val="333333"/>
                </a:solidFill>
              </a:rPr>
              <a:t>Strong reasoning, safest tone</a:t>
            </a:r>
          </a:p>
          <a:p>
            <a:pPr algn="ctr"/>
            <a:r>
              <a:rPr sz="1200" b="0" i="0">
                <a:solidFill>
                  <a:srgbClr val="333333"/>
                </a:solidFill>
              </a:rPr>
              <a:t>Guardrails via Walmart proxy</a:t>
            </a:r>
          </a:p>
          <a:p>
            <a:pPr algn="ctr"/>
            <a:r>
              <a:rPr sz="1200" b="0" i="0">
                <a:solidFill>
                  <a:srgbClr val="333333"/>
                </a:solidFill>
              </a:rPr>
              <a:t>~$0.0002 / reply</a:t>
            </a:r>
          </a:p>
          <a:p>
            <a:pPr algn="ctr"/>
            <a:r>
              <a:rPr sz="1200" b="0" i="0">
                <a:solidFill>
                  <a:srgbClr val="333333"/>
                </a:solidFill>
              </a:rPr>
              <a:t>Fallback: direct OpenAI</a:t>
            </a:r>
          </a:p>
        </p:txBody>
      </p:sp>
      <p:sp>
        <p:nvSpPr>
          <p:cNvPr id="13" name="Rectangle 12"/>
          <p:cNvSpPr/>
          <p:nvPr/>
        </p:nvSpPr>
        <p:spPr>
          <a:xfrm>
            <a:off x="4297680" y="960120"/>
            <a:ext cx="3794760" cy="3063240"/>
          </a:xfrm>
          <a:prstGeom prst="rect">
            <a:avLst/>
          </a:prstGeom>
          <a:solidFill>
            <a:srgbClr val="F5F5F5"/>
          </a:solidFill>
          <a:ln>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297680" y="960120"/>
            <a:ext cx="379476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0" y="1033272"/>
            <a:ext cx="3794760" cy="320040"/>
          </a:xfrm>
          <a:prstGeom prst="rect">
            <a:avLst/>
          </a:prstGeom>
          <a:noFill/>
        </p:spPr>
        <p:txBody>
          <a:bodyPr wrap="square" anchor="t">
            <a:spAutoFit/>
          </a:bodyPr>
          <a:lstStyle/>
          <a:p>
            <a:pPr algn="ctr"/>
            <a:r>
              <a:rPr sz="1300" b="1" i="0">
                <a:solidFill>
                  <a:srgbClr val="FFFFFF"/>
                </a:solidFill>
              </a:rPr>
              <a:t>Draft B</a:t>
            </a:r>
          </a:p>
        </p:txBody>
      </p:sp>
      <p:sp>
        <p:nvSpPr>
          <p:cNvPr id="16" name="TextBox 15"/>
          <p:cNvSpPr txBox="1"/>
          <p:nvPr/>
        </p:nvSpPr>
        <p:spPr>
          <a:xfrm>
            <a:off x="4297680" y="1554480"/>
            <a:ext cx="3794760" cy="365760"/>
          </a:xfrm>
          <a:prstGeom prst="rect">
            <a:avLst/>
          </a:prstGeom>
          <a:noFill/>
        </p:spPr>
        <p:txBody>
          <a:bodyPr wrap="square" anchor="t">
            <a:spAutoFit/>
          </a:bodyPr>
          <a:lstStyle/>
          <a:p>
            <a:pPr algn="ctr"/>
            <a:r>
              <a:rPr sz="1700" b="1" i="0">
                <a:solidFill>
                  <a:srgbClr val="041E42"/>
                </a:solidFill>
              </a:rPr>
              <a:t>Mistral 7B-Instruct</a:t>
            </a:r>
          </a:p>
        </p:txBody>
      </p:sp>
      <p:sp>
        <p:nvSpPr>
          <p:cNvPr id="17" name="TextBox 16"/>
          <p:cNvSpPr txBox="1"/>
          <p:nvPr/>
        </p:nvSpPr>
        <p:spPr>
          <a:xfrm>
            <a:off x="4297680" y="1965960"/>
            <a:ext cx="3794760" cy="274320"/>
          </a:xfrm>
          <a:prstGeom prst="rect">
            <a:avLst/>
          </a:prstGeom>
          <a:noFill/>
        </p:spPr>
        <p:txBody>
          <a:bodyPr wrap="square" anchor="t">
            <a:spAutoFit/>
          </a:bodyPr>
          <a:lstStyle/>
          <a:p>
            <a:pPr algn="ctr"/>
            <a:r>
              <a:rPr sz="1000" b="0" i="0">
                <a:solidFill>
                  <a:srgbClr val="666666"/>
                </a:solidFill>
              </a:rPr>
              <a:t>Local Ollama  (:11434)</a:t>
            </a:r>
          </a:p>
        </p:txBody>
      </p:sp>
      <p:sp>
        <p:nvSpPr>
          <p:cNvPr id="18" name="Rectangle 17"/>
          <p:cNvSpPr/>
          <p:nvPr/>
        </p:nvSpPr>
        <p:spPr>
          <a:xfrm>
            <a:off x="4754880" y="2331720"/>
            <a:ext cx="2880360" cy="18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80560" y="2468880"/>
            <a:ext cx="3429000" cy="1463040"/>
          </a:xfrm>
          <a:prstGeom prst="rect">
            <a:avLst/>
          </a:prstGeom>
          <a:noFill/>
        </p:spPr>
        <p:txBody>
          <a:bodyPr wrap="square" anchor="t">
            <a:spAutoFit/>
          </a:bodyPr>
          <a:lstStyle/>
          <a:p>
            <a:pPr algn="ctr"/>
            <a:r>
              <a:rPr sz="1200" b="0" i="0">
                <a:solidFill>
                  <a:srgbClr val="333333"/>
                </a:solidFill>
              </a:rPr>
              <a:t>Open-weights, free</a:t>
            </a:r>
          </a:p>
          <a:p>
            <a:pPr algn="ctr"/>
            <a:r>
              <a:rPr sz="1200" b="0" i="0">
                <a:solidFill>
                  <a:srgbClr val="333333"/>
                </a:solidFill>
              </a:rPr>
              <a:t>Runs fully offline</a:t>
            </a:r>
          </a:p>
          <a:p>
            <a:pPr algn="ctr"/>
            <a:r>
              <a:rPr sz="1200" b="0" i="0">
                <a:solidFill>
                  <a:srgbClr val="333333"/>
                </a:solidFill>
              </a:rPr>
              <a:t>~15 s warm latency</a:t>
            </a:r>
          </a:p>
          <a:p>
            <a:pPr algn="ctr"/>
            <a:r>
              <a:rPr sz="1200" b="0" i="0">
                <a:solidFill>
                  <a:srgbClr val="333333"/>
                </a:solidFill>
              </a:rPr>
              <a:t>Strong at retail jargon</a:t>
            </a:r>
          </a:p>
        </p:txBody>
      </p:sp>
      <p:sp>
        <p:nvSpPr>
          <p:cNvPr id="20" name="Rectangle 19"/>
          <p:cNvSpPr/>
          <p:nvPr/>
        </p:nvSpPr>
        <p:spPr>
          <a:xfrm>
            <a:off x="8229600" y="960120"/>
            <a:ext cx="3794760" cy="3063240"/>
          </a:xfrm>
          <a:prstGeom prst="rect">
            <a:avLst/>
          </a:prstGeom>
          <a:solidFill>
            <a:srgbClr val="F5F5F5"/>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229600" y="960120"/>
            <a:ext cx="37947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0" y="1033272"/>
            <a:ext cx="3794760" cy="320040"/>
          </a:xfrm>
          <a:prstGeom prst="rect">
            <a:avLst/>
          </a:prstGeom>
          <a:noFill/>
        </p:spPr>
        <p:txBody>
          <a:bodyPr wrap="square" anchor="t">
            <a:spAutoFit/>
          </a:bodyPr>
          <a:lstStyle/>
          <a:p>
            <a:pPr algn="ctr"/>
            <a:r>
              <a:rPr sz="1300" b="1" i="0">
                <a:solidFill>
                  <a:srgbClr val="FFFFFF"/>
                </a:solidFill>
              </a:rPr>
              <a:t>Draft C</a:t>
            </a:r>
          </a:p>
        </p:txBody>
      </p:sp>
      <p:sp>
        <p:nvSpPr>
          <p:cNvPr id="23" name="TextBox 22"/>
          <p:cNvSpPr txBox="1"/>
          <p:nvPr/>
        </p:nvSpPr>
        <p:spPr>
          <a:xfrm>
            <a:off x="8229600" y="1554480"/>
            <a:ext cx="3794760" cy="365760"/>
          </a:xfrm>
          <a:prstGeom prst="rect">
            <a:avLst/>
          </a:prstGeom>
          <a:noFill/>
        </p:spPr>
        <p:txBody>
          <a:bodyPr wrap="square" anchor="t">
            <a:spAutoFit/>
          </a:bodyPr>
          <a:lstStyle/>
          <a:p>
            <a:pPr algn="ctr"/>
            <a:r>
              <a:rPr sz="1700" b="1" i="0">
                <a:solidFill>
                  <a:srgbClr val="041E42"/>
                </a:solidFill>
              </a:rPr>
              <a:t>Smart Composer</a:t>
            </a:r>
          </a:p>
        </p:txBody>
      </p:sp>
      <p:sp>
        <p:nvSpPr>
          <p:cNvPr id="24" name="TextBox 23"/>
          <p:cNvSpPr txBox="1"/>
          <p:nvPr/>
        </p:nvSpPr>
        <p:spPr>
          <a:xfrm>
            <a:off x="8229600" y="1965960"/>
            <a:ext cx="3794760" cy="274320"/>
          </a:xfrm>
          <a:prstGeom prst="rect">
            <a:avLst/>
          </a:prstGeom>
          <a:noFill/>
        </p:spPr>
        <p:txBody>
          <a:bodyPr wrap="square" anchor="t">
            <a:spAutoFit/>
          </a:bodyPr>
          <a:lstStyle/>
          <a:p>
            <a:pPr algn="ctr"/>
            <a:r>
              <a:rPr sz="1000" b="0" i="0">
                <a:solidFill>
                  <a:srgbClr val="666666"/>
                </a:solidFill>
              </a:rPr>
              <a:t>Deterministic template</a:t>
            </a:r>
          </a:p>
        </p:txBody>
      </p:sp>
      <p:sp>
        <p:nvSpPr>
          <p:cNvPr id="25" name="Rectangle 24"/>
          <p:cNvSpPr/>
          <p:nvPr/>
        </p:nvSpPr>
        <p:spPr>
          <a:xfrm>
            <a:off x="8686800" y="2331720"/>
            <a:ext cx="2880360" cy="18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12480" y="2468880"/>
            <a:ext cx="3429000" cy="1463040"/>
          </a:xfrm>
          <a:prstGeom prst="rect">
            <a:avLst/>
          </a:prstGeom>
          <a:noFill/>
        </p:spPr>
        <p:txBody>
          <a:bodyPr wrap="square" anchor="t">
            <a:spAutoFit/>
          </a:bodyPr>
          <a:lstStyle/>
          <a:p>
            <a:pPr algn="ctr"/>
            <a:r>
              <a:rPr sz="1200" b="0" i="0">
                <a:solidFill>
                  <a:srgbClr val="333333"/>
                </a:solidFill>
              </a:rPr>
              <a:t>No LLM, always available</a:t>
            </a:r>
          </a:p>
          <a:p>
            <a:pPr algn="ctr"/>
            <a:r>
              <a:rPr sz="1200" b="0" i="0">
                <a:solidFill>
                  <a:srgbClr val="333333"/>
                </a:solidFill>
              </a:rPr>
              <a:t>Zero latency, zero cost</a:t>
            </a:r>
          </a:p>
          <a:p>
            <a:pPr algn="ctr"/>
            <a:r>
              <a:rPr sz="1200" b="0" i="0">
                <a:solidFill>
                  <a:srgbClr val="333333"/>
                </a:solidFill>
              </a:rPr>
              <a:t>Content-aware phrase pools</a:t>
            </a:r>
          </a:p>
          <a:p>
            <a:pPr algn="ctr"/>
            <a:r>
              <a:rPr sz="1200" b="0" i="0">
                <a:solidFill>
                  <a:srgbClr val="333333"/>
                </a:solidFill>
              </a:rPr>
              <a:t>Safety-net fallback</a:t>
            </a:r>
          </a:p>
        </p:txBody>
      </p:sp>
      <p:sp>
        <p:nvSpPr>
          <p:cNvPr id="27" name="Rectangle 26"/>
          <p:cNvSpPr/>
          <p:nvPr/>
        </p:nvSpPr>
        <p:spPr>
          <a:xfrm>
            <a:off x="457200" y="4206240"/>
            <a:ext cx="11247120" cy="2103120"/>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4343400"/>
            <a:ext cx="10972800" cy="320040"/>
          </a:xfrm>
          <a:prstGeom prst="rect">
            <a:avLst/>
          </a:prstGeom>
          <a:noFill/>
        </p:spPr>
        <p:txBody>
          <a:bodyPr wrap="square" anchor="t">
            <a:spAutoFit/>
          </a:bodyPr>
          <a:lstStyle/>
          <a:p>
            <a:pPr algn="l"/>
            <a:r>
              <a:rPr sz="1300" b="1" i="0">
                <a:solidFill>
                  <a:srgbClr val="0071DC"/>
                </a:solidFill>
              </a:rPr>
              <a:t>Fallback logic  —  no draft is ever missing</a:t>
            </a:r>
          </a:p>
        </p:txBody>
      </p:sp>
      <p:sp>
        <p:nvSpPr>
          <p:cNvPr id="29" name="TextBox 28"/>
          <p:cNvSpPr txBox="1"/>
          <p:nvPr/>
        </p:nvSpPr>
        <p:spPr>
          <a:xfrm>
            <a:off x="640080" y="4663440"/>
            <a:ext cx="10972800" cy="1554480"/>
          </a:xfrm>
          <a:prstGeom prst="rect">
            <a:avLst/>
          </a:prstGeom>
          <a:noFill/>
        </p:spPr>
        <p:txBody>
          <a:bodyPr wrap="square">
            <a:spAutoFit/>
          </a:bodyPr>
          <a:lstStyle/>
          <a:p>
            <a:pPr>
              <a:spcAft>
                <a:spcPts val="400"/>
              </a:spcAft>
            </a:pPr>
            <a:r>
              <a:rPr sz="1100" b="0">
                <a:solidFill>
                  <a:srgbClr val="333333"/>
                </a:solidFill>
              </a:rPr>
              <a:t>•  GPT-4o unavailable  (no gateway key / consumer-ID / network)  →  Smart Composer draft in slot A</a:t>
            </a:r>
          </a:p>
          <a:p>
            <a:pPr>
              <a:spcAft>
                <a:spcPts val="400"/>
              </a:spcAft>
            </a:pPr>
            <a:r>
              <a:rPr sz="1100" b="0">
                <a:solidFill>
                  <a:srgbClr val="333333"/>
                </a:solidFill>
              </a:rPr>
              <a:t>•  Mistral unavailable  (Ollama not running)  →  Smart Composer draft in slot B</a:t>
            </a:r>
          </a:p>
          <a:p>
            <a:pPr>
              <a:spcAft>
                <a:spcPts val="400"/>
              </a:spcAft>
            </a:pPr>
            <a:r>
              <a:rPr sz="1100" b="0">
                <a:solidFill>
                  <a:srgbClr val="333333"/>
                </a:solidFill>
              </a:rPr>
              <a:t>•  Smart Composer  always  produces slot C  —  guaranteed reply</a:t>
            </a:r>
          </a:p>
          <a:p>
            <a:pPr>
              <a:spcAft>
                <a:spcPts val="400"/>
              </a:spcAft>
            </a:pPr>
            <a:r>
              <a:rPr sz="1100" b="0">
                <a:solidFill>
                  <a:srgbClr val="333333"/>
                </a:solidFill>
              </a:rPr>
              <a:t>•  UI labels each card with the actual model used, plus an offline-fallback badge when applicable</a:t>
            </a:r>
          </a:p>
        </p:txBody>
      </p:sp>
      <p:sp>
        <p:nvSpPr>
          <p:cNvPr id="30" name="TextBox 29"/>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31" name="TextBox 30"/>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5 / 24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Smart Reply  —  Prompt Design &amp; Few-Shot</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Same prompt fed to GPT and Mistral; Smart Composer skips the LLM step</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914400"/>
            <a:ext cx="11247120" cy="320040"/>
          </a:xfrm>
          <a:prstGeom prst="rect">
            <a:avLst/>
          </a:prstGeom>
          <a:noFill/>
        </p:spPr>
        <p:txBody>
          <a:bodyPr wrap="square" anchor="t">
            <a:spAutoFit/>
          </a:bodyPr>
          <a:lstStyle/>
          <a:p>
            <a:pPr algn="l"/>
            <a:r>
              <a:rPr sz="1300" b="1" i="0">
                <a:solidFill>
                  <a:srgbClr val="041E42"/>
                </a:solidFill>
              </a:rPr>
              <a:t>Prompt template  (built in  _build_reply_prompt)</a:t>
            </a:r>
          </a:p>
        </p:txBody>
      </p:sp>
      <p:sp>
        <p:nvSpPr>
          <p:cNvPr id="7" name="Rectangle 6"/>
          <p:cNvSpPr/>
          <p:nvPr/>
        </p:nvSpPr>
        <p:spPr>
          <a:xfrm>
            <a:off x="457200" y="1280160"/>
            <a:ext cx="7452360" cy="3337560"/>
          </a:xfrm>
          <a:prstGeom prst="rect">
            <a:avLst/>
          </a:prstGeom>
          <a:solidFill>
            <a:srgbClr val="1E293B"/>
          </a:solidFill>
          <a:ln>
            <a:solidFill>
              <a:srgbClr val="041E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417320"/>
            <a:ext cx="7086600" cy="3063240"/>
          </a:xfrm>
          <a:prstGeom prst="rect">
            <a:avLst/>
          </a:prstGeom>
          <a:noFill/>
        </p:spPr>
        <p:txBody>
          <a:bodyPr wrap="square" anchor="t">
            <a:spAutoFit/>
          </a:bodyPr>
          <a:lstStyle/>
          <a:p>
            <a:pPr algn="l"/>
            <a:r>
              <a:rPr sz="1100" b="0" i="0">
                <a:solidFill>
                  <a:srgbClr val="E6EDF7"/>
                </a:solidFill>
              </a:rPr>
              <a:t>You are a senior Walmart customer-care analyst replying on Reddit.</a:t>
            </a:r>
          </a:p>
          <a:p>
            <a:pPr algn="l"/>
            <a:r>
              <a:rPr sz="1100" b="0" i="0">
                <a:solidFill>
                  <a:srgbClr val="E6EDF7"/>
                </a:solidFill>
              </a:rPr>
              <a:t>Write ONE reply to the customer below. Keep it 2-4 sentences,</a:t>
            </a:r>
          </a:p>
          <a:p>
            <a:pPr algn="l"/>
            <a:r>
              <a:rPr sz="1100" b="0" i="0">
                <a:solidFill>
                  <a:srgbClr val="E6EDF7"/>
                </a:solidFill>
              </a:rPr>
              <a:t>empathetic, specific to their complaint, no corporate jargon,</a:t>
            </a:r>
          </a:p>
          <a:p>
            <a:pPr algn="l"/>
            <a:r>
              <a:rPr sz="1100" b="0" i="0">
                <a:solidFill>
                  <a:srgbClr val="E6EDF7"/>
                </a:solidFill>
              </a:rPr>
              <a:t>no hashtags, no emojis. Do NOT promise refunds you can't verify;</a:t>
            </a:r>
          </a:p>
          <a:p>
            <a:pPr algn="l"/>
            <a:r>
              <a:rPr sz="1100" b="0" i="0">
                <a:solidFill>
                  <a:srgbClr val="E6EDF7"/>
                </a:solidFill>
              </a:rPr>
              <a:t>invite them to DM order details if action is needed.</a:t>
            </a:r>
          </a:p>
          <a:p>
            <a:pPr algn="l"/>
            <a:r>
              <a:rPr sz="1100" b="0" i="0">
                <a:solidFill>
                  <a:srgbClr val="E6EDF7"/>
                </a:solidFill>
              </a:rPr>
              <a:t>Sign off as a real person, not a brand.</a:t>
            </a:r>
          </a:p>
          <a:p>
            <a:pPr algn="l"/>
            <a:endParaRPr sz="1100" b="0" i="0">
              <a:solidFill>
                <a:srgbClr val="E6EDF7"/>
              </a:solidFill>
            </a:endParaRPr>
          </a:p>
          <a:p>
            <a:pPr algn="l"/>
            <a:r>
              <a:rPr sz="1100" b="0" i="0">
                <a:solidFill>
                  <a:srgbClr val="E6EDF7"/>
                </a:solidFill>
              </a:rPr>
              <a:t>Example customer post: {past_post_1}</a:t>
            </a:r>
          </a:p>
          <a:p>
            <a:pPr algn="l"/>
            <a:r>
              <a:rPr sz="1100" b="0" i="0">
                <a:solidFill>
                  <a:srgbClr val="E6EDF7"/>
                </a:solidFill>
              </a:rPr>
              <a:t>Example analyst reply: {past_reply_1}</a:t>
            </a:r>
          </a:p>
          <a:p>
            <a:pPr algn="l"/>
            <a:r>
              <a:rPr sz="1100" b="0" i="0">
                <a:solidFill>
                  <a:srgbClr val="E6EDF7"/>
                </a:solidFill>
              </a:rPr>
              <a:t> …  (three example pairs total)</a:t>
            </a:r>
          </a:p>
          <a:p>
            <a:pPr algn="l"/>
            <a:endParaRPr sz="1100" b="0" i="0">
              <a:solidFill>
                <a:srgbClr val="E6EDF7"/>
              </a:solidFill>
            </a:endParaRPr>
          </a:p>
          <a:p>
            <a:pPr algn="l"/>
            <a:r>
              <a:rPr sz="1100" b="0" i="0">
                <a:solidFill>
                  <a:srgbClr val="E6EDF7"/>
                </a:solidFill>
              </a:rPr>
              <a:t>Subreddit: r/{subreddit}</a:t>
            </a:r>
          </a:p>
          <a:p>
            <a:pPr algn="l"/>
            <a:r>
              <a:rPr sz="1100" b="0" i="0">
                <a:solidFill>
                  <a:srgbClr val="E6EDF7"/>
                </a:solidFill>
              </a:rPr>
              <a:t>Customer ({author}) complaint about: {aspect_1}, {aspect_2}</a:t>
            </a:r>
          </a:p>
          <a:p>
            <a:pPr algn="l"/>
            <a:r>
              <a:rPr sz="1100" b="0" i="0">
                <a:solidFill>
                  <a:srgbClr val="E6EDF7"/>
                </a:solidFill>
              </a:rPr>
              <a:t>Customer post: {post_title + post_body, ≤ 1200 chars}</a:t>
            </a:r>
          </a:p>
          <a:p>
            <a:pPr algn="l"/>
            <a:endParaRPr sz="1100" b="0" i="0">
              <a:solidFill>
                <a:srgbClr val="E6EDF7"/>
              </a:solidFill>
            </a:endParaRPr>
          </a:p>
          <a:p>
            <a:pPr algn="l"/>
            <a:r>
              <a:rPr sz="1100" b="0" i="0">
                <a:solidFill>
                  <a:srgbClr val="E6EDF7"/>
                </a:solidFill>
              </a:rPr>
              <a:t>Reply:</a:t>
            </a:r>
          </a:p>
        </p:txBody>
      </p:sp>
      <p:sp>
        <p:nvSpPr>
          <p:cNvPr id="9" name="Rectangle 8"/>
          <p:cNvSpPr/>
          <p:nvPr/>
        </p:nvSpPr>
        <p:spPr>
          <a:xfrm>
            <a:off x="8138160" y="1280160"/>
            <a:ext cx="3566160" cy="3337560"/>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21040" y="1389888"/>
            <a:ext cx="3200400" cy="320040"/>
          </a:xfrm>
          <a:prstGeom prst="rect">
            <a:avLst/>
          </a:prstGeom>
          <a:noFill/>
        </p:spPr>
        <p:txBody>
          <a:bodyPr wrap="square" anchor="t">
            <a:spAutoFit/>
          </a:bodyPr>
          <a:lstStyle/>
          <a:p>
            <a:pPr algn="l"/>
            <a:r>
              <a:rPr sz="1100" b="1" i="0">
                <a:solidFill>
                  <a:srgbClr val="0071DC"/>
                </a:solidFill>
              </a:rPr>
              <a:t>PROMPT ANATOMY</a:t>
            </a:r>
          </a:p>
        </p:txBody>
      </p:sp>
      <p:sp>
        <p:nvSpPr>
          <p:cNvPr id="11" name="TextBox 10"/>
          <p:cNvSpPr txBox="1"/>
          <p:nvPr/>
        </p:nvSpPr>
        <p:spPr>
          <a:xfrm>
            <a:off x="8321040" y="1783080"/>
            <a:ext cx="3200400" cy="182880"/>
          </a:xfrm>
          <a:prstGeom prst="rect">
            <a:avLst/>
          </a:prstGeom>
          <a:noFill/>
        </p:spPr>
        <p:txBody>
          <a:bodyPr wrap="square" anchor="t">
            <a:spAutoFit/>
          </a:bodyPr>
          <a:lstStyle/>
          <a:p>
            <a:pPr algn="l"/>
            <a:r>
              <a:rPr sz="1000" b="1" i="0">
                <a:solidFill>
                  <a:srgbClr val="0071DC"/>
                </a:solidFill>
              </a:rPr>
              <a:t>① SYSTEM ROLE</a:t>
            </a:r>
          </a:p>
        </p:txBody>
      </p:sp>
      <p:sp>
        <p:nvSpPr>
          <p:cNvPr id="12" name="TextBox 11"/>
          <p:cNvSpPr txBox="1"/>
          <p:nvPr/>
        </p:nvSpPr>
        <p:spPr>
          <a:xfrm>
            <a:off x="8321040" y="1984248"/>
            <a:ext cx="3200400" cy="320040"/>
          </a:xfrm>
          <a:prstGeom prst="rect">
            <a:avLst/>
          </a:prstGeom>
          <a:noFill/>
        </p:spPr>
        <p:txBody>
          <a:bodyPr wrap="square" anchor="t">
            <a:spAutoFit/>
          </a:bodyPr>
          <a:lstStyle/>
          <a:p>
            <a:pPr algn="l"/>
            <a:r>
              <a:rPr sz="900" b="0" i="0">
                <a:solidFill>
                  <a:srgbClr val="333333"/>
                </a:solidFill>
              </a:rPr>
              <a:t>who the model is + tone rules</a:t>
            </a:r>
          </a:p>
        </p:txBody>
      </p:sp>
      <p:sp>
        <p:nvSpPr>
          <p:cNvPr id="13" name="TextBox 12"/>
          <p:cNvSpPr txBox="1"/>
          <p:nvPr/>
        </p:nvSpPr>
        <p:spPr>
          <a:xfrm>
            <a:off x="8321040" y="2313432"/>
            <a:ext cx="3200400" cy="182880"/>
          </a:xfrm>
          <a:prstGeom prst="rect">
            <a:avLst/>
          </a:prstGeom>
          <a:noFill/>
        </p:spPr>
        <p:txBody>
          <a:bodyPr wrap="square" anchor="t">
            <a:spAutoFit/>
          </a:bodyPr>
          <a:lstStyle/>
          <a:p>
            <a:pPr algn="l"/>
            <a:r>
              <a:rPr sz="1000" b="1" i="0">
                <a:solidFill>
                  <a:srgbClr val="7C3AED"/>
                </a:solidFill>
              </a:rPr>
              <a:t>② FEW-SHOT</a:t>
            </a:r>
          </a:p>
        </p:txBody>
      </p:sp>
      <p:sp>
        <p:nvSpPr>
          <p:cNvPr id="14" name="TextBox 13"/>
          <p:cNvSpPr txBox="1"/>
          <p:nvPr/>
        </p:nvSpPr>
        <p:spPr>
          <a:xfrm>
            <a:off x="8321040" y="2514600"/>
            <a:ext cx="3200400" cy="320040"/>
          </a:xfrm>
          <a:prstGeom prst="rect">
            <a:avLst/>
          </a:prstGeom>
          <a:noFill/>
        </p:spPr>
        <p:txBody>
          <a:bodyPr wrap="square" anchor="t">
            <a:spAutoFit/>
          </a:bodyPr>
          <a:lstStyle/>
          <a:p>
            <a:pPr algn="l"/>
            <a:r>
              <a:rPr sz="900" b="0" i="0">
                <a:solidFill>
                  <a:srgbClr val="333333"/>
                </a:solidFill>
              </a:rPr>
              <a:t>3 past validated reply pairs</a:t>
            </a:r>
          </a:p>
          <a:p>
            <a:pPr algn="l"/>
            <a:r>
              <a:rPr sz="900" b="0" i="0">
                <a:solidFill>
                  <a:srgbClr val="333333"/>
                </a:solidFill>
              </a:rPr>
              <a:t>from the feedback table</a:t>
            </a:r>
          </a:p>
        </p:txBody>
      </p:sp>
      <p:sp>
        <p:nvSpPr>
          <p:cNvPr id="15" name="TextBox 14"/>
          <p:cNvSpPr txBox="1"/>
          <p:nvPr/>
        </p:nvSpPr>
        <p:spPr>
          <a:xfrm>
            <a:off x="8321040" y="2843784"/>
            <a:ext cx="3200400" cy="182880"/>
          </a:xfrm>
          <a:prstGeom prst="rect">
            <a:avLst/>
          </a:prstGeom>
          <a:noFill/>
        </p:spPr>
        <p:txBody>
          <a:bodyPr wrap="square" anchor="t">
            <a:spAutoFit/>
          </a:bodyPr>
          <a:lstStyle/>
          <a:p>
            <a:pPr algn="l"/>
            <a:r>
              <a:rPr sz="1000" b="1" i="0">
                <a:solidFill>
                  <a:srgbClr val="D97706"/>
                </a:solidFill>
              </a:rPr>
              <a:t>③ CONTEXT</a:t>
            </a:r>
          </a:p>
        </p:txBody>
      </p:sp>
      <p:sp>
        <p:nvSpPr>
          <p:cNvPr id="16" name="TextBox 15"/>
          <p:cNvSpPr txBox="1"/>
          <p:nvPr/>
        </p:nvSpPr>
        <p:spPr>
          <a:xfrm>
            <a:off x="8321040" y="3044952"/>
            <a:ext cx="3200400" cy="320040"/>
          </a:xfrm>
          <a:prstGeom prst="rect">
            <a:avLst/>
          </a:prstGeom>
          <a:noFill/>
        </p:spPr>
        <p:txBody>
          <a:bodyPr wrap="square" anchor="t">
            <a:spAutoFit/>
          </a:bodyPr>
          <a:lstStyle/>
          <a:p>
            <a:pPr algn="l"/>
            <a:r>
              <a:rPr sz="900" b="0" i="0">
                <a:solidFill>
                  <a:srgbClr val="333333"/>
                </a:solidFill>
              </a:rPr>
              <a:t>subreddit · author · top-2 aspects</a:t>
            </a:r>
          </a:p>
        </p:txBody>
      </p:sp>
      <p:sp>
        <p:nvSpPr>
          <p:cNvPr id="17" name="TextBox 16"/>
          <p:cNvSpPr txBox="1"/>
          <p:nvPr/>
        </p:nvSpPr>
        <p:spPr>
          <a:xfrm>
            <a:off x="8321040" y="3374136"/>
            <a:ext cx="3200400" cy="182880"/>
          </a:xfrm>
          <a:prstGeom prst="rect">
            <a:avLst/>
          </a:prstGeom>
          <a:noFill/>
        </p:spPr>
        <p:txBody>
          <a:bodyPr wrap="square" anchor="t">
            <a:spAutoFit/>
          </a:bodyPr>
          <a:lstStyle/>
          <a:p>
            <a:pPr algn="l"/>
            <a:r>
              <a:rPr sz="1000" b="1" i="0">
                <a:solidFill>
                  <a:srgbClr val="10B981"/>
                </a:solidFill>
              </a:rPr>
              <a:t>④ POST</a:t>
            </a:r>
          </a:p>
        </p:txBody>
      </p:sp>
      <p:sp>
        <p:nvSpPr>
          <p:cNvPr id="18" name="TextBox 17"/>
          <p:cNvSpPr txBox="1"/>
          <p:nvPr/>
        </p:nvSpPr>
        <p:spPr>
          <a:xfrm>
            <a:off x="8321040" y="3575304"/>
            <a:ext cx="3200400" cy="320040"/>
          </a:xfrm>
          <a:prstGeom prst="rect">
            <a:avLst/>
          </a:prstGeom>
          <a:noFill/>
        </p:spPr>
        <p:txBody>
          <a:bodyPr wrap="square" anchor="t">
            <a:spAutoFit/>
          </a:bodyPr>
          <a:lstStyle/>
          <a:p>
            <a:pPr algn="l"/>
            <a:r>
              <a:rPr sz="900" b="0" i="0">
                <a:solidFill>
                  <a:srgbClr val="333333"/>
                </a:solidFill>
              </a:rPr>
              <a:t>title + body,  truncated to 1 200 chars</a:t>
            </a:r>
          </a:p>
        </p:txBody>
      </p:sp>
      <p:sp>
        <p:nvSpPr>
          <p:cNvPr id="19" name="TextBox 18"/>
          <p:cNvSpPr txBox="1"/>
          <p:nvPr/>
        </p:nvSpPr>
        <p:spPr>
          <a:xfrm>
            <a:off x="8321040" y="3904488"/>
            <a:ext cx="3200400" cy="182880"/>
          </a:xfrm>
          <a:prstGeom prst="rect">
            <a:avLst/>
          </a:prstGeom>
          <a:noFill/>
        </p:spPr>
        <p:txBody>
          <a:bodyPr wrap="square" anchor="t">
            <a:spAutoFit/>
          </a:bodyPr>
          <a:lstStyle/>
          <a:p>
            <a:pPr algn="l"/>
            <a:r>
              <a:rPr sz="1000" b="1" i="0">
                <a:solidFill>
                  <a:srgbClr val="EF4444"/>
                </a:solidFill>
              </a:rPr>
              <a:t>⑤ TRIGGER</a:t>
            </a:r>
          </a:p>
        </p:txBody>
      </p:sp>
      <p:sp>
        <p:nvSpPr>
          <p:cNvPr id="20" name="TextBox 19"/>
          <p:cNvSpPr txBox="1"/>
          <p:nvPr/>
        </p:nvSpPr>
        <p:spPr>
          <a:xfrm>
            <a:off x="8321040" y="4105656"/>
            <a:ext cx="3200400" cy="320040"/>
          </a:xfrm>
          <a:prstGeom prst="rect">
            <a:avLst/>
          </a:prstGeom>
          <a:noFill/>
        </p:spPr>
        <p:txBody>
          <a:bodyPr wrap="square" anchor="t">
            <a:spAutoFit/>
          </a:bodyPr>
          <a:lstStyle/>
          <a:p>
            <a:pPr algn="l"/>
            <a:r>
              <a:rPr sz="900" b="0" i="0">
                <a:solidFill>
                  <a:srgbClr val="333333"/>
                </a:solidFill>
              </a:rPr>
              <a:t>"Reply:"  cues the model to generate</a:t>
            </a:r>
          </a:p>
        </p:txBody>
      </p:sp>
      <p:sp>
        <p:nvSpPr>
          <p:cNvPr id="21" name="Rectangle 20"/>
          <p:cNvSpPr/>
          <p:nvPr/>
        </p:nvSpPr>
        <p:spPr>
          <a:xfrm>
            <a:off x="457200" y="4709160"/>
            <a:ext cx="5486400" cy="1600200"/>
          </a:xfrm>
          <a:prstGeom prst="rect">
            <a:avLst/>
          </a:prstGeom>
          <a:solidFill>
            <a:srgbClr val="DCFCE7"/>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800600"/>
            <a:ext cx="5212080" cy="320040"/>
          </a:xfrm>
          <a:prstGeom prst="rect">
            <a:avLst/>
          </a:prstGeom>
          <a:noFill/>
        </p:spPr>
        <p:txBody>
          <a:bodyPr wrap="square" anchor="t">
            <a:spAutoFit/>
          </a:bodyPr>
          <a:lstStyle/>
          <a:p>
            <a:pPr algn="l"/>
            <a:r>
              <a:rPr sz="1200" b="1" i="0">
                <a:solidFill>
                  <a:srgbClr val="10B981"/>
                </a:solidFill>
              </a:rPr>
              <a:t>Few-shot source  —  feedback  table</a:t>
            </a:r>
          </a:p>
        </p:txBody>
      </p:sp>
      <p:sp>
        <p:nvSpPr>
          <p:cNvPr id="23" name="TextBox 22"/>
          <p:cNvSpPr txBox="1"/>
          <p:nvPr/>
        </p:nvSpPr>
        <p:spPr>
          <a:xfrm>
            <a:off x="640080" y="5120640"/>
            <a:ext cx="5212080" cy="1143000"/>
          </a:xfrm>
          <a:prstGeom prst="rect">
            <a:avLst/>
          </a:prstGeom>
          <a:noFill/>
        </p:spPr>
        <p:txBody>
          <a:bodyPr wrap="square">
            <a:spAutoFit/>
          </a:bodyPr>
          <a:lstStyle/>
          <a:p>
            <a:pPr>
              <a:spcAft>
                <a:spcPts val="400"/>
              </a:spcAft>
            </a:pPr>
            <a:r>
              <a:rPr sz="1000" b="0">
                <a:solidFill>
                  <a:srgbClr val="333333"/>
                </a:solidFill>
              </a:rPr>
              <a:t>•  Top-3 past validated replies for the same aspect</a:t>
            </a:r>
          </a:p>
          <a:p>
            <a:pPr>
              <a:spcAft>
                <a:spcPts val="400"/>
              </a:spcAft>
            </a:pPr>
            <a:r>
              <a:rPr sz="1000" b="0">
                <a:solidFill>
                  <a:srgbClr val="333333"/>
                </a:solidFill>
              </a:rPr>
              <a:t>•  Written by human analysts, already posted to Reddit</a:t>
            </a:r>
          </a:p>
          <a:p>
            <a:pPr>
              <a:spcAft>
                <a:spcPts val="400"/>
              </a:spcAft>
            </a:pPr>
            <a:r>
              <a:rPr sz="1000" b="0">
                <a:solidFill>
                  <a:srgbClr val="333333"/>
                </a:solidFill>
              </a:rPr>
              <a:t>•  Refreshed on every  Generate  click  →  adapts over time</a:t>
            </a:r>
          </a:p>
        </p:txBody>
      </p:sp>
      <p:sp>
        <p:nvSpPr>
          <p:cNvPr id="24" name="Rectangle 23"/>
          <p:cNvSpPr/>
          <p:nvPr/>
        </p:nvSpPr>
        <p:spPr>
          <a:xfrm>
            <a:off x="6172200" y="4709160"/>
            <a:ext cx="5532120" cy="1600200"/>
          </a:xfrm>
          <a:prstGeom prst="rect">
            <a:avLst/>
          </a:prstGeom>
          <a:solidFill>
            <a:srgbClr val="FEF3C7"/>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55080" y="4800600"/>
            <a:ext cx="5212080" cy="320040"/>
          </a:xfrm>
          <a:prstGeom prst="rect">
            <a:avLst/>
          </a:prstGeom>
          <a:noFill/>
        </p:spPr>
        <p:txBody>
          <a:bodyPr wrap="square" anchor="t">
            <a:spAutoFit/>
          </a:bodyPr>
          <a:lstStyle/>
          <a:p>
            <a:pPr algn="l"/>
            <a:r>
              <a:rPr sz="1200" b="1" i="0">
                <a:solidFill>
                  <a:srgbClr val="D97706"/>
                </a:solidFill>
              </a:rPr>
              <a:t>Style guardrails baked into the prompt</a:t>
            </a:r>
          </a:p>
        </p:txBody>
      </p:sp>
      <p:sp>
        <p:nvSpPr>
          <p:cNvPr id="26" name="TextBox 25"/>
          <p:cNvSpPr txBox="1"/>
          <p:nvPr/>
        </p:nvSpPr>
        <p:spPr>
          <a:xfrm>
            <a:off x="6355080" y="5120640"/>
            <a:ext cx="5212080" cy="1143000"/>
          </a:xfrm>
          <a:prstGeom prst="rect">
            <a:avLst/>
          </a:prstGeom>
          <a:noFill/>
        </p:spPr>
        <p:txBody>
          <a:bodyPr wrap="square">
            <a:spAutoFit/>
          </a:bodyPr>
          <a:lstStyle/>
          <a:p>
            <a:pPr>
              <a:spcAft>
                <a:spcPts val="400"/>
              </a:spcAft>
            </a:pPr>
            <a:r>
              <a:rPr sz="1000" b="0">
                <a:solidFill>
                  <a:srgbClr val="333333"/>
                </a:solidFill>
              </a:rPr>
              <a:t>•  2 – 4 sentences, empathetic, specific</a:t>
            </a:r>
          </a:p>
          <a:p>
            <a:pPr>
              <a:spcAft>
                <a:spcPts val="400"/>
              </a:spcAft>
            </a:pPr>
            <a:r>
              <a:rPr sz="1000" b="0">
                <a:solidFill>
                  <a:srgbClr val="333333"/>
                </a:solidFill>
              </a:rPr>
              <a:t>•  No corporate jargon, no hashtags, no emojis</a:t>
            </a:r>
          </a:p>
          <a:p>
            <a:pPr>
              <a:spcAft>
                <a:spcPts val="400"/>
              </a:spcAft>
            </a:pPr>
            <a:r>
              <a:rPr sz="1000" b="0">
                <a:solidFill>
                  <a:srgbClr val="333333"/>
                </a:solidFill>
              </a:rPr>
              <a:t>•  No unverifiable refund promises  →  DM to continue</a:t>
            </a:r>
          </a:p>
          <a:p>
            <a:pPr>
              <a:spcAft>
                <a:spcPts val="400"/>
              </a:spcAft>
            </a:pPr>
            <a:r>
              <a:rPr sz="1000" b="0">
                <a:solidFill>
                  <a:srgbClr val="333333"/>
                </a:solidFill>
              </a:rPr>
              <a:t>•  Sign off as a person, not a brand</a:t>
            </a:r>
          </a:p>
        </p:txBody>
      </p:sp>
      <p:sp>
        <p:nvSpPr>
          <p:cNvPr id="27" name="TextBox 26"/>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28" name="TextBox 27"/>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6 / 24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Smart Reply  —  Worked Example  (all three drafts real, live-captured)</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raw_posts.id = reddit_1u2bgdw  ·  r/samsclub  ·  gateway ✓  ·  Ollama ✓  ·  Smart Composer ✓</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914400"/>
            <a:ext cx="11247120" cy="1874519"/>
          </a:xfrm>
          <a:prstGeom prst="rect">
            <a:avLst/>
          </a:prstGeom>
          <a:solidFill>
            <a:srgbClr val="FEF3C7"/>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987552"/>
            <a:ext cx="10972800" cy="320040"/>
          </a:xfrm>
          <a:prstGeom prst="rect">
            <a:avLst/>
          </a:prstGeom>
          <a:noFill/>
        </p:spPr>
        <p:txBody>
          <a:bodyPr wrap="square" anchor="t">
            <a:spAutoFit/>
          </a:bodyPr>
          <a:lstStyle/>
          <a:p>
            <a:pPr algn="l"/>
            <a:r>
              <a:rPr sz="1100" b="1" i="0">
                <a:solidFill>
                  <a:srgbClr val="D97706"/>
                </a:solidFill>
              </a:rPr>
              <a:t>CUSTOMER COMPLAINT  ·  r/samsclub</a:t>
            </a:r>
          </a:p>
        </p:txBody>
      </p:sp>
      <p:sp>
        <p:nvSpPr>
          <p:cNvPr id="8" name="TextBox 7"/>
          <p:cNvSpPr txBox="1"/>
          <p:nvPr/>
        </p:nvSpPr>
        <p:spPr>
          <a:xfrm>
            <a:off x="640080" y="1280160"/>
            <a:ext cx="10972800" cy="292608"/>
          </a:xfrm>
          <a:prstGeom prst="rect">
            <a:avLst/>
          </a:prstGeom>
          <a:noFill/>
        </p:spPr>
        <p:txBody>
          <a:bodyPr wrap="square" anchor="t">
            <a:spAutoFit/>
          </a:bodyPr>
          <a:lstStyle/>
          <a:p>
            <a:pPr algn="l"/>
            <a:r>
              <a:rPr sz="1200" b="1" i="0">
                <a:solidFill>
                  <a:srgbClr val="041E42"/>
                </a:solidFill>
              </a:rPr>
              <a:t>Why do you guys sell whole pizzas made hours ago to customers?</a:t>
            </a:r>
          </a:p>
        </p:txBody>
      </p:sp>
      <p:sp>
        <p:nvSpPr>
          <p:cNvPr id="9" name="TextBox 8"/>
          <p:cNvSpPr txBox="1"/>
          <p:nvPr/>
        </p:nvSpPr>
        <p:spPr>
          <a:xfrm>
            <a:off x="640080" y="1572768"/>
            <a:ext cx="10972800" cy="822960"/>
          </a:xfrm>
          <a:prstGeom prst="rect">
            <a:avLst/>
          </a:prstGeom>
          <a:noFill/>
        </p:spPr>
        <p:txBody>
          <a:bodyPr wrap="square" anchor="t">
            <a:spAutoFit/>
          </a:bodyPr>
          <a:lstStyle/>
          <a:p>
            <a:pPr algn="l"/>
            <a:r>
              <a:rPr sz="1000" b="0" i="0">
                <a:solidFill>
                  <a:srgbClr val="333333"/>
                </a:solidFill>
              </a:rPr>
              <a:t>"The very few times I've gotten a whole pie, it'll be stuff premade and left in the hot case for like an hour 30mins before it's in my hand. How can I tell? They put a sticker with the date and the pizza looks and taste hours old. Pizza is meant to be made to order and waited for."</a:t>
            </a:r>
          </a:p>
        </p:txBody>
      </p:sp>
      <p:sp>
        <p:nvSpPr>
          <p:cNvPr id="10" name="TextBox 9"/>
          <p:cNvSpPr txBox="1"/>
          <p:nvPr/>
        </p:nvSpPr>
        <p:spPr>
          <a:xfrm>
            <a:off x="640080" y="2377440"/>
            <a:ext cx="7772400" cy="256032"/>
          </a:xfrm>
          <a:prstGeom prst="rect">
            <a:avLst/>
          </a:prstGeom>
          <a:noFill/>
        </p:spPr>
        <p:txBody>
          <a:bodyPr wrap="square" anchor="t">
            <a:spAutoFit/>
          </a:bodyPr>
          <a:lstStyle/>
          <a:p>
            <a:pPr algn="l"/>
            <a:r>
              <a:rPr sz="900" b="0" i="0">
                <a:solidFill>
                  <a:srgbClr val="666666"/>
                </a:solidFill>
              </a:rPr>
              <a:t>ModernBERT: negative (conf 0.9999997)  ·  aspects: customer service · product quality · store experience  ·  trust 0.66</a:t>
            </a:r>
          </a:p>
        </p:txBody>
      </p:sp>
      <p:sp>
        <p:nvSpPr>
          <p:cNvPr id="11" name="TextBox 10"/>
          <p:cNvSpPr txBox="1"/>
          <p:nvPr/>
        </p:nvSpPr>
        <p:spPr>
          <a:xfrm>
            <a:off x="8458200" y="2377440"/>
            <a:ext cx="3200400" cy="256032"/>
          </a:xfrm>
          <a:prstGeom prst="rect">
            <a:avLst/>
          </a:prstGeom>
          <a:noFill/>
        </p:spPr>
        <p:txBody>
          <a:bodyPr wrap="square">
            <a:spAutoFit/>
          </a:bodyPr>
          <a:lstStyle/>
          <a:p>
            <a:pPr algn="r"/>
            <a:r>
              <a:rPr sz="900" b="1" u="sng">
                <a:solidFill>
                  <a:srgbClr val="0071DC"/>
                </a:solidFill>
                <a:hlinkClick r:id="rId2"/>
              </a:rPr>
              <a:t>🔗 Open original on Reddit</a:t>
            </a:r>
          </a:p>
        </p:txBody>
      </p:sp>
      <p:sp>
        <p:nvSpPr>
          <p:cNvPr id="12" name="Rectangle 11"/>
          <p:cNvSpPr/>
          <p:nvPr/>
        </p:nvSpPr>
        <p:spPr>
          <a:xfrm>
            <a:off x="365760" y="2788920"/>
            <a:ext cx="3794760" cy="2423160"/>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65760" y="2788920"/>
            <a:ext cx="3794760" cy="384048"/>
          </a:xfrm>
          <a:prstGeom prst="rect">
            <a:avLst/>
          </a:prstGeom>
          <a:solidFill>
            <a:srgbClr val="007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2834640"/>
            <a:ext cx="3794760" cy="320040"/>
          </a:xfrm>
          <a:prstGeom prst="rect">
            <a:avLst/>
          </a:prstGeom>
          <a:noFill/>
        </p:spPr>
        <p:txBody>
          <a:bodyPr wrap="square" anchor="t">
            <a:spAutoFit/>
          </a:bodyPr>
          <a:lstStyle/>
          <a:p>
            <a:pPr algn="ctr"/>
            <a:r>
              <a:rPr sz="1100" b="1" i="0">
                <a:solidFill>
                  <a:srgbClr val="FFFFFF"/>
                </a:solidFill>
              </a:rPr>
              <a:t>A · GPT-4o  (Walmart Gateway)</a:t>
            </a:r>
          </a:p>
        </p:txBody>
      </p:sp>
      <p:sp>
        <p:nvSpPr>
          <p:cNvPr id="15" name="TextBox 14"/>
          <p:cNvSpPr txBox="1"/>
          <p:nvPr/>
        </p:nvSpPr>
        <p:spPr>
          <a:xfrm>
            <a:off x="502920" y="3264408"/>
            <a:ext cx="3520440" cy="1874520"/>
          </a:xfrm>
          <a:prstGeom prst="rect">
            <a:avLst/>
          </a:prstGeom>
          <a:noFill/>
        </p:spPr>
        <p:txBody>
          <a:bodyPr wrap="square" anchor="t">
            <a:spAutoFit/>
          </a:bodyPr>
          <a:lstStyle/>
          <a:p>
            <a:pPr algn="l"/>
            <a:r>
              <a:rPr sz="1000" b="0" i="0">
                <a:solidFill>
                  <a:srgbClr val="333333"/>
                </a:solidFill>
              </a:rPr>
              <a:t>Hi u/there, I'm sorry to hear about your experience with the pizzas. I understand how disappointing it must be to get something that feels less fresh than expected. While the hot case is meant to provide convenience, I agree that quality should never be sacrificed. If you'd like, feel free to DM me with the details of your store location so we can look into this and address it properly. – [Your Name]</a:t>
            </a:r>
          </a:p>
        </p:txBody>
      </p:sp>
      <p:sp>
        <p:nvSpPr>
          <p:cNvPr id="16" name="Rectangle 15"/>
          <p:cNvSpPr/>
          <p:nvPr/>
        </p:nvSpPr>
        <p:spPr>
          <a:xfrm>
            <a:off x="4297680" y="2788920"/>
            <a:ext cx="3794760" cy="2423160"/>
          </a:xfrm>
          <a:prstGeom prst="rect">
            <a:avLst/>
          </a:prstGeom>
          <a:solidFill>
            <a:srgbClr val="EDE9FE"/>
          </a:solidFill>
          <a:ln>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97680" y="2788920"/>
            <a:ext cx="3794760"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97680" y="2834640"/>
            <a:ext cx="3794760" cy="320040"/>
          </a:xfrm>
          <a:prstGeom prst="rect">
            <a:avLst/>
          </a:prstGeom>
          <a:noFill/>
        </p:spPr>
        <p:txBody>
          <a:bodyPr wrap="square" anchor="t">
            <a:spAutoFit/>
          </a:bodyPr>
          <a:lstStyle/>
          <a:p>
            <a:pPr algn="ctr"/>
            <a:r>
              <a:rPr sz="1100" b="1" i="0">
                <a:solidFill>
                  <a:srgbClr val="FFFFFF"/>
                </a:solidFill>
              </a:rPr>
              <a:t>B · Mistral 7B  (local Ollama)</a:t>
            </a:r>
          </a:p>
        </p:txBody>
      </p:sp>
      <p:sp>
        <p:nvSpPr>
          <p:cNvPr id="19" name="TextBox 18"/>
          <p:cNvSpPr txBox="1"/>
          <p:nvPr/>
        </p:nvSpPr>
        <p:spPr>
          <a:xfrm>
            <a:off x="4434840" y="3264408"/>
            <a:ext cx="3520440" cy="1874520"/>
          </a:xfrm>
          <a:prstGeom prst="rect">
            <a:avLst/>
          </a:prstGeom>
          <a:noFill/>
        </p:spPr>
        <p:txBody>
          <a:bodyPr wrap="square" anchor="t">
            <a:spAutoFit/>
          </a:bodyPr>
          <a:lstStyle/>
          <a:p>
            <a:pPr algn="l"/>
            <a:r>
              <a:rPr sz="1000" b="0" i="0">
                <a:solidFill>
                  <a:srgbClr val="333333"/>
                </a:solidFill>
              </a:rPr>
              <a:t>Hi u/there, I appreciate your concern about the quality of our prepared pizzas. It's important to us that our customers receive fresh and delicious food. The stickers with dates are there to help us manage the rotation of our products, ensuring they are consumed before they become stale. If you ever encounter a pizza that doesn't meet your expectations, please feel free to DM me the details of your order so I can look into it further. Thank you for taking the time to share your feedback.</a:t>
            </a:r>
          </a:p>
        </p:txBody>
      </p:sp>
      <p:sp>
        <p:nvSpPr>
          <p:cNvPr id="20" name="Rectangle 19"/>
          <p:cNvSpPr/>
          <p:nvPr/>
        </p:nvSpPr>
        <p:spPr>
          <a:xfrm>
            <a:off x="8229600" y="2788920"/>
            <a:ext cx="3794760" cy="2423160"/>
          </a:xfrm>
          <a:prstGeom prst="rect">
            <a:avLst/>
          </a:prstGeom>
          <a:solidFill>
            <a:srgbClr val="DCFCE7"/>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229600" y="2788920"/>
            <a:ext cx="3794760"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0" y="2834640"/>
            <a:ext cx="3794760" cy="320040"/>
          </a:xfrm>
          <a:prstGeom prst="rect">
            <a:avLst/>
          </a:prstGeom>
          <a:noFill/>
        </p:spPr>
        <p:txBody>
          <a:bodyPr wrap="square" anchor="t">
            <a:spAutoFit/>
          </a:bodyPr>
          <a:lstStyle/>
          <a:p>
            <a:pPr algn="ctr"/>
            <a:r>
              <a:rPr sz="1100" b="1" i="0">
                <a:solidFill>
                  <a:srgbClr val="FFFFFF"/>
                </a:solidFill>
              </a:rPr>
              <a:t>C · Smart Composer  (no-LLM)</a:t>
            </a:r>
          </a:p>
        </p:txBody>
      </p:sp>
      <p:sp>
        <p:nvSpPr>
          <p:cNvPr id="23" name="TextBox 22"/>
          <p:cNvSpPr txBox="1"/>
          <p:nvPr/>
        </p:nvSpPr>
        <p:spPr>
          <a:xfrm>
            <a:off x="8366760" y="3264408"/>
            <a:ext cx="3520440" cy="1874520"/>
          </a:xfrm>
          <a:prstGeom prst="rect">
            <a:avLst/>
          </a:prstGeom>
          <a:noFill/>
        </p:spPr>
        <p:txBody>
          <a:bodyPr wrap="square" anchor="t">
            <a:spAutoFit/>
          </a:bodyPr>
          <a:lstStyle/>
          <a:p>
            <a:pPr algn="l"/>
            <a:r>
              <a:rPr sz="1000" b="0" i="0">
                <a:solidFill>
                  <a:srgbClr val="333333"/>
                </a:solidFill>
              </a:rPr>
              <a:t>Hi u/there — thanks for flagging this. completely understand the frustration around your order. Drop us a private message with the order # or store info and we'll take it from here. — Walmart Care</a:t>
            </a:r>
          </a:p>
        </p:txBody>
      </p:sp>
      <p:sp>
        <p:nvSpPr>
          <p:cNvPr id="24" name="Rectangle 23"/>
          <p:cNvSpPr/>
          <p:nvPr/>
        </p:nvSpPr>
        <p:spPr>
          <a:xfrm>
            <a:off x="457200" y="5394960"/>
            <a:ext cx="11247120" cy="960120"/>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5468112"/>
            <a:ext cx="10972800" cy="320040"/>
          </a:xfrm>
          <a:prstGeom prst="rect">
            <a:avLst/>
          </a:prstGeom>
          <a:noFill/>
        </p:spPr>
        <p:txBody>
          <a:bodyPr wrap="square" anchor="t">
            <a:spAutoFit/>
          </a:bodyPr>
          <a:lstStyle/>
          <a:p>
            <a:pPr algn="l"/>
            <a:r>
              <a:rPr sz="1100" b="1" i="0">
                <a:solidFill>
                  <a:srgbClr val="0071DC"/>
                </a:solidFill>
              </a:rPr>
              <a:t>WHAT HAPPENS NEXT</a:t>
            </a:r>
          </a:p>
        </p:txBody>
      </p:sp>
      <p:sp>
        <p:nvSpPr>
          <p:cNvPr id="26" name="TextBox 25"/>
          <p:cNvSpPr txBox="1"/>
          <p:nvPr/>
        </p:nvSpPr>
        <p:spPr>
          <a:xfrm>
            <a:off x="640080" y="5760720"/>
            <a:ext cx="10972800" cy="548640"/>
          </a:xfrm>
          <a:prstGeom prst="rect">
            <a:avLst/>
          </a:prstGeom>
          <a:noFill/>
        </p:spPr>
        <p:txBody>
          <a:bodyPr wrap="square" anchor="t">
            <a:spAutoFit/>
          </a:bodyPr>
          <a:lstStyle/>
          <a:p>
            <a:pPr algn="l"/>
            <a:r>
              <a:rPr sz="1100" b="0" i="0">
                <a:solidFill>
                  <a:srgbClr val="333333"/>
                </a:solidFill>
              </a:rPr>
              <a:t>One prompt fed to all three engines.  Analyst picks the best draft, edits inline, clicks Save &amp; Open Reddit  →  the posted reply is written to  feedback  and becomes the next post's top few-shot example.</a:t>
            </a:r>
          </a:p>
        </p:txBody>
      </p:sp>
      <p:sp>
        <p:nvSpPr>
          <p:cNvPr id="27" name="TextBox 26"/>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28" name="TextBox 27"/>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7 / 24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Learning Loop  —  Feedback → Retraining</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Every human action becomes a training signal  —  hot loop (live) + warm loop (monthly)</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960120"/>
            <a:ext cx="2788920" cy="1051560"/>
          </a:xfrm>
          <a:prstGeom prst="rect">
            <a:avLst/>
          </a:prstGeom>
          <a:solidFill>
            <a:srgbClr val="F5F5F5"/>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960120"/>
            <a:ext cx="2788920" cy="320040"/>
          </a:xfrm>
          <a:prstGeom prst="rect">
            <a:avLst/>
          </a:prstGeom>
          <a:solidFill>
            <a:srgbClr val="007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005840"/>
            <a:ext cx="2788920" cy="274320"/>
          </a:xfrm>
          <a:prstGeom prst="rect">
            <a:avLst/>
          </a:prstGeom>
          <a:noFill/>
        </p:spPr>
        <p:txBody>
          <a:bodyPr wrap="square" anchor="t">
            <a:spAutoFit/>
          </a:bodyPr>
          <a:lstStyle/>
          <a:p>
            <a:pPr algn="ctr"/>
            <a:r>
              <a:rPr sz="1100" b="1" i="0">
                <a:solidFill>
                  <a:srgbClr val="FFFFFF"/>
                </a:solidFill>
              </a:rPr>
              <a:t>Label / aspect correction</a:t>
            </a:r>
          </a:p>
        </p:txBody>
      </p:sp>
      <p:sp>
        <p:nvSpPr>
          <p:cNvPr id="9" name="TextBox 8"/>
          <p:cNvSpPr txBox="1"/>
          <p:nvPr/>
        </p:nvSpPr>
        <p:spPr>
          <a:xfrm>
            <a:off x="365760" y="1417320"/>
            <a:ext cx="2788920" cy="594360"/>
          </a:xfrm>
          <a:prstGeom prst="rect">
            <a:avLst/>
          </a:prstGeom>
          <a:noFill/>
        </p:spPr>
        <p:txBody>
          <a:bodyPr wrap="square" anchor="ctr">
            <a:spAutoFit/>
          </a:bodyPr>
          <a:lstStyle/>
          <a:p>
            <a:pPr algn="ctr"/>
            <a:r>
              <a:rPr sz="1100" b="0" i="0">
                <a:solidFill>
                  <a:srgbClr val="333333"/>
                </a:solidFill>
              </a:rPr>
              <a:t>Review &amp; Validate</a:t>
            </a:r>
          </a:p>
        </p:txBody>
      </p:sp>
      <p:sp>
        <p:nvSpPr>
          <p:cNvPr id="10" name="Rectangle 9"/>
          <p:cNvSpPr/>
          <p:nvPr/>
        </p:nvSpPr>
        <p:spPr>
          <a:xfrm>
            <a:off x="3291840" y="960120"/>
            <a:ext cx="2788920" cy="1051560"/>
          </a:xfrm>
          <a:prstGeom prst="rect">
            <a:avLst/>
          </a:prstGeom>
          <a:solidFill>
            <a:srgbClr val="F5F5F5"/>
          </a:solidFill>
          <a:ln>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91840" y="960120"/>
            <a:ext cx="2788920" cy="3200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91840" y="1005840"/>
            <a:ext cx="2788920" cy="274320"/>
          </a:xfrm>
          <a:prstGeom prst="rect">
            <a:avLst/>
          </a:prstGeom>
          <a:noFill/>
        </p:spPr>
        <p:txBody>
          <a:bodyPr wrap="square" anchor="t">
            <a:spAutoFit/>
          </a:bodyPr>
          <a:lstStyle/>
          <a:p>
            <a:pPr algn="ctr"/>
            <a:r>
              <a:rPr sz="1100" b="1" i="0">
                <a:solidFill>
                  <a:srgbClr val="FFFFFF"/>
                </a:solidFill>
              </a:rPr>
              <a:t>Trust-score override</a:t>
            </a:r>
          </a:p>
        </p:txBody>
      </p:sp>
      <p:sp>
        <p:nvSpPr>
          <p:cNvPr id="13" name="TextBox 12"/>
          <p:cNvSpPr txBox="1"/>
          <p:nvPr/>
        </p:nvSpPr>
        <p:spPr>
          <a:xfrm>
            <a:off x="3291840" y="1417320"/>
            <a:ext cx="2788920" cy="594360"/>
          </a:xfrm>
          <a:prstGeom prst="rect">
            <a:avLst/>
          </a:prstGeom>
          <a:noFill/>
        </p:spPr>
        <p:txBody>
          <a:bodyPr wrap="square" anchor="ctr">
            <a:spAutoFit/>
          </a:bodyPr>
          <a:lstStyle/>
          <a:p>
            <a:pPr algn="ctr"/>
            <a:r>
              <a:rPr sz="1100" b="0" i="0">
                <a:solidFill>
                  <a:srgbClr val="333333"/>
                </a:solidFill>
              </a:rPr>
              <a:t>Review &amp; Validate</a:t>
            </a:r>
          </a:p>
        </p:txBody>
      </p:sp>
      <p:sp>
        <p:nvSpPr>
          <p:cNvPr id="14" name="Rectangle 13"/>
          <p:cNvSpPr/>
          <p:nvPr/>
        </p:nvSpPr>
        <p:spPr>
          <a:xfrm>
            <a:off x="6217920" y="960120"/>
            <a:ext cx="2788920" cy="1051560"/>
          </a:xfrm>
          <a:prstGeom prst="rect">
            <a:avLst/>
          </a:prstGeom>
          <a:solidFill>
            <a:srgbClr val="F5F5F5"/>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960120"/>
            <a:ext cx="2788920" cy="3200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0" y="1005840"/>
            <a:ext cx="2788920" cy="274320"/>
          </a:xfrm>
          <a:prstGeom prst="rect">
            <a:avLst/>
          </a:prstGeom>
          <a:noFill/>
        </p:spPr>
        <p:txBody>
          <a:bodyPr wrap="square" anchor="t">
            <a:spAutoFit/>
          </a:bodyPr>
          <a:lstStyle/>
          <a:p>
            <a:pPr algn="ctr"/>
            <a:r>
              <a:rPr sz="1100" b="1" i="0">
                <a:solidFill>
                  <a:srgbClr val="FFFFFF"/>
                </a:solidFill>
              </a:rPr>
              <a:t>Posted reply</a:t>
            </a:r>
          </a:p>
        </p:txBody>
      </p:sp>
      <p:sp>
        <p:nvSpPr>
          <p:cNvPr id="17" name="TextBox 16"/>
          <p:cNvSpPr txBox="1"/>
          <p:nvPr/>
        </p:nvSpPr>
        <p:spPr>
          <a:xfrm>
            <a:off x="6217920" y="1417320"/>
            <a:ext cx="2788920" cy="594360"/>
          </a:xfrm>
          <a:prstGeom prst="rect">
            <a:avLst/>
          </a:prstGeom>
          <a:noFill/>
        </p:spPr>
        <p:txBody>
          <a:bodyPr wrap="square" anchor="ctr">
            <a:spAutoFit/>
          </a:bodyPr>
          <a:lstStyle/>
          <a:p>
            <a:pPr algn="ctr"/>
            <a:r>
              <a:rPr sz="1100" b="0" i="0">
                <a:solidFill>
                  <a:srgbClr val="333333"/>
                </a:solidFill>
              </a:rPr>
              <a:t>Smart Reply Composer</a:t>
            </a:r>
          </a:p>
        </p:txBody>
      </p:sp>
      <p:sp>
        <p:nvSpPr>
          <p:cNvPr id="18" name="Rectangle 17"/>
          <p:cNvSpPr/>
          <p:nvPr/>
        </p:nvSpPr>
        <p:spPr>
          <a:xfrm>
            <a:off x="9144000" y="960120"/>
            <a:ext cx="2788920" cy="1051560"/>
          </a:xfrm>
          <a:prstGeom prst="rect">
            <a:avLst/>
          </a:prstGeom>
          <a:solidFill>
            <a:srgbClr val="F5F5F5"/>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144000" y="960120"/>
            <a:ext cx="2788920" cy="3200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0" y="1005840"/>
            <a:ext cx="2788920" cy="274320"/>
          </a:xfrm>
          <a:prstGeom prst="rect">
            <a:avLst/>
          </a:prstGeom>
          <a:noFill/>
        </p:spPr>
        <p:txBody>
          <a:bodyPr wrap="square" anchor="t">
            <a:spAutoFit/>
          </a:bodyPr>
          <a:lstStyle/>
          <a:p>
            <a:pPr algn="ctr"/>
            <a:r>
              <a:rPr sz="1100" b="1" i="0">
                <a:solidFill>
                  <a:srgbClr val="FFFFFF"/>
                </a:solidFill>
              </a:rPr>
              <a:t>Lifecycle transition</a:t>
            </a:r>
          </a:p>
        </p:txBody>
      </p:sp>
      <p:sp>
        <p:nvSpPr>
          <p:cNvPr id="21" name="TextBox 20"/>
          <p:cNvSpPr txBox="1"/>
          <p:nvPr/>
        </p:nvSpPr>
        <p:spPr>
          <a:xfrm>
            <a:off x="9144000" y="1417320"/>
            <a:ext cx="2788920" cy="594360"/>
          </a:xfrm>
          <a:prstGeom prst="rect">
            <a:avLst/>
          </a:prstGeom>
          <a:noFill/>
        </p:spPr>
        <p:txBody>
          <a:bodyPr wrap="square" anchor="ctr">
            <a:spAutoFit/>
          </a:bodyPr>
          <a:lstStyle/>
          <a:p>
            <a:pPr algn="ctr"/>
            <a:r>
              <a:rPr sz="1100" b="0" i="0">
                <a:solidFill>
                  <a:srgbClr val="333333"/>
                </a:solidFill>
              </a:rPr>
              <a:t>Kanban board</a:t>
            </a:r>
          </a:p>
        </p:txBody>
      </p:sp>
      <p:sp>
        <p:nvSpPr>
          <p:cNvPr id="22" name="Rectangle 21"/>
          <p:cNvSpPr/>
          <p:nvPr/>
        </p:nvSpPr>
        <p:spPr>
          <a:xfrm>
            <a:off x="457200" y="2286000"/>
            <a:ext cx="11247120" cy="640080"/>
          </a:xfrm>
          <a:prstGeom prst="rect">
            <a:avLst/>
          </a:prstGeom>
          <a:solidFill>
            <a:srgbClr val="041E42"/>
          </a:solidFill>
          <a:ln>
            <a:solidFill>
              <a:srgbClr val="041E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2331720"/>
            <a:ext cx="10972800" cy="548640"/>
          </a:xfrm>
          <a:prstGeom prst="rect">
            <a:avLst/>
          </a:prstGeom>
          <a:noFill/>
        </p:spPr>
        <p:txBody>
          <a:bodyPr wrap="square" anchor="ctr">
            <a:spAutoFit/>
          </a:bodyPr>
          <a:lstStyle/>
          <a:p>
            <a:pPr algn="ctr"/>
            <a:r>
              <a:rPr sz="1200" b="1" i="0">
                <a:solidFill>
                  <a:srgbClr val="FFFFFF"/>
                </a:solidFill>
              </a:rPr>
              <a:t>feedback  table  —  one row per human action, JSON payload, partition_key = analyst_id</a:t>
            </a:r>
          </a:p>
        </p:txBody>
      </p:sp>
      <p:sp>
        <p:nvSpPr>
          <p:cNvPr id="24" name="Rectangle 23"/>
          <p:cNvSpPr/>
          <p:nvPr/>
        </p:nvSpPr>
        <p:spPr>
          <a:xfrm>
            <a:off x="457200" y="3108960"/>
            <a:ext cx="5532120" cy="2286000"/>
          </a:xfrm>
          <a:prstGeom prst="rect">
            <a:avLst/>
          </a:prstGeom>
          <a:solidFill>
            <a:srgbClr val="DCFCE7"/>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3200400"/>
            <a:ext cx="5212080" cy="320040"/>
          </a:xfrm>
          <a:prstGeom prst="rect">
            <a:avLst/>
          </a:prstGeom>
          <a:noFill/>
        </p:spPr>
        <p:txBody>
          <a:bodyPr wrap="square" anchor="t">
            <a:spAutoFit/>
          </a:bodyPr>
          <a:lstStyle/>
          <a:p>
            <a:pPr algn="l"/>
            <a:r>
              <a:rPr sz="1300" b="1" i="0">
                <a:solidFill>
                  <a:srgbClr val="10B981"/>
                </a:solidFill>
              </a:rPr>
              <a:t>HOT LOOP  ·  in-context, live</a:t>
            </a:r>
          </a:p>
        </p:txBody>
      </p:sp>
      <p:sp>
        <p:nvSpPr>
          <p:cNvPr id="26" name="TextBox 25"/>
          <p:cNvSpPr txBox="1"/>
          <p:nvPr/>
        </p:nvSpPr>
        <p:spPr>
          <a:xfrm>
            <a:off x="640080" y="3566160"/>
            <a:ext cx="5212080" cy="1783080"/>
          </a:xfrm>
          <a:prstGeom prst="rect">
            <a:avLst/>
          </a:prstGeom>
          <a:noFill/>
        </p:spPr>
        <p:txBody>
          <a:bodyPr wrap="square">
            <a:spAutoFit/>
          </a:bodyPr>
          <a:lstStyle/>
          <a:p>
            <a:pPr>
              <a:spcAft>
                <a:spcPts val="400"/>
              </a:spcAft>
            </a:pPr>
            <a:r>
              <a:rPr sz="1100" b="0">
                <a:solidFill>
                  <a:srgbClr val="333333"/>
                </a:solidFill>
              </a:rPr>
              <a:t>•  Every Generate Drafts click queries feedback</a:t>
            </a:r>
          </a:p>
          <a:p>
            <a:pPr>
              <a:spcAft>
                <a:spcPts val="400"/>
              </a:spcAft>
            </a:pPr>
            <a:r>
              <a:rPr sz="1100" b="0">
                <a:solidFill>
                  <a:srgbClr val="333333"/>
                </a:solidFill>
              </a:rPr>
              <a:t>•  SELECT … WHERE kind = 'auto_reply_posted'</a:t>
            </a:r>
          </a:p>
          <a:p>
            <a:pPr>
              <a:spcAft>
                <a:spcPts val="400"/>
              </a:spcAft>
            </a:pPr>
            <a:r>
              <a:rPr sz="1100" b="0">
                <a:solidFill>
                  <a:srgbClr val="333333"/>
                </a:solidFill>
              </a:rPr>
              <a:t>•  ORDER BY created_at DESC LIMIT 5  →  top 3 pairs</a:t>
            </a:r>
          </a:p>
          <a:p>
            <a:pPr>
              <a:spcAft>
                <a:spcPts val="400"/>
              </a:spcAft>
            </a:pPr>
            <a:r>
              <a:rPr sz="1100" b="0">
                <a:solidFill>
                  <a:srgbClr val="333333"/>
                </a:solidFill>
              </a:rPr>
              <a:t>•  Injected into the prompt as few-shot examples</a:t>
            </a:r>
          </a:p>
          <a:p>
            <a:pPr>
              <a:spcAft>
                <a:spcPts val="400"/>
              </a:spcAft>
            </a:pPr>
            <a:r>
              <a:rPr sz="1100" b="0">
                <a:solidFill>
                  <a:srgbClr val="333333"/>
                </a:solidFill>
              </a:rPr>
              <a:t>•  Effect visible on the next reply  —  no training</a:t>
            </a:r>
          </a:p>
        </p:txBody>
      </p:sp>
      <p:sp>
        <p:nvSpPr>
          <p:cNvPr id="27" name="Rectangle 26"/>
          <p:cNvSpPr/>
          <p:nvPr/>
        </p:nvSpPr>
        <p:spPr>
          <a:xfrm>
            <a:off x="6172200" y="3108960"/>
            <a:ext cx="5532120" cy="2286000"/>
          </a:xfrm>
          <a:prstGeom prst="rect">
            <a:avLst/>
          </a:prstGeom>
          <a:solidFill>
            <a:srgbClr val="EDE9FE"/>
          </a:solidFill>
          <a:ln>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55080" y="3200400"/>
            <a:ext cx="5212080" cy="320040"/>
          </a:xfrm>
          <a:prstGeom prst="rect">
            <a:avLst/>
          </a:prstGeom>
          <a:noFill/>
        </p:spPr>
        <p:txBody>
          <a:bodyPr wrap="square" anchor="t">
            <a:spAutoFit/>
          </a:bodyPr>
          <a:lstStyle/>
          <a:p>
            <a:pPr algn="l"/>
            <a:r>
              <a:rPr sz="1300" b="1" i="0">
                <a:solidFill>
                  <a:srgbClr val="7C3AED"/>
                </a:solidFill>
              </a:rPr>
              <a:t>WARM LOOP  ·  supervised, monthly</a:t>
            </a:r>
          </a:p>
        </p:txBody>
      </p:sp>
      <p:sp>
        <p:nvSpPr>
          <p:cNvPr id="29" name="TextBox 28"/>
          <p:cNvSpPr txBox="1"/>
          <p:nvPr/>
        </p:nvSpPr>
        <p:spPr>
          <a:xfrm>
            <a:off x="6355080" y="3566160"/>
            <a:ext cx="5212080" cy="1783080"/>
          </a:xfrm>
          <a:prstGeom prst="rect">
            <a:avLst/>
          </a:prstGeom>
          <a:noFill/>
        </p:spPr>
        <p:txBody>
          <a:bodyPr wrap="square">
            <a:spAutoFit/>
          </a:bodyPr>
          <a:lstStyle/>
          <a:p>
            <a:pPr>
              <a:spcAft>
                <a:spcPts val="400"/>
              </a:spcAft>
            </a:pPr>
            <a:r>
              <a:rPr sz="1100" b="0">
                <a:solidFill>
                  <a:srgbClr val="333333"/>
                </a:solidFill>
              </a:rPr>
              <a:t>•  Export corrections since last train date</a:t>
            </a:r>
          </a:p>
          <a:p>
            <a:pPr>
              <a:spcAft>
                <a:spcPts val="400"/>
              </a:spcAft>
            </a:pPr>
            <a:r>
              <a:rPr sz="1100" b="0">
                <a:solidFill>
                  <a:srgbClr val="333333"/>
                </a:solidFill>
              </a:rPr>
              <a:t>•  Append to Walmart-200  →  Walmart-N (augmented)</a:t>
            </a:r>
          </a:p>
          <a:p>
            <a:pPr>
              <a:spcAft>
                <a:spcPts val="400"/>
              </a:spcAft>
            </a:pPr>
            <a:r>
              <a:rPr sz="1100" b="0">
                <a:solidFill>
                  <a:srgbClr val="333333"/>
                </a:solidFill>
              </a:rPr>
              <a:t>•  Rerun ModernBERT Stage-3 with 5-fold OOF CV</a:t>
            </a:r>
          </a:p>
          <a:p>
            <a:pPr>
              <a:spcAft>
                <a:spcPts val="400"/>
              </a:spcAft>
            </a:pPr>
            <a:r>
              <a:rPr sz="1100" b="0">
                <a:solidFill>
                  <a:srgbClr val="333333"/>
                </a:solidFill>
              </a:rPr>
              <a:t>•  New checkpoint wins only if OOF F1 improves</a:t>
            </a:r>
          </a:p>
          <a:p>
            <a:pPr>
              <a:spcAft>
                <a:spcPts val="400"/>
              </a:spcAft>
            </a:pPr>
            <a:r>
              <a:rPr sz="1100" b="0">
                <a:solidFill>
                  <a:srgbClr val="333333"/>
                </a:solidFill>
              </a:rPr>
              <a:t>•  Symlink flipped in config/models.yaml</a:t>
            </a:r>
          </a:p>
        </p:txBody>
      </p:sp>
      <p:sp>
        <p:nvSpPr>
          <p:cNvPr id="30" name="Rectangle 29"/>
          <p:cNvSpPr/>
          <p:nvPr/>
        </p:nvSpPr>
        <p:spPr>
          <a:xfrm>
            <a:off x="457200" y="5532120"/>
            <a:ext cx="11247120" cy="777240"/>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5623560"/>
            <a:ext cx="10972800" cy="320040"/>
          </a:xfrm>
          <a:prstGeom prst="rect">
            <a:avLst/>
          </a:prstGeom>
          <a:noFill/>
        </p:spPr>
        <p:txBody>
          <a:bodyPr wrap="square" anchor="t">
            <a:spAutoFit/>
          </a:bodyPr>
          <a:lstStyle/>
          <a:p>
            <a:pPr algn="l"/>
            <a:r>
              <a:rPr sz="1200" b="1" i="0">
                <a:solidFill>
                  <a:srgbClr val="0071DC"/>
                </a:solidFill>
              </a:rPr>
              <a:t>Two failure modes eliminated by design</a:t>
            </a:r>
          </a:p>
        </p:txBody>
      </p:sp>
      <p:sp>
        <p:nvSpPr>
          <p:cNvPr id="32" name="TextBox 31"/>
          <p:cNvSpPr txBox="1"/>
          <p:nvPr/>
        </p:nvSpPr>
        <p:spPr>
          <a:xfrm>
            <a:off x="640080" y="5943600"/>
            <a:ext cx="10972800" cy="320040"/>
          </a:xfrm>
          <a:prstGeom prst="rect">
            <a:avLst/>
          </a:prstGeom>
          <a:noFill/>
        </p:spPr>
        <p:txBody>
          <a:bodyPr wrap="square" anchor="t">
            <a:spAutoFit/>
          </a:bodyPr>
          <a:lstStyle/>
          <a:p>
            <a:pPr algn="l"/>
            <a:r>
              <a:rPr sz="1100" b="0" i="0">
                <a:solidFill>
                  <a:srgbClr val="333333"/>
                </a:solidFill>
              </a:rPr>
              <a:t>(1)  hot loop uses in-context learning  —  no retrain, no catastrophic forgetting.   (2)  warm loop uses 5-fold OOF CV  —  no leakage between train and eval sets.</a:t>
            </a:r>
          </a:p>
        </p:txBody>
      </p:sp>
      <p:sp>
        <p:nvSpPr>
          <p:cNvPr id="33" name="TextBox 32"/>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34" name="TextBox 33"/>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8 / 24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Post Explorer  —  Multi-Facet Search</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Find the exact 20 posts an analyst needs to look at today</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914400"/>
            <a:ext cx="5486400" cy="320040"/>
          </a:xfrm>
          <a:prstGeom prst="rect">
            <a:avLst/>
          </a:prstGeom>
          <a:noFill/>
        </p:spPr>
        <p:txBody>
          <a:bodyPr wrap="square" anchor="t">
            <a:spAutoFit/>
          </a:bodyPr>
          <a:lstStyle/>
          <a:p>
            <a:pPr algn="l"/>
            <a:r>
              <a:rPr sz="1100" b="1" i="0">
                <a:solidFill>
                  <a:srgbClr val="0071DC"/>
                </a:solidFill>
              </a:rPr>
              <a:t>FACETS</a:t>
            </a:r>
          </a:p>
        </p:txBody>
      </p:sp>
      <p:sp>
        <p:nvSpPr>
          <p:cNvPr id="7" name="TextBox 6"/>
          <p:cNvSpPr txBox="1"/>
          <p:nvPr/>
        </p:nvSpPr>
        <p:spPr>
          <a:xfrm>
            <a:off x="457200" y="1234440"/>
            <a:ext cx="5486400" cy="2468880"/>
          </a:xfrm>
          <a:prstGeom prst="rect">
            <a:avLst/>
          </a:prstGeom>
          <a:noFill/>
        </p:spPr>
        <p:txBody>
          <a:bodyPr wrap="square">
            <a:spAutoFit/>
          </a:bodyPr>
          <a:lstStyle/>
          <a:p>
            <a:pPr>
              <a:spcAft>
                <a:spcPts val="400"/>
              </a:spcAft>
            </a:pPr>
            <a:r>
              <a:rPr sz="1200" b="0">
                <a:solidFill>
                  <a:srgbClr val="333333"/>
                </a:solidFill>
              </a:rPr>
              <a:t>•  Sentiment  ·  neg / neu / pos</a:t>
            </a:r>
          </a:p>
          <a:p>
            <a:pPr>
              <a:spcAft>
                <a:spcPts val="400"/>
              </a:spcAft>
            </a:pPr>
            <a:r>
              <a:rPr sz="1200" b="0">
                <a:solidFill>
                  <a:srgbClr val="333333"/>
                </a:solidFill>
              </a:rPr>
              <a:t>•  Confidence slider  (0.50 – 1.00)</a:t>
            </a:r>
          </a:p>
          <a:p>
            <a:pPr>
              <a:spcAft>
                <a:spcPts val="400"/>
              </a:spcAft>
            </a:pPr>
            <a:r>
              <a:rPr sz="1200" b="0">
                <a:solidFill>
                  <a:srgbClr val="333333"/>
                </a:solidFill>
              </a:rPr>
              <a:t>•  Trust-score slider  (0.00 – 1.00)</a:t>
            </a:r>
          </a:p>
          <a:p>
            <a:pPr>
              <a:spcAft>
                <a:spcPts val="400"/>
              </a:spcAft>
            </a:pPr>
            <a:r>
              <a:rPr sz="1200" b="0">
                <a:solidFill>
                  <a:srgbClr val="333333"/>
                </a:solidFill>
              </a:rPr>
              <a:t>•  Subreddit  —  multi-select from 25 tracked</a:t>
            </a:r>
          </a:p>
          <a:p>
            <a:pPr>
              <a:spcAft>
                <a:spcPts val="400"/>
              </a:spcAft>
            </a:pPr>
            <a:r>
              <a:rPr sz="1200" b="0">
                <a:solidFill>
                  <a:srgbClr val="333333"/>
                </a:solidFill>
              </a:rPr>
              <a:t>•  Aspect  —  8-item retail taxonomy</a:t>
            </a:r>
          </a:p>
          <a:p>
            <a:pPr>
              <a:spcAft>
                <a:spcPts val="400"/>
              </a:spcAft>
            </a:pPr>
            <a:r>
              <a:rPr sz="1200" b="0">
                <a:solidFill>
                  <a:srgbClr val="333333"/>
                </a:solidFill>
              </a:rPr>
              <a:t>•  Date range  —  today / week / month / custom</a:t>
            </a:r>
          </a:p>
          <a:p>
            <a:pPr>
              <a:spcAft>
                <a:spcPts val="400"/>
              </a:spcAft>
            </a:pPr>
            <a:r>
              <a:rPr sz="1200" b="0">
                <a:solidFill>
                  <a:srgbClr val="333333"/>
                </a:solidFill>
              </a:rPr>
              <a:t>•  Full-text search  —  title + body</a:t>
            </a:r>
          </a:p>
        </p:txBody>
      </p:sp>
      <p:pic>
        <p:nvPicPr>
          <p:cNvPr id="8" name="Picture 7" descr="post_explorer.png"/>
          <p:cNvPicPr>
            <a:picLocks noChangeAspect="1"/>
          </p:cNvPicPr>
          <p:nvPr/>
        </p:nvPicPr>
        <p:blipFill>
          <a:blip r:embed="rId2"/>
          <a:stretch>
            <a:fillRect/>
          </a:stretch>
        </p:blipFill>
        <p:spPr>
          <a:xfrm>
            <a:off x="6172200" y="914400"/>
            <a:ext cx="5669280" cy="11338560"/>
          </a:xfrm>
          <a:prstGeom prst="rect">
            <a:avLst/>
          </a:prstGeom>
        </p:spPr>
      </p:pic>
      <p:sp>
        <p:nvSpPr>
          <p:cNvPr id="9" name="Rectangle 8"/>
          <p:cNvSpPr/>
          <p:nvPr/>
        </p:nvSpPr>
        <p:spPr>
          <a:xfrm>
            <a:off x="457200" y="3840480"/>
            <a:ext cx="5486400" cy="1371600"/>
          </a:xfrm>
          <a:prstGeom prst="rect">
            <a:avLst/>
          </a:prstGeom>
          <a:solidFill>
            <a:srgbClr val="F5F5F5"/>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950208"/>
            <a:ext cx="5120640" cy="320040"/>
          </a:xfrm>
          <a:prstGeom prst="rect">
            <a:avLst/>
          </a:prstGeom>
          <a:noFill/>
        </p:spPr>
        <p:txBody>
          <a:bodyPr wrap="square" anchor="t">
            <a:spAutoFit/>
          </a:bodyPr>
          <a:lstStyle/>
          <a:p>
            <a:pPr algn="l"/>
            <a:r>
              <a:rPr sz="1100" b="1" i="0">
                <a:solidFill>
                  <a:srgbClr val="0071DC"/>
                </a:solidFill>
              </a:rPr>
              <a:t>PER-POST CARD</a:t>
            </a:r>
          </a:p>
        </p:txBody>
      </p:sp>
      <p:sp>
        <p:nvSpPr>
          <p:cNvPr id="11" name="TextBox 10"/>
          <p:cNvSpPr txBox="1"/>
          <p:nvPr/>
        </p:nvSpPr>
        <p:spPr>
          <a:xfrm>
            <a:off x="640080" y="4251960"/>
            <a:ext cx="5120640" cy="914400"/>
          </a:xfrm>
          <a:prstGeom prst="rect">
            <a:avLst/>
          </a:prstGeom>
          <a:noFill/>
        </p:spPr>
        <p:txBody>
          <a:bodyPr wrap="square" anchor="t">
            <a:spAutoFit/>
          </a:bodyPr>
          <a:lstStyle/>
          <a:p>
            <a:pPr algn="l"/>
            <a:r>
              <a:rPr sz="1100" b="0" i="0">
                <a:solidFill>
                  <a:srgbClr val="333333"/>
                </a:solidFill>
              </a:rPr>
              <a:t>Title + body excerpt  ·  sentiment badge with confidence %  ·  trust tier (H / M / L)  ·  aspect chips  ·  subreddit + timestamp  ·  actions:  Review · Add to Lifecycle · View Details.</a:t>
            </a:r>
          </a:p>
        </p:txBody>
      </p:sp>
      <p:sp>
        <p:nvSpPr>
          <p:cNvPr id="12" name="Rectangle 11"/>
          <p:cNvSpPr/>
          <p:nvPr/>
        </p:nvSpPr>
        <p:spPr>
          <a:xfrm>
            <a:off x="457200" y="5349240"/>
            <a:ext cx="5486400" cy="1051560"/>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5440680"/>
            <a:ext cx="5120640" cy="320040"/>
          </a:xfrm>
          <a:prstGeom prst="rect">
            <a:avLst/>
          </a:prstGeom>
          <a:noFill/>
        </p:spPr>
        <p:txBody>
          <a:bodyPr wrap="square" anchor="t">
            <a:spAutoFit/>
          </a:bodyPr>
          <a:lstStyle/>
          <a:p>
            <a:pPr algn="l"/>
            <a:r>
              <a:rPr sz="1100" b="1" i="0">
                <a:solidFill>
                  <a:srgbClr val="0071DC"/>
                </a:solidFill>
              </a:rPr>
              <a:t>CATALOG TODAY  (live capture)</a:t>
            </a:r>
          </a:p>
        </p:txBody>
      </p:sp>
      <p:sp>
        <p:nvSpPr>
          <p:cNvPr id="14" name="TextBox 13"/>
          <p:cNvSpPr txBox="1"/>
          <p:nvPr/>
        </p:nvSpPr>
        <p:spPr>
          <a:xfrm>
            <a:off x="640080" y="5742432"/>
            <a:ext cx="5120640" cy="640080"/>
          </a:xfrm>
          <a:prstGeom prst="rect">
            <a:avLst/>
          </a:prstGeom>
          <a:noFill/>
        </p:spPr>
        <p:txBody>
          <a:bodyPr wrap="square" anchor="t">
            <a:spAutoFit/>
          </a:bodyPr>
          <a:lstStyle/>
          <a:p>
            <a:pPr algn="l"/>
            <a:r>
              <a:rPr sz="1100" b="0" i="0">
                <a:solidFill>
                  <a:srgbClr val="333333"/>
                </a:solidFill>
              </a:rPr>
              <a:t>83 006 analysed posts  ·  25 subreddits  ·  8 aspects  ·  results paginated at 50 / query.</a:t>
            </a:r>
          </a:p>
        </p:txBody>
      </p:sp>
      <p:sp>
        <p:nvSpPr>
          <p:cNvPr id="15" name="TextBox 14"/>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16" name="TextBox 15"/>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9 / 24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Post Lifecycle  —  Kanban Workflow</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Track a complaint from Triage to Resolved with SLA visibility</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234440"/>
            <a:ext cx="2743200" cy="1737360"/>
          </a:xfrm>
          <a:prstGeom prst="rect">
            <a:avLst/>
          </a:prstGeom>
          <a:solidFill>
            <a:srgbClr val="F5F5F5"/>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34440"/>
            <a:ext cx="2743200" cy="4114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80160"/>
            <a:ext cx="2743200" cy="320040"/>
          </a:xfrm>
          <a:prstGeom prst="rect">
            <a:avLst/>
          </a:prstGeom>
          <a:noFill/>
        </p:spPr>
        <p:txBody>
          <a:bodyPr wrap="square" anchor="t">
            <a:spAutoFit/>
          </a:bodyPr>
          <a:lstStyle/>
          <a:p>
            <a:pPr algn="ctr"/>
            <a:r>
              <a:rPr sz="1300" b="1" i="0">
                <a:solidFill>
                  <a:srgbClr val="FFFFFF"/>
                </a:solidFill>
              </a:rPr>
              <a:t>TRIAGED</a:t>
            </a:r>
          </a:p>
        </p:txBody>
      </p:sp>
      <p:sp>
        <p:nvSpPr>
          <p:cNvPr id="9" name="TextBox 8"/>
          <p:cNvSpPr txBox="1"/>
          <p:nvPr/>
        </p:nvSpPr>
        <p:spPr>
          <a:xfrm>
            <a:off x="457200" y="1737360"/>
            <a:ext cx="2743200" cy="1188720"/>
          </a:xfrm>
          <a:prstGeom prst="rect">
            <a:avLst/>
          </a:prstGeom>
          <a:noFill/>
        </p:spPr>
        <p:txBody>
          <a:bodyPr wrap="square" anchor="ctr">
            <a:spAutoFit/>
          </a:bodyPr>
          <a:lstStyle/>
          <a:p>
            <a:pPr algn="ctr"/>
            <a:r>
              <a:rPr sz="1200" b="0" i="0">
                <a:solidFill>
                  <a:srgbClr val="333333"/>
                </a:solidFill>
              </a:rPr>
              <a:t>New P1 / P2</a:t>
            </a:r>
          </a:p>
          <a:p>
            <a:pPr algn="ctr"/>
            <a:r>
              <a:rPr sz="1200" b="0" i="0">
                <a:solidFill>
                  <a:srgbClr val="333333"/>
                </a:solidFill>
              </a:rPr>
              <a:t>posts land here</a:t>
            </a:r>
          </a:p>
        </p:txBody>
      </p:sp>
      <p:sp>
        <p:nvSpPr>
          <p:cNvPr id="10" name="Right Arrow 9"/>
          <p:cNvSpPr/>
          <p:nvPr/>
        </p:nvSpPr>
        <p:spPr>
          <a:xfrm>
            <a:off x="3204972" y="1920240"/>
            <a:ext cx="137160" cy="365760"/>
          </a:xfrm>
          <a:prstGeom prst="rightArrow">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37560" y="1234440"/>
            <a:ext cx="2743200" cy="1737360"/>
          </a:xfrm>
          <a:prstGeom prst="rect">
            <a:avLst/>
          </a:prstGeom>
          <a:solidFill>
            <a:srgbClr val="F5F5F5"/>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337560" y="1234440"/>
            <a:ext cx="2743200" cy="411480"/>
          </a:xfrm>
          <a:prstGeom prst="rect">
            <a:avLst/>
          </a:prstGeom>
          <a:solidFill>
            <a:srgbClr val="007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37560" y="1280160"/>
            <a:ext cx="2743200" cy="320040"/>
          </a:xfrm>
          <a:prstGeom prst="rect">
            <a:avLst/>
          </a:prstGeom>
          <a:noFill/>
        </p:spPr>
        <p:txBody>
          <a:bodyPr wrap="square" anchor="t">
            <a:spAutoFit/>
          </a:bodyPr>
          <a:lstStyle/>
          <a:p>
            <a:pPr algn="ctr"/>
            <a:r>
              <a:rPr sz="1300" b="1" i="0">
                <a:solidFill>
                  <a:srgbClr val="FFFFFF"/>
                </a:solidFill>
              </a:rPr>
              <a:t>ACKNOWLEDGED</a:t>
            </a:r>
          </a:p>
        </p:txBody>
      </p:sp>
      <p:sp>
        <p:nvSpPr>
          <p:cNvPr id="14" name="TextBox 13"/>
          <p:cNvSpPr txBox="1"/>
          <p:nvPr/>
        </p:nvSpPr>
        <p:spPr>
          <a:xfrm>
            <a:off x="3337560" y="1737360"/>
            <a:ext cx="2743200" cy="1188720"/>
          </a:xfrm>
          <a:prstGeom prst="rect">
            <a:avLst/>
          </a:prstGeom>
          <a:noFill/>
        </p:spPr>
        <p:txBody>
          <a:bodyPr wrap="square" anchor="ctr">
            <a:spAutoFit/>
          </a:bodyPr>
          <a:lstStyle/>
          <a:p>
            <a:pPr algn="ctr"/>
            <a:r>
              <a:rPr sz="1200" b="0" i="0">
                <a:solidFill>
                  <a:srgbClr val="333333"/>
                </a:solidFill>
              </a:rPr>
              <a:t>Assigned</a:t>
            </a:r>
          </a:p>
          <a:p>
            <a:pPr algn="ctr"/>
            <a:r>
              <a:rPr sz="1200" b="0" i="0">
                <a:solidFill>
                  <a:srgbClr val="333333"/>
                </a:solidFill>
              </a:rPr>
              <a:t>to analyst</a:t>
            </a:r>
          </a:p>
        </p:txBody>
      </p:sp>
      <p:sp>
        <p:nvSpPr>
          <p:cNvPr id="15" name="Right Arrow 14"/>
          <p:cNvSpPr/>
          <p:nvPr/>
        </p:nvSpPr>
        <p:spPr>
          <a:xfrm>
            <a:off x="6085332" y="1920240"/>
            <a:ext cx="137160" cy="365760"/>
          </a:xfrm>
          <a:prstGeom prst="rightArrow">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234440"/>
            <a:ext cx="2743200" cy="1737360"/>
          </a:xfrm>
          <a:prstGeom prst="rect">
            <a:avLst/>
          </a:prstGeom>
          <a:solidFill>
            <a:srgbClr val="F5F5F5"/>
          </a:solidFill>
          <a:ln>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17920" y="1234440"/>
            <a:ext cx="2743200" cy="4114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20" y="1280160"/>
            <a:ext cx="2743200" cy="320040"/>
          </a:xfrm>
          <a:prstGeom prst="rect">
            <a:avLst/>
          </a:prstGeom>
          <a:noFill/>
        </p:spPr>
        <p:txBody>
          <a:bodyPr wrap="square" anchor="t">
            <a:spAutoFit/>
          </a:bodyPr>
          <a:lstStyle/>
          <a:p>
            <a:pPr algn="ctr"/>
            <a:r>
              <a:rPr sz="1300" b="1" i="0">
                <a:solidFill>
                  <a:srgbClr val="FFFFFF"/>
                </a:solidFill>
              </a:rPr>
              <a:t>IN PROGRESS</a:t>
            </a:r>
          </a:p>
        </p:txBody>
      </p:sp>
      <p:sp>
        <p:nvSpPr>
          <p:cNvPr id="19" name="TextBox 18"/>
          <p:cNvSpPr txBox="1"/>
          <p:nvPr/>
        </p:nvSpPr>
        <p:spPr>
          <a:xfrm>
            <a:off x="6217920" y="1737360"/>
            <a:ext cx="2743200" cy="1188720"/>
          </a:xfrm>
          <a:prstGeom prst="rect">
            <a:avLst/>
          </a:prstGeom>
          <a:noFill/>
        </p:spPr>
        <p:txBody>
          <a:bodyPr wrap="square" anchor="ctr">
            <a:spAutoFit/>
          </a:bodyPr>
          <a:lstStyle/>
          <a:p>
            <a:pPr algn="ctr"/>
            <a:r>
              <a:rPr sz="1200" b="0" i="0">
                <a:solidFill>
                  <a:srgbClr val="333333"/>
                </a:solidFill>
              </a:rPr>
              <a:t>Reply being</a:t>
            </a:r>
          </a:p>
          <a:p>
            <a:pPr algn="ctr"/>
            <a:r>
              <a:rPr sz="1200" b="0" i="0">
                <a:solidFill>
                  <a:srgbClr val="333333"/>
                </a:solidFill>
              </a:rPr>
              <a:t>drafted / posted</a:t>
            </a:r>
          </a:p>
        </p:txBody>
      </p:sp>
      <p:sp>
        <p:nvSpPr>
          <p:cNvPr id="20" name="Right Arrow 19"/>
          <p:cNvSpPr/>
          <p:nvPr/>
        </p:nvSpPr>
        <p:spPr>
          <a:xfrm>
            <a:off x="8965692" y="1920240"/>
            <a:ext cx="137160" cy="365760"/>
          </a:xfrm>
          <a:prstGeom prst="rightArrow">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098280" y="1234440"/>
            <a:ext cx="2743200" cy="1737360"/>
          </a:xfrm>
          <a:prstGeom prst="rect">
            <a:avLst/>
          </a:prstGeom>
          <a:solidFill>
            <a:srgbClr val="F5F5F5"/>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98280" y="1234440"/>
            <a:ext cx="2743200" cy="4114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98280" y="1280160"/>
            <a:ext cx="2743200" cy="320040"/>
          </a:xfrm>
          <a:prstGeom prst="rect">
            <a:avLst/>
          </a:prstGeom>
          <a:noFill/>
        </p:spPr>
        <p:txBody>
          <a:bodyPr wrap="square" anchor="t">
            <a:spAutoFit/>
          </a:bodyPr>
          <a:lstStyle/>
          <a:p>
            <a:pPr algn="ctr"/>
            <a:r>
              <a:rPr sz="1300" b="1" i="0">
                <a:solidFill>
                  <a:srgbClr val="FFFFFF"/>
                </a:solidFill>
              </a:rPr>
              <a:t>RESOLVED</a:t>
            </a:r>
          </a:p>
        </p:txBody>
      </p:sp>
      <p:sp>
        <p:nvSpPr>
          <p:cNvPr id="24" name="TextBox 23"/>
          <p:cNvSpPr txBox="1"/>
          <p:nvPr/>
        </p:nvSpPr>
        <p:spPr>
          <a:xfrm>
            <a:off x="9098280" y="1737360"/>
            <a:ext cx="2743200" cy="1188720"/>
          </a:xfrm>
          <a:prstGeom prst="rect">
            <a:avLst/>
          </a:prstGeom>
          <a:noFill/>
        </p:spPr>
        <p:txBody>
          <a:bodyPr wrap="square" anchor="ctr">
            <a:spAutoFit/>
          </a:bodyPr>
          <a:lstStyle/>
          <a:p>
            <a:pPr algn="ctr"/>
            <a:r>
              <a:rPr sz="1200" b="0" i="0">
                <a:solidFill>
                  <a:srgbClr val="333333"/>
                </a:solidFill>
              </a:rPr>
              <a:t>Reply posted or</a:t>
            </a:r>
          </a:p>
          <a:p>
            <a:pPr algn="ctr"/>
            <a:r>
              <a:rPr sz="1200" b="0" i="0">
                <a:solidFill>
                  <a:srgbClr val="333333"/>
                </a:solidFill>
              </a:rPr>
              <a:t>no-action closed</a:t>
            </a:r>
          </a:p>
        </p:txBody>
      </p:sp>
      <p:pic>
        <p:nvPicPr>
          <p:cNvPr id="25" name="Picture 24" descr="lifecycle_kanban.png"/>
          <p:cNvPicPr>
            <a:picLocks noChangeAspect="1"/>
          </p:cNvPicPr>
          <p:nvPr/>
        </p:nvPicPr>
        <p:blipFill>
          <a:blip r:embed="rId2"/>
          <a:stretch>
            <a:fillRect/>
          </a:stretch>
        </p:blipFill>
        <p:spPr>
          <a:xfrm>
            <a:off x="457200" y="3246120"/>
            <a:ext cx="6858000" cy="3017520"/>
          </a:xfrm>
          <a:prstGeom prst="rect">
            <a:avLst/>
          </a:prstGeom>
        </p:spPr>
      </p:pic>
      <p:sp>
        <p:nvSpPr>
          <p:cNvPr id="26" name="Rectangle 25"/>
          <p:cNvSpPr/>
          <p:nvPr/>
        </p:nvSpPr>
        <p:spPr>
          <a:xfrm>
            <a:off x="7589520" y="3246120"/>
            <a:ext cx="4114800" cy="3017520"/>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0" y="3383280"/>
            <a:ext cx="3840480" cy="320040"/>
          </a:xfrm>
          <a:prstGeom prst="rect">
            <a:avLst/>
          </a:prstGeom>
          <a:noFill/>
        </p:spPr>
        <p:txBody>
          <a:bodyPr wrap="square" anchor="t">
            <a:spAutoFit/>
          </a:bodyPr>
          <a:lstStyle/>
          <a:p>
            <a:pPr algn="l"/>
            <a:r>
              <a:rPr sz="1100" b="1" i="0">
                <a:solidFill>
                  <a:srgbClr val="0071DC"/>
                </a:solidFill>
              </a:rPr>
              <a:t>RESOLVE MODAL  —  2-step flow</a:t>
            </a:r>
          </a:p>
        </p:txBody>
      </p:sp>
      <p:sp>
        <p:nvSpPr>
          <p:cNvPr id="28" name="TextBox 27"/>
          <p:cNvSpPr txBox="1"/>
          <p:nvPr/>
        </p:nvSpPr>
        <p:spPr>
          <a:xfrm>
            <a:off x="7772400" y="3703320"/>
            <a:ext cx="3840480" cy="2514600"/>
          </a:xfrm>
          <a:prstGeom prst="rect">
            <a:avLst/>
          </a:prstGeom>
          <a:noFill/>
        </p:spPr>
        <p:txBody>
          <a:bodyPr wrap="square">
            <a:spAutoFit/>
          </a:bodyPr>
          <a:lstStyle/>
          <a:p>
            <a:pPr>
              <a:spcAft>
                <a:spcPts val="400"/>
              </a:spcAft>
            </a:pPr>
            <a:r>
              <a:rPr sz="1100" b="0">
                <a:solidFill>
                  <a:srgbClr val="333333"/>
                </a:solidFill>
              </a:rPr>
              <a:t>•  Step 1 · save action note + optional LLM reply</a:t>
            </a:r>
          </a:p>
          <a:p>
            <a:pPr>
              <a:spcAft>
                <a:spcPts val="400"/>
              </a:spcAft>
            </a:pPr>
            <a:r>
              <a:rPr sz="1100" b="0">
                <a:solidFill>
                  <a:srgbClr val="333333"/>
                </a:solidFill>
              </a:rPr>
              <a:t>•  (a) Save &amp; open Reddit  →  reply copied to clipboard</a:t>
            </a:r>
          </a:p>
          <a:p>
            <a:pPr>
              <a:spcAft>
                <a:spcPts val="400"/>
              </a:spcAft>
            </a:pPr>
            <a:r>
              <a:rPr sz="1100" b="0">
                <a:solidFill>
                  <a:srgbClr val="333333"/>
                </a:solidFill>
              </a:rPr>
              <a:t>•  (b) OR  Resolve (no-reply)  →  close without posting</a:t>
            </a:r>
          </a:p>
          <a:p>
            <a:pPr>
              <a:spcAft>
                <a:spcPts val="400"/>
              </a:spcAft>
            </a:pPr>
            <a:r>
              <a:rPr sz="1100" b="0">
                <a:solidFill>
                  <a:srgbClr val="333333"/>
                </a:solidFill>
              </a:rPr>
              <a:t>•  Step 2 · paste on Reddit → Mark Resolved</a:t>
            </a:r>
          </a:p>
          <a:p>
            <a:pPr>
              <a:spcAft>
                <a:spcPts val="400"/>
              </a:spcAft>
            </a:pPr>
            <a:r>
              <a:rPr sz="1100" b="0">
                <a:solidFill>
                  <a:srgbClr val="333333"/>
                </a:solidFill>
              </a:rPr>
              <a:t>•  All transitions timestamped  →  SLA analytics</a:t>
            </a:r>
          </a:p>
        </p:txBody>
      </p:sp>
      <p:sp>
        <p:nvSpPr>
          <p:cNvPr id="29" name="TextBox 28"/>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30" name="TextBox 29"/>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10 / 24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Insights &amp; Competitor Analysis</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Four-step pipeline over the 8-aspect taxonomy — deterministic, no LLM in the loop</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005840"/>
            <a:ext cx="2743200" cy="3291840"/>
          </a:xfrm>
          <a:prstGeom prst="rect">
            <a:avLst/>
          </a:prstGeom>
          <a:solidFill>
            <a:srgbClr val="F5F5F5"/>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005840"/>
            <a:ext cx="2743200" cy="548640"/>
          </a:xfrm>
          <a:prstGeom prst="rect">
            <a:avLst/>
          </a:prstGeom>
          <a:solidFill>
            <a:srgbClr val="007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078992"/>
            <a:ext cx="411480" cy="411480"/>
          </a:xfrm>
          <a:prstGeom prst="rect">
            <a:avLst/>
          </a:prstGeom>
          <a:noFill/>
        </p:spPr>
        <p:txBody>
          <a:bodyPr wrap="square" anchor="ctr">
            <a:spAutoFit/>
          </a:bodyPr>
          <a:lstStyle/>
          <a:p>
            <a:pPr algn="ctr"/>
            <a:r>
              <a:rPr sz="2000" b="1" i="0">
                <a:solidFill>
                  <a:srgbClr val="FFFFFF"/>
                </a:solidFill>
              </a:rPr>
              <a:t>1</a:t>
            </a:r>
          </a:p>
        </p:txBody>
      </p:sp>
      <p:sp>
        <p:nvSpPr>
          <p:cNvPr id="9" name="TextBox 8"/>
          <p:cNvSpPr txBox="1"/>
          <p:nvPr/>
        </p:nvSpPr>
        <p:spPr>
          <a:xfrm>
            <a:off x="1005840" y="1051560"/>
            <a:ext cx="2103120" cy="502920"/>
          </a:xfrm>
          <a:prstGeom prst="rect">
            <a:avLst/>
          </a:prstGeom>
          <a:noFill/>
        </p:spPr>
        <p:txBody>
          <a:bodyPr wrap="square" anchor="ctr">
            <a:spAutoFit/>
          </a:bodyPr>
          <a:lstStyle/>
          <a:p>
            <a:pPr algn="l"/>
            <a:r>
              <a:rPr sz="1250" b="1" i="0">
                <a:solidFill>
                  <a:srgbClr val="FFFFFF"/>
                </a:solidFill>
              </a:rPr>
              <a:t>Group posts</a:t>
            </a:r>
          </a:p>
          <a:p>
            <a:pPr algn="l"/>
            <a:r>
              <a:rPr sz="1250" b="1" i="0">
                <a:solidFill>
                  <a:srgbClr val="FFFFFF"/>
                </a:solidFill>
              </a:rPr>
              <a:t>by aspect</a:t>
            </a:r>
          </a:p>
        </p:txBody>
      </p:sp>
      <p:sp>
        <p:nvSpPr>
          <p:cNvPr id="10" name="TextBox 9"/>
          <p:cNvSpPr txBox="1"/>
          <p:nvPr/>
        </p:nvSpPr>
        <p:spPr>
          <a:xfrm>
            <a:off x="594360" y="1664208"/>
            <a:ext cx="2468880" cy="1234440"/>
          </a:xfrm>
          <a:prstGeom prst="rect">
            <a:avLst/>
          </a:prstGeom>
          <a:noFill/>
        </p:spPr>
        <p:txBody>
          <a:bodyPr wrap="square" anchor="t">
            <a:spAutoFit/>
          </a:bodyPr>
          <a:lstStyle/>
          <a:p>
            <a:pPr algn="l"/>
            <a:r>
              <a:rPr sz="1050" b="0" i="0">
                <a:solidFill>
                  <a:srgbClr val="333333"/>
                </a:solidFill>
              </a:rPr>
              <a:t>For each retail aspect,</a:t>
            </a:r>
          </a:p>
          <a:p>
            <a:pPr algn="l"/>
            <a:r>
              <a:rPr sz="1050" b="0" i="0">
                <a:solidFill>
                  <a:srgbClr val="333333"/>
                </a:solidFill>
              </a:rPr>
              <a:t>count posts from competitor</a:t>
            </a:r>
          </a:p>
          <a:p>
            <a:pPr algn="l"/>
            <a:r>
              <a:rPr sz="1050" b="0" i="0">
                <a:solidFill>
                  <a:srgbClr val="333333"/>
                </a:solidFill>
              </a:rPr>
              <a:t>subs by sentiment:</a:t>
            </a:r>
          </a:p>
          <a:p>
            <a:pPr algn="l"/>
            <a:r>
              <a:rPr sz="1050" b="0" i="0">
                <a:solidFill>
                  <a:srgbClr val="333333"/>
                </a:solidFill>
              </a:rPr>
              <a:t>negative · positive · neutral</a:t>
            </a:r>
          </a:p>
        </p:txBody>
      </p:sp>
      <p:sp>
        <p:nvSpPr>
          <p:cNvPr id="11" name="Rectangle 10"/>
          <p:cNvSpPr/>
          <p:nvPr/>
        </p:nvSpPr>
        <p:spPr>
          <a:xfrm>
            <a:off x="594360" y="2926080"/>
            <a:ext cx="2468880" cy="411480"/>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2926080"/>
            <a:ext cx="2468880" cy="411480"/>
          </a:xfrm>
          <a:prstGeom prst="rect">
            <a:avLst/>
          </a:prstGeom>
          <a:noFill/>
        </p:spPr>
        <p:txBody>
          <a:bodyPr wrap="square" anchor="ctr">
            <a:spAutoFit/>
          </a:bodyPr>
          <a:lstStyle/>
          <a:p>
            <a:pPr algn="ctr"/>
            <a:r>
              <a:rPr sz="1050" b="1" i="0">
                <a:solidFill>
                  <a:srgbClr val="041E42"/>
                </a:solidFill>
              </a:rPr>
              <a:t>— counter aggregate —</a:t>
            </a:r>
          </a:p>
        </p:txBody>
      </p:sp>
      <p:sp>
        <p:nvSpPr>
          <p:cNvPr id="13" name="TextBox 12"/>
          <p:cNvSpPr txBox="1"/>
          <p:nvPr/>
        </p:nvSpPr>
        <p:spPr>
          <a:xfrm>
            <a:off x="594360" y="3401568"/>
            <a:ext cx="2468880" cy="822960"/>
          </a:xfrm>
          <a:prstGeom prst="rect">
            <a:avLst/>
          </a:prstGeom>
          <a:noFill/>
        </p:spPr>
        <p:txBody>
          <a:bodyPr wrap="square" anchor="t">
            <a:spAutoFit/>
          </a:bodyPr>
          <a:lstStyle/>
          <a:p>
            <a:pPr algn="l"/>
            <a:r>
              <a:rPr sz="1000" b="0" i="1">
                <a:solidFill>
                  <a:srgbClr val="041E42"/>
                </a:solidFill>
              </a:rPr>
              <a:t>delivery/pickup:</a:t>
            </a:r>
          </a:p>
          <a:p>
            <a:pPr algn="l"/>
            <a:r>
              <a:rPr sz="1000" b="0" i="1">
                <a:solidFill>
                  <a:srgbClr val="041E42"/>
                </a:solidFill>
              </a:rPr>
              <a:t>3,546  posts total</a:t>
            </a:r>
          </a:p>
          <a:p>
            <a:pPr algn="l"/>
            <a:r>
              <a:rPr sz="1000" b="0" i="1">
                <a:solidFill>
                  <a:srgbClr val="041E42"/>
                </a:solidFill>
              </a:rPr>
              <a:t>1,377 neg  ·  128 pos  ·  2,041 neu</a:t>
            </a:r>
          </a:p>
        </p:txBody>
      </p:sp>
      <p:sp>
        <p:nvSpPr>
          <p:cNvPr id="14" name="TextBox 13"/>
          <p:cNvSpPr txBox="1"/>
          <p:nvPr/>
        </p:nvSpPr>
        <p:spPr>
          <a:xfrm>
            <a:off x="3200400" y="2468880"/>
            <a:ext cx="182880" cy="365760"/>
          </a:xfrm>
          <a:prstGeom prst="rect">
            <a:avLst/>
          </a:prstGeom>
          <a:noFill/>
        </p:spPr>
        <p:txBody>
          <a:bodyPr wrap="square" anchor="ctr">
            <a:spAutoFit/>
          </a:bodyPr>
          <a:lstStyle/>
          <a:p>
            <a:pPr algn="ctr"/>
            <a:r>
              <a:rPr sz="2200" b="1" i="0">
                <a:solidFill>
                  <a:srgbClr val="0071DC"/>
                </a:solidFill>
              </a:rPr>
              <a:t>▸</a:t>
            </a:r>
          </a:p>
        </p:txBody>
      </p:sp>
      <p:sp>
        <p:nvSpPr>
          <p:cNvPr id="15" name="Rectangle 14"/>
          <p:cNvSpPr/>
          <p:nvPr/>
        </p:nvSpPr>
        <p:spPr>
          <a:xfrm>
            <a:off x="3291840" y="1005840"/>
            <a:ext cx="2743200" cy="3291840"/>
          </a:xfrm>
          <a:prstGeom prst="rect">
            <a:avLst/>
          </a:prstGeom>
          <a:solidFill>
            <a:srgbClr val="F5F5F5"/>
          </a:solidFill>
          <a:ln>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291840" y="1005840"/>
            <a:ext cx="2743200" cy="548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83280" y="1078992"/>
            <a:ext cx="411480" cy="411480"/>
          </a:xfrm>
          <a:prstGeom prst="rect">
            <a:avLst/>
          </a:prstGeom>
          <a:noFill/>
        </p:spPr>
        <p:txBody>
          <a:bodyPr wrap="square" anchor="ctr">
            <a:spAutoFit/>
          </a:bodyPr>
          <a:lstStyle/>
          <a:p>
            <a:pPr algn="ctr"/>
            <a:r>
              <a:rPr sz="2000" b="1" i="0">
                <a:solidFill>
                  <a:srgbClr val="FFFFFF"/>
                </a:solidFill>
              </a:rPr>
              <a:t>2</a:t>
            </a:r>
          </a:p>
        </p:txBody>
      </p:sp>
      <p:sp>
        <p:nvSpPr>
          <p:cNvPr id="18" name="TextBox 17"/>
          <p:cNvSpPr txBox="1"/>
          <p:nvPr/>
        </p:nvSpPr>
        <p:spPr>
          <a:xfrm>
            <a:off x="3840480" y="1051560"/>
            <a:ext cx="2103120" cy="502920"/>
          </a:xfrm>
          <a:prstGeom prst="rect">
            <a:avLst/>
          </a:prstGeom>
          <a:noFill/>
        </p:spPr>
        <p:txBody>
          <a:bodyPr wrap="square" anchor="ctr">
            <a:spAutoFit/>
          </a:bodyPr>
          <a:lstStyle/>
          <a:p>
            <a:pPr algn="l"/>
            <a:r>
              <a:rPr sz="1250" b="1" i="0">
                <a:solidFill>
                  <a:srgbClr val="FFFFFF"/>
                </a:solidFill>
              </a:rPr>
              <a:t>Compute</a:t>
            </a:r>
          </a:p>
          <a:p>
            <a:pPr algn="l"/>
            <a:r>
              <a:rPr sz="1250" b="1" i="0">
                <a:solidFill>
                  <a:srgbClr val="FFFFFF"/>
                </a:solidFill>
              </a:rPr>
              <a:t>negative rate</a:t>
            </a:r>
          </a:p>
        </p:txBody>
      </p:sp>
      <p:sp>
        <p:nvSpPr>
          <p:cNvPr id="19" name="TextBox 18"/>
          <p:cNvSpPr txBox="1"/>
          <p:nvPr/>
        </p:nvSpPr>
        <p:spPr>
          <a:xfrm>
            <a:off x="3429000" y="1664208"/>
            <a:ext cx="2468880" cy="1234440"/>
          </a:xfrm>
          <a:prstGeom prst="rect">
            <a:avLst/>
          </a:prstGeom>
          <a:noFill/>
        </p:spPr>
        <p:txBody>
          <a:bodyPr wrap="square" anchor="t">
            <a:spAutoFit/>
          </a:bodyPr>
          <a:lstStyle/>
          <a:p>
            <a:pPr algn="l"/>
            <a:r>
              <a:rPr sz="1050" b="0" i="0">
                <a:solidFill>
                  <a:srgbClr val="333333"/>
                </a:solidFill>
              </a:rPr>
              <a:t>Divide negatives by total to</a:t>
            </a:r>
          </a:p>
          <a:p>
            <a:pPr algn="l"/>
            <a:r>
              <a:rPr sz="1050" b="0" i="0">
                <a:solidFill>
                  <a:srgbClr val="333333"/>
                </a:solidFill>
              </a:rPr>
              <a:t>get the complaint-rate on</a:t>
            </a:r>
          </a:p>
          <a:p>
            <a:pPr algn="l"/>
            <a:r>
              <a:rPr sz="1050" b="0" i="0">
                <a:solidFill>
                  <a:srgbClr val="333333"/>
                </a:solidFill>
              </a:rPr>
              <a:t>that aspect.</a:t>
            </a:r>
          </a:p>
          <a:p>
            <a:pPr algn="l"/>
            <a:r>
              <a:rPr sz="1050" b="0" i="0">
                <a:solidFill>
                  <a:srgbClr val="333333"/>
                </a:solidFill>
              </a:rPr>
              <a:t>Floor: total ≥ 8 posts</a:t>
            </a:r>
          </a:p>
        </p:txBody>
      </p:sp>
      <p:sp>
        <p:nvSpPr>
          <p:cNvPr id="20" name="Rectangle 19"/>
          <p:cNvSpPr/>
          <p:nvPr/>
        </p:nvSpPr>
        <p:spPr>
          <a:xfrm>
            <a:off x="3429000" y="2926080"/>
            <a:ext cx="2468880" cy="411480"/>
          </a:xfrm>
          <a:prstGeom prst="rect">
            <a:avLst/>
          </a:prstGeom>
          <a:solidFill>
            <a:srgbClr val="EDE9FE"/>
          </a:solidFill>
          <a:ln>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429000" y="2926080"/>
            <a:ext cx="2468880" cy="411480"/>
          </a:xfrm>
          <a:prstGeom prst="rect">
            <a:avLst/>
          </a:prstGeom>
          <a:noFill/>
        </p:spPr>
        <p:txBody>
          <a:bodyPr wrap="square" anchor="ctr">
            <a:spAutoFit/>
          </a:bodyPr>
          <a:lstStyle/>
          <a:p>
            <a:pPr algn="ctr"/>
            <a:r>
              <a:rPr sz="1050" b="1" i="0">
                <a:solidFill>
                  <a:srgbClr val="041E42"/>
                </a:solidFill>
              </a:rPr>
              <a:t>negative_ratio = neg / total</a:t>
            </a:r>
          </a:p>
        </p:txBody>
      </p:sp>
      <p:sp>
        <p:nvSpPr>
          <p:cNvPr id="22" name="TextBox 21"/>
          <p:cNvSpPr txBox="1"/>
          <p:nvPr/>
        </p:nvSpPr>
        <p:spPr>
          <a:xfrm>
            <a:off x="3429000" y="3401568"/>
            <a:ext cx="2468880" cy="822960"/>
          </a:xfrm>
          <a:prstGeom prst="rect">
            <a:avLst/>
          </a:prstGeom>
          <a:noFill/>
        </p:spPr>
        <p:txBody>
          <a:bodyPr wrap="square" anchor="t">
            <a:spAutoFit/>
          </a:bodyPr>
          <a:lstStyle/>
          <a:p>
            <a:pPr algn="l"/>
            <a:r>
              <a:rPr sz="1000" b="0" i="1">
                <a:solidFill>
                  <a:srgbClr val="041E42"/>
                </a:solidFill>
              </a:rPr>
              <a:t>1,377 / 3,546  =  0.388</a:t>
            </a:r>
          </a:p>
          <a:p>
            <a:pPr algn="l"/>
            <a:r>
              <a:rPr sz="1000" b="0" i="1">
                <a:solidFill>
                  <a:srgbClr val="041E42"/>
                </a:solidFill>
              </a:rPr>
              <a:t>=  38.8 %  complaint-rate</a:t>
            </a:r>
          </a:p>
          <a:p>
            <a:pPr algn="l"/>
            <a:r>
              <a:rPr sz="1000" b="0" i="1">
                <a:solidFill>
                  <a:srgbClr val="041E42"/>
                </a:solidFill>
              </a:rPr>
              <a:t>(highest of any aspect)</a:t>
            </a:r>
          </a:p>
        </p:txBody>
      </p:sp>
      <p:sp>
        <p:nvSpPr>
          <p:cNvPr id="23" name="TextBox 22"/>
          <p:cNvSpPr txBox="1"/>
          <p:nvPr/>
        </p:nvSpPr>
        <p:spPr>
          <a:xfrm>
            <a:off x="6035040" y="2468880"/>
            <a:ext cx="182880" cy="365760"/>
          </a:xfrm>
          <a:prstGeom prst="rect">
            <a:avLst/>
          </a:prstGeom>
          <a:noFill/>
        </p:spPr>
        <p:txBody>
          <a:bodyPr wrap="square" anchor="ctr">
            <a:spAutoFit/>
          </a:bodyPr>
          <a:lstStyle/>
          <a:p>
            <a:pPr algn="ctr"/>
            <a:r>
              <a:rPr sz="2200" b="1" i="0">
                <a:solidFill>
                  <a:srgbClr val="7C3AED"/>
                </a:solidFill>
              </a:rPr>
              <a:t>▸</a:t>
            </a:r>
          </a:p>
        </p:txBody>
      </p:sp>
      <p:sp>
        <p:nvSpPr>
          <p:cNvPr id="24" name="Rectangle 23"/>
          <p:cNvSpPr/>
          <p:nvPr/>
        </p:nvSpPr>
        <p:spPr>
          <a:xfrm>
            <a:off x="6126480" y="1005840"/>
            <a:ext cx="2743200" cy="3291840"/>
          </a:xfrm>
          <a:prstGeom prst="rect">
            <a:avLst/>
          </a:prstGeom>
          <a:solidFill>
            <a:srgbClr val="F5F5F5"/>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26480" y="1005840"/>
            <a:ext cx="274320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17920" y="1078992"/>
            <a:ext cx="411480" cy="411480"/>
          </a:xfrm>
          <a:prstGeom prst="rect">
            <a:avLst/>
          </a:prstGeom>
          <a:noFill/>
        </p:spPr>
        <p:txBody>
          <a:bodyPr wrap="square" anchor="ctr">
            <a:spAutoFit/>
          </a:bodyPr>
          <a:lstStyle/>
          <a:p>
            <a:pPr algn="ctr"/>
            <a:r>
              <a:rPr sz="2000" b="1" i="0">
                <a:solidFill>
                  <a:srgbClr val="FFFFFF"/>
                </a:solidFill>
              </a:rPr>
              <a:t>3</a:t>
            </a:r>
          </a:p>
        </p:txBody>
      </p:sp>
      <p:sp>
        <p:nvSpPr>
          <p:cNvPr id="27" name="TextBox 26"/>
          <p:cNvSpPr txBox="1"/>
          <p:nvPr/>
        </p:nvSpPr>
        <p:spPr>
          <a:xfrm>
            <a:off x="6675120" y="1051560"/>
            <a:ext cx="2103120" cy="502920"/>
          </a:xfrm>
          <a:prstGeom prst="rect">
            <a:avLst/>
          </a:prstGeom>
          <a:noFill/>
        </p:spPr>
        <p:txBody>
          <a:bodyPr wrap="square" anchor="ctr">
            <a:spAutoFit/>
          </a:bodyPr>
          <a:lstStyle/>
          <a:p>
            <a:pPr algn="l"/>
            <a:r>
              <a:rPr sz="1250" b="1" i="0">
                <a:solidFill>
                  <a:srgbClr val="FFFFFF"/>
                </a:solidFill>
              </a:rPr>
              <a:t>Compare</a:t>
            </a:r>
          </a:p>
          <a:p>
            <a:pPr algn="l"/>
            <a:r>
              <a:rPr sz="1250" b="1" i="0">
                <a:solidFill>
                  <a:srgbClr val="FFFFFF"/>
                </a:solidFill>
              </a:rPr>
              <a:t>to Walmart</a:t>
            </a:r>
          </a:p>
        </p:txBody>
      </p:sp>
      <p:sp>
        <p:nvSpPr>
          <p:cNvPr id="28" name="TextBox 27"/>
          <p:cNvSpPr txBox="1"/>
          <p:nvPr/>
        </p:nvSpPr>
        <p:spPr>
          <a:xfrm>
            <a:off x="6263640" y="1664208"/>
            <a:ext cx="2468880" cy="1234440"/>
          </a:xfrm>
          <a:prstGeom prst="rect">
            <a:avLst/>
          </a:prstGeom>
          <a:noFill/>
        </p:spPr>
        <p:txBody>
          <a:bodyPr wrap="square" anchor="t">
            <a:spAutoFit/>
          </a:bodyPr>
          <a:lstStyle/>
          <a:p>
            <a:pPr algn="l"/>
            <a:r>
              <a:rPr sz="1050" b="0" i="0">
                <a:solidFill>
                  <a:srgbClr val="333333"/>
                </a:solidFill>
              </a:rPr>
              <a:t>Same recipe on Walmart subs</a:t>
            </a:r>
          </a:p>
          <a:p>
            <a:pPr algn="l"/>
            <a:r>
              <a:rPr sz="1050" b="0" i="0">
                <a:solidFill>
                  <a:srgbClr val="333333"/>
                </a:solidFill>
              </a:rPr>
              <a:t>for the same aspect —</a:t>
            </a:r>
          </a:p>
          <a:p>
            <a:pPr algn="l"/>
            <a:r>
              <a:rPr sz="1050" b="0" i="0">
                <a:solidFill>
                  <a:srgbClr val="333333"/>
                </a:solidFill>
              </a:rPr>
              <a:t>then take the gap.</a:t>
            </a:r>
          </a:p>
          <a:p>
            <a:pPr algn="l"/>
            <a:r>
              <a:rPr sz="1050" b="0" i="0">
                <a:solidFill>
                  <a:srgbClr val="333333"/>
                </a:solidFill>
              </a:rPr>
              <a:t>Catches 'are we better or worse?'</a:t>
            </a:r>
          </a:p>
        </p:txBody>
      </p:sp>
      <p:sp>
        <p:nvSpPr>
          <p:cNvPr id="29" name="Rectangle 28"/>
          <p:cNvSpPr/>
          <p:nvPr/>
        </p:nvSpPr>
        <p:spPr>
          <a:xfrm>
            <a:off x="6263640" y="2926080"/>
            <a:ext cx="2468880" cy="411480"/>
          </a:xfrm>
          <a:prstGeom prst="rect">
            <a:avLst/>
          </a:prstGeom>
          <a:solidFill>
            <a:srgbClr val="DCFCE7"/>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63640" y="2926080"/>
            <a:ext cx="2468880" cy="411480"/>
          </a:xfrm>
          <a:prstGeom prst="rect">
            <a:avLst/>
          </a:prstGeom>
          <a:noFill/>
        </p:spPr>
        <p:txBody>
          <a:bodyPr wrap="square" anchor="ctr">
            <a:spAutoFit/>
          </a:bodyPr>
          <a:lstStyle/>
          <a:p>
            <a:pPr algn="ctr"/>
            <a:r>
              <a:rPr sz="1050" b="1" i="0">
                <a:solidFill>
                  <a:srgbClr val="041E42"/>
                </a:solidFill>
              </a:rPr>
              <a:t>delta  =  competitor – Walmart</a:t>
            </a:r>
          </a:p>
        </p:txBody>
      </p:sp>
      <p:sp>
        <p:nvSpPr>
          <p:cNvPr id="31" name="TextBox 30"/>
          <p:cNvSpPr txBox="1"/>
          <p:nvPr/>
        </p:nvSpPr>
        <p:spPr>
          <a:xfrm>
            <a:off x="6263640" y="3401568"/>
            <a:ext cx="2468880" cy="822960"/>
          </a:xfrm>
          <a:prstGeom prst="rect">
            <a:avLst/>
          </a:prstGeom>
          <a:noFill/>
        </p:spPr>
        <p:txBody>
          <a:bodyPr wrap="square" anchor="t">
            <a:spAutoFit/>
          </a:bodyPr>
          <a:lstStyle/>
          <a:p>
            <a:pPr algn="l"/>
            <a:r>
              <a:rPr sz="1000" b="0" i="1">
                <a:solidFill>
                  <a:srgbClr val="041E42"/>
                </a:solidFill>
              </a:rPr>
              <a:t>Walmart delivery neg-rate ≈ 24 %</a:t>
            </a:r>
          </a:p>
          <a:p>
            <a:pPr algn="l"/>
            <a:r>
              <a:rPr sz="1000" b="0" i="1">
                <a:solidFill>
                  <a:srgbClr val="041E42"/>
                </a:solidFill>
              </a:rPr>
              <a:t>delta = 38.8 % – 24 %</a:t>
            </a:r>
          </a:p>
          <a:p>
            <a:pPr algn="l"/>
            <a:r>
              <a:rPr sz="1000" b="0" i="1">
                <a:solidFill>
                  <a:srgbClr val="041E42"/>
                </a:solidFill>
              </a:rPr>
              <a:t>=  +14.8 %</a:t>
            </a:r>
          </a:p>
        </p:txBody>
      </p:sp>
      <p:sp>
        <p:nvSpPr>
          <p:cNvPr id="32" name="TextBox 31"/>
          <p:cNvSpPr txBox="1"/>
          <p:nvPr/>
        </p:nvSpPr>
        <p:spPr>
          <a:xfrm>
            <a:off x="8869680" y="2468880"/>
            <a:ext cx="182880" cy="365760"/>
          </a:xfrm>
          <a:prstGeom prst="rect">
            <a:avLst/>
          </a:prstGeom>
          <a:noFill/>
        </p:spPr>
        <p:txBody>
          <a:bodyPr wrap="square" anchor="ctr">
            <a:spAutoFit/>
          </a:bodyPr>
          <a:lstStyle/>
          <a:p>
            <a:pPr algn="ctr"/>
            <a:r>
              <a:rPr sz="2200" b="1" i="0">
                <a:solidFill>
                  <a:srgbClr val="10B981"/>
                </a:solidFill>
              </a:rPr>
              <a:t>▸</a:t>
            </a:r>
          </a:p>
        </p:txBody>
      </p:sp>
      <p:sp>
        <p:nvSpPr>
          <p:cNvPr id="33" name="Rectangle 32"/>
          <p:cNvSpPr/>
          <p:nvPr/>
        </p:nvSpPr>
        <p:spPr>
          <a:xfrm>
            <a:off x="8961120" y="1005840"/>
            <a:ext cx="2743200" cy="3291840"/>
          </a:xfrm>
          <a:prstGeom prst="rect">
            <a:avLst/>
          </a:prstGeom>
          <a:solidFill>
            <a:srgbClr val="F5F5F5"/>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961120" y="1005840"/>
            <a:ext cx="2743200" cy="5486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052560" y="1078992"/>
            <a:ext cx="411480" cy="411480"/>
          </a:xfrm>
          <a:prstGeom prst="rect">
            <a:avLst/>
          </a:prstGeom>
          <a:noFill/>
        </p:spPr>
        <p:txBody>
          <a:bodyPr wrap="square" anchor="ctr">
            <a:spAutoFit/>
          </a:bodyPr>
          <a:lstStyle/>
          <a:p>
            <a:pPr algn="ctr"/>
            <a:r>
              <a:rPr sz="2000" b="1" i="0">
                <a:solidFill>
                  <a:srgbClr val="FFFFFF"/>
                </a:solidFill>
              </a:rPr>
              <a:t>4</a:t>
            </a:r>
          </a:p>
        </p:txBody>
      </p:sp>
      <p:sp>
        <p:nvSpPr>
          <p:cNvPr id="36" name="TextBox 35"/>
          <p:cNvSpPr txBox="1"/>
          <p:nvPr/>
        </p:nvSpPr>
        <p:spPr>
          <a:xfrm>
            <a:off x="9509760" y="1051560"/>
            <a:ext cx="2103120" cy="502920"/>
          </a:xfrm>
          <a:prstGeom prst="rect">
            <a:avLst/>
          </a:prstGeom>
          <a:noFill/>
        </p:spPr>
        <p:txBody>
          <a:bodyPr wrap="square" anchor="ctr">
            <a:spAutoFit/>
          </a:bodyPr>
          <a:lstStyle/>
          <a:p>
            <a:pPr algn="l"/>
            <a:r>
              <a:rPr sz="1250" b="1" i="0">
                <a:solidFill>
                  <a:srgbClr val="FFFFFF"/>
                </a:solidFill>
              </a:rPr>
              <a:t>Priority tag</a:t>
            </a:r>
          </a:p>
          <a:p>
            <a:pPr algn="l"/>
            <a:r>
              <a:rPr sz="1250" b="1" i="0">
                <a:solidFill>
                  <a:srgbClr val="FFFFFF"/>
                </a:solidFill>
              </a:rPr>
              <a:t>+ action angle</a:t>
            </a:r>
          </a:p>
        </p:txBody>
      </p:sp>
      <p:sp>
        <p:nvSpPr>
          <p:cNvPr id="37" name="TextBox 36"/>
          <p:cNvSpPr txBox="1"/>
          <p:nvPr/>
        </p:nvSpPr>
        <p:spPr>
          <a:xfrm>
            <a:off x="9098280" y="1664208"/>
            <a:ext cx="2468880" cy="1234440"/>
          </a:xfrm>
          <a:prstGeom prst="rect">
            <a:avLst/>
          </a:prstGeom>
          <a:noFill/>
        </p:spPr>
        <p:txBody>
          <a:bodyPr wrap="square" anchor="t">
            <a:spAutoFit/>
          </a:bodyPr>
          <a:lstStyle/>
          <a:p>
            <a:pPr algn="l"/>
            <a:r>
              <a:rPr sz="1050" b="0" i="0">
                <a:solidFill>
                  <a:srgbClr val="333333"/>
                </a:solidFill>
              </a:rPr>
              <a:t>Two threshold checks:</a:t>
            </a:r>
          </a:p>
          <a:p>
            <a:pPr algn="l"/>
            <a:r>
              <a:rPr sz="1050" b="0" i="0">
                <a:solidFill>
                  <a:srgbClr val="333333"/>
                </a:solidFill>
              </a:rPr>
              <a:t>• competitor rate → urgency</a:t>
            </a:r>
          </a:p>
          <a:p>
            <a:pPr algn="l"/>
            <a:r>
              <a:rPr sz="1050" b="0" i="0">
                <a:solidFill>
                  <a:srgbClr val="333333"/>
                </a:solidFill>
              </a:rPr>
              <a:t>• delta → what to do about it</a:t>
            </a:r>
          </a:p>
          <a:p>
            <a:pPr algn="l"/>
            <a:r>
              <a:rPr sz="1050" b="0" i="0">
                <a:solidFill>
                  <a:srgbClr val="333333"/>
                </a:solidFill>
              </a:rPr>
              <a:t>Emit one recommendation card</a:t>
            </a:r>
          </a:p>
        </p:txBody>
      </p:sp>
      <p:sp>
        <p:nvSpPr>
          <p:cNvPr id="38" name="Rectangle 37"/>
          <p:cNvSpPr/>
          <p:nvPr/>
        </p:nvSpPr>
        <p:spPr>
          <a:xfrm>
            <a:off x="9098280" y="2926080"/>
            <a:ext cx="2468880" cy="411480"/>
          </a:xfrm>
          <a:prstGeom prst="rect">
            <a:avLst/>
          </a:prstGeom>
          <a:solidFill>
            <a:srgbClr val="FEF3C7"/>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098280" y="2926080"/>
            <a:ext cx="2468880" cy="411480"/>
          </a:xfrm>
          <a:prstGeom prst="rect">
            <a:avLst/>
          </a:prstGeom>
          <a:noFill/>
        </p:spPr>
        <p:txBody>
          <a:bodyPr wrap="square" anchor="ctr">
            <a:spAutoFit/>
          </a:bodyPr>
          <a:lstStyle/>
          <a:p>
            <a:pPr algn="ctr"/>
            <a:r>
              <a:rPr sz="1050" b="1" i="0">
                <a:solidFill>
                  <a:srgbClr val="041E42"/>
                </a:solidFill>
              </a:rPr>
              <a:t>60 / 40 %  and  ± 5 %  cutoffs</a:t>
            </a:r>
          </a:p>
        </p:txBody>
      </p:sp>
      <p:sp>
        <p:nvSpPr>
          <p:cNvPr id="40" name="TextBox 39"/>
          <p:cNvSpPr txBox="1"/>
          <p:nvPr/>
        </p:nvSpPr>
        <p:spPr>
          <a:xfrm>
            <a:off x="9098280" y="3401568"/>
            <a:ext cx="2468880" cy="822960"/>
          </a:xfrm>
          <a:prstGeom prst="rect">
            <a:avLst/>
          </a:prstGeom>
          <a:noFill/>
        </p:spPr>
        <p:txBody>
          <a:bodyPr wrap="square" anchor="t">
            <a:spAutoFit/>
          </a:bodyPr>
          <a:lstStyle/>
          <a:p>
            <a:pPr algn="l"/>
            <a:r>
              <a:rPr sz="1000" b="0" i="1">
                <a:solidFill>
                  <a:srgbClr val="041E42"/>
                </a:solidFill>
              </a:rPr>
              <a:t>Priority = MEDIUM (40 % ≤ 39 % &lt; 60 %)</a:t>
            </a:r>
          </a:p>
          <a:p>
            <a:pPr algn="l"/>
            <a:r>
              <a:rPr sz="1000" b="0" i="1">
                <a:solidFill>
                  <a:srgbClr val="041E42"/>
                </a:solidFill>
              </a:rPr>
              <a:t>Angle    = 'Marketing angle'</a:t>
            </a:r>
          </a:p>
          <a:p>
            <a:pPr algn="l"/>
            <a:r>
              <a:rPr sz="1000" b="0" i="1">
                <a:solidFill>
                  <a:srgbClr val="041E42"/>
                </a:solidFill>
              </a:rPr>
              <a:t>           (delta +14.8 % &gt; +5 %)</a:t>
            </a:r>
          </a:p>
        </p:txBody>
      </p:sp>
      <p:sp>
        <p:nvSpPr>
          <p:cNvPr id="41" name="Rectangle 40"/>
          <p:cNvSpPr/>
          <p:nvPr/>
        </p:nvSpPr>
        <p:spPr>
          <a:xfrm>
            <a:off x="457200" y="4480560"/>
            <a:ext cx="11247120" cy="1005840"/>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0080" y="4553712"/>
            <a:ext cx="10881360" cy="320040"/>
          </a:xfrm>
          <a:prstGeom prst="rect">
            <a:avLst/>
          </a:prstGeom>
          <a:noFill/>
        </p:spPr>
        <p:txBody>
          <a:bodyPr wrap="square" anchor="t">
            <a:spAutoFit/>
          </a:bodyPr>
          <a:lstStyle/>
          <a:p>
            <a:pPr algn="l"/>
            <a:r>
              <a:rPr sz="1100" b="1" i="0">
                <a:solidFill>
                  <a:srgbClr val="0071DC"/>
                </a:solidFill>
              </a:rPr>
              <a:t>WORKED EXAMPLE  →  the recommendation card the analyst sees</a:t>
            </a:r>
          </a:p>
        </p:txBody>
      </p:sp>
      <p:sp>
        <p:nvSpPr>
          <p:cNvPr id="43" name="TextBox 42"/>
          <p:cNvSpPr txBox="1"/>
          <p:nvPr/>
        </p:nvSpPr>
        <p:spPr>
          <a:xfrm>
            <a:off x="640080" y="4892040"/>
            <a:ext cx="10881360" cy="594360"/>
          </a:xfrm>
          <a:prstGeom prst="rect">
            <a:avLst/>
          </a:prstGeom>
          <a:noFill/>
        </p:spPr>
        <p:txBody>
          <a:bodyPr wrap="square" anchor="ctr">
            <a:spAutoFit/>
          </a:bodyPr>
          <a:lstStyle/>
          <a:p>
            <a:pPr algn="l"/>
            <a:r>
              <a:rPr sz="1200" b="0" i="1">
                <a:solidFill>
                  <a:srgbClr val="041E42"/>
                </a:solidFill>
              </a:rPr>
              <a:t>“Competitors are struggling with delivery/pickup (39 % negative) much more than Walmart (24 %). Lean into this as a competitive marketing angle.”   —   priority: MEDIUM   ·   supporting: 3,546 posts</a:t>
            </a:r>
          </a:p>
        </p:txBody>
      </p:sp>
      <p:sp>
        <p:nvSpPr>
          <p:cNvPr id="44" name="Rectangle 43"/>
          <p:cNvSpPr/>
          <p:nvPr/>
        </p:nvSpPr>
        <p:spPr>
          <a:xfrm>
            <a:off x="457200" y="5623560"/>
            <a:ext cx="11247120" cy="822960"/>
          </a:xfrm>
          <a:prstGeom prst="rect">
            <a:avLst/>
          </a:prstGeom>
          <a:solidFill>
            <a:srgbClr val="DCFCE7"/>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0080" y="5687568"/>
            <a:ext cx="10881360" cy="320040"/>
          </a:xfrm>
          <a:prstGeom prst="rect">
            <a:avLst/>
          </a:prstGeom>
          <a:noFill/>
        </p:spPr>
        <p:txBody>
          <a:bodyPr wrap="square" anchor="t">
            <a:spAutoFit/>
          </a:bodyPr>
          <a:lstStyle/>
          <a:p>
            <a:pPr algn="l"/>
            <a:r>
              <a:rPr sz="1100" b="1" i="0">
                <a:solidFill>
                  <a:srgbClr val="10B981"/>
                </a:solidFill>
              </a:rPr>
              <a:t>DESIGN PRINCIPLE  ·  why this is defensible</a:t>
            </a:r>
          </a:p>
        </p:txBody>
      </p:sp>
      <p:sp>
        <p:nvSpPr>
          <p:cNvPr id="46" name="TextBox 45"/>
          <p:cNvSpPr txBox="1"/>
          <p:nvPr/>
        </p:nvSpPr>
        <p:spPr>
          <a:xfrm>
            <a:off x="640080" y="5989320"/>
            <a:ext cx="10881360" cy="411480"/>
          </a:xfrm>
          <a:prstGeom prst="rect">
            <a:avLst/>
          </a:prstGeom>
          <a:noFill/>
        </p:spPr>
        <p:txBody>
          <a:bodyPr wrap="square" anchor="t">
            <a:spAutoFit/>
          </a:bodyPr>
          <a:lstStyle/>
          <a:p>
            <a:pPr algn="l"/>
            <a:r>
              <a:rPr sz="1050" b="0" i="1">
                <a:solidFill>
                  <a:srgbClr val="333333"/>
                </a:solidFill>
              </a:rPr>
              <a:t>Every number is a Counter aggregate over ModernBERT + DeBERTa-v3-NLI outputs — zero LLM cost, reproducible, and each recommendation traces to specific counts the analyst can click into.</a:t>
            </a:r>
          </a:p>
        </p:txBody>
      </p:sp>
      <p:sp>
        <p:nvSpPr>
          <p:cNvPr id="47" name="TextBox 46"/>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48" name="TextBox 47"/>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11 / 24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Alert Feed</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Live risk detection at /alerts  —  stored history + WebSocket push, merged and deduped</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914400"/>
            <a:ext cx="5486400" cy="320040"/>
          </a:xfrm>
          <a:prstGeom prst="rect">
            <a:avLst/>
          </a:prstGeom>
          <a:noFill/>
        </p:spPr>
        <p:txBody>
          <a:bodyPr wrap="square" anchor="t">
            <a:spAutoFit/>
          </a:bodyPr>
          <a:lstStyle/>
          <a:p>
            <a:pPr algn="l"/>
            <a:r>
              <a:rPr sz="1100" b="1" i="0">
                <a:solidFill>
                  <a:srgbClr val="0071DC"/>
                </a:solidFill>
              </a:rPr>
              <a:t>WHAT IT DOES</a:t>
            </a:r>
          </a:p>
        </p:txBody>
      </p:sp>
      <p:sp>
        <p:nvSpPr>
          <p:cNvPr id="7" name="TextBox 6"/>
          <p:cNvSpPr txBox="1"/>
          <p:nvPr/>
        </p:nvSpPr>
        <p:spPr>
          <a:xfrm>
            <a:off x="457200" y="1234440"/>
            <a:ext cx="5486400" cy="2468880"/>
          </a:xfrm>
          <a:prstGeom prst="rect">
            <a:avLst/>
          </a:prstGeom>
          <a:noFill/>
        </p:spPr>
        <p:txBody>
          <a:bodyPr wrap="square">
            <a:spAutoFit/>
          </a:bodyPr>
          <a:lstStyle/>
          <a:p>
            <a:pPr>
              <a:spcAft>
                <a:spcPts val="400"/>
              </a:spcAft>
            </a:pPr>
            <a:r>
              <a:rPr sz="1200" b="0">
                <a:solidFill>
                  <a:srgbClr val="333333"/>
                </a:solidFill>
              </a:rPr>
              <a:t>•  4 alert types  ·  volume_spike · sentiment_crash · emerging_topic · competitor_negative</a:t>
            </a:r>
          </a:p>
          <a:p>
            <a:pPr>
              <a:spcAft>
                <a:spcPts val="400"/>
              </a:spcAft>
            </a:pPr>
            <a:r>
              <a:rPr sz="1200" b="0">
                <a:solidFill>
                  <a:srgbClr val="333333"/>
                </a:solidFill>
              </a:rPr>
              <a:t>•  3 severities  ·  high / medium / low  with 30-day stacked timeline</a:t>
            </a:r>
          </a:p>
          <a:p>
            <a:pPr>
              <a:spcAft>
                <a:spcPts val="400"/>
              </a:spcAft>
            </a:pPr>
            <a:r>
              <a:rPr sz="1200" b="0">
                <a:solidFill>
                  <a:srgbClr val="333333"/>
                </a:solidFill>
              </a:rPr>
              <a:t>•  State machine  ·  new  →  acknowledged  →  investigating  →  resolved</a:t>
            </a:r>
          </a:p>
          <a:p>
            <a:pPr>
              <a:spcAft>
                <a:spcPts val="400"/>
              </a:spcAft>
            </a:pPr>
            <a:r>
              <a:rPr sz="1200" b="0">
                <a:solidFill>
                  <a:srgbClr val="333333"/>
                </a:solidFill>
              </a:rPr>
              <a:t>•  Filters  ·  range · severity · type · state</a:t>
            </a:r>
          </a:p>
          <a:p>
            <a:pPr>
              <a:spcAft>
                <a:spcPts val="400"/>
              </a:spcAft>
            </a:pPr>
            <a:r>
              <a:rPr sz="1200" b="0">
                <a:solidFill>
                  <a:srgbClr val="333333"/>
                </a:solidFill>
              </a:rPr>
              <a:t>•  Inline rule editor updates thresholds live (no redeploy)</a:t>
            </a:r>
          </a:p>
          <a:p>
            <a:pPr>
              <a:spcAft>
                <a:spcPts val="400"/>
              </a:spcAft>
            </a:pPr>
            <a:r>
              <a:rPr sz="1200" b="0">
                <a:solidFill>
                  <a:srgbClr val="333333"/>
                </a:solidFill>
              </a:rPr>
              <a:t>•  sentiment_crash enriched with macro group + WoW deltas + top subs</a:t>
            </a:r>
          </a:p>
        </p:txBody>
      </p:sp>
      <p:pic>
        <p:nvPicPr>
          <p:cNvPr id="8" name="Picture 7" descr="alert_feed.png"/>
          <p:cNvPicPr>
            <a:picLocks noChangeAspect="1"/>
          </p:cNvPicPr>
          <p:nvPr/>
        </p:nvPicPr>
        <p:blipFill>
          <a:blip r:embed="rId2"/>
          <a:stretch>
            <a:fillRect/>
          </a:stretch>
        </p:blipFill>
        <p:spPr>
          <a:xfrm>
            <a:off x="6172200" y="914400"/>
            <a:ext cx="5669280" cy="4272957"/>
          </a:xfrm>
          <a:prstGeom prst="rect">
            <a:avLst/>
          </a:prstGeom>
        </p:spPr>
      </p:pic>
      <p:sp>
        <p:nvSpPr>
          <p:cNvPr id="9" name="Rectangle 8"/>
          <p:cNvSpPr/>
          <p:nvPr/>
        </p:nvSpPr>
        <p:spPr>
          <a:xfrm>
            <a:off x="457200" y="3840480"/>
            <a:ext cx="5486400" cy="1371600"/>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931920"/>
            <a:ext cx="5120640" cy="320040"/>
          </a:xfrm>
          <a:prstGeom prst="rect">
            <a:avLst/>
          </a:prstGeom>
          <a:noFill/>
        </p:spPr>
        <p:txBody>
          <a:bodyPr wrap="square" anchor="t">
            <a:spAutoFit/>
          </a:bodyPr>
          <a:lstStyle/>
          <a:p>
            <a:pPr algn="l"/>
            <a:r>
              <a:rPr sz="1100" b="1" i="0">
                <a:solidFill>
                  <a:srgbClr val="0071DC"/>
                </a:solidFill>
              </a:rPr>
              <a:t>EDITABLE RULE THRESHOLDS</a:t>
            </a:r>
          </a:p>
        </p:txBody>
      </p:sp>
      <p:sp>
        <p:nvSpPr>
          <p:cNvPr id="11" name="TextBox 10"/>
          <p:cNvSpPr txBox="1"/>
          <p:nvPr/>
        </p:nvSpPr>
        <p:spPr>
          <a:xfrm>
            <a:off x="640080" y="4251960"/>
            <a:ext cx="5120640" cy="914400"/>
          </a:xfrm>
          <a:prstGeom prst="rect">
            <a:avLst/>
          </a:prstGeom>
          <a:noFill/>
        </p:spPr>
        <p:txBody>
          <a:bodyPr wrap="square" anchor="t">
            <a:spAutoFit/>
          </a:bodyPr>
          <a:lstStyle/>
          <a:p>
            <a:pPr algn="l"/>
            <a:r>
              <a:rPr sz="1100" b="0" i="0">
                <a:solidFill>
                  <a:srgbClr val="333333"/>
                </a:solidFill>
              </a:rPr>
              <a:t>sigma_threshold  ·  drop_threshold  ·  min_posts  ·  window_hours</a:t>
            </a:r>
          </a:p>
          <a:p>
            <a:pPr algn="l"/>
            <a:r>
              <a:rPr sz="1100" b="0" i="0">
                <a:solidFill>
                  <a:srgbClr val="333333"/>
                </a:solidFill>
              </a:rPr>
              <a:t>delta_threshold  ·  min_posts_per_window</a:t>
            </a:r>
          </a:p>
          <a:p>
            <a:pPr algn="l"/>
            <a:r>
              <a:rPr sz="1100" b="0" i="0">
                <a:solidFill>
                  <a:srgbClr val="333333"/>
                </a:solidFill>
              </a:rPr>
              <a:t>Saved via  POST /api/alerts/rules  and read by the alert engine.</a:t>
            </a:r>
          </a:p>
        </p:txBody>
      </p:sp>
      <p:sp>
        <p:nvSpPr>
          <p:cNvPr id="12" name="Rectangle 11"/>
          <p:cNvSpPr/>
          <p:nvPr/>
        </p:nvSpPr>
        <p:spPr>
          <a:xfrm>
            <a:off x="457200" y="5349240"/>
            <a:ext cx="5486400" cy="1234440"/>
          </a:xfrm>
          <a:prstGeom prst="rect">
            <a:avLst/>
          </a:prstGeom>
          <a:solidFill>
            <a:srgbClr val="DCFCE7"/>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5458968"/>
            <a:ext cx="5120640" cy="320040"/>
          </a:xfrm>
          <a:prstGeom prst="rect">
            <a:avLst/>
          </a:prstGeom>
          <a:noFill/>
        </p:spPr>
        <p:txBody>
          <a:bodyPr wrap="square" anchor="t">
            <a:spAutoFit/>
          </a:bodyPr>
          <a:lstStyle/>
          <a:p>
            <a:pPr algn="l"/>
            <a:r>
              <a:rPr sz="1100" b="1" i="0">
                <a:solidFill>
                  <a:srgbClr val="10B981"/>
                </a:solidFill>
              </a:rPr>
              <a:t>COMPETITOR-NEGATIVE RULE  ·  worked example</a:t>
            </a:r>
          </a:p>
        </p:txBody>
      </p:sp>
      <p:sp>
        <p:nvSpPr>
          <p:cNvPr id="14" name="TextBox 13"/>
          <p:cNvSpPr txBox="1"/>
          <p:nvPr/>
        </p:nvSpPr>
        <p:spPr>
          <a:xfrm>
            <a:off x="640080" y="5760720"/>
            <a:ext cx="5120640" cy="777240"/>
          </a:xfrm>
          <a:prstGeom prst="rect">
            <a:avLst/>
          </a:prstGeom>
          <a:noFill/>
        </p:spPr>
        <p:txBody>
          <a:bodyPr wrap="square" anchor="t">
            <a:spAutoFit/>
          </a:bodyPr>
          <a:lstStyle/>
          <a:p>
            <a:pPr algn="l"/>
            <a:r>
              <a:rPr sz="1050" b="0" i="0">
                <a:solidFill>
                  <a:srgbClr val="333333"/>
                </a:solidFill>
              </a:rPr>
              <a:t>r/target  ·  prev 7 d: 9 / 30 = 0.30   →   last 7 d: 20 / 40 = 0.50   →   Δ = +0.20</a:t>
            </a:r>
          </a:p>
          <a:p>
            <a:pPr algn="l"/>
            <a:r>
              <a:rPr sz="1050" b="0" i="0">
                <a:solidFill>
                  <a:srgbClr val="333333"/>
                </a:solidFill>
              </a:rPr>
              <a:t>Δ ≥ 0.15  and  both windows ≥ 25 posts  →  fires  (severity high if Δ ≥ 0.25).</a:t>
            </a:r>
          </a:p>
        </p:txBody>
      </p:sp>
      <p:sp>
        <p:nvSpPr>
          <p:cNvPr id="15" name="TextBox 14"/>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16" name="TextBox 15"/>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12 / 24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Notification Centre</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In-app mirror of the group-routed email / Slack digest</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914400"/>
            <a:ext cx="5486400" cy="320040"/>
          </a:xfrm>
          <a:prstGeom prst="rect">
            <a:avLst/>
          </a:prstGeom>
          <a:noFill/>
        </p:spPr>
        <p:txBody>
          <a:bodyPr wrap="square" anchor="t">
            <a:spAutoFit/>
          </a:bodyPr>
          <a:lstStyle/>
          <a:p>
            <a:pPr algn="l"/>
            <a:r>
              <a:rPr sz="1100" b="1" i="0">
                <a:solidFill>
                  <a:srgbClr val="0071DC"/>
                </a:solidFill>
              </a:rPr>
              <a:t>WHAT IT DOES</a:t>
            </a:r>
          </a:p>
        </p:txBody>
      </p:sp>
      <p:sp>
        <p:nvSpPr>
          <p:cNvPr id="7" name="TextBox 6"/>
          <p:cNvSpPr txBox="1"/>
          <p:nvPr/>
        </p:nvSpPr>
        <p:spPr>
          <a:xfrm>
            <a:off x="457200" y="1234440"/>
            <a:ext cx="5486400" cy="2286000"/>
          </a:xfrm>
          <a:prstGeom prst="rect">
            <a:avLst/>
          </a:prstGeom>
          <a:noFill/>
        </p:spPr>
        <p:txBody>
          <a:bodyPr wrap="square">
            <a:spAutoFit/>
          </a:bodyPr>
          <a:lstStyle/>
          <a:p>
            <a:pPr>
              <a:spcAft>
                <a:spcPts val="400"/>
              </a:spcAft>
            </a:pPr>
            <a:r>
              <a:rPr sz="1200" b="0">
                <a:solidFill>
                  <a:srgbClr val="333333"/>
                </a:solidFill>
              </a:rPr>
              <a:t>•  Every P1 / P2 email or Slack alert is mirrored in the app</a:t>
            </a:r>
          </a:p>
          <a:p>
            <a:pPr>
              <a:spcAft>
                <a:spcPts val="400"/>
              </a:spcAft>
            </a:pPr>
            <a:r>
              <a:rPr sz="1200" b="0">
                <a:solidFill>
                  <a:srgbClr val="333333"/>
                </a:solidFill>
              </a:rPr>
              <a:t>•  Notifications grouped by  subreddit ↔ business team</a:t>
            </a:r>
          </a:p>
          <a:p>
            <a:pPr>
              <a:spcAft>
                <a:spcPts val="400"/>
              </a:spcAft>
            </a:pPr>
            <a:r>
              <a:rPr sz="1200" b="0">
                <a:solidFill>
                  <a:srgbClr val="333333"/>
                </a:solidFill>
              </a:rPr>
              <a:t>•  Read / unread state persisted per analyst</a:t>
            </a:r>
          </a:p>
          <a:p>
            <a:pPr>
              <a:spcAft>
                <a:spcPts val="400"/>
              </a:spcAft>
            </a:pPr>
            <a:r>
              <a:rPr sz="1200" b="0">
                <a:solidFill>
                  <a:srgbClr val="333333"/>
                </a:solidFill>
              </a:rPr>
              <a:t>•  Deep-links open the post in Review &amp; Validate</a:t>
            </a:r>
          </a:p>
          <a:p>
            <a:pPr>
              <a:spcAft>
                <a:spcPts val="400"/>
              </a:spcAft>
            </a:pPr>
            <a:r>
              <a:rPr sz="1200" b="0">
                <a:solidFill>
                  <a:srgbClr val="333333"/>
                </a:solidFill>
              </a:rPr>
              <a:t>•  Powered by the same  alerts  rows that drive email/Slack</a:t>
            </a:r>
          </a:p>
        </p:txBody>
      </p:sp>
      <p:pic>
        <p:nvPicPr>
          <p:cNvPr id="8" name="Picture 7" descr="notifications.png"/>
          <p:cNvPicPr>
            <a:picLocks noChangeAspect="1"/>
          </p:cNvPicPr>
          <p:nvPr/>
        </p:nvPicPr>
        <p:blipFill>
          <a:blip r:embed="rId2"/>
          <a:stretch>
            <a:fillRect/>
          </a:stretch>
        </p:blipFill>
        <p:spPr>
          <a:xfrm>
            <a:off x="6172200" y="914400"/>
            <a:ext cx="5669280" cy="4265083"/>
          </a:xfrm>
          <a:prstGeom prst="rect">
            <a:avLst/>
          </a:prstGeom>
        </p:spPr>
      </p:pic>
      <p:sp>
        <p:nvSpPr>
          <p:cNvPr id="9" name="Rectangle 8"/>
          <p:cNvSpPr/>
          <p:nvPr/>
        </p:nvSpPr>
        <p:spPr>
          <a:xfrm>
            <a:off x="457200" y="3703320"/>
            <a:ext cx="5486400" cy="1371600"/>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794760"/>
            <a:ext cx="5120640" cy="320040"/>
          </a:xfrm>
          <a:prstGeom prst="rect">
            <a:avLst/>
          </a:prstGeom>
          <a:noFill/>
        </p:spPr>
        <p:txBody>
          <a:bodyPr wrap="square" anchor="t">
            <a:spAutoFit/>
          </a:bodyPr>
          <a:lstStyle/>
          <a:p>
            <a:pPr algn="l"/>
            <a:r>
              <a:rPr sz="1100" b="1" i="0">
                <a:solidFill>
                  <a:srgbClr val="0071DC"/>
                </a:solidFill>
              </a:rPr>
              <a:t>PRIORITY THRESHOLDS</a:t>
            </a:r>
          </a:p>
        </p:txBody>
      </p:sp>
      <p:sp>
        <p:nvSpPr>
          <p:cNvPr id="11" name="TextBox 10"/>
          <p:cNvSpPr txBox="1"/>
          <p:nvPr/>
        </p:nvSpPr>
        <p:spPr>
          <a:xfrm>
            <a:off x="640080" y="4114800"/>
            <a:ext cx="5120640" cy="914400"/>
          </a:xfrm>
          <a:prstGeom prst="rect">
            <a:avLst/>
          </a:prstGeom>
          <a:noFill/>
        </p:spPr>
        <p:txBody>
          <a:bodyPr wrap="square" anchor="t">
            <a:spAutoFit/>
          </a:bodyPr>
          <a:lstStyle/>
          <a:p>
            <a:pPr algn="l"/>
            <a:r>
              <a:rPr sz="1100" b="0" i="0">
                <a:solidFill>
                  <a:srgbClr val="333333"/>
                </a:solidFill>
              </a:rPr>
              <a:t>P1 — trust ≥ 0.70  and  confidence ≥ 0.80</a:t>
            </a:r>
          </a:p>
          <a:p>
            <a:pPr algn="l"/>
            <a:r>
              <a:rPr sz="1100" b="0" i="0">
                <a:solidFill>
                  <a:srgbClr val="333333"/>
                </a:solidFill>
              </a:rPr>
              <a:t>P2 — trust ≥ 0.50  and  confidence ≥ 0.60</a:t>
            </a:r>
          </a:p>
          <a:p>
            <a:pPr algn="l"/>
            <a:r>
              <a:rPr sz="1100" b="0" i="0">
                <a:solidFill>
                  <a:srgbClr val="333333"/>
                </a:solidFill>
              </a:rPr>
              <a:t>Source: config/models.yaml + dispatcher.py</a:t>
            </a:r>
          </a:p>
        </p:txBody>
      </p:sp>
      <p:sp>
        <p:nvSpPr>
          <p:cNvPr id="12" name="Rectangle 11"/>
          <p:cNvSpPr/>
          <p:nvPr/>
        </p:nvSpPr>
        <p:spPr>
          <a:xfrm>
            <a:off x="457200" y="5212080"/>
            <a:ext cx="5486400" cy="1234440"/>
          </a:xfrm>
          <a:prstGeom prst="rect">
            <a:avLst/>
          </a:prstGeom>
          <a:solidFill>
            <a:srgbClr val="DCFCE7"/>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5321808"/>
            <a:ext cx="5120640" cy="320040"/>
          </a:xfrm>
          <a:prstGeom prst="rect">
            <a:avLst/>
          </a:prstGeom>
          <a:noFill/>
        </p:spPr>
        <p:txBody>
          <a:bodyPr wrap="square" anchor="t">
            <a:spAutoFit/>
          </a:bodyPr>
          <a:lstStyle/>
          <a:p>
            <a:pPr algn="l"/>
            <a:r>
              <a:rPr sz="1100" b="1" i="0">
                <a:solidFill>
                  <a:srgbClr val="10B981"/>
                </a:solidFill>
              </a:rPr>
              <a:t>GROUPS TODAY  (live capture)</a:t>
            </a:r>
          </a:p>
        </p:txBody>
      </p:sp>
      <p:sp>
        <p:nvSpPr>
          <p:cNvPr id="14" name="TextBox 13"/>
          <p:cNvSpPr txBox="1"/>
          <p:nvPr/>
        </p:nvSpPr>
        <p:spPr>
          <a:xfrm>
            <a:off x="640080" y="5623560"/>
            <a:ext cx="5120640" cy="777240"/>
          </a:xfrm>
          <a:prstGeom prst="rect">
            <a:avLst/>
          </a:prstGeom>
          <a:noFill/>
        </p:spPr>
        <p:txBody>
          <a:bodyPr wrap="square" anchor="t">
            <a:spAutoFit/>
          </a:bodyPr>
          <a:lstStyle/>
          <a:p>
            <a:pPr algn="l"/>
            <a:r>
              <a:rPr sz="1100" b="0" i="0">
                <a:solidFill>
                  <a:srgbClr val="333333"/>
                </a:solidFill>
              </a:rPr>
              <a:t>4 routing groups configured  ·  DriverRelatedPost, GIF_, SAMSClub, W+ Membership  ·  delivery status tracked per row in  notification_log.</a:t>
            </a:r>
          </a:p>
        </p:txBody>
      </p:sp>
      <p:sp>
        <p:nvSpPr>
          <p:cNvPr id="15" name="TextBox 14"/>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16" name="TextBox 15"/>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13 / 24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ModernBERT  —  Final Training Results</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3-stage curriculum,  5-fold out-of-fold CV,  n = 200</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960120"/>
            <a:ext cx="3657600" cy="1600200"/>
          </a:xfrm>
          <a:prstGeom prst="rect">
            <a:avLst/>
          </a:prstGeom>
          <a:solidFill>
            <a:srgbClr val="DCFCE7"/>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097280"/>
            <a:ext cx="3657600" cy="320040"/>
          </a:xfrm>
          <a:prstGeom prst="rect">
            <a:avLst/>
          </a:prstGeom>
          <a:noFill/>
        </p:spPr>
        <p:txBody>
          <a:bodyPr wrap="square" anchor="t">
            <a:spAutoFit/>
          </a:bodyPr>
          <a:lstStyle/>
          <a:p>
            <a:pPr algn="ctr"/>
            <a:r>
              <a:rPr sz="1100" b="1" i="0">
                <a:solidFill>
                  <a:srgbClr val="666666"/>
                </a:solidFill>
              </a:rPr>
              <a:t>Overall Macro-F1</a:t>
            </a:r>
          </a:p>
        </p:txBody>
      </p:sp>
      <p:sp>
        <p:nvSpPr>
          <p:cNvPr id="8" name="TextBox 7"/>
          <p:cNvSpPr txBox="1"/>
          <p:nvPr/>
        </p:nvSpPr>
        <p:spPr>
          <a:xfrm>
            <a:off x="457200" y="1463040"/>
            <a:ext cx="3657600" cy="960120"/>
          </a:xfrm>
          <a:prstGeom prst="rect">
            <a:avLst/>
          </a:prstGeom>
          <a:noFill/>
        </p:spPr>
        <p:txBody>
          <a:bodyPr wrap="square" anchor="ctr">
            <a:spAutoFit/>
          </a:bodyPr>
          <a:lstStyle/>
          <a:p>
            <a:pPr algn="ctr"/>
            <a:r>
              <a:rPr sz="2400" b="1" i="0">
                <a:solidFill>
                  <a:srgbClr val="10B981"/>
                </a:solidFill>
              </a:rPr>
              <a:t>0.6272 → 0.7642</a:t>
            </a:r>
          </a:p>
        </p:txBody>
      </p:sp>
      <p:sp>
        <p:nvSpPr>
          <p:cNvPr id="9" name="Rectangle 8"/>
          <p:cNvSpPr/>
          <p:nvPr/>
        </p:nvSpPr>
        <p:spPr>
          <a:xfrm>
            <a:off x="4251960" y="960120"/>
            <a:ext cx="3657600" cy="1600200"/>
          </a:xfrm>
          <a:prstGeom prst="rect">
            <a:avLst/>
          </a:prstGeom>
          <a:solidFill>
            <a:srgbClr val="DCFCE7"/>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51960" y="1097280"/>
            <a:ext cx="3657600" cy="320040"/>
          </a:xfrm>
          <a:prstGeom prst="rect">
            <a:avLst/>
          </a:prstGeom>
          <a:noFill/>
        </p:spPr>
        <p:txBody>
          <a:bodyPr wrap="square" anchor="t">
            <a:spAutoFit/>
          </a:bodyPr>
          <a:lstStyle/>
          <a:p>
            <a:pPr algn="ctr"/>
            <a:r>
              <a:rPr sz="1100" b="1" i="0">
                <a:solidFill>
                  <a:srgbClr val="666666"/>
                </a:solidFill>
              </a:rPr>
              <a:t>Long posts  (≥ 512 tok,  n = 7)</a:t>
            </a:r>
          </a:p>
        </p:txBody>
      </p:sp>
      <p:sp>
        <p:nvSpPr>
          <p:cNvPr id="11" name="TextBox 10"/>
          <p:cNvSpPr txBox="1"/>
          <p:nvPr/>
        </p:nvSpPr>
        <p:spPr>
          <a:xfrm>
            <a:off x="4251960" y="1463040"/>
            <a:ext cx="3657600" cy="960120"/>
          </a:xfrm>
          <a:prstGeom prst="rect">
            <a:avLst/>
          </a:prstGeom>
          <a:noFill/>
        </p:spPr>
        <p:txBody>
          <a:bodyPr wrap="square" anchor="ctr">
            <a:spAutoFit/>
          </a:bodyPr>
          <a:lstStyle/>
          <a:p>
            <a:pPr algn="ctr"/>
            <a:r>
              <a:rPr sz="2000" b="1" i="0">
                <a:solidFill>
                  <a:srgbClr val="10B981"/>
                </a:solidFill>
              </a:rPr>
              <a:t>5 / 7  →  7 / 7  correct</a:t>
            </a:r>
          </a:p>
        </p:txBody>
      </p:sp>
      <p:sp>
        <p:nvSpPr>
          <p:cNvPr id="12" name="Rectangle 11"/>
          <p:cNvSpPr/>
          <p:nvPr/>
        </p:nvSpPr>
        <p:spPr>
          <a:xfrm>
            <a:off x="8046720" y="960120"/>
            <a:ext cx="3657600" cy="1600200"/>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0" y="1097280"/>
            <a:ext cx="3657600" cy="320040"/>
          </a:xfrm>
          <a:prstGeom prst="rect">
            <a:avLst/>
          </a:prstGeom>
          <a:noFill/>
        </p:spPr>
        <p:txBody>
          <a:bodyPr wrap="square" anchor="t">
            <a:spAutoFit/>
          </a:bodyPr>
          <a:lstStyle/>
          <a:p>
            <a:pPr algn="ctr"/>
            <a:r>
              <a:rPr sz="1100" b="1" i="0">
                <a:solidFill>
                  <a:srgbClr val="666666"/>
                </a:solidFill>
              </a:rPr>
              <a:t>Uplift over baseline</a:t>
            </a:r>
          </a:p>
        </p:txBody>
      </p:sp>
      <p:sp>
        <p:nvSpPr>
          <p:cNvPr id="14" name="TextBox 13"/>
          <p:cNvSpPr txBox="1"/>
          <p:nvPr/>
        </p:nvSpPr>
        <p:spPr>
          <a:xfrm>
            <a:off x="8046720" y="1463040"/>
            <a:ext cx="3657600" cy="960120"/>
          </a:xfrm>
          <a:prstGeom prst="rect">
            <a:avLst/>
          </a:prstGeom>
          <a:noFill/>
        </p:spPr>
        <p:txBody>
          <a:bodyPr wrap="square" anchor="ctr">
            <a:spAutoFit/>
          </a:bodyPr>
          <a:lstStyle/>
          <a:p>
            <a:pPr algn="ctr"/>
            <a:r>
              <a:rPr sz="2800" b="1" i="0">
                <a:solidFill>
                  <a:srgbClr val="0071DC"/>
                </a:solidFill>
              </a:rPr>
              <a:t>+13.7 pts</a:t>
            </a:r>
          </a:p>
        </p:txBody>
      </p:sp>
      <p:sp>
        <p:nvSpPr>
          <p:cNvPr id="15" name="TextBox 14"/>
          <p:cNvSpPr txBox="1"/>
          <p:nvPr/>
        </p:nvSpPr>
        <p:spPr>
          <a:xfrm>
            <a:off x="457200" y="2743200"/>
            <a:ext cx="11247120" cy="320040"/>
          </a:xfrm>
          <a:prstGeom prst="rect">
            <a:avLst/>
          </a:prstGeom>
          <a:noFill/>
        </p:spPr>
        <p:txBody>
          <a:bodyPr wrap="square" anchor="t">
            <a:spAutoFit/>
          </a:bodyPr>
          <a:lstStyle/>
          <a:p>
            <a:pPr algn="l"/>
            <a:r>
              <a:rPr sz="1300" b="1" i="0">
                <a:solidFill>
                  <a:srgbClr val="041E42"/>
                </a:solidFill>
              </a:rPr>
              <a:t>3-stage curriculum</a:t>
            </a:r>
          </a:p>
        </p:txBody>
      </p:sp>
      <p:graphicFrame>
        <p:nvGraphicFramePr>
          <p:cNvPr id="16" name="Table 15"/>
          <p:cNvGraphicFramePr>
            <a:graphicFrameLocks noGrp="1"/>
          </p:cNvGraphicFramePr>
          <p:nvPr/>
        </p:nvGraphicFramePr>
        <p:xfrm>
          <a:off x="457200" y="3108960"/>
          <a:ext cx="11247120" cy="1691640"/>
        </p:xfrm>
        <a:graphic>
          <a:graphicData uri="http://schemas.openxmlformats.org/drawingml/2006/table">
            <a:tbl>
              <a:tblPr firstRow="1" bandRow="1">
                <a:tableStyleId>{5C22544A-7EE6-4342-B048-85BDC9FD1C3A}</a:tableStyleId>
              </a:tblPr>
              <a:tblGrid>
                <a:gridCol w="2811780">
                  <a:extLst>
                    <a:ext uri="{9D8B030D-6E8A-4147-A177-3AD203B41FA5}">
                      <a16:colId xmlns:a16="http://schemas.microsoft.com/office/drawing/2014/main" val="20000"/>
                    </a:ext>
                  </a:extLst>
                </a:gridCol>
                <a:gridCol w="2811780">
                  <a:extLst>
                    <a:ext uri="{9D8B030D-6E8A-4147-A177-3AD203B41FA5}">
                      <a16:colId xmlns:a16="http://schemas.microsoft.com/office/drawing/2014/main" val="20001"/>
                    </a:ext>
                  </a:extLst>
                </a:gridCol>
                <a:gridCol w="2811780">
                  <a:extLst>
                    <a:ext uri="{9D8B030D-6E8A-4147-A177-3AD203B41FA5}">
                      <a16:colId xmlns:a16="http://schemas.microsoft.com/office/drawing/2014/main" val="20002"/>
                    </a:ext>
                  </a:extLst>
                </a:gridCol>
                <a:gridCol w="2811780">
                  <a:extLst>
                    <a:ext uri="{9D8B030D-6E8A-4147-A177-3AD203B41FA5}">
                      <a16:colId xmlns:a16="http://schemas.microsoft.com/office/drawing/2014/main" val="20003"/>
                    </a:ext>
                  </a:extLst>
                </a:gridCol>
              </a:tblGrid>
              <a:tr h="338328">
                <a:tc>
                  <a:txBody>
                    <a:bodyPr/>
                    <a:lstStyle/>
                    <a:p>
                      <a:r>
                        <a:rPr sz="1100" b="1">
                          <a:solidFill>
                            <a:srgbClr val="FFFFFF"/>
                          </a:solidFill>
                        </a:rPr>
                        <a:t>Stage</a:t>
                      </a:r>
                    </a:p>
                  </a:txBody>
                  <a:tcPr>
                    <a:solidFill>
                      <a:srgbClr val="041E42"/>
                    </a:solidFill>
                  </a:tcPr>
                </a:tc>
                <a:tc>
                  <a:txBody>
                    <a:bodyPr/>
                    <a:lstStyle/>
                    <a:p>
                      <a:r>
                        <a:rPr sz="1100" b="1">
                          <a:solidFill>
                            <a:srgbClr val="FFFFFF"/>
                          </a:solidFill>
                        </a:rPr>
                        <a:t>Data</a:t>
                      </a:r>
                    </a:p>
                  </a:txBody>
                  <a:tcPr>
                    <a:solidFill>
                      <a:srgbClr val="041E42"/>
                    </a:solidFill>
                  </a:tcPr>
                </a:tc>
                <a:tc>
                  <a:txBody>
                    <a:bodyPr/>
                    <a:lstStyle/>
                    <a:p>
                      <a:r>
                        <a:rPr sz="1100" b="1">
                          <a:solidFill>
                            <a:srgbClr val="FFFFFF"/>
                          </a:solidFill>
                        </a:rPr>
                        <a:t>Macro-F1</a:t>
                      </a:r>
                    </a:p>
                  </a:txBody>
                  <a:tcPr>
                    <a:solidFill>
                      <a:srgbClr val="041E42"/>
                    </a:solidFill>
                  </a:tcPr>
                </a:tc>
                <a:tc>
                  <a:txBody>
                    <a:bodyPr/>
                    <a:lstStyle/>
                    <a:p>
                      <a:r>
                        <a:rPr sz="1100" b="1">
                          <a:solidFill>
                            <a:srgbClr val="FFFFFF"/>
                          </a:solidFill>
                        </a:rPr>
                        <a:t>Δ vs baseline</a:t>
                      </a:r>
                    </a:p>
                  </a:txBody>
                  <a:tcPr>
                    <a:solidFill>
                      <a:srgbClr val="041E42"/>
                    </a:solidFill>
                  </a:tcPr>
                </a:tc>
                <a:extLst>
                  <a:ext uri="{0D108BD9-81ED-4DB2-BD59-A6C34878D82A}">
                    <a16:rowId xmlns:a16="http://schemas.microsoft.com/office/drawing/2014/main" val="10000"/>
                  </a:ext>
                </a:extLst>
              </a:tr>
              <a:tr h="338328">
                <a:tc>
                  <a:txBody>
                    <a:bodyPr/>
                    <a:lstStyle/>
                    <a:p>
                      <a:r>
                        <a:rPr sz="1100" b="1">
                          <a:solidFill>
                            <a:srgbClr val="333333"/>
                          </a:solidFill>
                        </a:rPr>
                        <a:t>Baseline (Twitter-RoBERTa)</a:t>
                      </a:r>
                    </a:p>
                  </a:txBody>
                  <a:tcPr>
                    <a:solidFill>
                      <a:srgbClr val="FFFFFF"/>
                    </a:solidFill>
                  </a:tcPr>
                </a:tc>
                <a:tc>
                  <a:txBody>
                    <a:bodyPr/>
                    <a:lstStyle/>
                    <a:p>
                      <a:r>
                        <a:rPr sz="1100">
                          <a:solidFill>
                            <a:srgbClr val="333333"/>
                          </a:solidFill>
                        </a:rPr>
                        <a:t>off-the-shelf</a:t>
                      </a:r>
                    </a:p>
                  </a:txBody>
                  <a:tcPr>
                    <a:solidFill>
                      <a:srgbClr val="FFFFFF"/>
                    </a:solidFill>
                  </a:tcPr>
                </a:tc>
                <a:tc>
                  <a:txBody>
                    <a:bodyPr/>
                    <a:lstStyle/>
                    <a:p>
                      <a:r>
                        <a:rPr sz="1100">
                          <a:solidFill>
                            <a:srgbClr val="333333"/>
                          </a:solidFill>
                        </a:rPr>
                        <a:t>0.6272</a:t>
                      </a:r>
                    </a:p>
                  </a:txBody>
                  <a:tcPr>
                    <a:solidFill>
                      <a:srgbClr val="FFFFFF"/>
                    </a:solidFill>
                  </a:tcPr>
                </a:tc>
                <a:tc>
                  <a:txBody>
                    <a:bodyPr/>
                    <a:lstStyle/>
                    <a:p>
                      <a:r>
                        <a:rPr sz="1100">
                          <a:solidFill>
                            <a:srgbClr val="333333"/>
                          </a:solidFill>
                        </a:rPr>
                        <a:t>—</a:t>
                      </a:r>
                    </a:p>
                  </a:txBody>
                  <a:tcPr>
                    <a:solidFill>
                      <a:srgbClr val="FFFFFF"/>
                    </a:solidFill>
                  </a:tcPr>
                </a:tc>
                <a:extLst>
                  <a:ext uri="{0D108BD9-81ED-4DB2-BD59-A6C34878D82A}">
                    <a16:rowId xmlns:a16="http://schemas.microsoft.com/office/drawing/2014/main" val="10001"/>
                  </a:ext>
                </a:extLst>
              </a:tr>
              <a:tr h="338328">
                <a:tc>
                  <a:txBody>
                    <a:bodyPr/>
                    <a:lstStyle/>
                    <a:p>
                      <a:r>
                        <a:rPr sz="1100" b="1">
                          <a:solidFill>
                            <a:srgbClr val="333333"/>
                          </a:solidFill>
                        </a:rPr>
                        <a:t>Stage 1</a:t>
                      </a:r>
                    </a:p>
                  </a:txBody>
                  <a:tcPr>
                    <a:solidFill>
                      <a:srgbClr val="F5F5F5"/>
                    </a:solidFill>
                  </a:tcPr>
                </a:tc>
                <a:tc>
                  <a:txBody>
                    <a:bodyPr/>
                    <a:lstStyle/>
                    <a:p>
                      <a:r>
                        <a:rPr sz="1100">
                          <a:solidFill>
                            <a:srgbClr val="333333"/>
                          </a:solidFill>
                        </a:rPr>
                        <a:t>TweetEval sentiment (~45 k tweets)</a:t>
                      </a:r>
                    </a:p>
                  </a:txBody>
                  <a:tcPr>
                    <a:solidFill>
                      <a:srgbClr val="F5F5F5"/>
                    </a:solidFill>
                  </a:tcPr>
                </a:tc>
                <a:tc>
                  <a:txBody>
                    <a:bodyPr/>
                    <a:lstStyle/>
                    <a:p>
                      <a:r>
                        <a:rPr sz="1100">
                          <a:solidFill>
                            <a:srgbClr val="333333"/>
                          </a:solidFill>
                        </a:rPr>
                        <a:t>0.6810</a:t>
                      </a:r>
                    </a:p>
                  </a:txBody>
                  <a:tcPr>
                    <a:solidFill>
                      <a:srgbClr val="F5F5F5"/>
                    </a:solidFill>
                  </a:tcPr>
                </a:tc>
                <a:tc>
                  <a:txBody>
                    <a:bodyPr/>
                    <a:lstStyle/>
                    <a:p>
                      <a:r>
                        <a:rPr sz="1100">
                          <a:solidFill>
                            <a:srgbClr val="333333"/>
                          </a:solidFill>
                        </a:rPr>
                        <a:t>+5.4</a:t>
                      </a:r>
                    </a:p>
                  </a:txBody>
                  <a:tcPr>
                    <a:solidFill>
                      <a:srgbClr val="F5F5F5"/>
                    </a:solidFill>
                  </a:tcPr>
                </a:tc>
                <a:extLst>
                  <a:ext uri="{0D108BD9-81ED-4DB2-BD59-A6C34878D82A}">
                    <a16:rowId xmlns:a16="http://schemas.microsoft.com/office/drawing/2014/main" val="10002"/>
                  </a:ext>
                </a:extLst>
              </a:tr>
              <a:tr h="338328">
                <a:tc>
                  <a:txBody>
                    <a:bodyPr/>
                    <a:lstStyle/>
                    <a:p>
                      <a:r>
                        <a:rPr sz="1100" b="1">
                          <a:solidFill>
                            <a:srgbClr val="333333"/>
                          </a:solidFill>
                        </a:rPr>
                        <a:t>Stage 2</a:t>
                      </a:r>
                    </a:p>
                  </a:txBody>
                  <a:tcPr>
                    <a:solidFill>
                      <a:srgbClr val="FFFFFF"/>
                    </a:solidFill>
                  </a:tcPr>
                </a:tc>
                <a:tc>
                  <a:txBody>
                    <a:bodyPr/>
                    <a:lstStyle/>
                    <a:p>
                      <a:r>
                        <a:rPr sz="1100">
                          <a:solidFill>
                            <a:srgbClr val="333333"/>
                          </a:solidFill>
                        </a:rPr>
                        <a:t>GoEmotions-3class Reddit (~54 k, pseudo)</a:t>
                      </a:r>
                    </a:p>
                  </a:txBody>
                  <a:tcPr>
                    <a:solidFill>
                      <a:srgbClr val="FFFFFF"/>
                    </a:solidFill>
                  </a:tcPr>
                </a:tc>
                <a:tc>
                  <a:txBody>
                    <a:bodyPr/>
                    <a:lstStyle/>
                    <a:p>
                      <a:r>
                        <a:rPr sz="1100">
                          <a:solidFill>
                            <a:srgbClr val="333333"/>
                          </a:solidFill>
                        </a:rPr>
                        <a:t>0.7285</a:t>
                      </a:r>
                    </a:p>
                  </a:txBody>
                  <a:tcPr>
                    <a:solidFill>
                      <a:srgbClr val="FFFFFF"/>
                    </a:solidFill>
                  </a:tcPr>
                </a:tc>
                <a:tc>
                  <a:txBody>
                    <a:bodyPr/>
                    <a:lstStyle/>
                    <a:p>
                      <a:r>
                        <a:rPr sz="1100">
                          <a:solidFill>
                            <a:srgbClr val="333333"/>
                          </a:solidFill>
                        </a:rPr>
                        <a:t>+10.1</a:t>
                      </a:r>
                    </a:p>
                  </a:txBody>
                  <a:tcPr>
                    <a:solidFill>
                      <a:srgbClr val="FFFFFF"/>
                    </a:solidFill>
                  </a:tcPr>
                </a:tc>
                <a:extLst>
                  <a:ext uri="{0D108BD9-81ED-4DB2-BD59-A6C34878D82A}">
                    <a16:rowId xmlns:a16="http://schemas.microsoft.com/office/drawing/2014/main" val="10003"/>
                  </a:ext>
                </a:extLst>
              </a:tr>
              <a:tr h="338328">
                <a:tc>
                  <a:txBody>
                    <a:bodyPr/>
                    <a:lstStyle/>
                    <a:p>
                      <a:r>
                        <a:rPr sz="1100" b="1">
                          <a:solidFill>
                            <a:srgbClr val="333333"/>
                          </a:solidFill>
                        </a:rPr>
                        <a:t>Stage 3  (final)</a:t>
                      </a:r>
                    </a:p>
                  </a:txBody>
                  <a:tcPr>
                    <a:solidFill>
                      <a:srgbClr val="DCFCE7"/>
                    </a:solidFill>
                  </a:tcPr>
                </a:tc>
                <a:tc>
                  <a:txBody>
                    <a:bodyPr/>
                    <a:lstStyle/>
                    <a:p>
                      <a:r>
                        <a:rPr sz="1100">
                          <a:solidFill>
                            <a:srgbClr val="333333"/>
                          </a:solidFill>
                        </a:rPr>
                        <a:t>Walmart-200 hand-labelled</a:t>
                      </a:r>
                    </a:p>
                  </a:txBody>
                  <a:tcPr>
                    <a:solidFill>
                      <a:srgbClr val="DCFCE7"/>
                    </a:solidFill>
                  </a:tcPr>
                </a:tc>
                <a:tc>
                  <a:txBody>
                    <a:bodyPr/>
                    <a:lstStyle/>
                    <a:p>
                      <a:r>
                        <a:rPr sz="1100">
                          <a:solidFill>
                            <a:srgbClr val="333333"/>
                          </a:solidFill>
                        </a:rPr>
                        <a:t>0.7642</a:t>
                      </a:r>
                    </a:p>
                  </a:txBody>
                  <a:tcPr>
                    <a:solidFill>
                      <a:srgbClr val="DCFCE7"/>
                    </a:solidFill>
                  </a:tcPr>
                </a:tc>
                <a:tc>
                  <a:txBody>
                    <a:bodyPr/>
                    <a:lstStyle/>
                    <a:p>
                      <a:r>
                        <a:rPr sz="1100">
                          <a:solidFill>
                            <a:srgbClr val="333333"/>
                          </a:solidFill>
                        </a:rPr>
                        <a:t>+13.7</a:t>
                      </a:r>
                    </a:p>
                  </a:txBody>
                  <a:tcPr>
                    <a:solidFill>
                      <a:srgbClr val="DCFCE7"/>
                    </a:solidFill>
                  </a:tcPr>
                </a:tc>
                <a:extLst>
                  <a:ext uri="{0D108BD9-81ED-4DB2-BD59-A6C34878D82A}">
                    <a16:rowId xmlns:a16="http://schemas.microsoft.com/office/drawing/2014/main" val="10004"/>
                  </a:ext>
                </a:extLst>
              </a:tr>
            </a:tbl>
          </a:graphicData>
        </a:graphic>
      </p:graphicFrame>
      <p:sp>
        <p:nvSpPr>
          <p:cNvPr id="17" name="TextBox 16"/>
          <p:cNvSpPr txBox="1"/>
          <p:nvPr/>
        </p:nvSpPr>
        <p:spPr>
          <a:xfrm>
            <a:off x="457200" y="4937760"/>
            <a:ext cx="11247120" cy="320040"/>
          </a:xfrm>
          <a:prstGeom prst="rect">
            <a:avLst/>
          </a:prstGeom>
          <a:noFill/>
        </p:spPr>
        <p:txBody>
          <a:bodyPr wrap="square" anchor="t">
            <a:spAutoFit/>
          </a:bodyPr>
          <a:lstStyle/>
          <a:p>
            <a:pPr algn="l"/>
            <a:r>
              <a:rPr sz="1300" b="1" i="0">
                <a:solidFill>
                  <a:srgbClr val="041E42"/>
                </a:solidFill>
              </a:rPr>
              <a:t>Per-length-bucket accuracy  (5-fold OOF predictions)</a:t>
            </a:r>
          </a:p>
        </p:txBody>
      </p:sp>
      <p:graphicFrame>
        <p:nvGraphicFramePr>
          <p:cNvPr id="18" name="Table 17"/>
          <p:cNvGraphicFramePr>
            <a:graphicFrameLocks noGrp="1"/>
          </p:cNvGraphicFramePr>
          <p:nvPr/>
        </p:nvGraphicFramePr>
        <p:xfrm>
          <a:off x="457200" y="5303520"/>
          <a:ext cx="11247120" cy="1005840"/>
        </p:xfrm>
        <a:graphic>
          <a:graphicData uri="http://schemas.openxmlformats.org/drawingml/2006/table">
            <a:tbl>
              <a:tblPr firstRow="1" bandRow="1">
                <a:tableStyleId>{5C22544A-7EE6-4342-B048-85BDC9FD1C3A}</a:tableStyleId>
              </a:tblPr>
              <a:tblGrid>
                <a:gridCol w="2811780">
                  <a:extLst>
                    <a:ext uri="{9D8B030D-6E8A-4147-A177-3AD203B41FA5}">
                      <a16:colId xmlns:a16="http://schemas.microsoft.com/office/drawing/2014/main" val="20000"/>
                    </a:ext>
                  </a:extLst>
                </a:gridCol>
                <a:gridCol w="2811780">
                  <a:extLst>
                    <a:ext uri="{9D8B030D-6E8A-4147-A177-3AD203B41FA5}">
                      <a16:colId xmlns:a16="http://schemas.microsoft.com/office/drawing/2014/main" val="20001"/>
                    </a:ext>
                  </a:extLst>
                </a:gridCol>
                <a:gridCol w="2811780">
                  <a:extLst>
                    <a:ext uri="{9D8B030D-6E8A-4147-A177-3AD203B41FA5}">
                      <a16:colId xmlns:a16="http://schemas.microsoft.com/office/drawing/2014/main" val="20002"/>
                    </a:ext>
                  </a:extLst>
                </a:gridCol>
                <a:gridCol w="2811780">
                  <a:extLst>
                    <a:ext uri="{9D8B030D-6E8A-4147-A177-3AD203B41FA5}">
                      <a16:colId xmlns:a16="http://schemas.microsoft.com/office/drawing/2014/main" val="20003"/>
                    </a:ext>
                  </a:extLst>
                </a:gridCol>
              </a:tblGrid>
              <a:tr h="335280">
                <a:tc>
                  <a:txBody>
                    <a:bodyPr/>
                    <a:lstStyle/>
                    <a:p>
                      <a:r>
                        <a:rPr sz="1100" b="1">
                          <a:solidFill>
                            <a:srgbClr val="FFFFFF"/>
                          </a:solidFill>
                        </a:rPr>
                        <a:t>Bucket  (token count)</a:t>
                      </a:r>
                    </a:p>
                  </a:txBody>
                  <a:tcPr>
                    <a:solidFill>
                      <a:srgbClr val="041E42"/>
                    </a:solidFill>
                  </a:tcPr>
                </a:tc>
                <a:tc>
                  <a:txBody>
                    <a:bodyPr/>
                    <a:lstStyle/>
                    <a:p>
                      <a:r>
                        <a:rPr sz="1100" b="1">
                          <a:solidFill>
                            <a:srgbClr val="FFFFFF"/>
                          </a:solidFill>
                        </a:rPr>
                        <a:t>Baseline correct</a:t>
                      </a:r>
                    </a:p>
                  </a:txBody>
                  <a:tcPr>
                    <a:solidFill>
                      <a:srgbClr val="041E42"/>
                    </a:solidFill>
                  </a:tcPr>
                </a:tc>
                <a:tc>
                  <a:txBody>
                    <a:bodyPr/>
                    <a:lstStyle/>
                    <a:p>
                      <a:r>
                        <a:rPr sz="1100" b="1">
                          <a:solidFill>
                            <a:srgbClr val="FFFFFF"/>
                          </a:solidFill>
                        </a:rPr>
                        <a:t>ModernBERT correct</a:t>
                      </a:r>
                    </a:p>
                  </a:txBody>
                  <a:tcPr>
                    <a:solidFill>
                      <a:srgbClr val="041E42"/>
                    </a:solidFill>
                  </a:tcPr>
                </a:tc>
                <a:tc>
                  <a:txBody>
                    <a:bodyPr/>
                    <a:lstStyle/>
                    <a:p>
                      <a:r>
                        <a:rPr sz="1100" b="1">
                          <a:solidFill>
                            <a:srgbClr val="FFFFFF"/>
                          </a:solidFill>
                        </a:rPr>
                        <a:t>Recovered</a:t>
                      </a:r>
                    </a:p>
                  </a:txBody>
                  <a:tcPr>
                    <a:solidFill>
                      <a:srgbClr val="041E42"/>
                    </a:solidFill>
                  </a:tcPr>
                </a:tc>
                <a:extLst>
                  <a:ext uri="{0D108BD9-81ED-4DB2-BD59-A6C34878D82A}">
                    <a16:rowId xmlns:a16="http://schemas.microsoft.com/office/drawing/2014/main" val="10000"/>
                  </a:ext>
                </a:extLst>
              </a:tr>
              <a:tr h="335280">
                <a:tc>
                  <a:txBody>
                    <a:bodyPr/>
                    <a:lstStyle/>
                    <a:p>
                      <a:r>
                        <a:rPr sz="1100" b="1">
                          <a:solidFill>
                            <a:srgbClr val="333333"/>
                          </a:solidFill>
                        </a:rPr>
                        <a:t>Short-to-medium  (&lt; 512, n = 193)</a:t>
                      </a:r>
                    </a:p>
                  </a:txBody>
                  <a:tcPr>
                    <a:solidFill>
                      <a:srgbClr val="FFFFFF"/>
                    </a:solidFill>
                  </a:tcPr>
                </a:tc>
                <a:tc>
                  <a:txBody>
                    <a:bodyPr/>
                    <a:lstStyle/>
                    <a:p>
                      <a:r>
                        <a:rPr sz="1100">
                          <a:solidFill>
                            <a:srgbClr val="333333"/>
                          </a:solidFill>
                        </a:rPr>
                        <a:t>138 / 193 (72 %)</a:t>
                      </a:r>
                    </a:p>
                  </a:txBody>
                  <a:tcPr>
                    <a:solidFill>
                      <a:srgbClr val="FFFFFF"/>
                    </a:solidFill>
                  </a:tcPr>
                </a:tc>
                <a:tc>
                  <a:txBody>
                    <a:bodyPr/>
                    <a:lstStyle/>
                    <a:p>
                      <a:r>
                        <a:rPr sz="1100">
                          <a:solidFill>
                            <a:srgbClr val="333333"/>
                          </a:solidFill>
                        </a:rPr>
                        <a:t>159 / 193 (82 %)</a:t>
                      </a:r>
                    </a:p>
                  </a:txBody>
                  <a:tcPr>
                    <a:solidFill>
                      <a:srgbClr val="FFFFFF"/>
                    </a:solidFill>
                  </a:tcPr>
                </a:tc>
                <a:tc>
                  <a:txBody>
                    <a:bodyPr/>
                    <a:lstStyle/>
                    <a:p>
                      <a:r>
                        <a:rPr sz="1100">
                          <a:solidFill>
                            <a:srgbClr val="333333"/>
                          </a:solidFill>
                        </a:rPr>
                        <a:t>+21</a:t>
                      </a:r>
                    </a:p>
                  </a:txBody>
                  <a:tcPr>
                    <a:solidFill>
                      <a:srgbClr val="FFFFFF"/>
                    </a:solidFill>
                  </a:tcPr>
                </a:tc>
                <a:extLst>
                  <a:ext uri="{0D108BD9-81ED-4DB2-BD59-A6C34878D82A}">
                    <a16:rowId xmlns:a16="http://schemas.microsoft.com/office/drawing/2014/main" val="10001"/>
                  </a:ext>
                </a:extLst>
              </a:tr>
              <a:tr h="335280">
                <a:tc>
                  <a:txBody>
                    <a:bodyPr/>
                    <a:lstStyle/>
                    <a:p>
                      <a:r>
                        <a:rPr sz="1100" b="1">
                          <a:solidFill>
                            <a:srgbClr val="333333"/>
                          </a:solidFill>
                        </a:rPr>
                        <a:t>Long  (≥ 512, n = 7, all negative)</a:t>
                      </a:r>
                    </a:p>
                  </a:txBody>
                  <a:tcPr>
                    <a:solidFill>
                      <a:srgbClr val="DCFCE7"/>
                    </a:solidFill>
                  </a:tcPr>
                </a:tc>
                <a:tc>
                  <a:txBody>
                    <a:bodyPr/>
                    <a:lstStyle/>
                    <a:p>
                      <a:r>
                        <a:rPr sz="1100">
                          <a:solidFill>
                            <a:srgbClr val="333333"/>
                          </a:solidFill>
                        </a:rPr>
                        <a:t>5 / 7</a:t>
                      </a:r>
                    </a:p>
                  </a:txBody>
                  <a:tcPr>
                    <a:solidFill>
                      <a:srgbClr val="DCFCE7"/>
                    </a:solidFill>
                  </a:tcPr>
                </a:tc>
                <a:tc>
                  <a:txBody>
                    <a:bodyPr/>
                    <a:lstStyle/>
                    <a:p>
                      <a:r>
                        <a:rPr sz="1100">
                          <a:solidFill>
                            <a:srgbClr val="333333"/>
                          </a:solidFill>
                        </a:rPr>
                        <a:t>7 / 7</a:t>
                      </a:r>
                    </a:p>
                  </a:txBody>
                  <a:tcPr>
                    <a:solidFill>
                      <a:srgbClr val="DCFCE7"/>
                    </a:solidFill>
                  </a:tcPr>
                </a:tc>
                <a:tc>
                  <a:txBody>
                    <a:bodyPr/>
                    <a:lstStyle/>
                    <a:p>
                      <a:r>
                        <a:rPr sz="1100">
                          <a:solidFill>
                            <a:srgbClr val="333333"/>
                          </a:solidFill>
                        </a:rPr>
                        <a:t>+2</a:t>
                      </a:r>
                    </a:p>
                  </a:txBody>
                  <a:tcPr>
                    <a:solidFill>
                      <a:srgbClr val="DCFCE7"/>
                    </a:solidFill>
                  </a:tcPr>
                </a:tc>
                <a:extLst>
                  <a:ext uri="{0D108BD9-81ED-4DB2-BD59-A6C34878D82A}">
                    <a16:rowId xmlns:a16="http://schemas.microsoft.com/office/drawing/2014/main" val="10002"/>
                  </a:ext>
                </a:extLst>
              </a:tr>
            </a:tbl>
          </a:graphicData>
        </a:graphic>
      </p:graphicFrame>
      <p:sp>
        <p:nvSpPr>
          <p:cNvPr id="19" name="TextBox 18"/>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20" name="TextBox 19"/>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14 / 24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Vision Pipeline  —  Multi-Pass Payoff</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Same model (Gemma 3 4B), same hardware, smarter calling strategy</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051560"/>
            <a:ext cx="2743200" cy="1965960"/>
          </a:xfrm>
          <a:prstGeom prst="rect">
            <a:avLst/>
          </a:prstGeom>
          <a:solidFill>
            <a:srgbClr val="F5F5F5"/>
          </a:solidFill>
          <a:ln>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051560"/>
            <a:ext cx="2743200" cy="4114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097280"/>
            <a:ext cx="2743200" cy="320040"/>
          </a:xfrm>
          <a:prstGeom prst="rect">
            <a:avLst/>
          </a:prstGeom>
          <a:noFill/>
        </p:spPr>
        <p:txBody>
          <a:bodyPr wrap="square" anchor="t">
            <a:spAutoFit/>
          </a:bodyPr>
          <a:lstStyle/>
          <a:p>
            <a:pPr algn="ctr"/>
            <a:r>
              <a:rPr sz="1100" b="1" i="0">
                <a:solidFill>
                  <a:srgbClr val="FFFFFF"/>
                </a:solidFill>
              </a:rPr>
              <a:t>PASS 1</a:t>
            </a:r>
          </a:p>
        </p:txBody>
      </p:sp>
      <p:sp>
        <p:nvSpPr>
          <p:cNvPr id="9" name="TextBox 8"/>
          <p:cNvSpPr txBox="1"/>
          <p:nvPr/>
        </p:nvSpPr>
        <p:spPr>
          <a:xfrm>
            <a:off x="365760" y="1554480"/>
            <a:ext cx="2743200" cy="365760"/>
          </a:xfrm>
          <a:prstGeom prst="rect">
            <a:avLst/>
          </a:prstGeom>
          <a:noFill/>
        </p:spPr>
        <p:txBody>
          <a:bodyPr wrap="square" anchor="t">
            <a:spAutoFit/>
          </a:bodyPr>
          <a:lstStyle/>
          <a:p>
            <a:pPr algn="ctr"/>
            <a:r>
              <a:rPr sz="1300" b="1" i="0">
                <a:solidFill>
                  <a:srgbClr val="041E42"/>
                </a:solidFill>
              </a:rPr>
              <a:t>STRUCTURE</a:t>
            </a:r>
          </a:p>
        </p:txBody>
      </p:sp>
      <p:sp>
        <p:nvSpPr>
          <p:cNvPr id="10" name="TextBox 9"/>
          <p:cNvSpPr txBox="1"/>
          <p:nvPr/>
        </p:nvSpPr>
        <p:spPr>
          <a:xfrm>
            <a:off x="365760" y="1965960"/>
            <a:ext cx="2743200" cy="1005840"/>
          </a:xfrm>
          <a:prstGeom prst="rect">
            <a:avLst/>
          </a:prstGeom>
          <a:noFill/>
        </p:spPr>
        <p:txBody>
          <a:bodyPr wrap="square" anchor="ctr">
            <a:spAutoFit/>
          </a:bodyPr>
          <a:lstStyle/>
          <a:p>
            <a:pPr algn="ctr"/>
            <a:r>
              <a:rPr sz="1100" b="0" i="0">
                <a:solidFill>
                  <a:srgbClr val="333333"/>
                </a:solidFill>
              </a:rPr>
              <a:t>What TYPE of image?</a:t>
            </a:r>
          </a:p>
          <a:p>
            <a:pPr algn="ctr"/>
            <a:r>
              <a:rPr sz="1100" b="0" i="0">
                <a:solidFill>
                  <a:srgbClr val="333333"/>
                </a:solidFill>
              </a:rPr>
              <a:t>screenshot / photo /</a:t>
            </a:r>
          </a:p>
          <a:p>
            <a:pPr algn="ctr"/>
            <a:r>
              <a:rPr sz="1100" b="0" i="0">
                <a:solidFill>
                  <a:srgbClr val="333333"/>
                </a:solidFill>
              </a:rPr>
              <a:t>receipt / app / meme</a:t>
            </a:r>
          </a:p>
        </p:txBody>
      </p:sp>
      <p:sp>
        <p:nvSpPr>
          <p:cNvPr id="11" name="Right Arrow 10"/>
          <p:cNvSpPr/>
          <p:nvPr/>
        </p:nvSpPr>
        <p:spPr>
          <a:xfrm>
            <a:off x="3113532" y="1783080"/>
            <a:ext cx="164592" cy="365760"/>
          </a:xfrm>
          <a:prstGeom prst="rightArrow">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46120" y="1051560"/>
            <a:ext cx="2743200" cy="1965960"/>
          </a:xfrm>
          <a:prstGeom prst="rect">
            <a:avLst/>
          </a:prstGeom>
          <a:solidFill>
            <a:srgbClr val="F5F5F5"/>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46120" y="1051560"/>
            <a:ext cx="2743200" cy="411480"/>
          </a:xfrm>
          <a:prstGeom prst="rect">
            <a:avLst/>
          </a:prstGeom>
          <a:solidFill>
            <a:srgbClr val="007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46120" y="1097280"/>
            <a:ext cx="2743200" cy="320040"/>
          </a:xfrm>
          <a:prstGeom prst="rect">
            <a:avLst/>
          </a:prstGeom>
          <a:noFill/>
        </p:spPr>
        <p:txBody>
          <a:bodyPr wrap="square" anchor="t">
            <a:spAutoFit/>
          </a:bodyPr>
          <a:lstStyle/>
          <a:p>
            <a:pPr algn="ctr"/>
            <a:r>
              <a:rPr sz="1100" b="1" i="0">
                <a:solidFill>
                  <a:srgbClr val="FFFFFF"/>
                </a:solidFill>
              </a:rPr>
              <a:t>PASS 2</a:t>
            </a:r>
          </a:p>
        </p:txBody>
      </p:sp>
      <p:sp>
        <p:nvSpPr>
          <p:cNvPr id="15" name="TextBox 14"/>
          <p:cNvSpPr txBox="1"/>
          <p:nvPr/>
        </p:nvSpPr>
        <p:spPr>
          <a:xfrm>
            <a:off x="3246120" y="1554480"/>
            <a:ext cx="2743200" cy="365760"/>
          </a:xfrm>
          <a:prstGeom prst="rect">
            <a:avLst/>
          </a:prstGeom>
          <a:noFill/>
        </p:spPr>
        <p:txBody>
          <a:bodyPr wrap="square" anchor="t">
            <a:spAutoFit/>
          </a:bodyPr>
          <a:lstStyle/>
          <a:p>
            <a:pPr algn="ctr"/>
            <a:r>
              <a:rPr sz="1300" b="1" i="0">
                <a:solidFill>
                  <a:srgbClr val="041E42"/>
                </a:solidFill>
              </a:rPr>
              <a:t>TILE</a:t>
            </a:r>
          </a:p>
        </p:txBody>
      </p:sp>
      <p:sp>
        <p:nvSpPr>
          <p:cNvPr id="16" name="TextBox 15"/>
          <p:cNvSpPr txBox="1"/>
          <p:nvPr/>
        </p:nvSpPr>
        <p:spPr>
          <a:xfrm>
            <a:off x="3246120" y="1965960"/>
            <a:ext cx="2743200" cy="1005840"/>
          </a:xfrm>
          <a:prstGeom prst="rect">
            <a:avLst/>
          </a:prstGeom>
          <a:noFill/>
        </p:spPr>
        <p:txBody>
          <a:bodyPr wrap="square" anchor="ctr">
            <a:spAutoFit/>
          </a:bodyPr>
          <a:lstStyle/>
          <a:p>
            <a:pPr algn="ctr"/>
            <a:r>
              <a:rPr sz="1100" b="0" i="0">
                <a:solidFill>
                  <a:srgbClr val="333333"/>
                </a:solidFill>
              </a:rPr>
              <a:t>Split into 2–4 crops</a:t>
            </a:r>
          </a:p>
          <a:p>
            <a:pPr algn="ctr"/>
            <a:r>
              <a:rPr sz="1100" b="0" i="0">
                <a:solidFill>
                  <a:srgbClr val="333333"/>
                </a:solidFill>
              </a:rPr>
              <a:t>→ 2–4× effective</a:t>
            </a:r>
          </a:p>
          <a:p>
            <a:pPr algn="ctr"/>
            <a:r>
              <a:rPr sz="1100" b="0" i="0">
                <a:solidFill>
                  <a:srgbClr val="333333"/>
                </a:solidFill>
              </a:rPr>
              <a:t>resolution, no resize</a:t>
            </a:r>
          </a:p>
        </p:txBody>
      </p:sp>
      <p:sp>
        <p:nvSpPr>
          <p:cNvPr id="17" name="Right Arrow 16"/>
          <p:cNvSpPr/>
          <p:nvPr/>
        </p:nvSpPr>
        <p:spPr>
          <a:xfrm>
            <a:off x="5993892" y="1783080"/>
            <a:ext cx="164592" cy="365760"/>
          </a:xfrm>
          <a:prstGeom prst="rightArrow">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26480" y="1051560"/>
            <a:ext cx="2743200" cy="1965960"/>
          </a:xfrm>
          <a:prstGeom prst="rect">
            <a:avLst/>
          </a:prstGeom>
          <a:solidFill>
            <a:srgbClr val="F5F5F5"/>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26480" y="1051560"/>
            <a:ext cx="2743200" cy="4114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26480" y="1097280"/>
            <a:ext cx="2743200" cy="320040"/>
          </a:xfrm>
          <a:prstGeom prst="rect">
            <a:avLst/>
          </a:prstGeom>
          <a:noFill/>
        </p:spPr>
        <p:txBody>
          <a:bodyPr wrap="square" anchor="t">
            <a:spAutoFit/>
          </a:bodyPr>
          <a:lstStyle/>
          <a:p>
            <a:pPr algn="ctr"/>
            <a:r>
              <a:rPr sz="1100" b="1" i="0">
                <a:solidFill>
                  <a:srgbClr val="FFFFFF"/>
                </a:solidFill>
              </a:rPr>
              <a:t>PASS 3</a:t>
            </a:r>
          </a:p>
        </p:txBody>
      </p:sp>
      <p:sp>
        <p:nvSpPr>
          <p:cNvPr id="21" name="TextBox 20"/>
          <p:cNvSpPr txBox="1"/>
          <p:nvPr/>
        </p:nvSpPr>
        <p:spPr>
          <a:xfrm>
            <a:off x="6126480" y="1554480"/>
            <a:ext cx="2743200" cy="365760"/>
          </a:xfrm>
          <a:prstGeom prst="rect">
            <a:avLst/>
          </a:prstGeom>
          <a:noFill/>
        </p:spPr>
        <p:txBody>
          <a:bodyPr wrap="square" anchor="t">
            <a:spAutoFit/>
          </a:bodyPr>
          <a:lstStyle/>
          <a:p>
            <a:pPr algn="ctr"/>
            <a:r>
              <a:rPr sz="1300" b="1" i="0">
                <a:solidFill>
                  <a:srgbClr val="041E42"/>
                </a:solidFill>
              </a:rPr>
              <a:t>EXTRACT</a:t>
            </a:r>
          </a:p>
        </p:txBody>
      </p:sp>
      <p:sp>
        <p:nvSpPr>
          <p:cNvPr id="22" name="TextBox 21"/>
          <p:cNvSpPr txBox="1"/>
          <p:nvPr/>
        </p:nvSpPr>
        <p:spPr>
          <a:xfrm>
            <a:off x="6126480" y="1965960"/>
            <a:ext cx="2743200" cy="1005840"/>
          </a:xfrm>
          <a:prstGeom prst="rect">
            <a:avLst/>
          </a:prstGeom>
          <a:noFill/>
        </p:spPr>
        <p:txBody>
          <a:bodyPr wrap="square" anchor="ctr">
            <a:spAutoFit/>
          </a:bodyPr>
          <a:lstStyle/>
          <a:p>
            <a:pPr algn="ctr"/>
            <a:r>
              <a:rPr sz="1100" b="0" i="0">
                <a:solidFill>
                  <a:srgbClr val="333333"/>
                </a:solidFill>
              </a:rPr>
              <a:t>Per tile: read ALL</a:t>
            </a:r>
          </a:p>
          <a:p>
            <a:pPr algn="ctr"/>
            <a:r>
              <a:rPr sz="1100" b="0" i="0">
                <a:solidFill>
                  <a:srgbClr val="333333"/>
                </a:solidFill>
              </a:rPr>
              <a:t>text verbatim</a:t>
            </a:r>
          </a:p>
          <a:p>
            <a:pPr algn="ctr"/>
            <a:r>
              <a:rPr sz="1100" b="0" i="0">
                <a:solidFill>
                  <a:srgbClr val="333333"/>
                </a:solidFill>
              </a:rPr>
              <a:t>(quotes, prices, UI)</a:t>
            </a:r>
          </a:p>
        </p:txBody>
      </p:sp>
      <p:sp>
        <p:nvSpPr>
          <p:cNvPr id="23" name="Right Arrow 22"/>
          <p:cNvSpPr/>
          <p:nvPr/>
        </p:nvSpPr>
        <p:spPr>
          <a:xfrm>
            <a:off x="8874252" y="1783080"/>
            <a:ext cx="164592" cy="365760"/>
          </a:xfrm>
          <a:prstGeom prst="rightArrow">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06840" y="1051560"/>
            <a:ext cx="2743200" cy="1965960"/>
          </a:xfrm>
          <a:prstGeom prst="rect">
            <a:avLst/>
          </a:prstGeom>
          <a:solidFill>
            <a:srgbClr val="F5F5F5"/>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006840" y="1051560"/>
            <a:ext cx="2743200" cy="4114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006840" y="1097280"/>
            <a:ext cx="2743200" cy="320040"/>
          </a:xfrm>
          <a:prstGeom prst="rect">
            <a:avLst/>
          </a:prstGeom>
          <a:noFill/>
        </p:spPr>
        <p:txBody>
          <a:bodyPr wrap="square" anchor="t">
            <a:spAutoFit/>
          </a:bodyPr>
          <a:lstStyle/>
          <a:p>
            <a:pPr algn="ctr"/>
            <a:r>
              <a:rPr sz="1100" b="1" i="0">
                <a:solidFill>
                  <a:srgbClr val="FFFFFF"/>
                </a:solidFill>
              </a:rPr>
              <a:t>PASS 4</a:t>
            </a:r>
          </a:p>
        </p:txBody>
      </p:sp>
      <p:sp>
        <p:nvSpPr>
          <p:cNvPr id="27" name="TextBox 26"/>
          <p:cNvSpPr txBox="1"/>
          <p:nvPr/>
        </p:nvSpPr>
        <p:spPr>
          <a:xfrm>
            <a:off x="9006840" y="1554480"/>
            <a:ext cx="2743200" cy="365760"/>
          </a:xfrm>
          <a:prstGeom prst="rect">
            <a:avLst/>
          </a:prstGeom>
          <a:noFill/>
        </p:spPr>
        <p:txBody>
          <a:bodyPr wrap="square" anchor="t">
            <a:spAutoFit/>
          </a:bodyPr>
          <a:lstStyle/>
          <a:p>
            <a:pPr algn="ctr"/>
            <a:r>
              <a:rPr sz="1300" b="1" i="0">
                <a:solidFill>
                  <a:srgbClr val="041E42"/>
                </a:solidFill>
              </a:rPr>
              <a:t>MERGE</a:t>
            </a:r>
          </a:p>
        </p:txBody>
      </p:sp>
      <p:sp>
        <p:nvSpPr>
          <p:cNvPr id="28" name="TextBox 27"/>
          <p:cNvSpPr txBox="1"/>
          <p:nvPr/>
        </p:nvSpPr>
        <p:spPr>
          <a:xfrm>
            <a:off x="9006840" y="1965960"/>
            <a:ext cx="2743200" cy="1005840"/>
          </a:xfrm>
          <a:prstGeom prst="rect">
            <a:avLst/>
          </a:prstGeom>
          <a:noFill/>
        </p:spPr>
        <p:txBody>
          <a:bodyPr wrap="square" anchor="ctr">
            <a:spAutoFit/>
          </a:bodyPr>
          <a:lstStyle/>
          <a:p>
            <a:pPr algn="ctr"/>
            <a:r>
              <a:rPr sz="1100" b="0" i="0">
                <a:solidFill>
                  <a:srgbClr val="333333"/>
                </a:solidFill>
              </a:rPr>
              <a:t>Text-only LLM call</a:t>
            </a:r>
          </a:p>
          <a:p>
            <a:pPr algn="ctr"/>
            <a:r>
              <a:rPr sz="1100" b="0" i="0">
                <a:solidFill>
                  <a:srgbClr val="333333"/>
                </a:solidFill>
              </a:rPr>
              <a:t>— image REMOVED —</a:t>
            </a:r>
          </a:p>
          <a:p>
            <a:pPr algn="ctr"/>
            <a:r>
              <a:rPr sz="1100" b="0" i="0">
                <a:solidFill>
                  <a:srgbClr val="333333"/>
                </a:solidFill>
              </a:rPr>
              <a:t>cannot invent visuals</a:t>
            </a:r>
          </a:p>
        </p:txBody>
      </p:sp>
      <p:sp>
        <p:nvSpPr>
          <p:cNvPr id="29" name="TextBox 28"/>
          <p:cNvSpPr txBox="1"/>
          <p:nvPr/>
        </p:nvSpPr>
        <p:spPr>
          <a:xfrm>
            <a:off x="457200" y="3337560"/>
            <a:ext cx="11247120" cy="320040"/>
          </a:xfrm>
          <a:prstGeom prst="rect">
            <a:avLst/>
          </a:prstGeom>
          <a:noFill/>
        </p:spPr>
        <p:txBody>
          <a:bodyPr wrap="square" anchor="t">
            <a:spAutoFit/>
          </a:bodyPr>
          <a:lstStyle/>
          <a:p>
            <a:pPr algn="l"/>
            <a:r>
              <a:rPr sz="1300" b="1" i="0">
                <a:solidFill>
                  <a:srgbClr val="041E42"/>
                </a:solidFill>
              </a:rPr>
              <a:t>Evaluation on 32 retail screenshots</a:t>
            </a:r>
          </a:p>
        </p:txBody>
      </p:sp>
      <p:graphicFrame>
        <p:nvGraphicFramePr>
          <p:cNvPr id="30" name="Table 29"/>
          <p:cNvGraphicFramePr>
            <a:graphicFrameLocks noGrp="1"/>
          </p:cNvGraphicFramePr>
          <p:nvPr/>
        </p:nvGraphicFramePr>
        <p:xfrm>
          <a:off x="457200" y="3703320"/>
          <a:ext cx="11247120" cy="2377440"/>
        </p:xfrm>
        <a:graphic>
          <a:graphicData uri="http://schemas.openxmlformats.org/drawingml/2006/table">
            <a:tbl>
              <a:tblPr firstRow="1" bandRow="1">
                <a:tableStyleId>{5C22544A-7EE6-4342-B048-85BDC9FD1C3A}</a:tableStyleId>
              </a:tblPr>
              <a:tblGrid>
                <a:gridCol w="2811780">
                  <a:extLst>
                    <a:ext uri="{9D8B030D-6E8A-4147-A177-3AD203B41FA5}">
                      <a16:colId xmlns:a16="http://schemas.microsoft.com/office/drawing/2014/main" val="20000"/>
                    </a:ext>
                  </a:extLst>
                </a:gridCol>
                <a:gridCol w="2811780">
                  <a:extLst>
                    <a:ext uri="{9D8B030D-6E8A-4147-A177-3AD203B41FA5}">
                      <a16:colId xmlns:a16="http://schemas.microsoft.com/office/drawing/2014/main" val="20001"/>
                    </a:ext>
                  </a:extLst>
                </a:gridCol>
                <a:gridCol w="2811780">
                  <a:extLst>
                    <a:ext uri="{9D8B030D-6E8A-4147-A177-3AD203B41FA5}">
                      <a16:colId xmlns:a16="http://schemas.microsoft.com/office/drawing/2014/main" val="20002"/>
                    </a:ext>
                  </a:extLst>
                </a:gridCol>
                <a:gridCol w="2811780">
                  <a:extLst>
                    <a:ext uri="{9D8B030D-6E8A-4147-A177-3AD203B41FA5}">
                      <a16:colId xmlns:a16="http://schemas.microsoft.com/office/drawing/2014/main" val="20003"/>
                    </a:ext>
                  </a:extLst>
                </a:gridCol>
              </a:tblGrid>
              <a:tr h="396240">
                <a:tc>
                  <a:txBody>
                    <a:bodyPr/>
                    <a:lstStyle/>
                    <a:p>
                      <a:r>
                        <a:rPr sz="1100" b="1">
                          <a:solidFill>
                            <a:srgbClr val="FFFFFF"/>
                          </a:solidFill>
                        </a:rPr>
                        <a:t>Metric</a:t>
                      </a:r>
                    </a:p>
                  </a:txBody>
                  <a:tcPr>
                    <a:solidFill>
                      <a:srgbClr val="041E42"/>
                    </a:solidFill>
                  </a:tcPr>
                </a:tc>
                <a:tc>
                  <a:txBody>
                    <a:bodyPr/>
                    <a:lstStyle/>
                    <a:p>
                      <a:r>
                        <a:rPr sz="1100" b="1">
                          <a:solidFill>
                            <a:srgbClr val="FFFFFF"/>
                          </a:solidFill>
                        </a:rPr>
                        <a:t>Single-pass</a:t>
                      </a:r>
                    </a:p>
                  </a:txBody>
                  <a:tcPr>
                    <a:solidFill>
                      <a:srgbClr val="041E42"/>
                    </a:solidFill>
                  </a:tcPr>
                </a:tc>
                <a:tc>
                  <a:txBody>
                    <a:bodyPr/>
                    <a:lstStyle/>
                    <a:p>
                      <a:r>
                        <a:rPr sz="1100" b="1">
                          <a:solidFill>
                            <a:srgbClr val="FFFFFF"/>
                          </a:solidFill>
                        </a:rPr>
                        <a:t>Multi-pass</a:t>
                      </a:r>
                    </a:p>
                  </a:txBody>
                  <a:tcPr>
                    <a:solidFill>
                      <a:srgbClr val="041E42"/>
                    </a:solidFill>
                  </a:tcPr>
                </a:tc>
                <a:tc>
                  <a:txBody>
                    <a:bodyPr/>
                    <a:lstStyle/>
                    <a:p>
                      <a:r>
                        <a:rPr sz="1100" b="1">
                          <a:solidFill>
                            <a:srgbClr val="FFFFFF"/>
                          </a:solidFill>
                        </a:rPr>
                        <a:t>Change</a:t>
                      </a:r>
                    </a:p>
                  </a:txBody>
                  <a:tcPr>
                    <a:solidFill>
                      <a:srgbClr val="041E42"/>
                    </a:solidFill>
                  </a:tcPr>
                </a:tc>
                <a:extLst>
                  <a:ext uri="{0D108BD9-81ED-4DB2-BD59-A6C34878D82A}">
                    <a16:rowId xmlns:a16="http://schemas.microsoft.com/office/drawing/2014/main" val="10000"/>
                  </a:ext>
                </a:extLst>
              </a:tr>
              <a:tr h="396240">
                <a:tc>
                  <a:txBody>
                    <a:bodyPr/>
                    <a:lstStyle/>
                    <a:p>
                      <a:r>
                        <a:rPr sz="1100" b="1">
                          <a:solidFill>
                            <a:srgbClr val="333333"/>
                          </a:solidFill>
                        </a:rPr>
                        <a:t>Hallucination rate</a:t>
                      </a:r>
                    </a:p>
                  </a:txBody>
                  <a:tcPr>
                    <a:solidFill>
                      <a:srgbClr val="DCFCE7"/>
                    </a:solidFill>
                  </a:tcPr>
                </a:tc>
                <a:tc>
                  <a:txBody>
                    <a:bodyPr/>
                    <a:lstStyle/>
                    <a:p>
                      <a:r>
                        <a:rPr sz="1100">
                          <a:solidFill>
                            <a:srgbClr val="333333"/>
                          </a:solidFill>
                        </a:rPr>
                        <a:t>50 %</a:t>
                      </a:r>
                    </a:p>
                  </a:txBody>
                  <a:tcPr>
                    <a:solidFill>
                      <a:srgbClr val="DCFCE7"/>
                    </a:solidFill>
                  </a:tcPr>
                </a:tc>
                <a:tc>
                  <a:txBody>
                    <a:bodyPr/>
                    <a:lstStyle/>
                    <a:p>
                      <a:r>
                        <a:rPr sz="1100">
                          <a:solidFill>
                            <a:srgbClr val="333333"/>
                          </a:solidFill>
                        </a:rPr>
                        <a:t>0 %</a:t>
                      </a:r>
                    </a:p>
                  </a:txBody>
                  <a:tcPr>
                    <a:solidFill>
                      <a:srgbClr val="DCFCE7"/>
                    </a:solidFill>
                  </a:tcPr>
                </a:tc>
                <a:tc>
                  <a:txBody>
                    <a:bodyPr/>
                    <a:lstStyle/>
                    <a:p>
                      <a:r>
                        <a:rPr sz="1100">
                          <a:solidFill>
                            <a:srgbClr val="333333"/>
                          </a:solidFill>
                        </a:rPr>
                        <a:t>eliminated</a:t>
                      </a:r>
                    </a:p>
                  </a:txBody>
                  <a:tcPr>
                    <a:solidFill>
                      <a:srgbClr val="DCFCE7"/>
                    </a:solidFill>
                  </a:tcPr>
                </a:tc>
                <a:extLst>
                  <a:ext uri="{0D108BD9-81ED-4DB2-BD59-A6C34878D82A}">
                    <a16:rowId xmlns:a16="http://schemas.microsoft.com/office/drawing/2014/main" val="10001"/>
                  </a:ext>
                </a:extLst>
              </a:tr>
              <a:tr h="396240">
                <a:tc>
                  <a:txBody>
                    <a:bodyPr/>
                    <a:lstStyle/>
                    <a:p>
                      <a:r>
                        <a:rPr sz="1100" b="1">
                          <a:solidFill>
                            <a:srgbClr val="333333"/>
                          </a:solidFill>
                        </a:rPr>
                        <a:t>Text-extraction success</a:t>
                      </a:r>
                    </a:p>
                  </a:txBody>
                  <a:tcPr>
                    <a:solidFill>
                      <a:srgbClr val="DCFCE7"/>
                    </a:solidFill>
                  </a:tcPr>
                </a:tc>
                <a:tc>
                  <a:txBody>
                    <a:bodyPr/>
                    <a:lstStyle/>
                    <a:p>
                      <a:r>
                        <a:rPr sz="1100">
                          <a:solidFill>
                            <a:srgbClr val="333333"/>
                          </a:solidFill>
                        </a:rPr>
                        <a:t>25 %</a:t>
                      </a:r>
                    </a:p>
                  </a:txBody>
                  <a:tcPr>
                    <a:solidFill>
                      <a:srgbClr val="DCFCE7"/>
                    </a:solidFill>
                  </a:tcPr>
                </a:tc>
                <a:tc>
                  <a:txBody>
                    <a:bodyPr/>
                    <a:lstStyle/>
                    <a:p>
                      <a:r>
                        <a:rPr sz="1100">
                          <a:solidFill>
                            <a:srgbClr val="333333"/>
                          </a:solidFill>
                        </a:rPr>
                        <a:t>75 %</a:t>
                      </a:r>
                    </a:p>
                  </a:txBody>
                  <a:tcPr>
                    <a:solidFill>
                      <a:srgbClr val="DCFCE7"/>
                    </a:solidFill>
                  </a:tcPr>
                </a:tc>
                <a:tc>
                  <a:txBody>
                    <a:bodyPr/>
                    <a:lstStyle/>
                    <a:p>
                      <a:r>
                        <a:rPr sz="1100">
                          <a:solidFill>
                            <a:srgbClr val="333333"/>
                          </a:solidFill>
                        </a:rPr>
                        <a:t>3× better</a:t>
                      </a:r>
                    </a:p>
                  </a:txBody>
                  <a:tcPr>
                    <a:solidFill>
                      <a:srgbClr val="DCFCE7"/>
                    </a:solidFill>
                  </a:tcPr>
                </a:tc>
                <a:extLst>
                  <a:ext uri="{0D108BD9-81ED-4DB2-BD59-A6C34878D82A}">
                    <a16:rowId xmlns:a16="http://schemas.microsoft.com/office/drawing/2014/main" val="10002"/>
                  </a:ext>
                </a:extLst>
              </a:tr>
              <a:tr h="396240">
                <a:tc>
                  <a:txBody>
                    <a:bodyPr/>
                    <a:lstStyle/>
                    <a:p>
                      <a:r>
                        <a:rPr sz="1100" b="1">
                          <a:solidFill>
                            <a:srgbClr val="333333"/>
                          </a:solidFill>
                        </a:rPr>
                        <a:t>Retail-signal recall</a:t>
                      </a:r>
                    </a:p>
                  </a:txBody>
                  <a:tcPr>
                    <a:solidFill>
                      <a:srgbClr val="DCFCE7"/>
                    </a:solidFill>
                  </a:tcPr>
                </a:tc>
                <a:tc>
                  <a:txBody>
                    <a:bodyPr/>
                    <a:lstStyle/>
                    <a:p>
                      <a:r>
                        <a:rPr sz="1100">
                          <a:solidFill>
                            <a:srgbClr val="333333"/>
                          </a:solidFill>
                        </a:rPr>
                        <a:t>40 %</a:t>
                      </a:r>
                    </a:p>
                  </a:txBody>
                  <a:tcPr>
                    <a:solidFill>
                      <a:srgbClr val="DCFCE7"/>
                    </a:solidFill>
                  </a:tcPr>
                </a:tc>
                <a:tc>
                  <a:txBody>
                    <a:bodyPr/>
                    <a:lstStyle/>
                    <a:p>
                      <a:r>
                        <a:rPr sz="1100">
                          <a:solidFill>
                            <a:srgbClr val="333333"/>
                          </a:solidFill>
                        </a:rPr>
                        <a:t>81 %</a:t>
                      </a:r>
                    </a:p>
                  </a:txBody>
                  <a:tcPr>
                    <a:solidFill>
                      <a:srgbClr val="DCFCE7"/>
                    </a:solidFill>
                  </a:tcPr>
                </a:tc>
                <a:tc>
                  <a:txBody>
                    <a:bodyPr/>
                    <a:lstStyle/>
                    <a:p>
                      <a:r>
                        <a:rPr sz="1100">
                          <a:solidFill>
                            <a:srgbClr val="333333"/>
                          </a:solidFill>
                        </a:rPr>
                        <a:t>2× better</a:t>
                      </a:r>
                    </a:p>
                  </a:txBody>
                  <a:tcPr>
                    <a:solidFill>
                      <a:srgbClr val="DCFCE7"/>
                    </a:solidFill>
                  </a:tcPr>
                </a:tc>
                <a:extLst>
                  <a:ext uri="{0D108BD9-81ED-4DB2-BD59-A6C34878D82A}">
                    <a16:rowId xmlns:a16="http://schemas.microsoft.com/office/drawing/2014/main" val="10003"/>
                  </a:ext>
                </a:extLst>
              </a:tr>
              <a:tr h="396240">
                <a:tc>
                  <a:txBody>
                    <a:bodyPr/>
                    <a:lstStyle/>
                    <a:p>
                      <a:r>
                        <a:rPr sz="1100" b="1">
                          <a:solidFill>
                            <a:srgbClr val="333333"/>
                          </a:solidFill>
                        </a:rPr>
                        <a:t>Fabricated claims</a:t>
                      </a:r>
                    </a:p>
                  </a:txBody>
                  <a:tcPr>
                    <a:solidFill>
                      <a:srgbClr val="F5F5F5"/>
                    </a:solidFill>
                  </a:tcPr>
                </a:tc>
                <a:tc>
                  <a:txBody>
                    <a:bodyPr/>
                    <a:lstStyle/>
                    <a:p>
                      <a:r>
                        <a:rPr sz="1100">
                          <a:solidFill>
                            <a:srgbClr val="333333"/>
                          </a:solidFill>
                        </a:rPr>
                        <a:t>many</a:t>
                      </a:r>
                    </a:p>
                  </a:txBody>
                  <a:tcPr>
                    <a:solidFill>
                      <a:srgbClr val="F5F5F5"/>
                    </a:solidFill>
                  </a:tcPr>
                </a:tc>
                <a:tc>
                  <a:txBody>
                    <a:bodyPr/>
                    <a:lstStyle/>
                    <a:p>
                      <a:r>
                        <a:rPr sz="1100">
                          <a:solidFill>
                            <a:srgbClr val="333333"/>
                          </a:solidFill>
                        </a:rPr>
                        <a:t>0</a:t>
                      </a:r>
                    </a:p>
                  </a:txBody>
                  <a:tcPr>
                    <a:solidFill>
                      <a:srgbClr val="F5F5F5"/>
                    </a:solidFill>
                  </a:tcPr>
                </a:tc>
                <a:tc>
                  <a:txBody>
                    <a:bodyPr/>
                    <a:lstStyle/>
                    <a:p>
                      <a:r>
                        <a:rPr sz="1100">
                          <a:solidFill>
                            <a:srgbClr val="333333"/>
                          </a:solidFill>
                        </a:rPr>
                        <a:t>eliminated</a:t>
                      </a:r>
                    </a:p>
                  </a:txBody>
                  <a:tcPr>
                    <a:solidFill>
                      <a:srgbClr val="F5F5F5"/>
                    </a:solidFill>
                  </a:tcPr>
                </a:tc>
                <a:extLst>
                  <a:ext uri="{0D108BD9-81ED-4DB2-BD59-A6C34878D82A}">
                    <a16:rowId xmlns:a16="http://schemas.microsoft.com/office/drawing/2014/main" val="10004"/>
                  </a:ext>
                </a:extLst>
              </a:tr>
              <a:tr h="396240">
                <a:tc>
                  <a:txBody>
                    <a:bodyPr/>
                    <a:lstStyle/>
                    <a:p>
                      <a:r>
                        <a:rPr sz="1100" b="1">
                          <a:solidFill>
                            <a:srgbClr val="333333"/>
                          </a:solidFill>
                        </a:rPr>
                        <a:t>Latency / image (warm)</a:t>
                      </a:r>
                    </a:p>
                  </a:txBody>
                  <a:tcPr>
                    <a:solidFill>
                      <a:srgbClr val="FFFFFF"/>
                    </a:solidFill>
                  </a:tcPr>
                </a:tc>
                <a:tc>
                  <a:txBody>
                    <a:bodyPr/>
                    <a:lstStyle/>
                    <a:p>
                      <a:r>
                        <a:rPr sz="1100">
                          <a:solidFill>
                            <a:srgbClr val="333333"/>
                          </a:solidFill>
                        </a:rPr>
                        <a:t>~5 s</a:t>
                      </a:r>
                    </a:p>
                  </a:txBody>
                  <a:tcPr>
                    <a:solidFill>
                      <a:srgbClr val="FFFFFF"/>
                    </a:solidFill>
                  </a:tcPr>
                </a:tc>
                <a:tc>
                  <a:txBody>
                    <a:bodyPr/>
                    <a:lstStyle/>
                    <a:p>
                      <a:r>
                        <a:rPr sz="1100">
                          <a:solidFill>
                            <a:srgbClr val="333333"/>
                          </a:solidFill>
                        </a:rPr>
                        <a:t>~15 s</a:t>
                      </a:r>
                    </a:p>
                  </a:txBody>
                  <a:tcPr>
                    <a:solidFill>
                      <a:srgbClr val="FFFFFF"/>
                    </a:solidFill>
                  </a:tcPr>
                </a:tc>
                <a:tc>
                  <a:txBody>
                    <a:bodyPr/>
                    <a:lstStyle/>
                    <a:p>
                      <a:r>
                        <a:rPr sz="1100">
                          <a:solidFill>
                            <a:srgbClr val="333333"/>
                          </a:solidFill>
                        </a:rPr>
                        <a:t>3× (accepted)</a:t>
                      </a:r>
                    </a:p>
                  </a:txBody>
                  <a:tcPr>
                    <a:solidFill>
                      <a:srgbClr val="FFFFFF"/>
                    </a:solidFill>
                  </a:tcPr>
                </a:tc>
                <a:extLst>
                  <a:ext uri="{0D108BD9-81ED-4DB2-BD59-A6C34878D82A}">
                    <a16:rowId xmlns:a16="http://schemas.microsoft.com/office/drawing/2014/main" val="10005"/>
                  </a:ext>
                </a:extLst>
              </a:tr>
            </a:tbl>
          </a:graphicData>
        </a:graphic>
      </p:graphicFrame>
      <p:sp>
        <p:nvSpPr>
          <p:cNvPr id="31" name="TextBox 30"/>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32" name="TextBox 31"/>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15 / 24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Trust-Score  —  End-to-End Evaluation</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On the 200-post gold set, does the trust filter catch bad posts?</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960120"/>
            <a:ext cx="3657600" cy="1737360"/>
          </a:xfrm>
          <a:prstGeom prst="rect">
            <a:avLst/>
          </a:prstGeom>
          <a:solidFill>
            <a:srgbClr val="FEF3C7"/>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097280"/>
            <a:ext cx="3657600" cy="320040"/>
          </a:xfrm>
          <a:prstGeom prst="rect">
            <a:avLst/>
          </a:prstGeom>
          <a:noFill/>
        </p:spPr>
        <p:txBody>
          <a:bodyPr wrap="square" anchor="t">
            <a:spAutoFit/>
          </a:bodyPr>
          <a:lstStyle/>
          <a:p>
            <a:pPr algn="ctr"/>
            <a:r>
              <a:rPr sz="1100" b="1" i="0">
                <a:solidFill>
                  <a:srgbClr val="666666"/>
                </a:solidFill>
              </a:rPr>
              <a:t>Low-trust share  (T &lt; 0.4)</a:t>
            </a:r>
          </a:p>
        </p:txBody>
      </p:sp>
      <p:sp>
        <p:nvSpPr>
          <p:cNvPr id="8" name="TextBox 7"/>
          <p:cNvSpPr txBox="1"/>
          <p:nvPr/>
        </p:nvSpPr>
        <p:spPr>
          <a:xfrm>
            <a:off x="457200" y="1463040"/>
            <a:ext cx="3657600" cy="1097280"/>
          </a:xfrm>
          <a:prstGeom prst="rect">
            <a:avLst/>
          </a:prstGeom>
          <a:noFill/>
        </p:spPr>
        <p:txBody>
          <a:bodyPr wrap="square" anchor="ctr">
            <a:spAutoFit/>
          </a:bodyPr>
          <a:lstStyle/>
          <a:p>
            <a:pPr algn="ctr"/>
            <a:r>
              <a:rPr sz="3800" b="1" i="0">
                <a:solidFill>
                  <a:srgbClr val="D97706"/>
                </a:solidFill>
              </a:rPr>
              <a:t>15 %</a:t>
            </a:r>
          </a:p>
        </p:txBody>
      </p:sp>
      <p:sp>
        <p:nvSpPr>
          <p:cNvPr id="9" name="Rectangle 8"/>
          <p:cNvSpPr/>
          <p:nvPr/>
        </p:nvSpPr>
        <p:spPr>
          <a:xfrm>
            <a:off x="4251960" y="960120"/>
            <a:ext cx="3657600" cy="1737360"/>
          </a:xfrm>
          <a:prstGeom prst="rect">
            <a:avLst/>
          </a:prstGeom>
          <a:solidFill>
            <a:srgbClr val="DCFCE7"/>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51960" y="1097280"/>
            <a:ext cx="3657600" cy="320040"/>
          </a:xfrm>
          <a:prstGeom prst="rect">
            <a:avLst/>
          </a:prstGeom>
          <a:noFill/>
        </p:spPr>
        <p:txBody>
          <a:bodyPr wrap="square" anchor="t">
            <a:spAutoFit/>
          </a:bodyPr>
          <a:lstStyle/>
          <a:p>
            <a:pPr algn="ctr"/>
            <a:r>
              <a:rPr sz="1100" b="1" i="0">
                <a:solidFill>
                  <a:srgbClr val="666666"/>
                </a:solidFill>
              </a:rPr>
              <a:t>Human-agreed  (annotator cross-check)</a:t>
            </a:r>
          </a:p>
        </p:txBody>
      </p:sp>
      <p:sp>
        <p:nvSpPr>
          <p:cNvPr id="11" name="TextBox 10"/>
          <p:cNvSpPr txBox="1"/>
          <p:nvPr/>
        </p:nvSpPr>
        <p:spPr>
          <a:xfrm>
            <a:off x="4251960" y="1463040"/>
            <a:ext cx="3657600" cy="1097280"/>
          </a:xfrm>
          <a:prstGeom prst="rect">
            <a:avLst/>
          </a:prstGeom>
          <a:noFill/>
        </p:spPr>
        <p:txBody>
          <a:bodyPr wrap="square" anchor="ctr">
            <a:spAutoFit/>
          </a:bodyPr>
          <a:lstStyle/>
          <a:p>
            <a:pPr algn="ctr"/>
            <a:r>
              <a:rPr sz="3800" b="1" i="0">
                <a:solidFill>
                  <a:srgbClr val="10B981"/>
                </a:solidFill>
              </a:rPr>
              <a:t>12 / 15</a:t>
            </a:r>
          </a:p>
        </p:txBody>
      </p:sp>
      <p:sp>
        <p:nvSpPr>
          <p:cNvPr id="12" name="Rectangle 11"/>
          <p:cNvSpPr/>
          <p:nvPr/>
        </p:nvSpPr>
        <p:spPr>
          <a:xfrm>
            <a:off x="8046720" y="960120"/>
            <a:ext cx="3657600" cy="1737360"/>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0" y="1097280"/>
            <a:ext cx="3657600" cy="320040"/>
          </a:xfrm>
          <a:prstGeom prst="rect">
            <a:avLst/>
          </a:prstGeom>
          <a:noFill/>
        </p:spPr>
        <p:txBody>
          <a:bodyPr wrap="square" anchor="t">
            <a:spAutoFit/>
          </a:bodyPr>
          <a:lstStyle/>
          <a:p>
            <a:pPr algn="ctr"/>
            <a:r>
              <a:rPr sz="1100" b="1" i="0">
                <a:solidFill>
                  <a:srgbClr val="666666"/>
                </a:solidFill>
              </a:rPr>
              <a:t>Agreement rate</a:t>
            </a:r>
          </a:p>
        </p:txBody>
      </p:sp>
      <p:sp>
        <p:nvSpPr>
          <p:cNvPr id="14" name="TextBox 13"/>
          <p:cNvSpPr txBox="1"/>
          <p:nvPr/>
        </p:nvSpPr>
        <p:spPr>
          <a:xfrm>
            <a:off x="8046720" y="1463040"/>
            <a:ext cx="3657600" cy="1097280"/>
          </a:xfrm>
          <a:prstGeom prst="rect">
            <a:avLst/>
          </a:prstGeom>
          <a:noFill/>
        </p:spPr>
        <p:txBody>
          <a:bodyPr wrap="square" anchor="ctr">
            <a:spAutoFit/>
          </a:bodyPr>
          <a:lstStyle/>
          <a:p>
            <a:pPr algn="ctr"/>
            <a:r>
              <a:rPr sz="3800" b="1" i="0">
                <a:solidFill>
                  <a:srgbClr val="0071DC"/>
                </a:solidFill>
              </a:rPr>
              <a:t>80 %</a:t>
            </a:r>
          </a:p>
        </p:txBody>
      </p:sp>
      <p:sp>
        <p:nvSpPr>
          <p:cNvPr id="15" name="TextBox 14"/>
          <p:cNvSpPr txBox="1"/>
          <p:nvPr/>
        </p:nvSpPr>
        <p:spPr>
          <a:xfrm>
            <a:off x="457200" y="2880360"/>
            <a:ext cx="11247120" cy="320040"/>
          </a:xfrm>
          <a:prstGeom prst="rect">
            <a:avLst/>
          </a:prstGeom>
          <a:noFill/>
        </p:spPr>
        <p:txBody>
          <a:bodyPr wrap="square" anchor="t">
            <a:spAutoFit/>
          </a:bodyPr>
          <a:lstStyle/>
          <a:p>
            <a:pPr algn="l"/>
            <a:r>
              <a:rPr sz="1300" b="1" i="0">
                <a:solidFill>
                  <a:srgbClr val="041E42"/>
                </a:solidFill>
              </a:rPr>
              <a:t>Weighted formula  (decomposition shown inline in dashboard)</a:t>
            </a:r>
          </a:p>
        </p:txBody>
      </p:sp>
      <p:sp>
        <p:nvSpPr>
          <p:cNvPr id="16" name="Rectangle 15"/>
          <p:cNvSpPr/>
          <p:nvPr/>
        </p:nvSpPr>
        <p:spPr>
          <a:xfrm>
            <a:off x="457200" y="3246120"/>
            <a:ext cx="11247120" cy="777240"/>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383280"/>
            <a:ext cx="10972800" cy="502920"/>
          </a:xfrm>
          <a:prstGeom prst="rect">
            <a:avLst/>
          </a:prstGeom>
          <a:noFill/>
        </p:spPr>
        <p:txBody>
          <a:bodyPr wrap="square" anchor="ctr">
            <a:spAutoFit/>
          </a:bodyPr>
          <a:lstStyle/>
          <a:p>
            <a:pPr algn="ctr"/>
            <a:r>
              <a:rPr sz="1800" b="1" i="0">
                <a:solidFill>
                  <a:srgbClr val="041E42"/>
                </a:solidFill>
              </a:rPr>
              <a:t>trust_score  =  0.4 × metadata  +  0.3 × dedup  +  0.3 × llm_credibility</a:t>
            </a:r>
          </a:p>
        </p:txBody>
      </p:sp>
      <p:sp>
        <p:nvSpPr>
          <p:cNvPr id="18" name="Rectangle 17"/>
          <p:cNvSpPr/>
          <p:nvPr/>
        </p:nvSpPr>
        <p:spPr>
          <a:xfrm>
            <a:off x="457200" y="4251960"/>
            <a:ext cx="5532120" cy="2103120"/>
          </a:xfrm>
          <a:prstGeom prst="rect">
            <a:avLst/>
          </a:prstGeom>
          <a:solidFill>
            <a:srgbClr val="DCFCE7"/>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4370832"/>
            <a:ext cx="5212080" cy="320040"/>
          </a:xfrm>
          <a:prstGeom prst="rect">
            <a:avLst/>
          </a:prstGeom>
          <a:noFill/>
        </p:spPr>
        <p:txBody>
          <a:bodyPr wrap="square" anchor="t">
            <a:spAutoFit/>
          </a:bodyPr>
          <a:lstStyle/>
          <a:p>
            <a:pPr algn="l"/>
            <a:r>
              <a:rPr sz="1200" b="1" i="0">
                <a:solidFill>
                  <a:srgbClr val="10B981"/>
                </a:solidFill>
              </a:rPr>
              <a:t>DESIGN PRINCIPLE  —  flag, don't drop</a:t>
            </a:r>
          </a:p>
        </p:txBody>
      </p:sp>
      <p:sp>
        <p:nvSpPr>
          <p:cNvPr id="20" name="TextBox 19"/>
          <p:cNvSpPr txBox="1"/>
          <p:nvPr/>
        </p:nvSpPr>
        <p:spPr>
          <a:xfrm>
            <a:off x="640080" y="4709160"/>
            <a:ext cx="5212080" cy="1554480"/>
          </a:xfrm>
          <a:prstGeom prst="rect">
            <a:avLst/>
          </a:prstGeom>
          <a:noFill/>
        </p:spPr>
        <p:txBody>
          <a:bodyPr wrap="square" anchor="t">
            <a:spAutoFit/>
          </a:bodyPr>
          <a:lstStyle/>
          <a:p>
            <a:pPr algn="l"/>
            <a:r>
              <a:rPr sz="1100" b="0" i="0">
                <a:solidFill>
                  <a:srgbClr val="333333"/>
                </a:solidFill>
              </a:rPr>
              <a:t>Low-trust posts are surfaced with an explanatory chip (promotional / duplicate / thin-metadata) and can be overridden by an analyst in one click — the override is captured for the learning loop.</a:t>
            </a:r>
          </a:p>
        </p:txBody>
      </p:sp>
      <p:sp>
        <p:nvSpPr>
          <p:cNvPr id="21" name="Rectangle 20"/>
          <p:cNvSpPr/>
          <p:nvPr/>
        </p:nvSpPr>
        <p:spPr>
          <a:xfrm>
            <a:off x="6172200" y="4251960"/>
            <a:ext cx="5532120" cy="2103120"/>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5080" y="4370832"/>
            <a:ext cx="5212080" cy="320040"/>
          </a:xfrm>
          <a:prstGeom prst="rect">
            <a:avLst/>
          </a:prstGeom>
          <a:noFill/>
        </p:spPr>
        <p:txBody>
          <a:bodyPr wrap="square" anchor="t">
            <a:spAutoFit/>
          </a:bodyPr>
          <a:lstStyle/>
          <a:p>
            <a:pPr algn="l"/>
            <a:r>
              <a:rPr sz="1200" b="1" i="0">
                <a:solidFill>
                  <a:srgbClr val="0071DC"/>
                </a:solidFill>
              </a:rPr>
              <a:t>WHY IT'S DEFENSIBLE</a:t>
            </a:r>
          </a:p>
        </p:txBody>
      </p:sp>
      <p:sp>
        <p:nvSpPr>
          <p:cNvPr id="23" name="TextBox 22"/>
          <p:cNvSpPr txBox="1"/>
          <p:nvPr/>
        </p:nvSpPr>
        <p:spPr>
          <a:xfrm>
            <a:off x="6355080" y="4709160"/>
            <a:ext cx="5212080" cy="1600200"/>
          </a:xfrm>
          <a:prstGeom prst="rect">
            <a:avLst/>
          </a:prstGeom>
          <a:noFill/>
        </p:spPr>
        <p:txBody>
          <a:bodyPr wrap="square">
            <a:spAutoFit/>
          </a:bodyPr>
          <a:lstStyle/>
          <a:p>
            <a:pPr>
              <a:spcAft>
                <a:spcPts val="400"/>
              </a:spcAft>
            </a:pPr>
            <a:r>
              <a:rPr sz="1100" b="0">
                <a:solidFill>
                  <a:srgbClr val="333333"/>
                </a:solidFill>
              </a:rPr>
              <a:t>•  Every constant has a plain-English rationale in config/models.yaml</a:t>
            </a:r>
          </a:p>
          <a:p>
            <a:pPr>
              <a:spcAft>
                <a:spcPts val="400"/>
              </a:spcAft>
            </a:pPr>
            <a:r>
              <a:rPr sz="1100" b="0">
                <a:solidFill>
                  <a:srgbClr val="333333"/>
                </a:solidFill>
              </a:rPr>
              <a:t>•  Three named components  →  analyst can see WHY a post is low-trust</a:t>
            </a:r>
          </a:p>
          <a:p>
            <a:pPr>
              <a:spcAft>
                <a:spcPts val="400"/>
              </a:spcAft>
            </a:pPr>
            <a:r>
              <a:rPr sz="1100" b="0">
                <a:solidFill>
                  <a:srgbClr val="333333"/>
                </a:solidFill>
              </a:rPr>
              <a:t>•  12 / 15 confirmed by human annotator on the cross-check</a:t>
            </a:r>
          </a:p>
          <a:p>
            <a:pPr>
              <a:spcAft>
                <a:spcPts val="400"/>
              </a:spcAft>
            </a:pPr>
            <a:r>
              <a:rPr sz="1100" b="0">
                <a:solidFill>
                  <a:srgbClr val="333333"/>
                </a:solidFill>
              </a:rPr>
              <a:t>•  LLM component only invoked in ambiguous zone (cost-controlled)</a:t>
            </a:r>
          </a:p>
        </p:txBody>
      </p:sp>
      <p:sp>
        <p:nvSpPr>
          <p:cNvPr id="24" name="TextBox 23"/>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25" name="TextBox 24"/>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16 / 24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Evaluation Summary  —  Post-Midsem Numbers</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All results reported against the same 200-post retail-Reddit gold set</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457200" y="1005840"/>
          <a:ext cx="11247120" cy="5120640"/>
        </p:xfrm>
        <a:graphic>
          <a:graphicData uri="http://schemas.openxmlformats.org/drawingml/2006/table">
            <a:tbl>
              <a:tblPr firstRow="1" bandRow="1">
                <a:tableStyleId>{5C22544A-7EE6-4342-B048-85BDC9FD1C3A}</a:tableStyleId>
              </a:tblPr>
              <a:tblGrid>
                <a:gridCol w="2811780">
                  <a:extLst>
                    <a:ext uri="{9D8B030D-6E8A-4147-A177-3AD203B41FA5}">
                      <a16:colId xmlns:a16="http://schemas.microsoft.com/office/drawing/2014/main" val="20000"/>
                    </a:ext>
                  </a:extLst>
                </a:gridCol>
                <a:gridCol w="2811780">
                  <a:extLst>
                    <a:ext uri="{9D8B030D-6E8A-4147-A177-3AD203B41FA5}">
                      <a16:colId xmlns:a16="http://schemas.microsoft.com/office/drawing/2014/main" val="20001"/>
                    </a:ext>
                  </a:extLst>
                </a:gridCol>
                <a:gridCol w="2811780">
                  <a:extLst>
                    <a:ext uri="{9D8B030D-6E8A-4147-A177-3AD203B41FA5}">
                      <a16:colId xmlns:a16="http://schemas.microsoft.com/office/drawing/2014/main" val="20002"/>
                    </a:ext>
                  </a:extLst>
                </a:gridCol>
                <a:gridCol w="2811780">
                  <a:extLst>
                    <a:ext uri="{9D8B030D-6E8A-4147-A177-3AD203B41FA5}">
                      <a16:colId xmlns:a16="http://schemas.microsoft.com/office/drawing/2014/main" val="20003"/>
                    </a:ext>
                  </a:extLst>
                </a:gridCol>
              </a:tblGrid>
              <a:tr h="426720">
                <a:tc>
                  <a:txBody>
                    <a:bodyPr/>
                    <a:lstStyle/>
                    <a:p>
                      <a:r>
                        <a:rPr sz="1000" b="1">
                          <a:solidFill>
                            <a:srgbClr val="FFFFFF"/>
                          </a:solidFill>
                        </a:rPr>
                        <a:t>Area</a:t>
                      </a:r>
                    </a:p>
                  </a:txBody>
                  <a:tcPr>
                    <a:solidFill>
                      <a:srgbClr val="041E42"/>
                    </a:solidFill>
                  </a:tcPr>
                </a:tc>
                <a:tc>
                  <a:txBody>
                    <a:bodyPr/>
                    <a:lstStyle/>
                    <a:p>
                      <a:r>
                        <a:rPr sz="1000" b="1">
                          <a:solidFill>
                            <a:srgbClr val="FFFFFF"/>
                          </a:solidFill>
                        </a:rPr>
                        <a:t>Metric</a:t>
                      </a:r>
                    </a:p>
                  </a:txBody>
                  <a:tcPr>
                    <a:solidFill>
                      <a:srgbClr val="041E42"/>
                    </a:solidFill>
                  </a:tcPr>
                </a:tc>
                <a:tc>
                  <a:txBody>
                    <a:bodyPr/>
                    <a:lstStyle/>
                    <a:p>
                      <a:r>
                        <a:rPr sz="1000" b="1">
                          <a:solidFill>
                            <a:srgbClr val="FFFFFF"/>
                          </a:solidFill>
                        </a:rPr>
                        <a:t>Value</a:t>
                      </a:r>
                    </a:p>
                  </a:txBody>
                  <a:tcPr>
                    <a:solidFill>
                      <a:srgbClr val="041E42"/>
                    </a:solidFill>
                  </a:tcPr>
                </a:tc>
                <a:tc>
                  <a:txBody>
                    <a:bodyPr/>
                    <a:lstStyle/>
                    <a:p>
                      <a:r>
                        <a:rPr sz="1000" b="1">
                          <a:solidFill>
                            <a:srgbClr val="FFFFFF"/>
                          </a:solidFill>
                        </a:rPr>
                        <a:t>Notes</a:t>
                      </a:r>
                    </a:p>
                  </a:txBody>
                  <a:tcPr>
                    <a:solidFill>
                      <a:srgbClr val="041E42"/>
                    </a:solidFill>
                  </a:tcPr>
                </a:tc>
                <a:extLst>
                  <a:ext uri="{0D108BD9-81ED-4DB2-BD59-A6C34878D82A}">
                    <a16:rowId xmlns:a16="http://schemas.microsoft.com/office/drawing/2014/main" val="10000"/>
                  </a:ext>
                </a:extLst>
              </a:tr>
              <a:tr h="426720">
                <a:tc>
                  <a:txBody>
                    <a:bodyPr/>
                    <a:lstStyle/>
                    <a:p>
                      <a:r>
                        <a:rPr sz="1000" b="1">
                          <a:solidFill>
                            <a:srgbClr val="333333"/>
                          </a:solidFill>
                        </a:rPr>
                        <a:t>Sentiment</a:t>
                      </a:r>
                    </a:p>
                  </a:txBody>
                  <a:tcPr>
                    <a:solidFill>
                      <a:srgbClr val="DCFCE7"/>
                    </a:solidFill>
                  </a:tcPr>
                </a:tc>
                <a:tc>
                  <a:txBody>
                    <a:bodyPr/>
                    <a:lstStyle/>
                    <a:p>
                      <a:r>
                        <a:rPr sz="1000">
                          <a:solidFill>
                            <a:srgbClr val="333333"/>
                          </a:solidFill>
                        </a:rPr>
                        <a:t>Macro-F1 (final)</a:t>
                      </a:r>
                    </a:p>
                  </a:txBody>
                  <a:tcPr>
                    <a:solidFill>
                      <a:srgbClr val="DCFCE7"/>
                    </a:solidFill>
                  </a:tcPr>
                </a:tc>
                <a:tc>
                  <a:txBody>
                    <a:bodyPr/>
                    <a:lstStyle/>
                    <a:p>
                      <a:r>
                        <a:rPr sz="1000">
                          <a:solidFill>
                            <a:srgbClr val="333333"/>
                          </a:solidFill>
                        </a:rPr>
                        <a:t>0.7642</a:t>
                      </a:r>
                    </a:p>
                  </a:txBody>
                  <a:tcPr>
                    <a:solidFill>
                      <a:srgbClr val="DCFCE7"/>
                    </a:solidFill>
                  </a:tcPr>
                </a:tc>
                <a:tc>
                  <a:txBody>
                    <a:bodyPr/>
                    <a:lstStyle/>
                    <a:p>
                      <a:r>
                        <a:rPr sz="1000">
                          <a:solidFill>
                            <a:srgbClr val="333333"/>
                          </a:solidFill>
                        </a:rPr>
                        <a:t>+13.7 pts vs RoBERTa baseline</a:t>
                      </a:r>
                    </a:p>
                  </a:txBody>
                  <a:tcPr>
                    <a:solidFill>
                      <a:srgbClr val="DCFCE7"/>
                    </a:solidFill>
                  </a:tcPr>
                </a:tc>
                <a:extLst>
                  <a:ext uri="{0D108BD9-81ED-4DB2-BD59-A6C34878D82A}">
                    <a16:rowId xmlns:a16="http://schemas.microsoft.com/office/drawing/2014/main" val="10001"/>
                  </a:ext>
                </a:extLst>
              </a:tr>
              <a:tr h="426720">
                <a:tc>
                  <a:txBody>
                    <a:bodyPr/>
                    <a:lstStyle/>
                    <a:p>
                      <a:r>
                        <a:rPr sz="1000" b="1">
                          <a:solidFill>
                            <a:srgbClr val="333333"/>
                          </a:solidFill>
                        </a:rPr>
                        <a:t>Sentiment</a:t>
                      </a:r>
                    </a:p>
                  </a:txBody>
                  <a:tcPr>
                    <a:solidFill>
                      <a:srgbClr val="DCFCE7"/>
                    </a:solidFill>
                  </a:tcPr>
                </a:tc>
                <a:tc>
                  <a:txBody>
                    <a:bodyPr/>
                    <a:lstStyle/>
                    <a:p>
                      <a:r>
                        <a:rPr sz="1000">
                          <a:solidFill>
                            <a:srgbClr val="333333"/>
                          </a:solidFill>
                        </a:rPr>
                        <a:t>Long-bucket accuracy  (≥ 512 tokens, n=7)</a:t>
                      </a:r>
                    </a:p>
                  </a:txBody>
                  <a:tcPr>
                    <a:solidFill>
                      <a:srgbClr val="DCFCE7"/>
                    </a:solidFill>
                  </a:tcPr>
                </a:tc>
                <a:tc>
                  <a:txBody>
                    <a:bodyPr/>
                    <a:lstStyle/>
                    <a:p>
                      <a:r>
                        <a:rPr sz="1000">
                          <a:solidFill>
                            <a:srgbClr val="333333"/>
                          </a:solidFill>
                        </a:rPr>
                        <a:t>7 / 7 correct</a:t>
                      </a:r>
                    </a:p>
                  </a:txBody>
                  <a:tcPr>
                    <a:solidFill>
                      <a:srgbClr val="DCFCE7"/>
                    </a:solidFill>
                  </a:tcPr>
                </a:tc>
                <a:tc>
                  <a:txBody>
                    <a:bodyPr/>
                    <a:lstStyle/>
                    <a:p>
                      <a:r>
                        <a:rPr sz="1000">
                          <a:solidFill>
                            <a:srgbClr val="333333"/>
                          </a:solidFill>
                        </a:rPr>
                        <a:t>Baseline 5 / 7  ·  all negative-class</a:t>
                      </a:r>
                    </a:p>
                  </a:txBody>
                  <a:tcPr>
                    <a:solidFill>
                      <a:srgbClr val="DCFCE7"/>
                    </a:solidFill>
                  </a:tcPr>
                </a:tc>
                <a:extLst>
                  <a:ext uri="{0D108BD9-81ED-4DB2-BD59-A6C34878D82A}">
                    <a16:rowId xmlns:a16="http://schemas.microsoft.com/office/drawing/2014/main" val="10002"/>
                  </a:ext>
                </a:extLst>
              </a:tr>
              <a:tr h="426720">
                <a:tc>
                  <a:txBody>
                    <a:bodyPr/>
                    <a:lstStyle/>
                    <a:p>
                      <a:r>
                        <a:rPr sz="1000" b="1">
                          <a:solidFill>
                            <a:srgbClr val="333333"/>
                          </a:solidFill>
                        </a:rPr>
                        <a:t>Sentiment</a:t>
                      </a:r>
                    </a:p>
                  </a:txBody>
                  <a:tcPr>
                    <a:solidFill>
                      <a:srgbClr val="FFFFFF"/>
                    </a:solidFill>
                  </a:tcPr>
                </a:tc>
                <a:tc>
                  <a:txBody>
                    <a:bodyPr/>
                    <a:lstStyle/>
                    <a:p>
                      <a:r>
                        <a:rPr sz="1000">
                          <a:solidFill>
                            <a:srgbClr val="333333"/>
                          </a:solidFill>
                        </a:rPr>
                        <a:t>Cross-validation</a:t>
                      </a:r>
                    </a:p>
                  </a:txBody>
                  <a:tcPr>
                    <a:solidFill>
                      <a:srgbClr val="FFFFFF"/>
                    </a:solidFill>
                  </a:tcPr>
                </a:tc>
                <a:tc>
                  <a:txBody>
                    <a:bodyPr/>
                    <a:lstStyle/>
                    <a:p>
                      <a:r>
                        <a:rPr sz="1000">
                          <a:solidFill>
                            <a:srgbClr val="333333"/>
                          </a:solidFill>
                        </a:rPr>
                        <a:t>5-fold OOF</a:t>
                      </a:r>
                    </a:p>
                  </a:txBody>
                  <a:tcPr>
                    <a:solidFill>
                      <a:srgbClr val="FFFFFF"/>
                    </a:solidFill>
                  </a:tcPr>
                </a:tc>
                <a:tc>
                  <a:txBody>
                    <a:bodyPr/>
                    <a:lstStyle/>
                    <a:p>
                      <a:r>
                        <a:rPr sz="1000">
                          <a:solidFill>
                            <a:srgbClr val="333333"/>
                          </a:solidFill>
                        </a:rPr>
                        <a:t>No test-set leakage</a:t>
                      </a:r>
                    </a:p>
                  </a:txBody>
                  <a:tcPr>
                    <a:solidFill>
                      <a:srgbClr val="FFFFFF"/>
                    </a:solidFill>
                  </a:tcPr>
                </a:tc>
                <a:extLst>
                  <a:ext uri="{0D108BD9-81ED-4DB2-BD59-A6C34878D82A}">
                    <a16:rowId xmlns:a16="http://schemas.microsoft.com/office/drawing/2014/main" val="10003"/>
                  </a:ext>
                </a:extLst>
              </a:tr>
              <a:tr h="426720">
                <a:tc>
                  <a:txBody>
                    <a:bodyPr/>
                    <a:lstStyle/>
                    <a:p>
                      <a:r>
                        <a:rPr sz="1000" b="1">
                          <a:solidFill>
                            <a:srgbClr val="333333"/>
                          </a:solidFill>
                        </a:rPr>
                        <a:t>Vision</a:t>
                      </a:r>
                    </a:p>
                  </a:txBody>
                  <a:tcPr>
                    <a:solidFill>
                      <a:srgbClr val="DCFCE7"/>
                    </a:solidFill>
                  </a:tcPr>
                </a:tc>
                <a:tc>
                  <a:txBody>
                    <a:bodyPr/>
                    <a:lstStyle/>
                    <a:p>
                      <a:r>
                        <a:rPr sz="1000">
                          <a:solidFill>
                            <a:srgbClr val="333333"/>
                          </a:solidFill>
                        </a:rPr>
                        <a:t>Hallucination rate</a:t>
                      </a:r>
                    </a:p>
                  </a:txBody>
                  <a:tcPr>
                    <a:solidFill>
                      <a:srgbClr val="DCFCE7"/>
                    </a:solidFill>
                  </a:tcPr>
                </a:tc>
                <a:tc>
                  <a:txBody>
                    <a:bodyPr/>
                    <a:lstStyle/>
                    <a:p>
                      <a:r>
                        <a:rPr sz="1000">
                          <a:solidFill>
                            <a:srgbClr val="333333"/>
                          </a:solidFill>
                        </a:rPr>
                        <a:t>0 %</a:t>
                      </a:r>
                    </a:p>
                  </a:txBody>
                  <a:tcPr>
                    <a:solidFill>
                      <a:srgbClr val="DCFCE7"/>
                    </a:solidFill>
                  </a:tcPr>
                </a:tc>
                <a:tc>
                  <a:txBody>
                    <a:bodyPr/>
                    <a:lstStyle/>
                    <a:p>
                      <a:r>
                        <a:rPr sz="1000">
                          <a:solidFill>
                            <a:srgbClr val="333333"/>
                          </a:solidFill>
                        </a:rPr>
                        <a:t>From 50 % on single-pass</a:t>
                      </a:r>
                    </a:p>
                  </a:txBody>
                  <a:tcPr>
                    <a:solidFill>
                      <a:srgbClr val="DCFCE7"/>
                    </a:solidFill>
                  </a:tcPr>
                </a:tc>
                <a:extLst>
                  <a:ext uri="{0D108BD9-81ED-4DB2-BD59-A6C34878D82A}">
                    <a16:rowId xmlns:a16="http://schemas.microsoft.com/office/drawing/2014/main" val="10004"/>
                  </a:ext>
                </a:extLst>
              </a:tr>
              <a:tr h="426720">
                <a:tc>
                  <a:txBody>
                    <a:bodyPr/>
                    <a:lstStyle/>
                    <a:p>
                      <a:r>
                        <a:rPr sz="1000" b="1">
                          <a:solidFill>
                            <a:srgbClr val="333333"/>
                          </a:solidFill>
                        </a:rPr>
                        <a:t>Vision</a:t>
                      </a:r>
                    </a:p>
                  </a:txBody>
                  <a:tcPr>
                    <a:solidFill>
                      <a:srgbClr val="DCFCE7"/>
                    </a:solidFill>
                  </a:tcPr>
                </a:tc>
                <a:tc>
                  <a:txBody>
                    <a:bodyPr/>
                    <a:lstStyle/>
                    <a:p>
                      <a:r>
                        <a:rPr sz="1000">
                          <a:solidFill>
                            <a:srgbClr val="333333"/>
                          </a:solidFill>
                        </a:rPr>
                        <a:t>Text extraction success</a:t>
                      </a:r>
                    </a:p>
                  </a:txBody>
                  <a:tcPr>
                    <a:solidFill>
                      <a:srgbClr val="DCFCE7"/>
                    </a:solidFill>
                  </a:tcPr>
                </a:tc>
                <a:tc>
                  <a:txBody>
                    <a:bodyPr/>
                    <a:lstStyle/>
                    <a:p>
                      <a:r>
                        <a:rPr sz="1000">
                          <a:solidFill>
                            <a:srgbClr val="333333"/>
                          </a:solidFill>
                        </a:rPr>
                        <a:t>75 %</a:t>
                      </a:r>
                    </a:p>
                  </a:txBody>
                  <a:tcPr>
                    <a:solidFill>
                      <a:srgbClr val="DCFCE7"/>
                    </a:solidFill>
                  </a:tcPr>
                </a:tc>
                <a:tc>
                  <a:txBody>
                    <a:bodyPr/>
                    <a:lstStyle/>
                    <a:p>
                      <a:r>
                        <a:rPr sz="1000">
                          <a:solidFill>
                            <a:srgbClr val="333333"/>
                          </a:solidFill>
                        </a:rPr>
                        <a:t>From 25 % on single-pass</a:t>
                      </a:r>
                    </a:p>
                  </a:txBody>
                  <a:tcPr>
                    <a:solidFill>
                      <a:srgbClr val="DCFCE7"/>
                    </a:solidFill>
                  </a:tcPr>
                </a:tc>
                <a:extLst>
                  <a:ext uri="{0D108BD9-81ED-4DB2-BD59-A6C34878D82A}">
                    <a16:rowId xmlns:a16="http://schemas.microsoft.com/office/drawing/2014/main" val="10005"/>
                  </a:ext>
                </a:extLst>
              </a:tr>
              <a:tr h="426720">
                <a:tc>
                  <a:txBody>
                    <a:bodyPr/>
                    <a:lstStyle/>
                    <a:p>
                      <a:r>
                        <a:rPr sz="1000" b="1">
                          <a:solidFill>
                            <a:srgbClr val="333333"/>
                          </a:solidFill>
                        </a:rPr>
                        <a:t>Vision</a:t>
                      </a:r>
                    </a:p>
                  </a:txBody>
                  <a:tcPr>
                    <a:solidFill>
                      <a:srgbClr val="F5F5F5"/>
                    </a:solidFill>
                  </a:tcPr>
                </a:tc>
                <a:tc>
                  <a:txBody>
                    <a:bodyPr/>
                    <a:lstStyle/>
                    <a:p>
                      <a:r>
                        <a:rPr sz="1000">
                          <a:solidFill>
                            <a:srgbClr val="333333"/>
                          </a:solidFill>
                        </a:rPr>
                        <a:t>Retail-signal recall</a:t>
                      </a:r>
                    </a:p>
                  </a:txBody>
                  <a:tcPr>
                    <a:solidFill>
                      <a:srgbClr val="F5F5F5"/>
                    </a:solidFill>
                  </a:tcPr>
                </a:tc>
                <a:tc>
                  <a:txBody>
                    <a:bodyPr/>
                    <a:lstStyle/>
                    <a:p>
                      <a:r>
                        <a:rPr sz="1000">
                          <a:solidFill>
                            <a:srgbClr val="333333"/>
                          </a:solidFill>
                        </a:rPr>
                        <a:t>81 %</a:t>
                      </a:r>
                    </a:p>
                  </a:txBody>
                  <a:tcPr>
                    <a:solidFill>
                      <a:srgbClr val="F5F5F5"/>
                    </a:solidFill>
                  </a:tcPr>
                </a:tc>
                <a:tc>
                  <a:txBody>
                    <a:bodyPr/>
                    <a:lstStyle/>
                    <a:p>
                      <a:r>
                        <a:rPr sz="1000">
                          <a:solidFill>
                            <a:srgbClr val="333333"/>
                          </a:solidFill>
                        </a:rPr>
                        <a:t>From 40 % on single-pass</a:t>
                      </a:r>
                    </a:p>
                  </a:txBody>
                  <a:tcPr>
                    <a:solidFill>
                      <a:srgbClr val="F5F5F5"/>
                    </a:solidFill>
                  </a:tcPr>
                </a:tc>
                <a:extLst>
                  <a:ext uri="{0D108BD9-81ED-4DB2-BD59-A6C34878D82A}">
                    <a16:rowId xmlns:a16="http://schemas.microsoft.com/office/drawing/2014/main" val="10006"/>
                  </a:ext>
                </a:extLst>
              </a:tr>
              <a:tr h="426720">
                <a:tc>
                  <a:txBody>
                    <a:bodyPr/>
                    <a:lstStyle/>
                    <a:p>
                      <a:r>
                        <a:rPr sz="1000" b="1">
                          <a:solidFill>
                            <a:srgbClr val="333333"/>
                          </a:solidFill>
                        </a:rPr>
                        <a:t>Trust</a:t>
                      </a:r>
                    </a:p>
                  </a:txBody>
                  <a:tcPr>
                    <a:solidFill>
                      <a:srgbClr val="FFFFFF"/>
                    </a:solidFill>
                  </a:tcPr>
                </a:tc>
                <a:tc>
                  <a:txBody>
                    <a:bodyPr/>
                    <a:lstStyle/>
                    <a:p>
                      <a:r>
                        <a:rPr sz="1000">
                          <a:solidFill>
                            <a:srgbClr val="333333"/>
                          </a:solidFill>
                        </a:rPr>
                        <a:t>Low-trust share  (T &lt; 0.4)</a:t>
                      </a:r>
                    </a:p>
                  </a:txBody>
                  <a:tcPr>
                    <a:solidFill>
                      <a:srgbClr val="FFFFFF"/>
                    </a:solidFill>
                  </a:tcPr>
                </a:tc>
                <a:tc>
                  <a:txBody>
                    <a:bodyPr/>
                    <a:lstStyle/>
                    <a:p>
                      <a:r>
                        <a:rPr sz="1000">
                          <a:solidFill>
                            <a:srgbClr val="333333"/>
                          </a:solidFill>
                        </a:rPr>
                        <a:t>15 %</a:t>
                      </a:r>
                    </a:p>
                  </a:txBody>
                  <a:tcPr>
                    <a:solidFill>
                      <a:srgbClr val="FFFFFF"/>
                    </a:solidFill>
                  </a:tcPr>
                </a:tc>
                <a:tc>
                  <a:txBody>
                    <a:bodyPr/>
                    <a:lstStyle/>
                    <a:p>
                      <a:r>
                        <a:rPr sz="1000">
                          <a:solidFill>
                            <a:srgbClr val="333333"/>
                          </a:solidFill>
                        </a:rPr>
                        <a:t>Of the 200-post set</a:t>
                      </a:r>
                    </a:p>
                  </a:txBody>
                  <a:tcPr>
                    <a:solidFill>
                      <a:srgbClr val="FFFFFF"/>
                    </a:solidFill>
                  </a:tcPr>
                </a:tc>
                <a:extLst>
                  <a:ext uri="{0D108BD9-81ED-4DB2-BD59-A6C34878D82A}">
                    <a16:rowId xmlns:a16="http://schemas.microsoft.com/office/drawing/2014/main" val="10007"/>
                  </a:ext>
                </a:extLst>
              </a:tr>
              <a:tr h="426720">
                <a:tc>
                  <a:txBody>
                    <a:bodyPr/>
                    <a:lstStyle/>
                    <a:p>
                      <a:r>
                        <a:rPr sz="1000" b="1">
                          <a:solidFill>
                            <a:srgbClr val="333333"/>
                          </a:solidFill>
                        </a:rPr>
                        <a:t>Trust</a:t>
                      </a:r>
                    </a:p>
                  </a:txBody>
                  <a:tcPr>
                    <a:solidFill>
                      <a:srgbClr val="F5F5F5"/>
                    </a:solidFill>
                  </a:tcPr>
                </a:tc>
                <a:tc>
                  <a:txBody>
                    <a:bodyPr/>
                    <a:lstStyle/>
                    <a:p>
                      <a:r>
                        <a:rPr sz="1000">
                          <a:solidFill>
                            <a:srgbClr val="333333"/>
                          </a:solidFill>
                        </a:rPr>
                        <a:t>Annotator agreement on low-trust</a:t>
                      </a:r>
                    </a:p>
                  </a:txBody>
                  <a:tcPr>
                    <a:solidFill>
                      <a:srgbClr val="F5F5F5"/>
                    </a:solidFill>
                  </a:tcPr>
                </a:tc>
                <a:tc>
                  <a:txBody>
                    <a:bodyPr/>
                    <a:lstStyle/>
                    <a:p>
                      <a:r>
                        <a:rPr sz="1000">
                          <a:solidFill>
                            <a:srgbClr val="333333"/>
                          </a:solidFill>
                        </a:rPr>
                        <a:t>12 / 15</a:t>
                      </a:r>
                    </a:p>
                  </a:txBody>
                  <a:tcPr>
                    <a:solidFill>
                      <a:srgbClr val="F5F5F5"/>
                    </a:solidFill>
                  </a:tcPr>
                </a:tc>
                <a:tc>
                  <a:txBody>
                    <a:bodyPr/>
                    <a:lstStyle/>
                    <a:p>
                      <a:r>
                        <a:rPr sz="1000">
                          <a:solidFill>
                            <a:srgbClr val="333333"/>
                          </a:solidFill>
                        </a:rPr>
                        <a:t>80 %</a:t>
                      </a:r>
                    </a:p>
                  </a:txBody>
                  <a:tcPr>
                    <a:solidFill>
                      <a:srgbClr val="F5F5F5"/>
                    </a:solidFill>
                  </a:tcPr>
                </a:tc>
                <a:extLst>
                  <a:ext uri="{0D108BD9-81ED-4DB2-BD59-A6C34878D82A}">
                    <a16:rowId xmlns:a16="http://schemas.microsoft.com/office/drawing/2014/main" val="10008"/>
                  </a:ext>
                </a:extLst>
              </a:tr>
              <a:tr h="426720">
                <a:tc>
                  <a:txBody>
                    <a:bodyPr/>
                    <a:lstStyle/>
                    <a:p>
                      <a:r>
                        <a:rPr sz="1000" b="1">
                          <a:solidFill>
                            <a:srgbClr val="333333"/>
                          </a:solidFill>
                        </a:rPr>
                        <a:t>Ops</a:t>
                      </a:r>
                    </a:p>
                  </a:txBody>
                  <a:tcPr>
                    <a:solidFill>
                      <a:srgbClr val="FFFFFF"/>
                    </a:solidFill>
                  </a:tcPr>
                </a:tc>
                <a:tc>
                  <a:txBody>
                    <a:bodyPr/>
                    <a:lstStyle/>
                    <a:p>
                      <a:r>
                        <a:rPr sz="1000">
                          <a:solidFill>
                            <a:srgbClr val="333333"/>
                          </a:solidFill>
                        </a:rPr>
                        <a:t>Subreddits tracked</a:t>
                      </a:r>
                    </a:p>
                  </a:txBody>
                  <a:tcPr>
                    <a:solidFill>
                      <a:srgbClr val="FFFFFF"/>
                    </a:solidFill>
                  </a:tcPr>
                </a:tc>
                <a:tc>
                  <a:txBody>
                    <a:bodyPr/>
                    <a:lstStyle/>
                    <a:p>
                      <a:r>
                        <a:rPr sz="1000">
                          <a:solidFill>
                            <a:srgbClr val="333333"/>
                          </a:solidFill>
                        </a:rPr>
                        <a:t>25</a:t>
                      </a:r>
                    </a:p>
                  </a:txBody>
                  <a:tcPr>
                    <a:solidFill>
                      <a:srgbClr val="FFFFFF"/>
                    </a:solidFill>
                  </a:tcPr>
                </a:tc>
                <a:tc>
                  <a:txBody>
                    <a:bodyPr/>
                    <a:lstStyle/>
                    <a:p>
                      <a:r>
                        <a:rPr sz="1000">
                          <a:solidFill>
                            <a:srgbClr val="333333"/>
                          </a:solidFill>
                        </a:rPr>
                        <a:t>Six community groups</a:t>
                      </a:r>
                    </a:p>
                  </a:txBody>
                  <a:tcPr>
                    <a:solidFill>
                      <a:srgbClr val="FFFFFF"/>
                    </a:solidFill>
                  </a:tcPr>
                </a:tc>
                <a:extLst>
                  <a:ext uri="{0D108BD9-81ED-4DB2-BD59-A6C34878D82A}">
                    <a16:rowId xmlns:a16="http://schemas.microsoft.com/office/drawing/2014/main" val="10009"/>
                  </a:ext>
                </a:extLst>
              </a:tr>
              <a:tr h="426720">
                <a:tc>
                  <a:txBody>
                    <a:bodyPr/>
                    <a:lstStyle/>
                    <a:p>
                      <a:r>
                        <a:rPr sz="1000" b="1">
                          <a:solidFill>
                            <a:srgbClr val="333333"/>
                          </a:solidFill>
                        </a:rPr>
                        <a:t>Ops</a:t>
                      </a:r>
                    </a:p>
                  </a:txBody>
                  <a:tcPr>
                    <a:solidFill>
                      <a:srgbClr val="F5F5F5"/>
                    </a:solidFill>
                  </a:tcPr>
                </a:tc>
                <a:tc>
                  <a:txBody>
                    <a:bodyPr/>
                    <a:lstStyle/>
                    <a:p>
                      <a:r>
                        <a:rPr sz="1000">
                          <a:solidFill>
                            <a:srgbClr val="333333"/>
                          </a:solidFill>
                        </a:rPr>
                        <a:t>Scheduler cadence</a:t>
                      </a:r>
                    </a:p>
                  </a:txBody>
                  <a:tcPr>
                    <a:solidFill>
                      <a:srgbClr val="F5F5F5"/>
                    </a:solidFill>
                  </a:tcPr>
                </a:tc>
                <a:tc>
                  <a:txBody>
                    <a:bodyPr/>
                    <a:lstStyle/>
                    <a:p>
                      <a:r>
                        <a:rPr sz="1000">
                          <a:solidFill>
                            <a:srgbClr val="333333"/>
                          </a:solidFill>
                        </a:rPr>
                        <a:t>6 h + manual</a:t>
                      </a:r>
                    </a:p>
                  </a:txBody>
                  <a:tcPr>
                    <a:solidFill>
                      <a:srgbClr val="F5F5F5"/>
                    </a:solidFill>
                  </a:tcPr>
                </a:tc>
                <a:tc>
                  <a:txBody>
                    <a:bodyPr/>
                    <a:lstStyle/>
                    <a:p>
                      <a:r>
                        <a:rPr sz="1000">
                          <a:solidFill>
                            <a:srgbClr val="333333"/>
                          </a:solidFill>
                        </a:rPr>
                        <a:t>asyncio lifespan task</a:t>
                      </a:r>
                    </a:p>
                  </a:txBody>
                  <a:tcPr>
                    <a:solidFill>
                      <a:srgbClr val="F5F5F5"/>
                    </a:solidFill>
                  </a:tcPr>
                </a:tc>
                <a:extLst>
                  <a:ext uri="{0D108BD9-81ED-4DB2-BD59-A6C34878D82A}">
                    <a16:rowId xmlns:a16="http://schemas.microsoft.com/office/drawing/2014/main" val="10010"/>
                  </a:ext>
                </a:extLst>
              </a:tr>
              <a:tr h="426720">
                <a:tc>
                  <a:txBody>
                    <a:bodyPr/>
                    <a:lstStyle/>
                    <a:p>
                      <a:r>
                        <a:rPr sz="1000" b="1">
                          <a:solidFill>
                            <a:srgbClr val="333333"/>
                          </a:solidFill>
                        </a:rPr>
                        <a:t>Ops</a:t>
                      </a:r>
                    </a:p>
                  </a:txBody>
                  <a:tcPr>
                    <a:solidFill>
                      <a:srgbClr val="FFFFFF"/>
                    </a:solidFill>
                  </a:tcPr>
                </a:tc>
                <a:tc>
                  <a:txBody>
                    <a:bodyPr/>
                    <a:lstStyle/>
                    <a:p>
                      <a:r>
                        <a:rPr sz="1000">
                          <a:solidFill>
                            <a:srgbClr val="333333"/>
                          </a:solidFill>
                        </a:rPr>
                        <a:t>Dashboard pages shipped</a:t>
                      </a:r>
                    </a:p>
                  </a:txBody>
                  <a:tcPr>
                    <a:solidFill>
                      <a:srgbClr val="FFFFFF"/>
                    </a:solidFill>
                  </a:tcPr>
                </a:tc>
                <a:tc>
                  <a:txBody>
                    <a:bodyPr/>
                    <a:lstStyle/>
                    <a:p>
                      <a:r>
                        <a:rPr sz="1000">
                          <a:solidFill>
                            <a:srgbClr val="333333"/>
                          </a:solidFill>
                        </a:rPr>
                        <a:t>8</a:t>
                      </a:r>
                    </a:p>
                  </a:txBody>
                  <a:tcPr>
                    <a:solidFill>
                      <a:srgbClr val="FFFFFF"/>
                    </a:solidFill>
                  </a:tcPr>
                </a:tc>
                <a:tc>
                  <a:txBody>
                    <a:bodyPr/>
                    <a:lstStyle/>
                    <a:p>
                      <a:r>
                        <a:rPr sz="1000">
                          <a:solidFill>
                            <a:srgbClr val="333333"/>
                          </a:solidFill>
                        </a:rPr>
                        <a:t>Brand Health · Alerts · Explorer · Review · Lifecycle · Insights · Pipeline · Notifications</a:t>
                      </a:r>
                    </a:p>
                  </a:txBody>
                  <a:tcPr>
                    <a:solidFill>
                      <a:srgbClr val="FFFFFF"/>
                    </a:solidFill>
                  </a:tcPr>
                </a:tc>
                <a:extLst>
                  <a:ext uri="{0D108BD9-81ED-4DB2-BD59-A6C34878D82A}">
                    <a16:rowId xmlns:a16="http://schemas.microsoft.com/office/drawing/2014/main" val="10011"/>
                  </a:ext>
                </a:extLst>
              </a:tr>
            </a:tbl>
          </a:graphicData>
        </a:graphic>
      </p:graphicFrame>
      <p:sp>
        <p:nvSpPr>
          <p:cNvPr id="7" name="TextBox 6"/>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8" name="TextBox 7"/>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17 / 24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Principal Contributions</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What this dissertation delivered — end to end</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960120"/>
            <a:ext cx="11247120" cy="960120"/>
          </a:xfrm>
          <a:prstGeom prst="rect">
            <a:avLst/>
          </a:prstGeom>
          <a:solidFill>
            <a:srgbClr val="F5F5F5"/>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960120"/>
            <a:ext cx="822960" cy="960120"/>
          </a:xfrm>
          <a:prstGeom prst="rect">
            <a:avLst/>
          </a:prstGeom>
          <a:solidFill>
            <a:srgbClr val="007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960120"/>
            <a:ext cx="822960" cy="960120"/>
          </a:xfrm>
          <a:prstGeom prst="rect">
            <a:avLst/>
          </a:prstGeom>
          <a:noFill/>
        </p:spPr>
        <p:txBody>
          <a:bodyPr wrap="square" anchor="ctr">
            <a:spAutoFit/>
          </a:bodyPr>
          <a:lstStyle/>
          <a:p>
            <a:pPr algn="ctr"/>
            <a:r>
              <a:rPr sz="2000" b="1" i="0">
                <a:solidFill>
                  <a:srgbClr val="FFFFFF"/>
                </a:solidFill>
              </a:rPr>
              <a:t>C1</a:t>
            </a:r>
          </a:p>
        </p:txBody>
      </p:sp>
      <p:sp>
        <p:nvSpPr>
          <p:cNvPr id="9" name="TextBox 8"/>
          <p:cNvSpPr txBox="1"/>
          <p:nvPr/>
        </p:nvSpPr>
        <p:spPr>
          <a:xfrm>
            <a:off x="1417320" y="1005840"/>
            <a:ext cx="10058400" cy="320040"/>
          </a:xfrm>
          <a:prstGeom prst="rect">
            <a:avLst/>
          </a:prstGeom>
          <a:noFill/>
        </p:spPr>
        <p:txBody>
          <a:bodyPr wrap="square" anchor="t">
            <a:spAutoFit/>
          </a:bodyPr>
          <a:lstStyle/>
          <a:p>
            <a:pPr algn="l"/>
            <a:r>
              <a:rPr sz="1300" b="1" i="0">
                <a:solidFill>
                  <a:srgbClr val="041E42"/>
                </a:solidFill>
              </a:rPr>
              <a:t>Offline-first RSI pipeline</a:t>
            </a:r>
          </a:p>
        </p:txBody>
      </p:sp>
      <p:sp>
        <p:nvSpPr>
          <p:cNvPr id="10" name="TextBox 9"/>
          <p:cNvSpPr txBox="1"/>
          <p:nvPr/>
        </p:nvSpPr>
        <p:spPr>
          <a:xfrm>
            <a:off x="1417320" y="1325880"/>
            <a:ext cx="10058400" cy="594360"/>
          </a:xfrm>
          <a:prstGeom prst="rect">
            <a:avLst/>
          </a:prstGeom>
          <a:noFill/>
        </p:spPr>
        <p:txBody>
          <a:bodyPr wrap="square" anchor="t">
            <a:spAutoFit/>
          </a:bodyPr>
          <a:lstStyle/>
          <a:p>
            <a:pPr algn="l"/>
            <a:r>
              <a:rPr sz="1100" b="0" i="0">
                <a:solidFill>
                  <a:srgbClr val="333333"/>
                </a:solidFill>
              </a:rPr>
              <a:t>Ingestion → trust → sentiment → aspects → vision → aggregation → alerts → dashboard.  Zero API cost, modular, deployable to Azure.</a:t>
            </a:r>
          </a:p>
        </p:txBody>
      </p:sp>
      <p:sp>
        <p:nvSpPr>
          <p:cNvPr id="11" name="Rectangle 10"/>
          <p:cNvSpPr/>
          <p:nvPr/>
        </p:nvSpPr>
        <p:spPr>
          <a:xfrm>
            <a:off x="457200" y="2002535"/>
            <a:ext cx="11247120" cy="960120"/>
          </a:xfrm>
          <a:prstGeom prst="rect">
            <a:avLst/>
          </a:prstGeom>
          <a:solidFill>
            <a:srgbClr val="F5F5F5"/>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2002535"/>
            <a:ext cx="822960" cy="960120"/>
          </a:xfrm>
          <a:prstGeom prst="rect">
            <a:avLst/>
          </a:prstGeom>
          <a:solidFill>
            <a:srgbClr val="007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2002535"/>
            <a:ext cx="822960" cy="960120"/>
          </a:xfrm>
          <a:prstGeom prst="rect">
            <a:avLst/>
          </a:prstGeom>
          <a:noFill/>
        </p:spPr>
        <p:txBody>
          <a:bodyPr wrap="square" anchor="ctr">
            <a:spAutoFit/>
          </a:bodyPr>
          <a:lstStyle/>
          <a:p>
            <a:pPr algn="ctr"/>
            <a:r>
              <a:rPr sz="2000" b="1" i="0">
                <a:solidFill>
                  <a:srgbClr val="FFFFFF"/>
                </a:solidFill>
              </a:rPr>
              <a:t>C2</a:t>
            </a:r>
          </a:p>
        </p:txBody>
      </p:sp>
      <p:sp>
        <p:nvSpPr>
          <p:cNvPr id="14" name="TextBox 13"/>
          <p:cNvSpPr txBox="1"/>
          <p:nvPr/>
        </p:nvSpPr>
        <p:spPr>
          <a:xfrm>
            <a:off x="1417320" y="2048255"/>
            <a:ext cx="10058400" cy="320040"/>
          </a:xfrm>
          <a:prstGeom prst="rect">
            <a:avLst/>
          </a:prstGeom>
          <a:noFill/>
        </p:spPr>
        <p:txBody>
          <a:bodyPr wrap="square" anchor="t">
            <a:spAutoFit/>
          </a:bodyPr>
          <a:lstStyle/>
          <a:p>
            <a:pPr algn="l"/>
            <a:r>
              <a:rPr sz="1300" b="1" i="0">
                <a:solidFill>
                  <a:srgbClr val="041E42"/>
                </a:solidFill>
              </a:rPr>
              <a:t>Fine-tuned ModernBERT (3-stage curriculum)</a:t>
            </a:r>
          </a:p>
        </p:txBody>
      </p:sp>
      <p:sp>
        <p:nvSpPr>
          <p:cNvPr id="15" name="TextBox 14"/>
          <p:cNvSpPr txBox="1"/>
          <p:nvPr/>
        </p:nvSpPr>
        <p:spPr>
          <a:xfrm>
            <a:off x="1417320" y="2368295"/>
            <a:ext cx="10058400" cy="594360"/>
          </a:xfrm>
          <a:prstGeom prst="rect">
            <a:avLst/>
          </a:prstGeom>
          <a:noFill/>
        </p:spPr>
        <p:txBody>
          <a:bodyPr wrap="square" anchor="t">
            <a:spAutoFit/>
          </a:bodyPr>
          <a:lstStyle/>
          <a:p>
            <a:pPr algn="l"/>
            <a:r>
              <a:rPr sz="1100" b="0" i="0">
                <a:solidFill>
                  <a:srgbClr val="333333"/>
                </a:solidFill>
              </a:rPr>
              <a:t>Macro-F1 0.6272 → 0.7642 overall; recovers all long posts (≥ 512 tok, n = 7): RoBERTa 5/7 vs ModernBERT 7/7 correct.  5-fold OOF cross-validation, offline training.</a:t>
            </a:r>
          </a:p>
        </p:txBody>
      </p:sp>
      <p:sp>
        <p:nvSpPr>
          <p:cNvPr id="16" name="Rectangle 15"/>
          <p:cNvSpPr/>
          <p:nvPr/>
        </p:nvSpPr>
        <p:spPr>
          <a:xfrm>
            <a:off x="457200" y="3044950"/>
            <a:ext cx="11247120" cy="960120"/>
          </a:xfrm>
          <a:prstGeom prst="rect">
            <a:avLst/>
          </a:prstGeom>
          <a:solidFill>
            <a:srgbClr val="F5F5F5"/>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3044950"/>
            <a:ext cx="822960" cy="960120"/>
          </a:xfrm>
          <a:prstGeom prst="rect">
            <a:avLst/>
          </a:prstGeom>
          <a:solidFill>
            <a:srgbClr val="007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3044950"/>
            <a:ext cx="822960" cy="960120"/>
          </a:xfrm>
          <a:prstGeom prst="rect">
            <a:avLst/>
          </a:prstGeom>
          <a:noFill/>
        </p:spPr>
        <p:txBody>
          <a:bodyPr wrap="square" anchor="ctr">
            <a:spAutoFit/>
          </a:bodyPr>
          <a:lstStyle/>
          <a:p>
            <a:pPr algn="ctr"/>
            <a:r>
              <a:rPr sz="2000" b="1" i="0">
                <a:solidFill>
                  <a:srgbClr val="FFFFFF"/>
                </a:solidFill>
              </a:rPr>
              <a:t>C3</a:t>
            </a:r>
          </a:p>
        </p:txBody>
      </p:sp>
      <p:sp>
        <p:nvSpPr>
          <p:cNvPr id="19" name="TextBox 18"/>
          <p:cNvSpPr txBox="1"/>
          <p:nvPr/>
        </p:nvSpPr>
        <p:spPr>
          <a:xfrm>
            <a:off x="1417320" y="3090670"/>
            <a:ext cx="10058400" cy="320040"/>
          </a:xfrm>
          <a:prstGeom prst="rect">
            <a:avLst/>
          </a:prstGeom>
          <a:noFill/>
        </p:spPr>
        <p:txBody>
          <a:bodyPr wrap="square" anchor="t">
            <a:spAutoFit/>
          </a:bodyPr>
          <a:lstStyle/>
          <a:p>
            <a:pPr algn="l"/>
            <a:r>
              <a:rPr sz="1300" b="1" i="0">
                <a:solidFill>
                  <a:srgbClr val="041E42"/>
                </a:solidFill>
              </a:rPr>
              <a:t>Multi-pass vision technique on Gemma 3 4B</a:t>
            </a:r>
          </a:p>
        </p:txBody>
      </p:sp>
      <p:sp>
        <p:nvSpPr>
          <p:cNvPr id="20" name="TextBox 19"/>
          <p:cNvSpPr txBox="1"/>
          <p:nvPr/>
        </p:nvSpPr>
        <p:spPr>
          <a:xfrm>
            <a:off x="1417320" y="3410710"/>
            <a:ext cx="10058400" cy="594360"/>
          </a:xfrm>
          <a:prstGeom prst="rect">
            <a:avLst/>
          </a:prstGeom>
          <a:noFill/>
        </p:spPr>
        <p:txBody>
          <a:bodyPr wrap="square" anchor="t">
            <a:spAutoFit/>
          </a:bodyPr>
          <a:lstStyle/>
          <a:p>
            <a:pPr algn="l"/>
            <a:r>
              <a:rPr sz="1100" b="0" i="0">
                <a:solidFill>
                  <a:srgbClr val="333333"/>
                </a:solidFill>
              </a:rPr>
              <a:t>Hallucination 50 % → 0 %,  extraction 25 % → 75 %.  Adapts techniques from 5 recent VLM papers without vendor-blocked models.</a:t>
            </a:r>
          </a:p>
        </p:txBody>
      </p:sp>
      <p:sp>
        <p:nvSpPr>
          <p:cNvPr id="21" name="Rectangle 20"/>
          <p:cNvSpPr/>
          <p:nvPr/>
        </p:nvSpPr>
        <p:spPr>
          <a:xfrm>
            <a:off x="457200" y="4087365"/>
            <a:ext cx="11247120" cy="960120"/>
          </a:xfrm>
          <a:prstGeom prst="rect">
            <a:avLst/>
          </a:prstGeom>
          <a:solidFill>
            <a:srgbClr val="F5F5F5"/>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4087365"/>
            <a:ext cx="822960" cy="960120"/>
          </a:xfrm>
          <a:prstGeom prst="rect">
            <a:avLst/>
          </a:prstGeom>
          <a:solidFill>
            <a:srgbClr val="007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087365"/>
            <a:ext cx="822960" cy="960120"/>
          </a:xfrm>
          <a:prstGeom prst="rect">
            <a:avLst/>
          </a:prstGeom>
          <a:noFill/>
        </p:spPr>
        <p:txBody>
          <a:bodyPr wrap="square" anchor="ctr">
            <a:spAutoFit/>
          </a:bodyPr>
          <a:lstStyle/>
          <a:p>
            <a:pPr algn="ctr"/>
            <a:r>
              <a:rPr sz="2000" b="1" i="0">
                <a:solidFill>
                  <a:srgbClr val="FFFFFF"/>
                </a:solidFill>
              </a:rPr>
              <a:t>C4</a:t>
            </a:r>
          </a:p>
        </p:txBody>
      </p:sp>
      <p:sp>
        <p:nvSpPr>
          <p:cNvPr id="24" name="TextBox 23"/>
          <p:cNvSpPr txBox="1"/>
          <p:nvPr/>
        </p:nvSpPr>
        <p:spPr>
          <a:xfrm>
            <a:off x="1417320" y="4133085"/>
            <a:ext cx="10058400" cy="320040"/>
          </a:xfrm>
          <a:prstGeom prst="rect">
            <a:avLst/>
          </a:prstGeom>
          <a:noFill/>
        </p:spPr>
        <p:txBody>
          <a:bodyPr wrap="square" anchor="t">
            <a:spAutoFit/>
          </a:bodyPr>
          <a:lstStyle/>
          <a:p>
            <a:pPr algn="l"/>
            <a:r>
              <a:rPr sz="1300" b="1" i="0">
                <a:solidFill>
                  <a:srgbClr val="041E42"/>
                </a:solidFill>
              </a:rPr>
              <a:t>Interpretable trust score + admission gate</a:t>
            </a:r>
          </a:p>
        </p:txBody>
      </p:sp>
      <p:sp>
        <p:nvSpPr>
          <p:cNvPr id="25" name="TextBox 24"/>
          <p:cNvSpPr txBox="1"/>
          <p:nvPr/>
        </p:nvSpPr>
        <p:spPr>
          <a:xfrm>
            <a:off x="1417320" y="4453125"/>
            <a:ext cx="10058400" cy="594360"/>
          </a:xfrm>
          <a:prstGeom prst="rect">
            <a:avLst/>
          </a:prstGeom>
          <a:noFill/>
        </p:spPr>
        <p:txBody>
          <a:bodyPr wrap="square" anchor="t">
            <a:spAutoFit/>
          </a:bodyPr>
          <a:lstStyle/>
          <a:p>
            <a:pPr algn="l"/>
            <a:r>
              <a:rPr sz="1100" b="0" i="0">
                <a:solidFill>
                  <a:srgbClr val="333333"/>
                </a:solidFill>
              </a:rPr>
              <a:t>trust × confidence gate flags rather than drops low-credibility posts.  Every constant traceable to English rationale in config.</a:t>
            </a:r>
          </a:p>
        </p:txBody>
      </p:sp>
      <p:sp>
        <p:nvSpPr>
          <p:cNvPr id="26" name="Rectangle 25"/>
          <p:cNvSpPr/>
          <p:nvPr/>
        </p:nvSpPr>
        <p:spPr>
          <a:xfrm>
            <a:off x="457200" y="5129780"/>
            <a:ext cx="11247120" cy="960120"/>
          </a:xfrm>
          <a:prstGeom prst="rect">
            <a:avLst/>
          </a:prstGeom>
          <a:solidFill>
            <a:srgbClr val="F5F5F5"/>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5129780"/>
            <a:ext cx="822960" cy="960120"/>
          </a:xfrm>
          <a:prstGeom prst="rect">
            <a:avLst/>
          </a:prstGeom>
          <a:solidFill>
            <a:srgbClr val="007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5129780"/>
            <a:ext cx="822960" cy="960120"/>
          </a:xfrm>
          <a:prstGeom prst="rect">
            <a:avLst/>
          </a:prstGeom>
          <a:noFill/>
        </p:spPr>
        <p:txBody>
          <a:bodyPr wrap="square" anchor="ctr">
            <a:spAutoFit/>
          </a:bodyPr>
          <a:lstStyle/>
          <a:p>
            <a:pPr algn="ctr"/>
            <a:r>
              <a:rPr sz="2000" b="1" i="0">
                <a:solidFill>
                  <a:srgbClr val="FFFFFF"/>
                </a:solidFill>
              </a:rPr>
              <a:t>C5</a:t>
            </a:r>
          </a:p>
        </p:txBody>
      </p:sp>
      <p:sp>
        <p:nvSpPr>
          <p:cNvPr id="29" name="TextBox 28"/>
          <p:cNvSpPr txBox="1"/>
          <p:nvPr/>
        </p:nvSpPr>
        <p:spPr>
          <a:xfrm>
            <a:off x="1417320" y="5175500"/>
            <a:ext cx="10058400" cy="320040"/>
          </a:xfrm>
          <a:prstGeom prst="rect">
            <a:avLst/>
          </a:prstGeom>
          <a:noFill/>
        </p:spPr>
        <p:txBody>
          <a:bodyPr wrap="square" anchor="t">
            <a:spAutoFit/>
          </a:bodyPr>
          <a:lstStyle/>
          <a:p>
            <a:pPr algn="l"/>
            <a:r>
              <a:rPr sz="1300" b="1" i="0">
                <a:solidFill>
                  <a:srgbClr val="041E42"/>
                </a:solidFill>
              </a:rPr>
              <a:t>HITL learning-loop dashboard</a:t>
            </a:r>
          </a:p>
        </p:txBody>
      </p:sp>
      <p:sp>
        <p:nvSpPr>
          <p:cNvPr id="30" name="TextBox 29"/>
          <p:cNvSpPr txBox="1"/>
          <p:nvPr/>
        </p:nvSpPr>
        <p:spPr>
          <a:xfrm>
            <a:off x="1417320" y="5495540"/>
            <a:ext cx="10058400" cy="594360"/>
          </a:xfrm>
          <a:prstGeom prst="rect">
            <a:avLst/>
          </a:prstGeom>
          <a:noFill/>
        </p:spPr>
        <p:txBody>
          <a:bodyPr wrap="square" anchor="t">
            <a:spAutoFit/>
          </a:bodyPr>
          <a:lstStyle/>
          <a:p>
            <a:pPr algn="l"/>
            <a:r>
              <a:rPr sz="1100" b="0" i="0">
                <a:solidFill>
                  <a:srgbClr val="333333"/>
                </a:solidFill>
              </a:rPr>
              <a:t>Review &amp; Validate, Lifecycle Kanban, Insights, Notification centre.  Corrections &amp; posted replies feed few-shot reply generation and future retraining.</a:t>
            </a:r>
          </a:p>
        </p:txBody>
      </p:sp>
      <p:sp>
        <p:nvSpPr>
          <p:cNvPr id="31" name="TextBox 30"/>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32" name="TextBox 31"/>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18 / 24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Live Demo  —  Dashboard Walkthrough</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One post → alert → review → reply → lifecycle → resolved</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brand_health.png"/>
          <p:cNvPicPr>
            <a:picLocks noChangeAspect="1"/>
          </p:cNvPicPr>
          <p:nvPr/>
        </p:nvPicPr>
        <p:blipFill>
          <a:blip r:embed="rId2"/>
          <a:stretch>
            <a:fillRect/>
          </a:stretch>
        </p:blipFill>
        <p:spPr>
          <a:xfrm>
            <a:off x="320040" y="960120"/>
            <a:ext cx="3794760" cy="2331720"/>
          </a:xfrm>
          <a:prstGeom prst="rect">
            <a:avLst/>
          </a:prstGeom>
        </p:spPr>
      </p:pic>
      <p:sp>
        <p:nvSpPr>
          <p:cNvPr id="7" name="TextBox 6"/>
          <p:cNvSpPr txBox="1"/>
          <p:nvPr/>
        </p:nvSpPr>
        <p:spPr>
          <a:xfrm>
            <a:off x="320040" y="3310128"/>
            <a:ext cx="3794760" cy="228600"/>
          </a:xfrm>
          <a:prstGeom prst="rect">
            <a:avLst/>
          </a:prstGeom>
          <a:noFill/>
        </p:spPr>
        <p:txBody>
          <a:bodyPr wrap="square" anchor="t">
            <a:spAutoFit/>
          </a:bodyPr>
          <a:lstStyle/>
          <a:p>
            <a:pPr algn="ctr"/>
            <a:r>
              <a:rPr sz="1100" b="1" i="0">
                <a:solidFill>
                  <a:srgbClr val="041E42"/>
                </a:solidFill>
              </a:rPr>
              <a:t>Brand Health</a:t>
            </a:r>
          </a:p>
        </p:txBody>
      </p:sp>
      <p:pic>
        <p:nvPicPr>
          <p:cNvPr id="8" name="Picture 7" descr="alert_feed.png"/>
          <p:cNvPicPr>
            <a:picLocks noChangeAspect="1"/>
          </p:cNvPicPr>
          <p:nvPr/>
        </p:nvPicPr>
        <p:blipFill>
          <a:blip r:embed="rId3"/>
          <a:stretch>
            <a:fillRect/>
          </a:stretch>
        </p:blipFill>
        <p:spPr>
          <a:xfrm>
            <a:off x="4206240" y="960120"/>
            <a:ext cx="3794760" cy="2331720"/>
          </a:xfrm>
          <a:prstGeom prst="rect">
            <a:avLst/>
          </a:prstGeom>
        </p:spPr>
      </p:pic>
      <p:sp>
        <p:nvSpPr>
          <p:cNvPr id="9" name="TextBox 8"/>
          <p:cNvSpPr txBox="1"/>
          <p:nvPr/>
        </p:nvSpPr>
        <p:spPr>
          <a:xfrm>
            <a:off x="4206240" y="3310128"/>
            <a:ext cx="3794760" cy="228600"/>
          </a:xfrm>
          <a:prstGeom prst="rect">
            <a:avLst/>
          </a:prstGeom>
          <a:noFill/>
        </p:spPr>
        <p:txBody>
          <a:bodyPr wrap="square" anchor="t">
            <a:spAutoFit/>
          </a:bodyPr>
          <a:lstStyle/>
          <a:p>
            <a:pPr algn="ctr"/>
            <a:r>
              <a:rPr sz="1100" b="1" i="0">
                <a:solidFill>
                  <a:srgbClr val="041E42"/>
                </a:solidFill>
              </a:rPr>
              <a:t>Alert Feed</a:t>
            </a:r>
          </a:p>
        </p:txBody>
      </p:sp>
      <p:pic>
        <p:nvPicPr>
          <p:cNvPr id="10" name="Picture 9" descr="post_explorer.png"/>
          <p:cNvPicPr>
            <a:picLocks noChangeAspect="1"/>
          </p:cNvPicPr>
          <p:nvPr/>
        </p:nvPicPr>
        <p:blipFill>
          <a:blip r:embed="rId4"/>
          <a:stretch>
            <a:fillRect/>
          </a:stretch>
        </p:blipFill>
        <p:spPr>
          <a:xfrm>
            <a:off x="8092440" y="960120"/>
            <a:ext cx="3794760" cy="2331720"/>
          </a:xfrm>
          <a:prstGeom prst="rect">
            <a:avLst/>
          </a:prstGeom>
        </p:spPr>
      </p:pic>
      <p:sp>
        <p:nvSpPr>
          <p:cNvPr id="11" name="TextBox 10"/>
          <p:cNvSpPr txBox="1"/>
          <p:nvPr/>
        </p:nvSpPr>
        <p:spPr>
          <a:xfrm>
            <a:off x="8092440" y="3310128"/>
            <a:ext cx="3794760" cy="228600"/>
          </a:xfrm>
          <a:prstGeom prst="rect">
            <a:avLst/>
          </a:prstGeom>
          <a:noFill/>
        </p:spPr>
        <p:txBody>
          <a:bodyPr wrap="square" anchor="t">
            <a:spAutoFit/>
          </a:bodyPr>
          <a:lstStyle/>
          <a:p>
            <a:pPr algn="ctr"/>
            <a:r>
              <a:rPr sz="1100" b="1" i="0">
                <a:solidFill>
                  <a:srgbClr val="041E42"/>
                </a:solidFill>
              </a:rPr>
              <a:t>Post Explorer</a:t>
            </a:r>
          </a:p>
        </p:txBody>
      </p:sp>
      <p:pic>
        <p:nvPicPr>
          <p:cNvPr id="12" name="Picture 11" descr="review_validate.png"/>
          <p:cNvPicPr>
            <a:picLocks noChangeAspect="1"/>
          </p:cNvPicPr>
          <p:nvPr/>
        </p:nvPicPr>
        <p:blipFill>
          <a:blip r:embed="rId5"/>
          <a:stretch>
            <a:fillRect/>
          </a:stretch>
        </p:blipFill>
        <p:spPr>
          <a:xfrm>
            <a:off x="320040" y="3566160"/>
            <a:ext cx="3794760" cy="2331720"/>
          </a:xfrm>
          <a:prstGeom prst="rect">
            <a:avLst/>
          </a:prstGeom>
        </p:spPr>
      </p:pic>
      <p:sp>
        <p:nvSpPr>
          <p:cNvPr id="13" name="TextBox 12"/>
          <p:cNvSpPr txBox="1"/>
          <p:nvPr/>
        </p:nvSpPr>
        <p:spPr>
          <a:xfrm>
            <a:off x="320040" y="5916168"/>
            <a:ext cx="3794760" cy="228600"/>
          </a:xfrm>
          <a:prstGeom prst="rect">
            <a:avLst/>
          </a:prstGeom>
          <a:noFill/>
        </p:spPr>
        <p:txBody>
          <a:bodyPr wrap="square" anchor="t">
            <a:spAutoFit/>
          </a:bodyPr>
          <a:lstStyle/>
          <a:p>
            <a:pPr algn="ctr"/>
            <a:r>
              <a:rPr sz="1100" b="1" i="0">
                <a:solidFill>
                  <a:srgbClr val="041E42"/>
                </a:solidFill>
              </a:rPr>
              <a:t>Review &amp; Validate</a:t>
            </a:r>
          </a:p>
        </p:txBody>
      </p:sp>
      <p:pic>
        <p:nvPicPr>
          <p:cNvPr id="14" name="Picture 13" descr="lifecycle_kanban.png"/>
          <p:cNvPicPr>
            <a:picLocks noChangeAspect="1"/>
          </p:cNvPicPr>
          <p:nvPr/>
        </p:nvPicPr>
        <p:blipFill>
          <a:blip r:embed="rId6"/>
          <a:stretch>
            <a:fillRect/>
          </a:stretch>
        </p:blipFill>
        <p:spPr>
          <a:xfrm>
            <a:off x="4206240" y="3566160"/>
            <a:ext cx="3794760" cy="2331720"/>
          </a:xfrm>
          <a:prstGeom prst="rect">
            <a:avLst/>
          </a:prstGeom>
        </p:spPr>
      </p:pic>
      <p:sp>
        <p:nvSpPr>
          <p:cNvPr id="15" name="TextBox 14"/>
          <p:cNvSpPr txBox="1"/>
          <p:nvPr/>
        </p:nvSpPr>
        <p:spPr>
          <a:xfrm>
            <a:off x="4206240" y="5916168"/>
            <a:ext cx="3794760" cy="228600"/>
          </a:xfrm>
          <a:prstGeom prst="rect">
            <a:avLst/>
          </a:prstGeom>
          <a:noFill/>
        </p:spPr>
        <p:txBody>
          <a:bodyPr wrap="square" anchor="t">
            <a:spAutoFit/>
          </a:bodyPr>
          <a:lstStyle/>
          <a:p>
            <a:pPr algn="ctr"/>
            <a:r>
              <a:rPr sz="1100" b="1" i="0">
                <a:solidFill>
                  <a:srgbClr val="041E42"/>
                </a:solidFill>
              </a:rPr>
              <a:t>Lifecycle Kanban</a:t>
            </a:r>
          </a:p>
        </p:txBody>
      </p:sp>
      <p:pic>
        <p:nvPicPr>
          <p:cNvPr id="16" name="Picture 15" descr="insights_competitor.png"/>
          <p:cNvPicPr>
            <a:picLocks noChangeAspect="1"/>
          </p:cNvPicPr>
          <p:nvPr/>
        </p:nvPicPr>
        <p:blipFill>
          <a:blip r:embed="rId7"/>
          <a:stretch>
            <a:fillRect/>
          </a:stretch>
        </p:blipFill>
        <p:spPr>
          <a:xfrm>
            <a:off x="8092440" y="3566160"/>
            <a:ext cx="3794760" cy="2331720"/>
          </a:xfrm>
          <a:prstGeom prst="rect">
            <a:avLst/>
          </a:prstGeom>
        </p:spPr>
      </p:pic>
      <p:sp>
        <p:nvSpPr>
          <p:cNvPr id="17" name="TextBox 16"/>
          <p:cNvSpPr txBox="1"/>
          <p:nvPr/>
        </p:nvSpPr>
        <p:spPr>
          <a:xfrm>
            <a:off x="8092440" y="5916168"/>
            <a:ext cx="3794760" cy="228600"/>
          </a:xfrm>
          <a:prstGeom prst="rect">
            <a:avLst/>
          </a:prstGeom>
          <a:noFill/>
        </p:spPr>
        <p:txBody>
          <a:bodyPr wrap="square" anchor="t">
            <a:spAutoFit/>
          </a:bodyPr>
          <a:lstStyle/>
          <a:p>
            <a:pPr algn="ctr"/>
            <a:r>
              <a:rPr sz="1100" b="1" i="0">
                <a:solidFill>
                  <a:srgbClr val="041E42"/>
                </a:solidFill>
              </a:rPr>
              <a:t>Insights</a:t>
            </a:r>
          </a:p>
        </p:txBody>
      </p:sp>
      <p:sp>
        <p:nvSpPr>
          <p:cNvPr id="18" name="TextBox 17"/>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19" name="TextBox 18"/>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19 / 24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Conclusions  —  What Worked, What's Still Open</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Honest read on 5 months of post-midsem work</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960120"/>
            <a:ext cx="5532120" cy="4480560"/>
          </a:xfrm>
          <a:prstGeom prst="rect">
            <a:avLst/>
          </a:prstGeom>
          <a:solidFill>
            <a:srgbClr val="DCFCE7"/>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097280"/>
            <a:ext cx="5212080" cy="365760"/>
          </a:xfrm>
          <a:prstGeom prst="rect">
            <a:avLst/>
          </a:prstGeom>
          <a:noFill/>
        </p:spPr>
        <p:txBody>
          <a:bodyPr wrap="square" anchor="t">
            <a:spAutoFit/>
          </a:bodyPr>
          <a:lstStyle/>
          <a:p>
            <a:pPr algn="l"/>
            <a:r>
              <a:rPr sz="1300" b="1" i="0">
                <a:solidFill>
                  <a:srgbClr val="10B981"/>
                </a:solidFill>
              </a:rPr>
              <a:t>WHAT WORKED</a:t>
            </a:r>
          </a:p>
        </p:txBody>
      </p:sp>
      <p:sp>
        <p:nvSpPr>
          <p:cNvPr id="8" name="TextBox 7"/>
          <p:cNvSpPr txBox="1"/>
          <p:nvPr/>
        </p:nvSpPr>
        <p:spPr>
          <a:xfrm>
            <a:off x="640080" y="1508760"/>
            <a:ext cx="5212080" cy="3794760"/>
          </a:xfrm>
          <a:prstGeom prst="rect">
            <a:avLst/>
          </a:prstGeom>
          <a:noFill/>
        </p:spPr>
        <p:txBody>
          <a:bodyPr wrap="square">
            <a:spAutoFit/>
          </a:bodyPr>
          <a:lstStyle/>
          <a:p>
            <a:pPr>
              <a:spcAft>
                <a:spcPts val="400"/>
              </a:spcAft>
            </a:pPr>
            <a:r>
              <a:rPr sz="1100" b="0">
                <a:solidFill>
                  <a:srgbClr val="333333"/>
                </a:solidFill>
              </a:rPr>
              <a:t>•  3-stage ModernBERT curriculum landed the sentiment win we set out for  (Macro-F1 0.62 → 0.76 on 5-fold OOF).</a:t>
            </a:r>
          </a:p>
          <a:p>
            <a:pPr>
              <a:spcAft>
                <a:spcPts val="400"/>
              </a:spcAft>
            </a:pPr>
            <a:r>
              <a:rPr sz="1100" b="0">
                <a:solidFill>
                  <a:srgbClr val="333333"/>
                </a:solidFill>
              </a:rPr>
              <a:t>•  Long-post recovery came for free once we switched off truncation  (≥1024-tok context):  5/7 → 7/7 correct on the ≥ 512-tok bucket.</a:t>
            </a:r>
          </a:p>
          <a:p>
            <a:pPr>
              <a:spcAft>
                <a:spcPts val="400"/>
              </a:spcAft>
            </a:pPr>
            <a:r>
              <a:rPr sz="1100" b="0">
                <a:solidFill>
                  <a:srgbClr val="333333"/>
                </a:solidFill>
              </a:rPr>
              <a:t>•  Removing the image on the final vision merge step ended the 50 % hallucination problem — the mechanism, not just the number, makes it credible.</a:t>
            </a:r>
          </a:p>
          <a:p>
            <a:pPr>
              <a:spcAft>
                <a:spcPts val="400"/>
              </a:spcAft>
            </a:pPr>
            <a:r>
              <a:rPr sz="1100" b="0">
                <a:solidFill>
                  <a:srgbClr val="333333"/>
                </a:solidFill>
              </a:rPr>
              <a:t>•  Trust score as flag-not-drop  matched the human annotator on 12 / 15 low-trust posts. Analysts trust it because they can override it.</a:t>
            </a:r>
          </a:p>
          <a:p>
            <a:pPr>
              <a:spcAft>
                <a:spcPts val="400"/>
              </a:spcAft>
            </a:pPr>
            <a:r>
              <a:rPr sz="1100" b="0">
                <a:solidFill>
                  <a:srgbClr val="333333"/>
                </a:solidFill>
              </a:rPr>
              <a:t>•  HITL feedback table quietly turned into the most useful piece of infrastructure — drives few-shot on every click today, retraining tomorrow.</a:t>
            </a:r>
          </a:p>
        </p:txBody>
      </p:sp>
      <p:sp>
        <p:nvSpPr>
          <p:cNvPr id="9" name="Rectangle 8"/>
          <p:cNvSpPr/>
          <p:nvPr/>
        </p:nvSpPr>
        <p:spPr>
          <a:xfrm>
            <a:off x="6172200" y="960120"/>
            <a:ext cx="5532120" cy="4480560"/>
          </a:xfrm>
          <a:prstGeom prst="rect">
            <a:avLst/>
          </a:prstGeom>
          <a:solidFill>
            <a:srgbClr val="FEF3C7"/>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80" y="1097280"/>
            <a:ext cx="5212080" cy="365760"/>
          </a:xfrm>
          <a:prstGeom prst="rect">
            <a:avLst/>
          </a:prstGeom>
          <a:noFill/>
        </p:spPr>
        <p:txBody>
          <a:bodyPr wrap="square" anchor="t">
            <a:spAutoFit/>
          </a:bodyPr>
          <a:lstStyle/>
          <a:p>
            <a:pPr algn="l"/>
            <a:r>
              <a:rPr sz="1300" b="1" i="0">
                <a:solidFill>
                  <a:srgbClr val="D97706"/>
                </a:solidFill>
              </a:rPr>
              <a:t>WHAT'S STILL OPEN  (honest)</a:t>
            </a:r>
          </a:p>
        </p:txBody>
      </p:sp>
      <p:sp>
        <p:nvSpPr>
          <p:cNvPr id="11" name="TextBox 10"/>
          <p:cNvSpPr txBox="1"/>
          <p:nvPr/>
        </p:nvSpPr>
        <p:spPr>
          <a:xfrm>
            <a:off x="6355080" y="1508760"/>
            <a:ext cx="5212080" cy="3794760"/>
          </a:xfrm>
          <a:prstGeom prst="rect">
            <a:avLst/>
          </a:prstGeom>
          <a:noFill/>
        </p:spPr>
        <p:txBody>
          <a:bodyPr wrap="square">
            <a:spAutoFit/>
          </a:bodyPr>
          <a:lstStyle/>
          <a:p>
            <a:pPr>
              <a:spcAft>
                <a:spcPts val="400"/>
              </a:spcAft>
            </a:pPr>
            <a:r>
              <a:rPr sz="1100" b="0">
                <a:solidFill>
                  <a:srgbClr val="333333"/>
                </a:solidFill>
              </a:rPr>
              <a:t>•  200-post gold set is small.  Numbers are OOF-CV, but a bigger blind held-out set is needed before I'd claim generalisation.</a:t>
            </a:r>
          </a:p>
          <a:p>
            <a:pPr>
              <a:spcAft>
                <a:spcPts val="400"/>
              </a:spcAft>
            </a:pPr>
            <a:r>
              <a:rPr sz="1100" b="0">
                <a:solidFill>
                  <a:srgbClr val="333333"/>
                </a:solidFill>
              </a:rPr>
              <a:t>•  Vision eval is 32 images  —  enough to sanity-check the mechanism, not enough to claim production-grade quality.</a:t>
            </a:r>
          </a:p>
          <a:p>
            <a:pPr>
              <a:spcAft>
                <a:spcPts val="400"/>
              </a:spcAft>
            </a:pPr>
            <a:r>
              <a:rPr sz="1100" b="0">
                <a:solidFill>
                  <a:srgbClr val="333333"/>
                </a:solidFill>
              </a:rPr>
              <a:t>•  Long bucket has only 7 posts and they are all negative-class  —  7/7 correct is evidence the truncation ceiling is gone, not proof of long-text mastery.</a:t>
            </a:r>
          </a:p>
          <a:p>
            <a:pPr>
              <a:spcAft>
                <a:spcPts val="400"/>
              </a:spcAft>
            </a:pPr>
            <a:r>
              <a:rPr sz="1100" b="0">
                <a:solidFill>
                  <a:srgbClr val="333333"/>
                </a:solidFill>
              </a:rPr>
              <a:t>•  Reply drafts still need an analyst edit  —  we track edit-distance but haven't shown it dropping consistently yet.</a:t>
            </a:r>
          </a:p>
          <a:p>
            <a:pPr>
              <a:spcAft>
                <a:spcPts val="400"/>
              </a:spcAft>
            </a:pPr>
            <a:r>
              <a:rPr sz="1100" b="0">
                <a:solidFill>
                  <a:srgbClr val="333333"/>
                </a:solidFill>
              </a:rPr>
              <a:t>•  Everything runs on one Mac. Multi-analyst concurrency and retraining automation aren't done  —  in the roadmap on next slide.</a:t>
            </a:r>
          </a:p>
        </p:txBody>
      </p:sp>
      <p:sp>
        <p:nvSpPr>
          <p:cNvPr id="12" name="Rectangle 11"/>
          <p:cNvSpPr/>
          <p:nvPr/>
        </p:nvSpPr>
        <p:spPr>
          <a:xfrm>
            <a:off x="457200" y="5577840"/>
            <a:ext cx="11247120" cy="822960"/>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5669280"/>
            <a:ext cx="10972800" cy="320040"/>
          </a:xfrm>
          <a:prstGeom prst="rect">
            <a:avLst/>
          </a:prstGeom>
          <a:noFill/>
        </p:spPr>
        <p:txBody>
          <a:bodyPr wrap="square" anchor="t">
            <a:spAutoFit/>
          </a:bodyPr>
          <a:lstStyle/>
          <a:p>
            <a:pPr algn="l"/>
            <a:r>
              <a:rPr sz="1100" b="1" i="0">
                <a:solidFill>
                  <a:srgbClr val="0071DC"/>
                </a:solidFill>
              </a:rPr>
              <a:t>THE TAKEAWAY</a:t>
            </a:r>
          </a:p>
        </p:txBody>
      </p:sp>
      <p:sp>
        <p:nvSpPr>
          <p:cNvPr id="14" name="TextBox 13"/>
          <p:cNvSpPr txBox="1"/>
          <p:nvPr/>
        </p:nvSpPr>
        <p:spPr>
          <a:xfrm>
            <a:off x="640080" y="5989320"/>
            <a:ext cx="10972800" cy="365760"/>
          </a:xfrm>
          <a:prstGeom prst="rect">
            <a:avLst/>
          </a:prstGeom>
          <a:noFill/>
        </p:spPr>
        <p:txBody>
          <a:bodyPr wrap="square" anchor="t">
            <a:spAutoFit/>
          </a:bodyPr>
          <a:lstStyle/>
          <a:p>
            <a:pPr algn="l"/>
            <a:r>
              <a:rPr sz="1100" b="0" i="0">
                <a:solidFill>
                  <a:srgbClr val="333333"/>
                </a:solidFill>
              </a:rPr>
              <a:t>Mechanism-level wins are what carry the argument; sample-size caveats are what the next horizon of work has to close.</a:t>
            </a:r>
          </a:p>
        </p:txBody>
      </p:sp>
      <p:sp>
        <p:nvSpPr>
          <p:cNvPr id="15" name="TextBox 14"/>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16" name="TextBox 15"/>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20 / 24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Future Work  —  Track 1  ·  HITL Reduction (4 Horizons)</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One of three tracks:  Track 1 HITL  ·  Track 2 Bilingual  ·  Track 3 Multi-Platform  (Tracks 2 &amp; 3 on next slide)</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960120"/>
            <a:ext cx="11247120" cy="1051560"/>
          </a:xfrm>
          <a:prstGeom prst="rect">
            <a:avLst/>
          </a:prstGeom>
          <a:solidFill>
            <a:srgbClr val="F5F5F5"/>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960120"/>
            <a:ext cx="1600200"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106424"/>
            <a:ext cx="1600200" cy="365760"/>
          </a:xfrm>
          <a:prstGeom prst="rect">
            <a:avLst/>
          </a:prstGeom>
          <a:noFill/>
        </p:spPr>
        <p:txBody>
          <a:bodyPr wrap="square" anchor="t">
            <a:spAutoFit/>
          </a:bodyPr>
          <a:lstStyle/>
          <a:p>
            <a:pPr algn="ctr"/>
            <a:r>
              <a:rPr sz="1100" b="1" i="0">
                <a:solidFill>
                  <a:srgbClr val="FFFFFF"/>
                </a:solidFill>
              </a:rPr>
              <a:t>Now → 1 month</a:t>
            </a:r>
          </a:p>
        </p:txBody>
      </p:sp>
      <p:sp>
        <p:nvSpPr>
          <p:cNvPr id="9" name="TextBox 8"/>
          <p:cNvSpPr txBox="1"/>
          <p:nvPr/>
        </p:nvSpPr>
        <p:spPr>
          <a:xfrm>
            <a:off x="457200" y="1463040"/>
            <a:ext cx="1600200" cy="457200"/>
          </a:xfrm>
          <a:prstGeom prst="rect">
            <a:avLst/>
          </a:prstGeom>
          <a:noFill/>
        </p:spPr>
        <p:txBody>
          <a:bodyPr wrap="square" anchor="t">
            <a:spAutoFit/>
          </a:bodyPr>
          <a:lstStyle/>
          <a:p>
            <a:pPr algn="ctr"/>
            <a:r>
              <a:rPr sz="1000" b="0" i="0">
                <a:solidFill>
                  <a:srgbClr val="FFFFFF"/>
                </a:solidFill>
              </a:rPr>
              <a:t>HITL: 100 %</a:t>
            </a:r>
          </a:p>
        </p:txBody>
      </p:sp>
      <p:sp>
        <p:nvSpPr>
          <p:cNvPr id="10" name="TextBox 9"/>
          <p:cNvSpPr txBox="1"/>
          <p:nvPr/>
        </p:nvSpPr>
        <p:spPr>
          <a:xfrm>
            <a:off x="2194560" y="1051560"/>
            <a:ext cx="9326880" cy="365760"/>
          </a:xfrm>
          <a:prstGeom prst="rect">
            <a:avLst/>
          </a:prstGeom>
          <a:noFill/>
        </p:spPr>
        <p:txBody>
          <a:bodyPr wrap="square" anchor="t">
            <a:spAutoFit/>
          </a:bodyPr>
          <a:lstStyle/>
          <a:p>
            <a:pPr algn="l"/>
            <a:r>
              <a:rPr sz="1400" b="1" i="0">
                <a:solidFill>
                  <a:srgbClr val="041E42"/>
                </a:solidFill>
              </a:rPr>
              <a:t>Grow the gold set</a:t>
            </a:r>
          </a:p>
        </p:txBody>
      </p:sp>
      <p:sp>
        <p:nvSpPr>
          <p:cNvPr id="11" name="TextBox 10"/>
          <p:cNvSpPr txBox="1"/>
          <p:nvPr/>
        </p:nvSpPr>
        <p:spPr>
          <a:xfrm>
            <a:off x="2194560" y="1417320"/>
            <a:ext cx="9326880" cy="594360"/>
          </a:xfrm>
          <a:prstGeom prst="rect">
            <a:avLst/>
          </a:prstGeom>
          <a:noFill/>
        </p:spPr>
        <p:txBody>
          <a:bodyPr wrap="square" anchor="t">
            <a:spAutoFit/>
          </a:bodyPr>
          <a:lstStyle/>
          <a:p>
            <a:pPr algn="l"/>
            <a:r>
              <a:rPr sz="1050" b="0" i="0">
                <a:solidFill>
                  <a:srgbClr val="333333"/>
                </a:solidFill>
              </a:rPr>
              <a:t>Grow the labelled gold set to ~500 posts using the HITL feedback the team is already producing; rerun 5-fold OOF to check the F1 delta.</a:t>
            </a:r>
          </a:p>
        </p:txBody>
      </p:sp>
      <p:sp>
        <p:nvSpPr>
          <p:cNvPr id="12" name="Rectangle 11"/>
          <p:cNvSpPr/>
          <p:nvPr/>
        </p:nvSpPr>
        <p:spPr>
          <a:xfrm>
            <a:off x="457200" y="2093976"/>
            <a:ext cx="11247120" cy="1051560"/>
          </a:xfrm>
          <a:prstGeom prst="rect">
            <a:avLst/>
          </a:prstGeom>
          <a:solidFill>
            <a:srgbClr val="F5F5F5"/>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2093976"/>
            <a:ext cx="1600200" cy="1051560"/>
          </a:xfrm>
          <a:prstGeom prst="rect">
            <a:avLst/>
          </a:prstGeom>
          <a:solidFill>
            <a:srgbClr val="007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2240280"/>
            <a:ext cx="1600200" cy="365760"/>
          </a:xfrm>
          <a:prstGeom prst="rect">
            <a:avLst/>
          </a:prstGeom>
          <a:noFill/>
        </p:spPr>
        <p:txBody>
          <a:bodyPr wrap="square" anchor="t">
            <a:spAutoFit/>
          </a:bodyPr>
          <a:lstStyle/>
          <a:p>
            <a:pPr algn="ctr"/>
            <a:r>
              <a:rPr sz="1100" b="1" i="0">
                <a:solidFill>
                  <a:srgbClr val="FFFFFF"/>
                </a:solidFill>
              </a:rPr>
              <a:t>1 → 3 months</a:t>
            </a:r>
          </a:p>
        </p:txBody>
      </p:sp>
      <p:sp>
        <p:nvSpPr>
          <p:cNvPr id="15" name="TextBox 14"/>
          <p:cNvSpPr txBox="1"/>
          <p:nvPr/>
        </p:nvSpPr>
        <p:spPr>
          <a:xfrm>
            <a:off x="457200" y="2596896"/>
            <a:ext cx="1600200" cy="457200"/>
          </a:xfrm>
          <a:prstGeom prst="rect">
            <a:avLst/>
          </a:prstGeom>
          <a:noFill/>
        </p:spPr>
        <p:txBody>
          <a:bodyPr wrap="square" anchor="t">
            <a:spAutoFit/>
          </a:bodyPr>
          <a:lstStyle/>
          <a:p>
            <a:pPr algn="ctr"/>
            <a:r>
              <a:rPr sz="1000" b="0" i="0">
                <a:solidFill>
                  <a:srgbClr val="FFFFFF"/>
                </a:solidFill>
              </a:rPr>
              <a:t>HITL: 100 %</a:t>
            </a:r>
          </a:p>
        </p:txBody>
      </p:sp>
      <p:sp>
        <p:nvSpPr>
          <p:cNvPr id="16" name="TextBox 15"/>
          <p:cNvSpPr txBox="1"/>
          <p:nvPr/>
        </p:nvSpPr>
        <p:spPr>
          <a:xfrm>
            <a:off x="2194560" y="2185416"/>
            <a:ext cx="9326880" cy="365760"/>
          </a:xfrm>
          <a:prstGeom prst="rect">
            <a:avLst/>
          </a:prstGeom>
          <a:noFill/>
        </p:spPr>
        <p:txBody>
          <a:bodyPr wrap="square" anchor="t">
            <a:spAutoFit/>
          </a:bodyPr>
          <a:lstStyle/>
          <a:p>
            <a:pPr algn="l"/>
            <a:r>
              <a:rPr sz="1400" b="1" i="0">
                <a:solidFill>
                  <a:srgbClr val="041E42"/>
                </a:solidFill>
              </a:rPr>
              <a:t>Automate the retrain loop</a:t>
            </a:r>
          </a:p>
        </p:txBody>
      </p:sp>
      <p:sp>
        <p:nvSpPr>
          <p:cNvPr id="17" name="TextBox 16"/>
          <p:cNvSpPr txBox="1"/>
          <p:nvPr/>
        </p:nvSpPr>
        <p:spPr>
          <a:xfrm>
            <a:off x="2194560" y="2551176"/>
            <a:ext cx="9326880" cy="594360"/>
          </a:xfrm>
          <a:prstGeom prst="rect">
            <a:avLst/>
          </a:prstGeom>
          <a:noFill/>
        </p:spPr>
        <p:txBody>
          <a:bodyPr wrap="square" anchor="t">
            <a:spAutoFit/>
          </a:bodyPr>
          <a:lstStyle/>
          <a:p>
            <a:pPr algn="l"/>
            <a:r>
              <a:rPr sz="1050" b="0" i="0">
                <a:solidFill>
                  <a:srgbClr val="333333"/>
                </a:solidFill>
              </a:rPr>
              <a:t>Wire the monthly ModernBERT retrain into a Cron / Airflow job with an OOF-F1 promotion gate — new checkpoints ship only when they beat the current one on held-out folds.</a:t>
            </a:r>
          </a:p>
        </p:txBody>
      </p:sp>
      <p:sp>
        <p:nvSpPr>
          <p:cNvPr id="18" name="Rectangle 17"/>
          <p:cNvSpPr/>
          <p:nvPr/>
        </p:nvSpPr>
        <p:spPr>
          <a:xfrm>
            <a:off x="457200" y="3227832"/>
            <a:ext cx="11247120" cy="1051560"/>
          </a:xfrm>
          <a:prstGeom prst="rect">
            <a:avLst/>
          </a:prstGeom>
          <a:solidFill>
            <a:srgbClr val="F5F5F5"/>
          </a:solidFill>
          <a:ln>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3227832"/>
            <a:ext cx="1600200"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374136"/>
            <a:ext cx="1600200" cy="365760"/>
          </a:xfrm>
          <a:prstGeom prst="rect">
            <a:avLst/>
          </a:prstGeom>
          <a:noFill/>
        </p:spPr>
        <p:txBody>
          <a:bodyPr wrap="square" anchor="t">
            <a:spAutoFit/>
          </a:bodyPr>
          <a:lstStyle/>
          <a:p>
            <a:pPr algn="ctr"/>
            <a:r>
              <a:rPr sz="1100" b="1" i="0">
                <a:solidFill>
                  <a:srgbClr val="FFFFFF"/>
                </a:solidFill>
              </a:rPr>
              <a:t>3 → 6 months</a:t>
            </a:r>
          </a:p>
        </p:txBody>
      </p:sp>
      <p:sp>
        <p:nvSpPr>
          <p:cNvPr id="21" name="TextBox 20"/>
          <p:cNvSpPr txBox="1"/>
          <p:nvPr/>
        </p:nvSpPr>
        <p:spPr>
          <a:xfrm>
            <a:off x="457200" y="3730752"/>
            <a:ext cx="1600200" cy="457200"/>
          </a:xfrm>
          <a:prstGeom prst="rect">
            <a:avLst/>
          </a:prstGeom>
          <a:noFill/>
        </p:spPr>
        <p:txBody>
          <a:bodyPr wrap="square" anchor="t">
            <a:spAutoFit/>
          </a:bodyPr>
          <a:lstStyle/>
          <a:p>
            <a:pPr algn="ctr"/>
            <a:r>
              <a:rPr sz="1000" b="0" i="0">
                <a:solidFill>
                  <a:srgbClr val="FFFFFF"/>
                </a:solidFill>
              </a:rPr>
              <a:t>HITL: ~80 %</a:t>
            </a:r>
          </a:p>
        </p:txBody>
      </p:sp>
      <p:sp>
        <p:nvSpPr>
          <p:cNvPr id="22" name="TextBox 21"/>
          <p:cNvSpPr txBox="1"/>
          <p:nvPr/>
        </p:nvSpPr>
        <p:spPr>
          <a:xfrm>
            <a:off x="2194560" y="3319272"/>
            <a:ext cx="9326880" cy="365760"/>
          </a:xfrm>
          <a:prstGeom prst="rect">
            <a:avLst/>
          </a:prstGeom>
          <a:noFill/>
        </p:spPr>
        <p:txBody>
          <a:bodyPr wrap="square" anchor="t">
            <a:spAutoFit/>
          </a:bodyPr>
          <a:lstStyle/>
          <a:p>
            <a:pPr algn="l"/>
            <a:r>
              <a:rPr sz="1400" b="1" i="0">
                <a:solidFill>
                  <a:srgbClr val="041E42"/>
                </a:solidFill>
              </a:rPr>
              <a:t>Walmart-trained model + shared DB</a:t>
            </a:r>
          </a:p>
        </p:txBody>
      </p:sp>
      <p:sp>
        <p:nvSpPr>
          <p:cNvPr id="23" name="TextBox 22"/>
          <p:cNvSpPr txBox="1"/>
          <p:nvPr/>
        </p:nvSpPr>
        <p:spPr>
          <a:xfrm>
            <a:off x="2194560" y="3685032"/>
            <a:ext cx="9326880" cy="594360"/>
          </a:xfrm>
          <a:prstGeom prst="rect">
            <a:avLst/>
          </a:prstGeom>
          <a:noFill/>
        </p:spPr>
        <p:txBody>
          <a:bodyPr wrap="square" anchor="t">
            <a:spAutoFit/>
          </a:bodyPr>
          <a:lstStyle/>
          <a:p>
            <a:pPr algn="l"/>
            <a:r>
              <a:rPr sz="1050" b="0" i="0">
                <a:solidFill>
                  <a:srgbClr val="333333"/>
                </a:solidFill>
              </a:rPr>
              <a:t>Fine-tune Mistral 7B on our own posted-reply corpus  →  a Walmart-trained replier that drops the paid GPT-4o dependency, runs fully in-house, and can be self-hosted.  Move the feedback table to a shared managed database so multiple analysts can work concurrently.</a:t>
            </a:r>
          </a:p>
        </p:txBody>
      </p:sp>
      <p:sp>
        <p:nvSpPr>
          <p:cNvPr id="24" name="Rectangle 23"/>
          <p:cNvSpPr/>
          <p:nvPr/>
        </p:nvSpPr>
        <p:spPr>
          <a:xfrm>
            <a:off x="457200" y="4361688"/>
            <a:ext cx="11247120" cy="1051560"/>
          </a:xfrm>
          <a:prstGeom prst="rect">
            <a:avLst/>
          </a:prstGeom>
          <a:solidFill>
            <a:srgbClr val="F5F5F5"/>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 y="4361688"/>
            <a:ext cx="1600200"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4507992"/>
            <a:ext cx="1600200" cy="365760"/>
          </a:xfrm>
          <a:prstGeom prst="rect">
            <a:avLst/>
          </a:prstGeom>
          <a:noFill/>
        </p:spPr>
        <p:txBody>
          <a:bodyPr wrap="square" anchor="t">
            <a:spAutoFit/>
          </a:bodyPr>
          <a:lstStyle/>
          <a:p>
            <a:pPr algn="ctr"/>
            <a:r>
              <a:rPr sz="1100" b="1" i="0">
                <a:solidFill>
                  <a:srgbClr val="FFFFFF"/>
                </a:solidFill>
              </a:rPr>
              <a:t>6 → 12 months</a:t>
            </a:r>
          </a:p>
        </p:txBody>
      </p:sp>
      <p:sp>
        <p:nvSpPr>
          <p:cNvPr id="27" name="TextBox 26"/>
          <p:cNvSpPr txBox="1"/>
          <p:nvPr/>
        </p:nvSpPr>
        <p:spPr>
          <a:xfrm>
            <a:off x="457200" y="4864608"/>
            <a:ext cx="1600200" cy="457200"/>
          </a:xfrm>
          <a:prstGeom prst="rect">
            <a:avLst/>
          </a:prstGeom>
          <a:noFill/>
        </p:spPr>
        <p:txBody>
          <a:bodyPr wrap="square" anchor="t">
            <a:spAutoFit/>
          </a:bodyPr>
          <a:lstStyle/>
          <a:p>
            <a:pPr algn="ctr"/>
            <a:r>
              <a:rPr sz="1000" b="0" i="0">
                <a:solidFill>
                  <a:srgbClr val="FFFFFF"/>
                </a:solidFill>
              </a:rPr>
              <a:t>HITL: ~30 %  →  eventually 0 %</a:t>
            </a:r>
          </a:p>
        </p:txBody>
      </p:sp>
      <p:sp>
        <p:nvSpPr>
          <p:cNvPr id="28" name="TextBox 27"/>
          <p:cNvSpPr txBox="1"/>
          <p:nvPr/>
        </p:nvSpPr>
        <p:spPr>
          <a:xfrm>
            <a:off x="2194560" y="4453128"/>
            <a:ext cx="9326880" cy="365760"/>
          </a:xfrm>
          <a:prstGeom prst="rect">
            <a:avLst/>
          </a:prstGeom>
          <a:noFill/>
        </p:spPr>
        <p:txBody>
          <a:bodyPr wrap="square" anchor="t">
            <a:spAutoFit/>
          </a:bodyPr>
          <a:lstStyle/>
          <a:p>
            <a:pPr algn="l"/>
            <a:r>
              <a:rPr sz="1400" b="1" i="0">
                <a:solidFill>
                  <a:srgbClr val="041E42"/>
                </a:solidFill>
              </a:rPr>
              <a:t>Confidence-gated auto-reply</a:t>
            </a:r>
          </a:p>
        </p:txBody>
      </p:sp>
      <p:sp>
        <p:nvSpPr>
          <p:cNvPr id="29" name="TextBox 28"/>
          <p:cNvSpPr txBox="1"/>
          <p:nvPr/>
        </p:nvSpPr>
        <p:spPr>
          <a:xfrm>
            <a:off x="2194560" y="4818888"/>
            <a:ext cx="9326880" cy="594360"/>
          </a:xfrm>
          <a:prstGeom prst="rect">
            <a:avLst/>
          </a:prstGeom>
          <a:noFill/>
        </p:spPr>
        <p:txBody>
          <a:bodyPr wrap="square" anchor="t">
            <a:spAutoFit/>
          </a:bodyPr>
          <a:lstStyle/>
          <a:p>
            <a:pPr algn="l"/>
            <a:r>
              <a:rPr sz="1050" b="0" i="0">
                <a:solidFill>
                  <a:srgbClr val="333333"/>
                </a:solidFill>
              </a:rPr>
              <a:t>Introduce a confidence gate on the reply generator: top-confidence drafts are queued for auto-send and the analyst only reviews the mid- and low-confidence tail.  As agreement stays high, gradually raise the auto-send threshold — HITL winds down to sampling / audit only.</a:t>
            </a:r>
          </a:p>
        </p:txBody>
      </p:sp>
      <p:sp>
        <p:nvSpPr>
          <p:cNvPr id="30" name="Rectangle 29"/>
          <p:cNvSpPr/>
          <p:nvPr/>
        </p:nvSpPr>
        <p:spPr>
          <a:xfrm>
            <a:off x="457200" y="5440680"/>
            <a:ext cx="11247120" cy="868680"/>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5532120"/>
            <a:ext cx="10972800" cy="320040"/>
          </a:xfrm>
          <a:prstGeom prst="rect">
            <a:avLst/>
          </a:prstGeom>
          <a:noFill/>
        </p:spPr>
        <p:txBody>
          <a:bodyPr wrap="square" anchor="t">
            <a:spAutoFit/>
          </a:bodyPr>
          <a:lstStyle/>
          <a:p>
            <a:pPr algn="l"/>
            <a:r>
              <a:rPr sz="1100" b="1" i="0">
                <a:solidFill>
                  <a:srgbClr val="0071DC"/>
                </a:solidFill>
              </a:rPr>
              <a:t>GUIDING PRINCIPLE</a:t>
            </a:r>
          </a:p>
        </p:txBody>
      </p:sp>
      <p:sp>
        <p:nvSpPr>
          <p:cNvPr id="32" name="TextBox 31"/>
          <p:cNvSpPr txBox="1"/>
          <p:nvPr/>
        </p:nvSpPr>
        <p:spPr>
          <a:xfrm>
            <a:off x="640080" y="5852160"/>
            <a:ext cx="10972800" cy="457200"/>
          </a:xfrm>
          <a:prstGeom prst="rect">
            <a:avLst/>
          </a:prstGeom>
          <a:noFill/>
        </p:spPr>
        <p:txBody>
          <a:bodyPr wrap="square" anchor="t">
            <a:spAutoFit/>
          </a:bodyPr>
          <a:lstStyle/>
          <a:p>
            <a:pPr algn="l"/>
            <a:r>
              <a:rPr sz="1100" b="0" i="0">
                <a:solidFill>
                  <a:srgbClr val="333333"/>
                </a:solidFill>
              </a:rPr>
              <a:t>HITL is the ladder, not the ceiling — every stage produces the training signal that lets the next stage automate more.  Each horizon is admissible only when the previous one is measurably successful.</a:t>
            </a:r>
          </a:p>
        </p:txBody>
      </p:sp>
      <p:sp>
        <p:nvSpPr>
          <p:cNvPr id="33" name="TextBox 32"/>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34" name="TextBox 33"/>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21 / 24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4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457200"/>
          </a:xfrm>
          <a:prstGeom prst="rect">
            <a:avLst/>
          </a:prstGeom>
          <a:noFill/>
        </p:spPr>
        <p:txBody>
          <a:bodyPr wrap="square" anchor="t">
            <a:spAutoFit/>
          </a:bodyPr>
          <a:lstStyle/>
          <a:p>
            <a:pPr algn="l"/>
            <a:r>
              <a:rPr sz="2600" b="1" i="0">
                <a:solidFill>
                  <a:srgbClr val="FFFFFF"/>
                </a:solidFill>
              </a:rPr>
              <a:t>Future Work  —  Track 2  ·  Bilingual   +   Track 3  ·  Multi-Platform</a:t>
            </a:r>
          </a:p>
        </p:txBody>
      </p:sp>
      <p:sp>
        <p:nvSpPr>
          <p:cNvPr id="4" name="TextBox 3"/>
          <p:cNvSpPr txBox="1"/>
          <p:nvPr/>
        </p:nvSpPr>
        <p:spPr>
          <a:xfrm>
            <a:off x="365760" y="457200"/>
            <a:ext cx="11430000" cy="320040"/>
          </a:xfrm>
          <a:prstGeom prst="rect">
            <a:avLst/>
          </a:prstGeom>
          <a:noFill/>
        </p:spPr>
        <p:txBody>
          <a:bodyPr wrap="square" anchor="t">
            <a:spAutoFit/>
          </a:bodyPr>
          <a:lstStyle/>
          <a:p>
            <a:pPr algn="l"/>
            <a:r>
              <a:rPr sz="1200" b="0" i="0">
                <a:solidFill>
                  <a:srgbClr val="E8F4FD"/>
                </a:solidFill>
              </a:rPr>
              <a:t>The other two tracks that widen the pipeline's coverage while Track 1 winds HITL down</a:t>
            </a:r>
          </a:p>
        </p:txBody>
      </p:sp>
      <p:sp>
        <p:nvSpPr>
          <p:cNvPr id="5" name="Rectangle 4"/>
          <p:cNvSpPr/>
          <p:nvPr/>
        </p:nvSpPr>
        <p:spPr>
          <a:xfrm>
            <a:off x="0" y="777240"/>
            <a:ext cx="12191695" cy="45720"/>
          </a:xfrm>
          <a:prstGeom prst="rect">
            <a:avLst/>
          </a:prstGeom>
          <a:solidFill>
            <a:srgbClr val="FFC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960120"/>
            <a:ext cx="5532120" cy="502920"/>
          </a:xfrm>
          <a:prstGeom prst="rect">
            <a:avLst/>
          </a:prstGeom>
          <a:solidFill>
            <a:srgbClr val="007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005840"/>
            <a:ext cx="5257800" cy="411480"/>
          </a:xfrm>
          <a:prstGeom prst="rect">
            <a:avLst/>
          </a:prstGeom>
          <a:noFill/>
        </p:spPr>
        <p:txBody>
          <a:bodyPr wrap="square" anchor="t">
            <a:spAutoFit/>
          </a:bodyPr>
          <a:lstStyle/>
          <a:p>
            <a:pPr algn="l"/>
            <a:r>
              <a:rPr sz="1400" b="1" i="0">
                <a:solidFill>
                  <a:srgbClr val="FFFFFF"/>
                </a:solidFill>
              </a:rPr>
              <a:t>TRACK 2  ·  BILINGUAL  →  MULTILINGUAL</a:t>
            </a:r>
          </a:p>
        </p:txBody>
      </p:sp>
      <p:sp>
        <p:nvSpPr>
          <p:cNvPr id="8" name="Rectangle 7"/>
          <p:cNvSpPr/>
          <p:nvPr/>
        </p:nvSpPr>
        <p:spPr>
          <a:xfrm>
            <a:off x="457200" y="1463040"/>
            <a:ext cx="5532120" cy="5074920"/>
          </a:xfrm>
          <a:prstGeom prst="rect">
            <a:avLst/>
          </a:prstGeom>
          <a:solidFill>
            <a:srgbClr val="F5F5F5"/>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554480"/>
            <a:ext cx="5166360" cy="365760"/>
          </a:xfrm>
          <a:prstGeom prst="rect">
            <a:avLst/>
          </a:prstGeom>
          <a:noFill/>
        </p:spPr>
        <p:txBody>
          <a:bodyPr wrap="square" anchor="t">
            <a:spAutoFit/>
          </a:bodyPr>
          <a:lstStyle/>
          <a:p>
            <a:pPr algn="l"/>
            <a:r>
              <a:rPr sz="1050" b="0" i="0">
                <a:solidFill>
                  <a:srgbClr val="333333"/>
                </a:solidFill>
              </a:rPr>
              <a:t>Why:  Indian retail subreddits are ~30 % of Walmart-family mentions but the current  langdetect  →  English-only  filter silently drops them.</a:t>
            </a:r>
          </a:p>
        </p:txBody>
      </p:sp>
      <p:sp>
        <p:nvSpPr>
          <p:cNvPr id="10" name="TextBox 9"/>
          <p:cNvSpPr txBox="1"/>
          <p:nvPr/>
        </p:nvSpPr>
        <p:spPr>
          <a:xfrm>
            <a:off x="640080" y="1965960"/>
            <a:ext cx="5166360" cy="274320"/>
          </a:xfrm>
          <a:prstGeom prst="rect">
            <a:avLst/>
          </a:prstGeom>
          <a:noFill/>
        </p:spPr>
        <p:txBody>
          <a:bodyPr wrap="square" anchor="t">
            <a:spAutoFit/>
          </a:bodyPr>
          <a:lstStyle/>
          <a:p>
            <a:pPr algn="l"/>
            <a:r>
              <a:rPr sz="1150" b="1" i="0">
                <a:solidFill>
                  <a:srgbClr val="0071DC"/>
                </a:solidFill>
              </a:rPr>
              <a:t>Concrete deliverables</a:t>
            </a:r>
          </a:p>
        </p:txBody>
      </p:sp>
      <p:sp>
        <p:nvSpPr>
          <p:cNvPr id="11" name="TextBox 10"/>
          <p:cNvSpPr txBox="1"/>
          <p:nvPr/>
        </p:nvSpPr>
        <p:spPr>
          <a:xfrm>
            <a:off x="685800" y="2286000"/>
            <a:ext cx="228600" cy="274320"/>
          </a:xfrm>
          <a:prstGeom prst="rect">
            <a:avLst/>
          </a:prstGeom>
          <a:noFill/>
        </p:spPr>
        <p:txBody>
          <a:bodyPr wrap="square" anchor="t">
            <a:spAutoFit/>
          </a:bodyPr>
          <a:lstStyle/>
          <a:p>
            <a:pPr algn="l"/>
            <a:r>
              <a:rPr sz="1100" b="1" i="0">
                <a:solidFill>
                  <a:srgbClr val="0071DC"/>
                </a:solidFill>
              </a:rPr>
              <a:t>•</a:t>
            </a:r>
          </a:p>
        </p:txBody>
      </p:sp>
      <p:sp>
        <p:nvSpPr>
          <p:cNvPr id="12" name="TextBox 11"/>
          <p:cNvSpPr txBox="1"/>
          <p:nvPr/>
        </p:nvSpPr>
        <p:spPr>
          <a:xfrm>
            <a:off x="868680" y="2286000"/>
            <a:ext cx="4983480" cy="777240"/>
          </a:xfrm>
          <a:prstGeom prst="rect">
            <a:avLst/>
          </a:prstGeom>
          <a:noFill/>
        </p:spPr>
        <p:txBody>
          <a:bodyPr wrap="square" anchor="t">
            <a:spAutoFit/>
          </a:bodyPr>
          <a:lstStyle/>
          <a:p>
            <a:pPr algn="l"/>
            <a:r>
              <a:rPr sz="1000" b="0" i="0">
                <a:solidFill>
                  <a:srgbClr val="333333"/>
                </a:solidFill>
              </a:rPr>
              <a:t>Extend  langdetect  to  hi + en  (later  ta / te / bn);  code-mixed 'Hinglish' handled with a mixed-script tokenizer.</a:t>
            </a:r>
          </a:p>
        </p:txBody>
      </p:sp>
      <p:sp>
        <p:nvSpPr>
          <p:cNvPr id="13" name="TextBox 12"/>
          <p:cNvSpPr txBox="1"/>
          <p:nvPr/>
        </p:nvSpPr>
        <p:spPr>
          <a:xfrm>
            <a:off x="685800" y="3108960"/>
            <a:ext cx="228600" cy="274320"/>
          </a:xfrm>
          <a:prstGeom prst="rect">
            <a:avLst/>
          </a:prstGeom>
          <a:noFill/>
        </p:spPr>
        <p:txBody>
          <a:bodyPr wrap="square" anchor="t">
            <a:spAutoFit/>
          </a:bodyPr>
          <a:lstStyle/>
          <a:p>
            <a:pPr algn="l"/>
            <a:r>
              <a:rPr sz="1100" b="1" i="0">
                <a:solidFill>
                  <a:srgbClr val="0071DC"/>
                </a:solidFill>
              </a:rPr>
              <a:t>•</a:t>
            </a:r>
          </a:p>
        </p:txBody>
      </p:sp>
      <p:sp>
        <p:nvSpPr>
          <p:cNvPr id="14" name="TextBox 13"/>
          <p:cNvSpPr txBox="1"/>
          <p:nvPr/>
        </p:nvSpPr>
        <p:spPr>
          <a:xfrm>
            <a:off x="868680" y="3108960"/>
            <a:ext cx="4983480" cy="777240"/>
          </a:xfrm>
          <a:prstGeom prst="rect">
            <a:avLst/>
          </a:prstGeom>
          <a:noFill/>
        </p:spPr>
        <p:txBody>
          <a:bodyPr wrap="square" anchor="t">
            <a:spAutoFit/>
          </a:bodyPr>
          <a:lstStyle/>
          <a:p>
            <a:pPr algn="l"/>
            <a:r>
              <a:rPr sz="1000" b="0" i="0">
                <a:solidFill>
                  <a:srgbClr val="333333"/>
                </a:solidFill>
              </a:rPr>
              <a:t>Ingestion-time translation via NLLB-200 (open-weights, 3.3 B) so downstream models stay English-only —  or —  fine-tune ModernBERT on native scripts.</a:t>
            </a:r>
          </a:p>
        </p:txBody>
      </p:sp>
      <p:sp>
        <p:nvSpPr>
          <p:cNvPr id="15" name="TextBox 14"/>
          <p:cNvSpPr txBox="1"/>
          <p:nvPr/>
        </p:nvSpPr>
        <p:spPr>
          <a:xfrm>
            <a:off x="685800" y="3931920"/>
            <a:ext cx="228600" cy="274320"/>
          </a:xfrm>
          <a:prstGeom prst="rect">
            <a:avLst/>
          </a:prstGeom>
          <a:noFill/>
        </p:spPr>
        <p:txBody>
          <a:bodyPr wrap="square" anchor="t">
            <a:spAutoFit/>
          </a:bodyPr>
          <a:lstStyle/>
          <a:p>
            <a:pPr algn="l"/>
            <a:r>
              <a:rPr sz="1100" b="1" i="0">
                <a:solidFill>
                  <a:srgbClr val="0071DC"/>
                </a:solidFill>
              </a:rPr>
              <a:t>•</a:t>
            </a:r>
          </a:p>
        </p:txBody>
      </p:sp>
      <p:sp>
        <p:nvSpPr>
          <p:cNvPr id="16" name="TextBox 15"/>
          <p:cNvSpPr txBox="1"/>
          <p:nvPr/>
        </p:nvSpPr>
        <p:spPr>
          <a:xfrm>
            <a:off x="868680" y="3931920"/>
            <a:ext cx="4983480" cy="777240"/>
          </a:xfrm>
          <a:prstGeom prst="rect">
            <a:avLst/>
          </a:prstGeom>
          <a:noFill/>
        </p:spPr>
        <p:txBody>
          <a:bodyPr wrap="square" anchor="t">
            <a:spAutoFit/>
          </a:bodyPr>
          <a:lstStyle/>
          <a:p>
            <a:pPr algn="l"/>
            <a:r>
              <a:rPr sz="1000" b="0" i="0">
                <a:solidFill>
                  <a:srgbClr val="333333"/>
                </a:solidFill>
              </a:rPr>
              <a:t>Extend aspect taxonomy for Indic retail idioms (“bill karo” for billing, “delivery kab” for late shipping).</a:t>
            </a:r>
          </a:p>
        </p:txBody>
      </p:sp>
      <p:sp>
        <p:nvSpPr>
          <p:cNvPr id="17" name="TextBox 16"/>
          <p:cNvSpPr txBox="1"/>
          <p:nvPr/>
        </p:nvSpPr>
        <p:spPr>
          <a:xfrm>
            <a:off x="685800" y="4754880"/>
            <a:ext cx="228600" cy="274320"/>
          </a:xfrm>
          <a:prstGeom prst="rect">
            <a:avLst/>
          </a:prstGeom>
          <a:noFill/>
        </p:spPr>
        <p:txBody>
          <a:bodyPr wrap="square" anchor="t">
            <a:spAutoFit/>
          </a:bodyPr>
          <a:lstStyle/>
          <a:p>
            <a:pPr algn="l"/>
            <a:r>
              <a:rPr sz="1100" b="1" i="0">
                <a:solidFill>
                  <a:srgbClr val="0071DC"/>
                </a:solidFill>
              </a:rPr>
              <a:t>•</a:t>
            </a:r>
          </a:p>
        </p:txBody>
      </p:sp>
      <p:sp>
        <p:nvSpPr>
          <p:cNvPr id="18" name="TextBox 17"/>
          <p:cNvSpPr txBox="1"/>
          <p:nvPr/>
        </p:nvSpPr>
        <p:spPr>
          <a:xfrm>
            <a:off x="868680" y="4754880"/>
            <a:ext cx="4983480" cy="777240"/>
          </a:xfrm>
          <a:prstGeom prst="rect">
            <a:avLst/>
          </a:prstGeom>
          <a:noFill/>
        </p:spPr>
        <p:txBody>
          <a:bodyPr wrap="square" anchor="t">
            <a:spAutoFit/>
          </a:bodyPr>
          <a:lstStyle/>
          <a:p>
            <a:pPr algn="l"/>
            <a:r>
              <a:rPr sz="1000" b="0" i="0">
                <a:solidFill>
                  <a:srgbClr val="333333"/>
                </a:solidFill>
              </a:rPr>
              <a:t>Native-speaker analyst validation loop —  same HITL flow, new language pool.</a:t>
            </a:r>
          </a:p>
        </p:txBody>
      </p:sp>
      <p:sp>
        <p:nvSpPr>
          <p:cNvPr id="19" name="Rectangle 18"/>
          <p:cNvSpPr/>
          <p:nvPr/>
        </p:nvSpPr>
        <p:spPr>
          <a:xfrm>
            <a:off x="457200" y="5989320"/>
            <a:ext cx="5532120" cy="548640"/>
          </a:xfrm>
          <a:prstGeom prst="rect">
            <a:avLst/>
          </a:prstGeom>
          <a:solidFill>
            <a:srgbClr val="E8F4FD"/>
          </a:solidFill>
          <a:ln>
            <a:solidFill>
              <a:srgbClr val="007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6035040"/>
            <a:ext cx="5166360" cy="457200"/>
          </a:xfrm>
          <a:prstGeom prst="rect">
            <a:avLst/>
          </a:prstGeom>
          <a:noFill/>
        </p:spPr>
        <p:txBody>
          <a:bodyPr wrap="square" anchor="t">
            <a:spAutoFit/>
          </a:bodyPr>
          <a:lstStyle/>
          <a:p>
            <a:pPr algn="l"/>
            <a:r>
              <a:rPr sz="950" b="0" i="1">
                <a:solidFill>
                  <a:srgbClr val="333333"/>
                </a:solidFill>
              </a:rPr>
              <a:t>Ships as part of Track 1 horizon 1 → 3 mo  (bilingual retrain gate) and horizon 3 → 6 mo  (Walmart-trained multilingual replier).</a:t>
            </a:r>
          </a:p>
        </p:txBody>
      </p:sp>
      <p:sp>
        <p:nvSpPr>
          <p:cNvPr id="21" name="Rectangle 20"/>
          <p:cNvSpPr/>
          <p:nvPr/>
        </p:nvSpPr>
        <p:spPr>
          <a:xfrm>
            <a:off x="6217920" y="960120"/>
            <a:ext cx="5532120"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5080" y="1005840"/>
            <a:ext cx="5257800" cy="411480"/>
          </a:xfrm>
          <a:prstGeom prst="rect">
            <a:avLst/>
          </a:prstGeom>
          <a:noFill/>
        </p:spPr>
        <p:txBody>
          <a:bodyPr wrap="square" anchor="t">
            <a:spAutoFit/>
          </a:bodyPr>
          <a:lstStyle/>
          <a:p>
            <a:pPr algn="l"/>
            <a:r>
              <a:rPr sz="1200" b="1" i="0">
                <a:solidFill>
                  <a:srgbClr val="FFFFFF"/>
                </a:solidFill>
              </a:rPr>
              <a:t>TRACK 3  ·  MULTI-PLATFORM  (Reddit  →  X / Facebook / Instagram / app-stores)</a:t>
            </a:r>
          </a:p>
        </p:txBody>
      </p:sp>
      <p:sp>
        <p:nvSpPr>
          <p:cNvPr id="23" name="Rectangle 22"/>
          <p:cNvSpPr/>
          <p:nvPr/>
        </p:nvSpPr>
        <p:spPr>
          <a:xfrm>
            <a:off x="6217920" y="1463040"/>
            <a:ext cx="5532120" cy="5074920"/>
          </a:xfrm>
          <a:prstGeom prst="rect">
            <a:avLst/>
          </a:prstGeom>
          <a:solidFill>
            <a:srgbClr val="F5F5F5"/>
          </a:solidFill>
          <a:ln>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0" y="1554480"/>
            <a:ext cx="5166360" cy="365760"/>
          </a:xfrm>
          <a:prstGeom prst="rect">
            <a:avLst/>
          </a:prstGeom>
          <a:noFill/>
        </p:spPr>
        <p:txBody>
          <a:bodyPr wrap="square" anchor="t">
            <a:spAutoFit/>
          </a:bodyPr>
          <a:lstStyle/>
          <a:p>
            <a:pPr algn="l"/>
            <a:r>
              <a:rPr sz="1050" b="0" i="0">
                <a:solidFill>
                  <a:srgbClr val="333333"/>
                </a:solidFill>
              </a:rPr>
              <a:t>Why:  Reddit is deliberate + long-form;  X is real-time viral;  Instagram is image-heavy (vision pipeline shines);  app-store reviews carry a star-rating ground-truth signal.</a:t>
            </a:r>
          </a:p>
        </p:txBody>
      </p:sp>
      <p:sp>
        <p:nvSpPr>
          <p:cNvPr id="25" name="TextBox 24"/>
          <p:cNvSpPr txBox="1"/>
          <p:nvPr/>
        </p:nvSpPr>
        <p:spPr>
          <a:xfrm>
            <a:off x="6400800" y="1965960"/>
            <a:ext cx="5166360" cy="274320"/>
          </a:xfrm>
          <a:prstGeom prst="rect">
            <a:avLst/>
          </a:prstGeom>
          <a:noFill/>
        </p:spPr>
        <p:txBody>
          <a:bodyPr wrap="square" anchor="t">
            <a:spAutoFit/>
          </a:bodyPr>
          <a:lstStyle/>
          <a:p>
            <a:pPr algn="l"/>
            <a:r>
              <a:rPr sz="1150" b="1" i="0">
                <a:solidFill>
                  <a:srgbClr val="7C3AED"/>
                </a:solidFill>
              </a:rPr>
              <a:t>Concrete deliverables</a:t>
            </a:r>
          </a:p>
        </p:txBody>
      </p:sp>
      <p:sp>
        <p:nvSpPr>
          <p:cNvPr id="26" name="TextBox 25"/>
          <p:cNvSpPr txBox="1"/>
          <p:nvPr/>
        </p:nvSpPr>
        <p:spPr>
          <a:xfrm>
            <a:off x="6446520" y="2286000"/>
            <a:ext cx="228600" cy="274320"/>
          </a:xfrm>
          <a:prstGeom prst="rect">
            <a:avLst/>
          </a:prstGeom>
          <a:noFill/>
        </p:spPr>
        <p:txBody>
          <a:bodyPr wrap="square" anchor="t">
            <a:spAutoFit/>
          </a:bodyPr>
          <a:lstStyle/>
          <a:p>
            <a:pPr algn="l"/>
            <a:r>
              <a:rPr sz="1100" b="1" i="0">
                <a:solidFill>
                  <a:srgbClr val="7C3AED"/>
                </a:solidFill>
              </a:rPr>
              <a:t>•</a:t>
            </a:r>
          </a:p>
        </p:txBody>
      </p:sp>
      <p:sp>
        <p:nvSpPr>
          <p:cNvPr id="27" name="TextBox 26"/>
          <p:cNvSpPr txBox="1"/>
          <p:nvPr/>
        </p:nvSpPr>
        <p:spPr>
          <a:xfrm>
            <a:off x="6629400" y="2286000"/>
            <a:ext cx="4983480" cy="777240"/>
          </a:xfrm>
          <a:prstGeom prst="rect">
            <a:avLst/>
          </a:prstGeom>
          <a:noFill/>
        </p:spPr>
        <p:txBody>
          <a:bodyPr wrap="square" anchor="t">
            <a:spAutoFit/>
          </a:bodyPr>
          <a:lstStyle/>
          <a:p>
            <a:pPr algn="l"/>
            <a:r>
              <a:rPr sz="1000" b="0" i="0">
                <a:solidFill>
                  <a:srgbClr val="333333"/>
                </a:solidFill>
              </a:rPr>
              <a:t>Ingestion adapters:  X API v2,  Meta Graph API (Facebook + Instagram),  Google Play / App Store review scrapers  —  each behind a common  RawPost  interface.</a:t>
            </a:r>
          </a:p>
        </p:txBody>
      </p:sp>
      <p:sp>
        <p:nvSpPr>
          <p:cNvPr id="28" name="TextBox 27"/>
          <p:cNvSpPr txBox="1"/>
          <p:nvPr/>
        </p:nvSpPr>
        <p:spPr>
          <a:xfrm>
            <a:off x="6446520" y="3108960"/>
            <a:ext cx="228600" cy="274320"/>
          </a:xfrm>
          <a:prstGeom prst="rect">
            <a:avLst/>
          </a:prstGeom>
          <a:noFill/>
        </p:spPr>
        <p:txBody>
          <a:bodyPr wrap="square" anchor="t">
            <a:spAutoFit/>
          </a:bodyPr>
          <a:lstStyle/>
          <a:p>
            <a:pPr algn="l"/>
            <a:r>
              <a:rPr sz="1100" b="1" i="0">
                <a:solidFill>
                  <a:srgbClr val="7C3AED"/>
                </a:solidFill>
              </a:rPr>
              <a:t>•</a:t>
            </a:r>
          </a:p>
        </p:txBody>
      </p:sp>
      <p:sp>
        <p:nvSpPr>
          <p:cNvPr id="29" name="TextBox 28"/>
          <p:cNvSpPr txBox="1"/>
          <p:nvPr/>
        </p:nvSpPr>
        <p:spPr>
          <a:xfrm>
            <a:off x="6629400" y="3108960"/>
            <a:ext cx="4983480" cy="777240"/>
          </a:xfrm>
          <a:prstGeom prst="rect">
            <a:avLst/>
          </a:prstGeom>
          <a:noFill/>
        </p:spPr>
        <p:txBody>
          <a:bodyPr wrap="square" anchor="t">
            <a:spAutoFit/>
          </a:bodyPr>
          <a:lstStyle/>
          <a:p>
            <a:pPr algn="l"/>
            <a:r>
              <a:rPr sz="1000" b="0" i="0">
                <a:solidFill>
                  <a:srgbClr val="333333"/>
                </a:solidFill>
              </a:rPr>
              <a:t>Per-platform pre-processing:  X dedup by retweet lineage;  Instagram routed through the vision pipeline first (caption + image);  app-store reviews carry a native  star_rating  field.</a:t>
            </a:r>
          </a:p>
        </p:txBody>
      </p:sp>
      <p:sp>
        <p:nvSpPr>
          <p:cNvPr id="30" name="TextBox 29"/>
          <p:cNvSpPr txBox="1"/>
          <p:nvPr/>
        </p:nvSpPr>
        <p:spPr>
          <a:xfrm>
            <a:off x="6446520" y="3931920"/>
            <a:ext cx="228600" cy="274320"/>
          </a:xfrm>
          <a:prstGeom prst="rect">
            <a:avLst/>
          </a:prstGeom>
          <a:noFill/>
        </p:spPr>
        <p:txBody>
          <a:bodyPr wrap="square" anchor="t">
            <a:spAutoFit/>
          </a:bodyPr>
          <a:lstStyle/>
          <a:p>
            <a:pPr algn="l"/>
            <a:r>
              <a:rPr sz="1100" b="1" i="0">
                <a:solidFill>
                  <a:srgbClr val="7C3AED"/>
                </a:solidFill>
              </a:rPr>
              <a:t>•</a:t>
            </a:r>
          </a:p>
        </p:txBody>
      </p:sp>
      <p:sp>
        <p:nvSpPr>
          <p:cNvPr id="31" name="TextBox 30"/>
          <p:cNvSpPr txBox="1"/>
          <p:nvPr/>
        </p:nvSpPr>
        <p:spPr>
          <a:xfrm>
            <a:off x="6629400" y="3931920"/>
            <a:ext cx="4983480" cy="777240"/>
          </a:xfrm>
          <a:prstGeom prst="rect">
            <a:avLst/>
          </a:prstGeom>
          <a:noFill/>
        </p:spPr>
        <p:txBody>
          <a:bodyPr wrap="square" anchor="t">
            <a:spAutoFit/>
          </a:bodyPr>
          <a:lstStyle/>
          <a:p>
            <a:pPr algn="l"/>
            <a:r>
              <a:rPr sz="1000" b="0" i="0">
                <a:solidFill>
                  <a:srgbClr val="333333"/>
                </a:solidFill>
              </a:rPr>
              <a:t>Extend priority classifier:  X viral (retweets &gt; 100) → auto P1;  app-store 1-star surge → P1;  Instagram brand-tagged post from &gt; 10 k follower account → P1.</a:t>
            </a:r>
          </a:p>
        </p:txBody>
      </p:sp>
      <p:sp>
        <p:nvSpPr>
          <p:cNvPr id="32" name="TextBox 31"/>
          <p:cNvSpPr txBox="1"/>
          <p:nvPr/>
        </p:nvSpPr>
        <p:spPr>
          <a:xfrm>
            <a:off x="6446520" y="4754880"/>
            <a:ext cx="228600" cy="274320"/>
          </a:xfrm>
          <a:prstGeom prst="rect">
            <a:avLst/>
          </a:prstGeom>
          <a:noFill/>
        </p:spPr>
        <p:txBody>
          <a:bodyPr wrap="square" anchor="t">
            <a:spAutoFit/>
          </a:bodyPr>
          <a:lstStyle/>
          <a:p>
            <a:pPr algn="l"/>
            <a:r>
              <a:rPr sz="1100" b="1" i="0">
                <a:solidFill>
                  <a:srgbClr val="7C3AED"/>
                </a:solidFill>
              </a:rPr>
              <a:t>•</a:t>
            </a:r>
          </a:p>
        </p:txBody>
      </p:sp>
      <p:sp>
        <p:nvSpPr>
          <p:cNvPr id="33" name="TextBox 32"/>
          <p:cNvSpPr txBox="1"/>
          <p:nvPr/>
        </p:nvSpPr>
        <p:spPr>
          <a:xfrm>
            <a:off x="6629400" y="4754880"/>
            <a:ext cx="4983480" cy="777240"/>
          </a:xfrm>
          <a:prstGeom prst="rect">
            <a:avLst/>
          </a:prstGeom>
          <a:noFill/>
        </p:spPr>
        <p:txBody>
          <a:bodyPr wrap="square" anchor="t">
            <a:spAutoFit/>
          </a:bodyPr>
          <a:lstStyle/>
          <a:p>
            <a:pPr algn="l"/>
            <a:r>
              <a:rPr sz="1000" b="0" i="0">
                <a:solidFill>
                  <a:srgbClr val="333333"/>
                </a:solidFill>
              </a:rPr>
              <a:t>Unified  raw_posts.source_platform  column (already stubbed) so Brand Health / Insights aggregate across platforms out of the box.</a:t>
            </a:r>
          </a:p>
        </p:txBody>
      </p:sp>
      <p:sp>
        <p:nvSpPr>
          <p:cNvPr id="34" name="Rectangle 33"/>
          <p:cNvSpPr/>
          <p:nvPr/>
        </p:nvSpPr>
        <p:spPr>
          <a:xfrm>
            <a:off x="6217920" y="5989320"/>
            <a:ext cx="5532120" cy="548640"/>
          </a:xfrm>
          <a:prstGeom prst="rect">
            <a:avLst/>
          </a:prstGeom>
          <a:solidFill>
            <a:srgbClr val="E8F4FD"/>
          </a:solidFill>
          <a:ln>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0" y="6035040"/>
            <a:ext cx="5166360" cy="457200"/>
          </a:xfrm>
          <a:prstGeom prst="rect">
            <a:avLst/>
          </a:prstGeom>
          <a:noFill/>
        </p:spPr>
        <p:txBody>
          <a:bodyPr wrap="square" anchor="t">
            <a:spAutoFit/>
          </a:bodyPr>
          <a:lstStyle/>
          <a:p>
            <a:pPr algn="l"/>
            <a:r>
              <a:rPr sz="950" b="0" i="1">
                <a:solidFill>
                  <a:srgbClr val="333333"/>
                </a:solidFill>
              </a:rPr>
              <a:t>Risks:  X API tiers ($100 / mo min);  Meta Graph needs page-level perms;  Instagram image volume needs vision-batching.</a:t>
            </a:r>
          </a:p>
        </p:txBody>
      </p:sp>
      <p:sp>
        <p:nvSpPr>
          <p:cNvPr id="36" name="TextBox 35"/>
          <p:cNvSpPr txBox="1"/>
          <p:nvPr/>
        </p:nvSpPr>
        <p:spPr>
          <a:xfrm>
            <a:off x="365760" y="6537960"/>
            <a:ext cx="8229600" cy="274320"/>
          </a:xfrm>
          <a:prstGeom prst="rect">
            <a:avLst/>
          </a:prstGeom>
          <a:noFill/>
        </p:spPr>
        <p:txBody>
          <a:bodyPr wrap="square" anchor="t">
            <a:spAutoFit/>
          </a:bodyPr>
          <a:lstStyle/>
          <a:p>
            <a:pPr algn="l"/>
            <a:r>
              <a:rPr sz="900" b="0" i="0">
                <a:solidFill>
                  <a:srgbClr val="666666"/>
                </a:solidFill>
              </a:rPr>
              <a:t>Retail Sentiment Intelligence  ·  BITS ZG628T Dissertation  ·  Vishal Singh  ·  Post Mid-Semester Presentation</a:t>
            </a:r>
          </a:p>
        </p:txBody>
      </p:sp>
      <p:sp>
        <p:nvSpPr>
          <p:cNvPr id="37" name="TextBox 36"/>
          <p:cNvSpPr txBox="1"/>
          <p:nvPr/>
        </p:nvSpPr>
        <p:spPr>
          <a:xfrm>
            <a:off x="10972800" y="6537960"/>
            <a:ext cx="1097280" cy="274320"/>
          </a:xfrm>
          <a:prstGeom prst="rect">
            <a:avLst/>
          </a:prstGeom>
          <a:noFill/>
        </p:spPr>
        <p:txBody>
          <a:bodyPr wrap="square" anchor="t">
            <a:spAutoFit/>
          </a:bodyPr>
          <a:lstStyle/>
          <a:p>
            <a:pPr algn="r"/>
            <a:r>
              <a:rPr sz="900" b="0" i="0">
                <a:solidFill>
                  <a:srgbClr val="666666"/>
                </a:solidFill>
              </a:rPr>
              <a:t>22 / 24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41E42"/>
        </a:solidFill>
        <a:effectLst/>
      </p:bgPr>
    </p:bg>
    <p:spTree>
      <p:nvGrpSpPr>
        <p:cNvPr id="1" name=""/>
        <p:cNvGrpSpPr/>
        <p:nvPr/>
      </p:nvGrpSpPr>
      <p:grpSpPr>
        <a:xfrm>
          <a:off x="0" y="0"/>
          <a:ext cx="0" cy="0"/>
          <a:chOff x="0" y="0"/>
          <a:chExt cx="0" cy="0"/>
        </a:xfrm>
      </p:grpSpPr>
      <p:sp>
        <p:nvSpPr>
          <p:cNvPr id="2" name="TextBox 1"/>
          <p:cNvSpPr txBox="1"/>
          <p:nvPr/>
        </p:nvSpPr>
        <p:spPr>
          <a:xfrm>
            <a:off x="457200" y="1737360"/>
            <a:ext cx="11247120" cy="1097280"/>
          </a:xfrm>
          <a:prstGeom prst="rect">
            <a:avLst/>
          </a:prstGeom>
          <a:noFill/>
        </p:spPr>
        <p:txBody>
          <a:bodyPr wrap="square" anchor="t">
            <a:spAutoFit/>
          </a:bodyPr>
          <a:lstStyle/>
          <a:p>
            <a:pPr algn="ctr"/>
            <a:r>
              <a:rPr sz="7200" b="1" i="0">
                <a:solidFill>
                  <a:srgbClr val="FFFFFF"/>
                </a:solidFill>
              </a:rPr>
              <a:t>Thank You</a:t>
            </a:r>
          </a:p>
        </p:txBody>
      </p:sp>
      <p:sp>
        <p:nvSpPr>
          <p:cNvPr id="3" name="TextBox 2"/>
          <p:cNvSpPr txBox="1"/>
          <p:nvPr/>
        </p:nvSpPr>
        <p:spPr>
          <a:xfrm>
            <a:off x="457200" y="3017520"/>
            <a:ext cx="11247120" cy="457200"/>
          </a:xfrm>
          <a:prstGeom prst="rect">
            <a:avLst/>
          </a:prstGeom>
          <a:noFill/>
        </p:spPr>
        <p:txBody>
          <a:bodyPr wrap="square" anchor="t">
            <a:spAutoFit/>
          </a:bodyPr>
          <a:lstStyle/>
          <a:p>
            <a:pPr algn="ctr"/>
            <a:r>
              <a:rPr sz="1800" b="0" i="0">
                <a:solidFill>
                  <a:srgbClr val="FFC220"/>
                </a:solidFill>
              </a:rPr>
              <a:t>Retail Sentiment Intelligence  ·  Post Mid-Semester Presentation</a:t>
            </a:r>
          </a:p>
        </p:txBody>
      </p:sp>
      <p:sp>
        <p:nvSpPr>
          <p:cNvPr id="4" name="TextBox 3"/>
          <p:cNvSpPr txBox="1"/>
          <p:nvPr/>
        </p:nvSpPr>
        <p:spPr>
          <a:xfrm>
            <a:off x="457200" y="3749039"/>
            <a:ext cx="11247120" cy="457200"/>
          </a:xfrm>
          <a:prstGeom prst="rect">
            <a:avLst/>
          </a:prstGeom>
          <a:noFill/>
        </p:spPr>
        <p:txBody>
          <a:bodyPr wrap="square" anchor="t">
            <a:spAutoFit/>
          </a:bodyPr>
          <a:lstStyle/>
          <a:p>
            <a:pPr algn="ctr"/>
            <a:r>
              <a:rPr sz="2800" b="1" i="0">
                <a:solidFill>
                  <a:srgbClr val="FFFFFF"/>
                </a:solidFill>
              </a:rPr>
              <a:t>Questions ?</a:t>
            </a:r>
          </a:p>
        </p:txBody>
      </p:sp>
      <p:sp>
        <p:nvSpPr>
          <p:cNvPr id="5" name="Rectangle 4"/>
          <p:cNvSpPr/>
          <p:nvPr/>
        </p:nvSpPr>
        <p:spPr>
          <a:xfrm>
            <a:off x="1828800" y="4617720"/>
            <a:ext cx="8503920" cy="1280160"/>
          </a:xfrm>
          <a:prstGeom prst="rect">
            <a:avLst/>
          </a:prstGeom>
          <a:solidFill>
            <a:srgbClr val="E8F4FD"/>
          </a:solidFill>
          <a:ln>
            <a:solidFill>
              <a:srgbClr val="FFC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0" y="4754880"/>
            <a:ext cx="8138160" cy="320040"/>
          </a:xfrm>
          <a:prstGeom prst="rect">
            <a:avLst/>
          </a:prstGeom>
          <a:noFill/>
        </p:spPr>
        <p:txBody>
          <a:bodyPr wrap="square" anchor="t">
            <a:spAutoFit/>
          </a:bodyPr>
          <a:lstStyle/>
          <a:p>
            <a:pPr algn="ctr"/>
            <a:r>
              <a:rPr sz="1100" b="1" i="0">
                <a:solidFill>
                  <a:srgbClr val="0071DC"/>
                </a:solidFill>
              </a:rPr>
              <a:t>Repository</a:t>
            </a:r>
          </a:p>
        </p:txBody>
      </p:sp>
      <p:sp>
        <p:nvSpPr>
          <p:cNvPr id="7" name="TextBox 6"/>
          <p:cNvSpPr txBox="1"/>
          <p:nvPr/>
        </p:nvSpPr>
        <p:spPr>
          <a:xfrm>
            <a:off x="2011680" y="5074920"/>
            <a:ext cx="8138160" cy="457200"/>
          </a:xfrm>
          <a:prstGeom prst="rect">
            <a:avLst/>
          </a:prstGeom>
          <a:noFill/>
        </p:spPr>
        <p:txBody>
          <a:bodyPr wrap="square" anchor="t">
            <a:spAutoFit/>
          </a:bodyPr>
          <a:lstStyle/>
          <a:p>
            <a:pPr algn="ctr"/>
            <a:r>
              <a:rPr sz="1500" b="1" i="0">
                <a:solidFill>
                  <a:srgbClr val="041E42"/>
                </a:solidFill>
              </a:rPr>
              <a:t>gecgithub01.walmart.com/v0s01jh/Retail_Sentiment_Intelligence</a:t>
            </a:r>
          </a:p>
        </p:txBody>
      </p:sp>
      <p:sp>
        <p:nvSpPr>
          <p:cNvPr id="8" name="TextBox 7"/>
          <p:cNvSpPr txBox="1"/>
          <p:nvPr/>
        </p:nvSpPr>
        <p:spPr>
          <a:xfrm>
            <a:off x="2011680" y="5532120"/>
            <a:ext cx="8138160" cy="320040"/>
          </a:xfrm>
          <a:prstGeom prst="rect">
            <a:avLst/>
          </a:prstGeom>
          <a:noFill/>
        </p:spPr>
        <p:txBody>
          <a:bodyPr wrap="square" anchor="t">
            <a:spAutoFit/>
          </a:bodyPr>
          <a:lstStyle/>
          <a:p>
            <a:pPr algn="ctr"/>
            <a:r>
              <a:rPr sz="1100" b="0" i="0">
                <a:solidFill>
                  <a:srgbClr val="666666"/>
                </a:solidFill>
              </a:rPr>
              <a:t>Report:  docs/Sem_4/final/FINAL_REPORT_VishalSingh_2020AA05641.pdf</a:t>
            </a:r>
          </a:p>
        </p:txBody>
      </p:sp>
      <p:sp>
        <p:nvSpPr>
          <p:cNvPr id="9" name="TextBox 8"/>
          <p:cNvSpPr txBox="1"/>
          <p:nvPr/>
        </p:nvSpPr>
        <p:spPr>
          <a:xfrm>
            <a:off x="457200" y="6172200"/>
            <a:ext cx="11247120" cy="365760"/>
          </a:xfrm>
          <a:prstGeom prst="rect">
            <a:avLst/>
          </a:prstGeom>
          <a:noFill/>
        </p:spPr>
        <p:txBody>
          <a:bodyPr wrap="square" anchor="t">
            <a:spAutoFit/>
          </a:bodyPr>
          <a:lstStyle/>
          <a:p>
            <a:pPr algn="ctr"/>
            <a:r>
              <a:rPr sz="1200" b="0" i="0">
                <a:solidFill>
                  <a:srgbClr val="E8F4FD"/>
                </a:solidFill>
              </a:rPr>
              <a:t>Vishal Singh  ·  2020AA05641  ·  BITS Pilani (WILP)  ·  Walmart Global Tech, Bengaluru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4706</Words>
  <Application>Microsoft Macintosh PowerPoint</Application>
  <PresentationFormat>Widescreen</PresentationFormat>
  <Paragraphs>613</Paragraphs>
  <Slides>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Vishal Singh</cp:lastModifiedBy>
  <cp:revision>2</cp:revision>
  <dcterms:created xsi:type="dcterms:W3CDTF">2013-01-27T09:14:16Z</dcterms:created>
  <dcterms:modified xsi:type="dcterms:W3CDTF">2026-08-08T19:01:13Z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44a753e-b937-4727-8173-58e965e4ef41_Enabled">
    <vt:lpwstr>true</vt:lpwstr>
  </property>
  <property fmtid="{D5CDD505-2E9C-101B-9397-08002B2CF9AE}" pid="3" name="MSIP_Label_444a753e-b937-4727-8173-58e965e4ef41_SetDate">
    <vt:lpwstr>2026-08-08T19:01:13Z</vt:lpwstr>
  </property>
  <property fmtid="{D5CDD505-2E9C-101B-9397-08002B2CF9AE}" pid="4" name="MSIP_Label_444a753e-b937-4727-8173-58e965e4ef41_Method">
    <vt:lpwstr>Standard</vt:lpwstr>
  </property>
  <property fmtid="{D5CDD505-2E9C-101B-9397-08002B2CF9AE}" pid="5" name="MSIP_Label_444a753e-b937-4727-8173-58e965e4ef41_Name">
    <vt:lpwstr>0a306a40-471c-426e-91d6-468476917b5e</vt:lpwstr>
  </property>
  <property fmtid="{D5CDD505-2E9C-101B-9397-08002B2CF9AE}" pid="6" name="MSIP_Label_444a753e-b937-4727-8173-58e965e4ef41_SiteId">
    <vt:lpwstr>3cbcc3d3-094d-4006-9849-0d11d61f484d</vt:lpwstr>
  </property>
  <property fmtid="{D5CDD505-2E9C-101B-9397-08002B2CF9AE}" pid="7" name="MSIP_Label_444a753e-b937-4727-8173-58e965e4ef41_ActionId">
    <vt:lpwstr>9a11bd75-ec3e-4646-a704-edc86831fb68</vt:lpwstr>
  </property>
  <property fmtid="{D5CDD505-2E9C-101B-9397-08002B2CF9AE}" pid="8" name="MSIP_Label_444a753e-b937-4727-8173-58e965e4ef41_ContentBits">
    <vt:lpwstr>0</vt:lpwstr>
  </property>
  <property fmtid="{D5CDD505-2E9C-101B-9397-08002B2CF9AE}" pid="9" name="MSIP_Label_444a753e-b937-4727-8173-58e965e4ef41_Tag">
    <vt:lpwstr>50, 3, 0, 1</vt:lpwstr>
  </property>
</Properties>
</file>