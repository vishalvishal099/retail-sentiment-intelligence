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2103120"/>
            <a:ext cx="365760" cy="246888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15600" cy="822960"/>
          </a:xfrm>
          <a:prstGeom prst="rect">
            <a:avLst/>
          </a:prstGeom>
          <a:noFill/>
        </p:spPr>
        <p:txBody>
          <a:bodyPr wrap="square" anchor="t">
            <a:spAutoFit/>
          </a:bodyPr>
          <a:lstStyle/>
          <a:p>
            <a:pPr algn="l"/>
            <a:r>
              <a:rPr sz="3800" b="1">
                <a:solidFill>
                  <a:srgbClr val="FFFFFF"/>
                </a:solidFill>
              </a:rPr>
              <a:t>Retail Sentiment Intelligence</a:t>
            </a:r>
          </a:p>
        </p:txBody>
      </p:sp>
      <p:sp>
        <p:nvSpPr>
          <p:cNvPr id="4" name="TextBox 3"/>
          <p:cNvSpPr txBox="1"/>
          <p:nvPr/>
        </p:nvSpPr>
        <p:spPr>
          <a:xfrm>
            <a:off x="822960" y="1600200"/>
            <a:ext cx="10515600" cy="1280160"/>
          </a:xfrm>
          <a:prstGeom prst="rect">
            <a:avLst/>
          </a:prstGeom>
          <a:noFill/>
        </p:spPr>
        <p:txBody>
          <a:bodyPr wrap="square" anchor="t">
            <a:spAutoFit/>
          </a:bodyPr>
          <a:lstStyle/>
          <a:p>
            <a:pPr algn="l"/>
            <a:r>
              <a:rPr sz="1800" b="0">
                <a:solidFill>
                  <a:srgbClr val="FFC220"/>
                </a:solidFill>
              </a:rPr>
              <a:t>Real-Time Social Media Mining and Trust-Aware Sentiment Analysis</a:t>
            </a:r>
          </a:p>
          <a:p>
            <a:pPr algn="l"/>
            <a:r>
              <a:rPr sz="1800" b="0">
                <a:solidFill>
                  <a:srgbClr val="FFC220"/>
                </a:solidFill>
              </a:rPr>
              <a:t>Using Large Language Models for Retail Feedback Optimization</a:t>
            </a:r>
          </a:p>
        </p:txBody>
      </p:sp>
      <p:sp>
        <p:nvSpPr>
          <p:cNvPr id="5" name="TextBox 4"/>
          <p:cNvSpPr txBox="1"/>
          <p:nvPr/>
        </p:nvSpPr>
        <p:spPr>
          <a:xfrm>
            <a:off x="822960" y="2880360"/>
            <a:ext cx="10515600" cy="365760"/>
          </a:xfrm>
          <a:prstGeom prst="rect">
            <a:avLst/>
          </a:prstGeom>
          <a:noFill/>
        </p:spPr>
        <p:txBody>
          <a:bodyPr wrap="square" anchor="t">
            <a:spAutoFit/>
          </a:bodyPr>
          <a:lstStyle/>
          <a:p>
            <a:pPr algn="l"/>
            <a:r>
              <a:rPr sz="1400" b="1">
                <a:solidFill>
                  <a:srgbClr val="FFFFFF"/>
                </a:solidFill>
              </a:rPr>
              <a:t>BITS ZG628T  ·  Dissertation  ·  Post Mid-Semester Presentation</a:t>
            </a:r>
          </a:p>
        </p:txBody>
      </p:sp>
      <p:sp>
        <p:nvSpPr>
          <p:cNvPr id="6" name="TextBox 5"/>
          <p:cNvSpPr txBox="1"/>
          <p:nvPr/>
        </p:nvSpPr>
        <p:spPr>
          <a:xfrm>
            <a:off x="822960" y="3794760"/>
            <a:ext cx="10515600" cy="365760"/>
          </a:xfrm>
          <a:prstGeom prst="rect">
            <a:avLst/>
          </a:prstGeom>
          <a:noFill/>
        </p:spPr>
        <p:txBody>
          <a:bodyPr wrap="square" anchor="t">
            <a:spAutoFit/>
          </a:bodyPr>
          <a:lstStyle/>
          <a:p>
            <a:pPr algn="l"/>
            <a:r>
              <a:rPr sz="1500" b="1">
                <a:solidFill>
                  <a:srgbClr val="FFFFFF"/>
                </a:solidFill>
              </a:rPr>
              <a:t>Faculty Mentor:   Ms. Pradnya Kashikar</a:t>
            </a:r>
          </a:p>
        </p:txBody>
      </p:sp>
      <p:sp>
        <p:nvSpPr>
          <p:cNvPr id="7" name="TextBox 6"/>
          <p:cNvSpPr txBox="1"/>
          <p:nvPr/>
        </p:nvSpPr>
        <p:spPr>
          <a:xfrm>
            <a:off x="822960" y="4206240"/>
            <a:ext cx="10515600" cy="365760"/>
          </a:xfrm>
          <a:prstGeom prst="rect">
            <a:avLst/>
          </a:prstGeom>
          <a:noFill/>
        </p:spPr>
        <p:txBody>
          <a:bodyPr wrap="square" anchor="t">
            <a:spAutoFit/>
          </a:bodyPr>
          <a:lstStyle/>
          <a:p>
            <a:pPr algn="l"/>
            <a:r>
              <a:rPr sz="1200" b="0">
                <a:solidFill>
                  <a:srgbClr val="E8F4FD"/>
                </a:solidFill>
              </a:rPr>
              <a:t>BITS Pilani (WILP)</a:t>
            </a:r>
          </a:p>
        </p:txBody>
      </p:sp>
      <p:sp>
        <p:nvSpPr>
          <p:cNvPr id="8" name="TextBox 7"/>
          <p:cNvSpPr txBox="1"/>
          <p:nvPr/>
        </p:nvSpPr>
        <p:spPr>
          <a:xfrm>
            <a:off x="822960" y="4709160"/>
            <a:ext cx="10515600" cy="365760"/>
          </a:xfrm>
          <a:prstGeom prst="rect">
            <a:avLst/>
          </a:prstGeom>
          <a:noFill/>
        </p:spPr>
        <p:txBody>
          <a:bodyPr wrap="square" anchor="t">
            <a:spAutoFit/>
          </a:bodyPr>
          <a:lstStyle/>
          <a:p>
            <a:pPr algn="l"/>
            <a:r>
              <a:rPr sz="1500" b="1">
                <a:solidFill>
                  <a:srgbClr val="FFFFFF"/>
                </a:solidFill>
              </a:rPr>
              <a:t>Supervisor:   Mr. Varunendra Pratap Singh</a:t>
            </a:r>
          </a:p>
        </p:txBody>
      </p:sp>
      <p:sp>
        <p:nvSpPr>
          <p:cNvPr id="9" name="TextBox 8"/>
          <p:cNvSpPr txBox="1"/>
          <p:nvPr/>
        </p:nvSpPr>
        <p:spPr>
          <a:xfrm>
            <a:off x="822960" y="5120640"/>
            <a:ext cx="10515600" cy="365760"/>
          </a:xfrm>
          <a:prstGeom prst="rect">
            <a:avLst/>
          </a:prstGeom>
          <a:noFill/>
        </p:spPr>
        <p:txBody>
          <a:bodyPr wrap="square" anchor="t">
            <a:spAutoFit/>
          </a:bodyPr>
          <a:lstStyle/>
          <a:p>
            <a:pPr algn="l"/>
            <a:r>
              <a:rPr sz="1200" b="0">
                <a:solidFill>
                  <a:srgbClr val="E8F4FD"/>
                </a:solidFill>
              </a:rPr>
              <a:t>Principal Software Engineer  ·  Walmart Global Tech, Bengaluru</a:t>
            </a:r>
          </a:p>
        </p:txBody>
      </p:sp>
      <p:sp>
        <p:nvSpPr>
          <p:cNvPr id="10" name="TextBox 9"/>
          <p:cNvSpPr txBox="1"/>
          <p:nvPr/>
        </p:nvSpPr>
        <p:spPr>
          <a:xfrm>
            <a:off x="822960" y="5623560"/>
            <a:ext cx="10515600" cy="365760"/>
          </a:xfrm>
          <a:prstGeom prst="rect">
            <a:avLst/>
          </a:prstGeom>
          <a:noFill/>
        </p:spPr>
        <p:txBody>
          <a:bodyPr wrap="square" anchor="t">
            <a:spAutoFit/>
          </a:bodyPr>
          <a:lstStyle/>
          <a:p>
            <a:pPr algn="l"/>
            <a:r>
              <a:rPr sz="1500" b="1">
                <a:solidFill>
                  <a:srgbClr val="FFFFFF"/>
                </a:solidFill>
              </a:rPr>
              <a:t>Candidate:   Vishal Singh   ·   2020AA05641</a:t>
            </a:r>
          </a:p>
        </p:txBody>
      </p:sp>
      <p:sp>
        <p:nvSpPr>
          <p:cNvPr id="11" name="TextBox 10"/>
          <p:cNvSpPr txBox="1"/>
          <p:nvPr/>
        </p:nvSpPr>
        <p:spPr>
          <a:xfrm>
            <a:off x="822960" y="6035040"/>
            <a:ext cx="10515600" cy="365760"/>
          </a:xfrm>
          <a:prstGeom prst="rect">
            <a:avLst/>
          </a:prstGeom>
          <a:noFill/>
        </p:spPr>
        <p:txBody>
          <a:bodyPr wrap="square" anchor="t">
            <a:spAutoFit/>
          </a:bodyPr>
          <a:lstStyle/>
          <a:p>
            <a:pPr algn="l"/>
            <a:r>
              <a:rPr sz="1200" b="0">
                <a:solidFill>
                  <a:srgbClr val="E8F4FD"/>
                </a:solidFill>
              </a:rPr>
              <a:t>M.Tech (AI &amp; ML)  ·  Birla Institute of Technology &amp; Science, Pilani (WILP)</a:t>
            </a:r>
          </a:p>
        </p:txBody>
      </p:sp>
      <p:sp>
        <p:nvSpPr>
          <p:cNvPr id="12" name="TextBox 11"/>
          <p:cNvSpPr txBox="1"/>
          <p:nvPr/>
        </p:nvSpPr>
        <p:spPr>
          <a:xfrm>
            <a:off x="822960" y="6446520"/>
            <a:ext cx="10515600" cy="274320"/>
          </a:xfrm>
          <a:prstGeom prst="rect">
            <a:avLst/>
          </a:prstGeom>
          <a:noFill/>
        </p:spPr>
        <p:txBody>
          <a:bodyPr wrap="square" anchor="t">
            <a:spAutoFit/>
          </a:bodyPr>
          <a:lstStyle/>
          <a:p>
            <a:pPr algn="l"/>
            <a:r>
              <a:rPr sz="1000" b="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02920" cy="256032"/>
          </a:xfrm>
          <a:prstGeom prst="rect">
            <a:avLst/>
          </a:prstGeom>
          <a:noFill/>
        </p:spPr>
        <p:txBody>
          <a:bodyPr wrap="square" anchor="t">
            <a:spAutoFit/>
          </a:bodyPr>
          <a:lstStyle/>
          <a:p>
            <a:pPr algn="l"/>
            <a:r>
              <a:rPr sz="1200" b="1">
                <a:solidFill>
                  <a:srgbClr val="0071DC"/>
                </a:solidFill>
              </a:rPr>
              <a:t>1</a:t>
            </a:r>
          </a:p>
        </p:txBody>
      </p:sp>
      <p:sp>
        <p:nvSpPr>
          <p:cNvPr id="8" name="TextBox 7"/>
          <p:cNvSpPr txBox="1"/>
          <p:nvPr/>
        </p:nvSpPr>
        <p:spPr>
          <a:xfrm>
            <a:off x="1097280" y="941832"/>
            <a:ext cx="4892040" cy="182880"/>
          </a:xfrm>
          <a:prstGeom prst="rect">
            <a:avLst/>
          </a:prstGeom>
          <a:noFill/>
        </p:spPr>
        <p:txBody>
          <a:bodyPr wrap="square" anchor="t">
            <a:spAutoFit/>
          </a:bodyPr>
          <a:lstStyle/>
          <a:p>
            <a:pPr algn="l"/>
            <a:r>
              <a:rPr sz="1100" b="1">
                <a:solidFill>
                  <a:srgbClr val="041E42"/>
                </a:solidFill>
              </a:rPr>
              <a:t>Since Mid-Sem — What's New</a:t>
            </a:r>
          </a:p>
        </p:txBody>
      </p:sp>
      <p:sp>
        <p:nvSpPr>
          <p:cNvPr id="9" name="TextBox 8"/>
          <p:cNvSpPr txBox="1"/>
          <p:nvPr/>
        </p:nvSpPr>
        <p:spPr>
          <a:xfrm>
            <a:off x="1097280" y="1097280"/>
            <a:ext cx="4892040" cy="182880"/>
          </a:xfrm>
          <a:prstGeom prst="rect">
            <a:avLst/>
          </a:prstGeom>
          <a:noFill/>
        </p:spPr>
        <p:txBody>
          <a:bodyPr wrap="square" anchor="t">
            <a:spAutoFit/>
          </a:bodyPr>
          <a:lstStyle/>
          <a:p>
            <a:pPr algn="l"/>
            <a:r>
              <a:rPr sz="900" b="0">
                <a:solidFill>
                  <a:srgbClr val="666666"/>
                </a:solidFill>
              </a:rPr>
              <a:t>Post-midsem workstream map</a:t>
            </a:r>
          </a:p>
        </p:txBody>
      </p:sp>
      <p:sp>
        <p:nvSpPr>
          <p:cNvPr id="10" name="Rectangle 9"/>
          <p:cNvSpPr/>
          <p:nvPr/>
        </p:nvSpPr>
        <p:spPr>
          <a:xfrm>
            <a:off x="457200" y="1353312"/>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399032"/>
            <a:ext cx="502920" cy="256032"/>
          </a:xfrm>
          <a:prstGeom prst="rect">
            <a:avLst/>
          </a:prstGeom>
          <a:noFill/>
        </p:spPr>
        <p:txBody>
          <a:bodyPr wrap="square" anchor="t">
            <a:spAutoFit/>
          </a:bodyPr>
          <a:lstStyle/>
          <a:p>
            <a:pPr algn="l"/>
            <a:r>
              <a:rPr sz="1200" b="1">
                <a:solidFill>
                  <a:srgbClr val="0071DC"/>
                </a:solidFill>
              </a:rPr>
              <a:t>2</a:t>
            </a:r>
          </a:p>
        </p:txBody>
      </p:sp>
      <p:sp>
        <p:nvSpPr>
          <p:cNvPr id="12" name="TextBox 11"/>
          <p:cNvSpPr txBox="1"/>
          <p:nvPr/>
        </p:nvSpPr>
        <p:spPr>
          <a:xfrm>
            <a:off x="1097280" y="1380744"/>
            <a:ext cx="4892040" cy="182880"/>
          </a:xfrm>
          <a:prstGeom prst="rect">
            <a:avLst/>
          </a:prstGeom>
          <a:noFill/>
        </p:spPr>
        <p:txBody>
          <a:bodyPr wrap="square" anchor="t">
            <a:spAutoFit/>
          </a:bodyPr>
          <a:lstStyle/>
          <a:p>
            <a:pPr algn="l"/>
            <a:r>
              <a:rPr sz="1100" b="1">
                <a:solidFill>
                  <a:srgbClr val="041E42"/>
                </a:solidFill>
              </a:rPr>
              <a:t>Review &amp; Validate  (HITL)</a:t>
            </a:r>
          </a:p>
        </p:txBody>
      </p:sp>
      <p:sp>
        <p:nvSpPr>
          <p:cNvPr id="13" name="TextBox 12"/>
          <p:cNvSpPr txBox="1"/>
          <p:nvPr/>
        </p:nvSpPr>
        <p:spPr>
          <a:xfrm>
            <a:off x="1097280" y="1536192"/>
            <a:ext cx="4892040" cy="182880"/>
          </a:xfrm>
          <a:prstGeom prst="rect">
            <a:avLst/>
          </a:prstGeom>
          <a:noFill/>
        </p:spPr>
        <p:txBody>
          <a:bodyPr wrap="square" anchor="t">
            <a:spAutoFit/>
          </a:bodyPr>
          <a:lstStyle/>
          <a:p>
            <a:pPr algn="l"/>
            <a:r>
              <a:rPr sz="900" b="0">
                <a:solidFill>
                  <a:srgbClr val="666666"/>
                </a:solidFill>
              </a:rPr>
              <a:t>Human-in-the-loop correction workflow</a:t>
            </a:r>
          </a:p>
        </p:txBody>
      </p:sp>
      <p:sp>
        <p:nvSpPr>
          <p:cNvPr id="14" name="Rectangle 13"/>
          <p:cNvSpPr/>
          <p:nvPr/>
        </p:nvSpPr>
        <p:spPr>
          <a:xfrm>
            <a:off x="457200" y="1792224"/>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1837944"/>
            <a:ext cx="502920" cy="256032"/>
          </a:xfrm>
          <a:prstGeom prst="rect">
            <a:avLst/>
          </a:prstGeom>
          <a:noFill/>
        </p:spPr>
        <p:txBody>
          <a:bodyPr wrap="square" anchor="t">
            <a:spAutoFit/>
          </a:bodyPr>
          <a:lstStyle/>
          <a:p>
            <a:pPr algn="l"/>
            <a:r>
              <a:rPr sz="1200" b="1">
                <a:solidFill>
                  <a:srgbClr val="0071DC"/>
                </a:solidFill>
              </a:rPr>
              <a:t>3</a:t>
            </a:r>
          </a:p>
        </p:txBody>
      </p:sp>
      <p:sp>
        <p:nvSpPr>
          <p:cNvPr id="16" name="TextBox 15"/>
          <p:cNvSpPr txBox="1"/>
          <p:nvPr/>
        </p:nvSpPr>
        <p:spPr>
          <a:xfrm>
            <a:off x="1097280" y="1819656"/>
            <a:ext cx="4892040" cy="182880"/>
          </a:xfrm>
          <a:prstGeom prst="rect">
            <a:avLst/>
          </a:prstGeom>
          <a:noFill/>
        </p:spPr>
        <p:txBody>
          <a:bodyPr wrap="square" anchor="t">
            <a:spAutoFit/>
          </a:bodyPr>
          <a:lstStyle/>
          <a:p>
            <a:pPr algn="l"/>
            <a:r>
              <a:rPr sz="1100" b="1">
                <a:solidFill>
                  <a:srgbClr val="041E42"/>
                </a:solidFill>
              </a:rPr>
              <a:t>Smart Reply  —  Triple Draft</a:t>
            </a:r>
          </a:p>
        </p:txBody>
      </p:sp>
      <p:sp>
        <p:nvSpPr>
          <p:cNvPr id="17" name="TextBox 16"/>
          <p:cNvSpPr txBox="1"/>
          <p:nvPr/>
        </p:nvSpPr>
        <p:spPr>
          <a:xfrm>
            <a:off x="1097280" y="1975104"/>
            <a:ext cx="4892040" cy="182880"/>
          </a:xfrm>
          <a:prstGeom prst="rect">
            <a:avLst/>
          </a:prstGeom>
          <a:noFill/>
        </p:spPr>
        <p:txBody>
          <a:bodyPr wrap="square" anchor="t">
            <a:spAutoFit/>
          </a:bodyPr>
          <a:lstStyle/>
          <a:p>
            <a:pPr algn="l"/>
            <a:r>
              <a:rPr sz="900" b="0">
                <a:solidFill>
                  <a:srgbClr val="666666"/>
                </a:solidFill>
              </a:rPr>
              <a:t>GPT-4o  +  Mistral 7B  +  Smart Composer</a:t>
            </a:r>
          </a:p>
        </p:txBody>
      </p:sp>
      <p:sp>
        <p:nvSpPr>
          <p:cNvPr id="18" name="Rectangle 17"/>
          <p:cNvSpPr/>
          <p:nvPr/>
        </p:nvSpPr>
        <p:spPr>
          <a:xfrm>
            <a:off x="457200" y="2231136"/>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276856"/>
            <a:ext cx="502920" cy="256032"/>
          </a:xfrm>
          <a:prstGeom prst="rect">
            <a:avLst/>
          </a:prstGeom>
          <a:noFill/>
        </p:spPr>
        <p:txBody>
          <a:bodyPr wrap="square" anchor="t">
            <a:spAutoFit/>
          </a:bodyPr>
          <a:lstStyle/>
          <a:p>
            <a:pPr algn="l"/>
            <a:r>
              <a:rPr sz="1200" b="1">
                <a:solidFill>
                  <a:srgbClr val="0071DC"/>
                </a:solidFill>
              </a:rPr>
              <a:t>4</a:t>
            </a:r>
          </a:p>
        </p:txBody>
      </p:sp>
      <p:sp>
        <p:nvSpPr>
          <p:cNvPr id="20" name="TextBox 19"/>
          <p:cNvSpPr txBox="1"/>
          <p:nvPr/>
        </p:nvSpPr>
        <p:spPr>
          <a:xfrm>
            <a:off x="1097280" y="2258568"/>
            <a:ext cx="4892040" cy="182880"/>
          </a:xfrm>
          <a:prstGeom prst="rect">
            <a:avLst/>
          </a:prstGeom>
          <a:noFill/>
        </p:spPr>
        <p:txBody>
          <a:bodyPr wrap="square" anchor="t">
            <a:spAutoFit/>
          </a:bodyPr>
          <a:lstStyle/>
          <a:p>
            <a:pPr algn="l"/>
            <a:r>
              <a:rPr sz="1100" b="1">
                <a:solidFill>
                  <a:srgbClr val="041E42"/>
                </a:solidFill>
              </a:rPr>
              <a:t>Smart Reply  —  Prompt &amp; Few-Shot</a:t>
            </a:r>
          </a:p>
        </p:txBody>
      </p:sp>
      <p:sp>
        <p:nvSpPr>
          <p:cNvPr id="21" name="TextBox 20"/>
          <p:cNvSpPr txBox="1"/>
          <p:nvPr/>
        </p:nvSpPr>
        <p:spPr>
          <a:xfrm>
            <a:off x="1097280" y="2414016"/>
            <a:ext cx="4892040" cy="182880"/>
          </a:xfrm>
          <a:prstGeom prst="rect">
            <a:avLst/>
          </a:prstGeom>
          <a:noFill/>
        </p:spPr>
        <p:txBody>
          <a:bodyPr wrap="square" anchor="t">
            <a:spAutoFit/>
          </a:bodyPr>
          <a:lstStyle/>
          <a:p>
            <a:pPr algn="l"/>
            <a:r>
              <a:rPr sz="900" b="0">
                <a:solidFill>
                  <a:srgbClr val="666666"/>
                </a:solidFill>
              </a:rPr>
              <a:t>Prompt template + past validated replies</a:t>
            </a:r>
          </a:p>
        </p:txBody>
      </p:sp>
      <p:sp>
        <p:nvSpPr>
          <p:cNvPr id="22" name="Rectangle 21"/>
          <p:cNvSpPr/>
          <p:nvPr/>
        </p:nvSpPr>
        <p:spPr>
          <a:xfrm>
            <a:off x="457200" y="2670048"/>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715768"/>
            <a:ext cx="502920" cy="256032"/>
          </a:xfrm>
          <a:prstGeom prst="rect">
            <a:avLst/>
          </a:prstGeom>
          <a:noFill/>
        </p:spPr>
        <p:txBody>
          <a:bodyPr wrap="square" anchor="t">
            <a:spAutoFit/>
          </a:bodyPr>
          <a:lstStyle/>
          <a:p>
            <a:pPr algn="l"/>
            <a:r>
              <a:rPr sz="1200" b="1">
                <a:solidFill>
                  <a:srgbClr val="0071DC"/>
                </a:solidFill>
              </a:rPr>
              <a:t>5</a:t>
            </a:r>
          </a:p>
        </p:txBody>
      </p:sp>
      <p:sp>
        <p:nvSpPr>
          <p:cNvPr id="24" name="TextBox 23"/>
          <p:cNvSpPr txBox="1"/>
          <p:nvPr/>
        </p:nvSpPr>
        <p:spPr>
          <a:xfrm>
            <a:off x="1097280" y="2697480"/>
            <a:ext cx="4892040" cy="182880"/>
          </a:xfrm>
          <a:prstGeom prst="rect">
            <a:avLst/>
          </a:prstGeom>
          <a:noFill/>
        </p:spPr>
        <p:txBody>
          <a:bodyPr wrap="square" anchor="t">
            <a:spAutoFit/>
          </a:bodyPr>
          <a:lstStyle/>
          <a:p>
            <a:pPr algn="l"/>
            <a:r>
              <a:rPr sz="1100" b="1">
                <a:solidFill>
                  <a:srgbClr val="041E42"/>
                </a:solidFill>
              </a:rPr>
              <a:t>Smart Reply  —  Worked Example</a:t>
            </a:r>
          </a:p>
        </p:txBody>
      </p:sp>
      <p:sp>
        <p:nvSpPr>
          <p:cNvPr id="25" name="TextBox 24"/>
          <p:cNvSpPr txBox="1"/>
          <p:nvPr/>
        </p:nvSpPr>
        <p:spPr>
          <a:xfrm>
            <a:off x="1097280" y="2852928"/>
            <a:ext cx="4892040" cy="182880"/>
          </a:xfrm>
          <a:prstGeom prst="rect">
            <a:avLst/>
          </a:prstGeom>
          <a:noFill/>
        </p:spPr>
        <p:txBody>
          <a:bodyPr wrap="square" anchor="t">
            <a:spAutoFit/>
          </a:bodyPr>
          <a:lstStyle/>
          <a:p>
            <a:pPr algn="l"/>
            <a:r>
              <a:rPr sz="900" b="0">
                <a:solidFill>
                  <a:srgbClr val="666666"/>
                </a:solidFill>
              </a:rPr>
              <a:t>One complaint  →  three drafts</a:t>
            </a:r>
          </a:p>
        </p:txBody>
      </p:sp>
      <p:sp>
        <p:nvSpPr>
          <p:cNvPr id="26" name="Rectangle 25"/>
          <p:cNvSpPr/>
          <p:nvPr/>
        </p:nvSpPr>
        <p:spPr>
          <a:xfrm>
            <a:off x="457200" y="3108960"/>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154680"/>
            <a:ext cx="502920" cy="256032"/>
          </a:xfrm>
          <a:prstGeom prst="rect">
            <a:avLst/>
          </a:prstGeom>
          <a:noFill/>
        </p:spPr>
        <p:txBody>
          <a:bodyPr wrap="square" anchor="t">
            <a:spAutoFit/>
          </a:bodyPr>
          <a:lstStyle/>
          <a:p>
            <a:pPr algn="l"/>
            <a:r>
              <a:rPr sz="1200" b="1">
                <a:solidFill>
                  <a:srgbClr val="0071DC"/>
                </a:solidFill>
              </a:rPr>
              <a:t>6</a:t>
            </a:r>
          </a:p>
        </p:txBody>
      </p:sp>
      <p:sp>
        <p:nvSpPr>
          <p:cNvPr id="28" name="TextBox 27"/>
          <p:cNvSpPr txBox="1"/>
          <p:nvPr/>
        </p:nvSpPr>
        <p:spPr>
          <a:xfrm>
            <a:off x="1097280" y="3136392"/>
            <a:ext cx="4892040" cy="182880"/>
          </a:xfrm>
          <a:prstGeom prst="rect">
            <a:avLst/>
          </a:prstGeom>
          <a:noFill/>
        </p:spPr>
        <p:txBody>
          <a:bodyPr wrap="square" anchor="t">
            <a:spAutoFit/>
          </a:bodyPr>
          <a:lstStyle/>
          <a:p>
            <a:pPr algn="l"/>
            <a:r>
              <a:rPr sz="1100" b="1">
                <a:solidFill>
                  <a:srgbClr val="041E42"/>
                </a:solidFill>
              </a:rPr>
              <a:t>Learning Loop</a:t>
            </a:r>
          </a:p>
        </p:txBody>
      </p:sp>
      <p:sp>
        <p:nvSpPr>
          <p:cNvPr id="29" name="TextBox 28"/>
          <p:cNvSpPr txBox="1"/>
          <p:nvPr/>
        </p:nvSpPr>
        <p:spPr>
          <a:xfrm>
            <a:off x="1097280" y="3291840"/>
            <a:ext cx="4892040" cy="182880"/>
          </a:xfrm>
          <a:prstGeom prst="rect">
            <a:avLst/>
          </a:prstGeom>
          <a:noFill/>
        </p:spPr>
        <p:txBody>
          <a:bodyPr wrap="square" anchor="t">
            <a:spAutoFit/>
          </a:bodyPr>
          <a:lstStyle/>
          <a:p>
            <a:pPr algn="l"/>
            <a:r>
              <a:rPr sz="900" b="0">
                <a:solidFill>
                  <a:srgbClr val="666666"/>
                </a:solidFill>
              </a:rPr>
              <a:t>Corrections + posted replies → retraining</a:t>
            </a:r>
          </a:p>
        </p:txBody>
      </p:sp>
      <p:sp>
        <p:nvSpPr>
          <p:cNvPr id="30" name="Rectangle 29"/>
          <p:cNvSpPr/>
          <p:nvPr/>
        </p:nvSpPr>
        <p:spPr>
          <a:xfrm>
            <a:off x="457200" y="3547872"/>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593592"/>
            <a:ext cx="502920" cy="256032"/>
          </a:xfrm>
          <a:prstGeom prst="rect">
            <a:avLst/>
          </a:prstGeom>
          <a:noFill/>
        </p:spPr>
        <p:txBody>
          <a:bodyPr wrap="square" anchor="t">
            <a:spAutoFit/>
          </a:bodyPr>
          <a:lstStyle/>
          <a:p>
            <a:pPr algn="l"/>
            <a:r>
              <a:rPr sz="1200" b="1">
                <a:solidFill>
                  <a:srgbClr val="0071DC"/>
                </a:solidFill>
              </a:rPr>
              <a:t>7</a:t>
            </a:r>
          </a:p>
        </p:txBody>
      </p:sp>
      <p:sp>
        <p:nvSpPr>
          <p:cNvPr id="32" name="TextBox 31"/>
          <p:cNvSpPr txBox="1"/>
          <p:nvPr/>
        </p:nvSpPr>
        <p:spPr>
          <a:xfrm>
            <a:off x="1097280" y="3575304"/>
            <a:ext cx="4892040" cy="182880"/>
          </a:xfrm>
          <a:prstGeom prst="rect">
            <a:avLst/>
          </a:prstGeom>
          <a:noFill/>
        </p:spPr>
        <p:txBody>
          <a:bodyPr wrap="square" anchor="t">
            <a:spAutoFit/>
          </a:bodyPr>
          <a:lstStyle/>
          <a:p>
            <a:pPr algn="l"/>
            <a:r>
              <a:rPr sz="1100" b="1">
                <a:solidFill>
                  <a:srgbClr val="041E42"/>
                </a:solidFill>
              </a:rPr>
              <a:t>Post Explorer</a:t>
            </a:r>
          </a:p>
        </p:txBody>
      </p:sp>
      <p:sp>
        <p:nvSpPr>
          <p:cNvPr id="33" name="TextBox 32"/>
          <p:cNvSpPr txBox="1"/>
          <p:nvPr/>
        </p:nvSpPr>
        <p:spPr>
          <a:xfrm>
            <a:off x="1097280" y="3730752"/>
            <a:ext cx="4892040" cy="182880"/>
          </a:xfrm>
          <a:prstGeom prst="rect">
            <a:avLst/>
          </a:prstGeom>
          <a:noFill/>
        </p:spPr>
        <p:txBody>
          <a:bodyPr wrap="square" anchor="t">
            <a:spAutoFit/>
          </a:bodyPr>
          <a:lstStyle/>
          <a:p>
            <a:pPr algn="l"/>
            <a:r>
              <a:rPr sz="900" b="0">
                <a:solidFill>
                  <a:srgbClr val="666666"/>
                </a:solidFill>
              </a:rPr>
              <a:t>Multi-facet search across analysed posts</a:t>
            </a:r>
          </a:p>
        </p:txBody>
      </p:sp>
      <p:sp>
        <p:nvSpPr>
          <p:cNvPr id="34" name="Rectangle 33"/>
          <p:cNvSpPr/>
          <p:nvPr/>
        </p:nvSpPr>
        <p:spPr>
          <a:xfrm>
            <a:off x="457200" y="3986784"/>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032504"/>
            <a:ext cx="502920" cy="256032"/>
          </a:xfrm>
          <a:prstGeom prst="rect">
            <a:avLst/>
          </a:prstGeom>
          <a:noFill/>
        </p:spPr>
        <p:txBody>
          <a:bodyPr wrap="square" anchor="t">
            <a:spAutoFit/>
          </a:bodyPr>
          <a:lstStyle/>
          <a:p>
            <a:pPr algn="l"/>
            <a:r>
              <a:rPr sz="1200" b="1">
                <a:solidFill>
                  <a:srgbClr val="0071DC"/>
                </a:solidFill>
              </a:rPr>
              <a:t>8</a:t>
            </a:r>
          </a:p>
        </p:txBody>
      </p:sp>
      <p:sp>
        <p:nvSpPr>
          <p:cNvPr id="36" name="TextBox 35"/>
          <p:cNvSpPr txBox="1"/>
          <p:nvPr/>
        </p:nvSpPr>
        <p:spPr>
          <a:xfrm>
            <a:off x="1097280" y="4014216"/>
            <a:ext cx="4892040" cy="182880"/>
          </a:xfrm>
          <a:prstGeom prst="rect">
            <a:avLst/>
          </a:prstGeom>
          <a:noFill/>
        </p:spPr>
        <p:txBody>
          <a:bodyPr wrap="square" anchor="t">
            <a:spAutoFit/>
          </a:bodyPr>
          <a:lstStyle/>
          <a:p>
            <a:pPr algn="l"/>
            <a:r>
              <a:rPr sz="1100" b="1">
                <a:solidFill>
                  <a:srgbClr val="041E42"/>
                </a:solidFill>
              </a:rPr>
              <a:t>Post Lifecycle  (Kanban)</a:t>
            </a:r>
          </a:p>
        </p:txBody>
      </p:sp>
      <p:sp>
        <p:nvSpPr>
          <p:cNvPr id="37" name="TextBox 36"/>
          <p:cNvSpPr txBox="1"/>
          <p:nvPr/>
        </p:nvSpPr>
        <p:spPr>
          <a:xfrm>
            <a:off x="1097280" y="4169664"/>
            <a:ext cx="4892040" cy="182880"/>
          </a:xfrm>
          <a:prstGeom prst="rect">
            <a:avLst/>
          </a:prstGeom>
          <a:noFill/>
        </p:spPr>
        <p:txBody>
          <a:bodyPr wrap="square" anchor="t">
            <a:spAutoFit/>
          </a:bodyPr>
          <a:lstStyle/>
          <a:p>
            <a:pPr algn="l"/>
            <a:r>
              <a:rPr sz="900" b="0">
                <a:solidFill>
                  <a:srgbClr val="666666"/>
                </a:solidFill>
              </a:rPr>
              <a:t>Triage → Acknowledged → In-Progress → Resolved</a:t>
            </a:r>
          </a:p>
        </p:txBody>
      </p:sp>
      <p:sp>
        <p:nvSpPr>
          <p:cNvPr id="38" name="Rectangle 37"/>
          <p:cNvSpPr/>
          <p:nvPr/>
        </p:nvSpPr>
        <p:spPr>
          <a:xfrm>
            <a:off x="6217920" y="914400"/>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02920" cy="256032"/>
          </a:xfrm>
          <a:prstGeom prst="rect">
            <a:avLst/>
          </a:prstGeom>
          <a:noFill/>
        </p:spPr>
        <p:txBody>
          <a:bodyPr wrap="square" anchor="t">
            <a:spAutoFit/>
          </a:bodyPr>
          <a:lstStyle/>
          <a:p>
            <a:pPr algn="l"/>
            <a:r>
              <a:rPr sz="1200" b="1">
                <a:solidFill>
                  <a:srgbClr val="0071DC"/>
                </a:solidFill>
              </a:rPr>
              <a:t>9</a:t>
            </a:r>
          </a:p>
        </p:txBody>
      </p:sp>
      <p:sp>
        <p:nvSpPr>
          <p:cNvPr id="40" name="TextBox 39"/>
          <p:cNvSpPr txBox="1"/>
          <p:nvPr/>
        </p:nvSpPr>
        <p:spPr>
          <a:xfrm>
            <a:off x="6858000" y="941832"/>
            <a:ext cx="4892040" cy="182880"/>
          </a:xfrm>
          <a:prstGeom prst="rect">
            <a:avLst/>
          </a:prstGeom>
          <a:noFill/>
        </p:spPr>
        <p:txBody>
          <a:bodyPr wrap="square" anchor="t">
            <a:spAutoFit/>
          </a:bodyPr>
          <a:lstStyle/>
          <a:p>
            <a:pPr algn="l"/>
            <a:r>
              <a:rPr sz="1100" b="1">
                <a:solidFill>
                  <a:srgbClr val="041E42"/>
                </a:solidFill>
              </a:rPr>
              <a:t>Insights &amp; Competitor Analysis</a:t>
            </a:r>
          </a:p>
        </p:txBody>
      </p:sp>
      <p:sp>
        <p:nvSpPr>
          <p:cNvPr id="41" name="TextBox 40"/>
          <p:cNvSpPr txBox="1"/>
          <p:nvPr/>
        </p:nvSpPr>
        <p:spPr>
          <a:xfrm>
            <a:off x="6858000" y="1097280"/>
            <a:ext cx="4892040" cy="182880"/>
          </a:xfrm>
          <a:prstGeom prst="rect">
            <a:avLst/>
          </a:prstGeom>
          <a:noFill/>
        </p:spPr>
        <p:txBody>
          <a:bodyPr wrap="square" anchor="t">
            <a:spAutoFit/>
          </a:bodyPr>
          <a:lstStyle/>
          <a:p>
            <a:pPr algn="l"/>
            <a:r>
              <a:rPr sz="900" b="0">
                <a:solidFill>
                  <a:srgbClr val="666666"/>
                </a:solidFill>
              </a:rPr>
              <a:t>Strategic weekly summaries + cross-brand</a:t>
            </a:r>
          </a:p>
        </p:txBody>
      </p:sp>
      <p:sp>
        <p:nvSpPr>
          <p:cNvPr id="42" name="Rectangle 41"/>
          <p:cNvSpPr/>
          <p:nvPr/>
        </p:nvSpPr>
        <p:spPr>
          <a:xfrm>
            <a:off x="6217920" y="1353312"/>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399032"/>
            <a:ext cx="502920" cy="256032"/>
          </a:xfrm>
          <a:prstGeom prst="rect">
            <a:avLst/>
          </a:prstGeom>
          <a:noFill/>
        </p:spPr>
        <p:txBody>
          <a:bodyPr wrap="square" anchor="t">
            <a:spAutoFit/>
          </a:bodyPr>
          <a:lstStyle/>
          <a:p>
            <a:pPr algn="l"/>
            <a:r>
              <a:rPr sz="1200" b="1">
                <a:solidFill>
                  <a:srgbClr val="0071DC"/>
                </a:solidFill>
              </a:rPr>
              <a:t>10</a:t>
            </a:r>
          </a:p>
        </p:txBody>
      </p:sp>
      <p:sp>
        <p:nvSpPr>
          <p:cNvPr id="44" name="TextBox 43"/>
          <p:cNvSpPr txBox="1"/>
          <p:nvPr/>
        </p:nvSpPr>
        <p:spPr>
          <a:xfrm>
            <a:off x="6858000" y="1380744"/>
            <a:ext cx="4892040" cy="182880"/>
          </a:xfrm>
          <a:prstGeom prst="rect">
            <a:avLst/>
          </a:prstGeom>
          <a:noFill/>
        </p:spPr>
        <p:txBody>
          <a:bodyPr wrap="square" anchor="t">
            <a:spAutoFit/>
          </a:bodyPr>
          <a:lstStyle/>
          <a:p>
            <a:pPr algn="l"/>
            <a:r>
              <a:rPr sz="1100" b="1">
                <a:solidFill>
                  <a:srgbClr val="041E42"/>
                </a:solidFill>
              </a:rPr>
              <a:t>Notification Centre</a:t>
            </a:r>
          </a:p>
        </p:txBody>
      </p:sp>
      <p:sp>
        <p:nvSpPr>
          <p:cNvPr id="45" name="TextBox 44"/>
          <p:cNvSpPr txBox="1"/>
          <p:nvPr/>
        </p:nvSpPr>
        <p:spPr>
          <a:xfrm>
            <a:off x="6858000" y="1536192"/>
            <a:ext cx="4892040" cy="182880"/>
          </a:xfrm>
          <a:prstGeom prst="rect">
            <a:avLst/>
          </a:prstGeom>
          <a:noFill/>
        </p:spPr>
        <p:txBody>
          <a:bodyPr wrap="square" anchor="t">
            <a:spAutoFit/>
          </a:bodyPr>
          <a:lstStyle/>
          <a:p>
            <a:pPr algn="l"/>
            <a:r>
              <a:rPr sz="900" b="0">
                <a:solidFill>
                  <a:srgbClr val="666666"/>
                </a:solidFill>
              </a:rPr>
              <a:t>In-app + email + Slack, group-routed</a:t>
            </a:r>
          </a:p>
        </p:txBody>
      </p:sp>
      <p:sp>
        <p:nvSpPr>
          <p:cNvPr id="46" name="Rectangle 45"/>
          <p:cNvSpPr/>
          <p:nvPr/>
        </p:nvSpPr>
        <p:spPr>
          <a:xfrm>
            <a:off x="6217920" y="1792224"/>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1837944"/>
            <a:ext cx="502920" cy="256032"/>
          </a:xfrm>
          <a:prstGeom prst="rect">
            <a:avLst/>
          </a:prstGeom>
          <a:noFill/>
        </p:spPr>
        <p:txBody>
          <a:bodyPr wrap="square" anchor="t">
            <a:spAutoFit/>
          </a:bodyPr>
          <a:lstStyle/>
          <a:p>
            <a:pPr algn="l"/>
            <a:r>
              <a:rPr sz="1200" b="1">
                <a:solidFill>
                  <a:srgbClr val="0071DC"/>
                </a:solidFill>
              </a:rPr>
              <a:t>11</a:t>
            </a:r>
          </a:p>
        </p:txBody>
      </p:sp>
      <p:sp>
        <p:nvSpPr>
          <p:cNvPr id="48" name="TextBox 47"/>
          <p:cNvSpPr txBox="1"/>
          <p:nvPr/>
        </p:nvSpPr>
        <p:spPr>
          <a:xfrm>
            <a:off x="6858000" y="1819656"/>
            <a:ext cx="4892040" cy="182880"/>
          </a:xfrm>
          <a:prstGeom prst="rect">
            <a:avLst/>
          </a:prstGeom>
          <a:noFill/>
        </p:spPr>
        <p:txBody>
          <a:bodyPr wrap="square" anchor="t">
            <a:spAutoFit/>
          </a:bodyPr>
          <a:lstStyle/>
          <a:p>
            <a:pPr algn="l"/>
            <a:r>
              <a:rPr sz="1100" b="1">
                <a:solidFill>
                  <a:srgbClr val="041E42"/>
                </a:solidFill>
              </a:rPr>
              <a:t>ModernBERT — Final Results</a:t>
            </a:r>
          </a:p>
        </p:txBody>
      </p:sp>
      <p:sp>
        <p:nvSpPr>
          <p:cNvPr id="49" name="TextBox 48"/>
          <p:cNvSpPr txBox="1"/>
          <p:nvPr/>
        </p:nvSpPr>
        <p:spPr>
          <a:xfrm>
            <a:off x="6858000" y="1975104"/>
            <a:ext cx="4892040" cy="182880"/>
          </a:xfrm>
          <a:prstGeom prst="rect">
            <a:avLst/>
          </a:prstGeom>
          <a:noFill/>
        </p:spPr>
        <p:txBody>
          <a:bodyPr wrap="square" anchor="t">
            <a:spAutoFit/>
          </a:bodyPr>
          <a:lstStyle/>
          <a:p>
            <a:pPr algn="l"/>
            <a:r>
              <a:rPr sz="900" b="0">
                <a:solidFill>
                  <a:srgbClr val="666666"/>
                </a:solidFill>
              </a:rPr>
              <a:t>Macro-F1  0.6272 → 0.7642  (+13.7 pts)</a:t>
            </a:r>
          </a:p>
        </p:txBody>
      </p:sp>
      <p:sp>
        <p:nvSpPr>
          <p:cNvPr id="50" name="Rectangle 49"/>
          <p:cNvSpPr/>
          <p:nvPr/>
        </p:nvSpPr>
        <p:spPr>
          <a:xfrm>
            <a:off x="6217920" y="2231136"/>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276856"/>
            <a:ext cx="502920" cy="256032"/>
          </a:xfrm>
          <a:prstGeom prst="rect">
            <a:avLst/>
          </a:prstGeom>
          <a:noFill/>
        </p:spPr>
        <p:txBody>
          <a:bodyPr wrap="square" anchor="t">
            <a:spAutoFit/>
          </a:bodyPr>
          <a:lstStyle/>
          <a:p>
            <a:pPr algn="l"/>
            <a:r>
              <a:rPr sz="1200" b="1">
                <a:solidFill>
                  <a:srgbClr val="0071DC"/>
                </a:solidFill>
              </a:rPr>
              <a:t>12</a:t>
            </a:r>
          </a:p>
        </p:txBody>
      </p:sp>
      <p:sp>
        <p:nvSpPr>
          <p:cNvPr id="52" name="TextBox 51"/>
          <p:cNvSpPr txBox="1"/>
          <p:nvPr/>
        </p:nvSpPr>
        <p:spPr>
          <a:xfrm>
            <a:off x="6858000" y="2258568"/>
            <a:ext cx="4892040" cy="182880"/>
          </a:xfrm>
          <a:prstGeom prst="rect">
            <a:avLst/>
          </a:prstGeom>
          <a:noFill/>
        </p:spPr>
        <p:txBody>
          <a:bodyPr wrap="square" anchor="t">
            <a:spAutoFit/>
          </a:bodyPr>
          <a:lstStyle/>
          <a:p>
            <a:pPr algn="l"/>
            <a:r>
              <a:rPr sz="1100" b="1">
                <a:solidFill>
                  <a:srgbClr val="041E42"/>
                </a:solidFill>
              </a:rPr>
              <a:t>Vision — Multi-Pass Payoff</a:t>
            </a:r>
          </a:p>
        </p:txBody>
      </p:sp>
      <p:sp>
        <p:nvSpPr>
          <p:cNvPr id="53" name="TextBox 52"/>
          <p:cNvSpPr txBox="1"/>
          <p:nvPr/>
        </p:nvSpPr>
        <p:spPr>
          <a:xfrm>
            <a:off x="6858000" y="2414016"/>
            <a:ext cx="4892040" cy="182880"/>
          </a:xfrm>
          <a:prstGeom prst="rect">
            <a:avLst/>
          </a:prstGeom>
          <a:noFill/>
        </p:spPr>
        <p:txBody>
          <a:bodyPr wrap="square" anchor="t">
            <a:spAutoFit/>
          </a:bodyPr>
          <a:lstStyle/>
          <a:p>
            <a:pPr algn="l"/>
            <a:r>
              <a:rPr sz="900" b="0">
                <a:solidFill>
                  <a:srgbClr val="666666"/>
                </a:solidFill>
              </a:rPr>
              <a:t>Hallucination  50% → 0%,  extraction 25% → 75%</a:t>
            </a:r>
          </a:p>
        </p:txBody>
      </p:sp>
      <p:sp>
        <p:nvSpPr>
          <p:cNvPr id="54" name="Rectangle 53"/>
          <p:cNvSpPr/>
          <p:nvPr/>
        </p:nvSpPr>
        <p:spPr>
          <a:xfrm>
            <a:off x="6217920" y="2670048"/>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2715768"/>
            <a:ext cx="502920" cy="256032"/>
          </a:xfrm>
          <a:prstGeom prst="rect">
            <a:avLst/>
          </a:prstGeom>
          <a:noFill/>
        </p:spPr>
        <p:txBody>
          <a:bodyPr wrap="square" anchor="t">
            <a:spAutoFit/>
          </a:bodyPr>
          <a:lstStyle/>
          <a:p>
            <a:pPr algn="l"/>
            <a:r>
              <a:rPr sz="1200" b="1">
                <a:solidFill>
                  <a:srgbClr val="0071DC"/>
                </a:solidFill>
              </a:rPr>
              <a:t>13</a:t>
            </a:r>
          </a:p>
        </p:txBody>
      </p:sp>
      <p:sp>
        <p:nvSpPr>
          <p:cNvPr id="56" name="TextBox 55"/>
          <p:cNvSpPr txBox="1"/>
          <p:nvPr/>
        </p:nvSpPr>
        <p:spPr>
          <a:xfrm>
            <a:off x="6858000" y="2697480"/>
            <a:ext cx="4892040" cy="182880"/>
          </a:xfrm>
          <a:prstGeom prst="rect">
            <a:avLst/>
          </a:prstGeom>
          <a:noFill/>
        </p:spPr>
        <p:txBody>
          <a:bodyPr wrap="square" anchor="t">
            <a:spAutoFit/>
          </a:bodyPr>
          <a:lstStyle/>
          <a:p>
            <a:pPr algn="l"/>
            <a:r>
              <a:rPr sz="1100" b="1">
                <a:solidFill>
                  <a:srgbClr val="041E42"/>
                </a:solidFill>
              </a:rPr>
              <a:t>Trust-Score Evaluation</a:t>
            </a:r>
          </a:p>
        </p:txBody>
      </p:sp>
      <p:sp>
        <p:nvSpPr>
          <p:cNvPr id="57" name="TextBox 56"/>
          <p:cNvSpPr txBox="1"/>
          <p:nvPr/>
        </p:nvSpPr>
        <p:spPr>
          <a:xfrm>
            <a:off x="6858000" y="2852928"/>
            <a:ext cx="4892040" cy="182880"/>
          </a:xfrm>
          <a:prstGeom prst="rect">
            <a:avLst/>
          </a:prstGeom>
          <a:noFill/>
        </p:spPr>
        <p:txBody>
          <a:bodyPr wrap="square" anchor="t">
            <a:spAutoFit/>
          </a:bodyPr>
          <a:lstStyle/>
          <a:p>
            <a:pPr algn="l"/>
            <a:r>
              <a:rPr sz="900" b="0">
                <a:solidFill>
                  <a:srgbClr val="666666"/>
                </a:solidFill>
              </a:rPr>
              <a:t>15% flagged; 12 of 15 confirmed by annotator</a:t>
            </a:r>
          </a:p>
        </p:txBody>
      </p:sp>
      <p:sp>
        <p:nvSpPr>
          <p:cNvPr id="58" name="Rectangle 57"/>
          <p:cNvSpPr/>
          <p:nvPr/>
        </p:nvSpPr>
        <p:spPr>
          <a:xfrm>
            <a:off x="6217920" y="3108960"/>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3154680"/>
            <a:ext cx="502920" cy="256032"/>
          </a:xfrm>
          <a:prstGeom prst="rect">
            <a:avLst/>
          </a:prstGeom>
          <a:noFill/>
        </p:spPr>
        <p:txBody>
          <a:bodyPr wrap="square" anchor="t">
            <a:spAutoFit/>
          </a:bodyPr>
          <a:lstStyle/>
          <a:p>
            <a:pPr algn="l"/>
            <a:r>
              <a:rPr sz="1200" b="1">
                <a:solidFill>
                  <a:srgbClr val="0071DC"/>
                </a:solidFill>
              </a:rPr>
              <a:t>14</a:t>
            </a:r>
          </a:p>
        </p:txBody>
      </p:sp>
      <p:sp>
        <p:nvSpPr>
          <p:cNvPr id="60" name="TextBox 59"/>
          <p:cNvSpPr txBox="1"/>
          <p:nvPr/>
        </p:nvSpPr>
        <p:spPr>
          <a:xfrm>
            <a:off x="6858000" y="3136392"/>
            <a:ext cx="4892040" cy="182880"/>
          </a:xfrm>
          <a:prstGeom prst="rect">
            <a:avLst/>
          </a:prstGeom>
          <a:noFill/>
        </p:spPr>
        <p:txBody>
          <a:bodyPr wrap="square" anchor="t">
            <a:spAutoFit/>
          </a:bodyPr>
          <a:lstStyle/>
          <a:p>
            <a:pPr algn="l"/>
            <a:r>
              <a:rPr sz="1100" b="1">
                <a:solidFill>
                  <a:srgbClr val="041E42"/>
                </a:solidFill>
              </a:rPr>
              <a:t>Live Demo</a:t>
            </a:r>
          </a:p>
        </p:txBody>
      </p:sp>
      <p:sp>
        <p:nvSpPr>
          <p:cNvPr id="61" name="TextBox 60"/>
          <p:cNvSpPr txBox="1"/>
          <p:nvPr/>
        </p:nvSpPr>
        <p:spPr>
          <a:xfrm>
            <a:off x="6858000" y="3291840"/>
            <a:ext cx="4892040" cy="182880"/>
          </a:xfrm>
          <a:prstGeom prst="rect">
            <a:avLst/>
          </a:prstGeom>
          <a:noFill/>
        </p:spPr>
        <p:txBody>
          <a:bodyPr wrap="square" anchor="t">
            <a:spAutoFit/>
          </a:bodyPr>
          <a:lstStyle/>
          <a:p>
            <a:pPr algn="l"/>
            <a:r>
              <a:rPr sz="900" b="0">
                <a:solidFill>
                  <a:srgbClr val="666666"/>
                </a:solidFill>
              </a:rPr>
              <a:t>Dashboard walkthrough (screenshots)</a:t>
            </a:r>
          </a:p>
        </p:txBody>
      </p:sp>
      <p:sp>
        <p:nvSpPr>
          <p:cNvPr id="62" name="Rectangle 61"/>
          <p:cNvSpPr/>
          <p:nvPr/>
        </p:nvSpPr>
        <p:spPr>
          <a:xfrm>
            <a:off x="6217920" y="3547872"/>
            <a:ext cx="5623560" cy="347472"/>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3593592"/>
            <a:ext cx="502920" cy="256032"/>
          </a:xfrm>
          <a:prstGeom prst="rect">
            <a:avLst/>
          </a:prstGeom>
          <a:noFill/>
        </p:spPr>
        <p:txBody>
          <a:bodyPr wrap="square" anchor="t">
            <a:spAutoFit/>
          </a:bodyPr>
          <a:lstStyle/>
          <a:p>
            <a:pPr algn="l"/>
            <a:r>
              <a:rPr sz="1200" b="1">
                <a:solidFill>
                  <a:srgbClr val="0071DC"/>
                </a:solidFill>
              </a:rPr>
              <a:t>15</a:t>
            </a:r>
          </a:p>
        </p:txBody>
      </p:sp>
      <p:sp>
        <p:nvSpPr>
          <p:cNvPr id="64" name="TextBox 63"/>
          <p:cNvSpPr txBox="1"/>
          <p:nvPr/>
        </p:nvSpPr>
        <p:spPr>
          <a:xfrm>
            <a:off x="6858000" y="3575304"/>
            <a:ext cx="4892040" cy="182880"/>
          </a:xfrm>
          <a:prstGeom prst="rect">
            <a:avLst/>
          </a:prstGeom>
          <a:noFill/>
        </p:spPr>
        <p:txBody>
          <a:bodyPr wrap="square" anchor="t">
            <a:spAutoFit/>
          </a:bodyPr>
          <a:lstStyle/>
          <a:p>
            <a:pPr algn="l"/>
            <a:r>
              <a:rPr sz="1100" b="1">
                <a:solidFill>
                  <a:srgbClr val="041E42"/>
                </a:solidFill>
              </a:rPr>
              <a:t>Conclusions &amp; Future Work</a:t>
            </a:r>
          </a:p>
        </p:txBody>
      </p:sp>
      <p:sp>
        <p:nvSpPr>
          <p:cNvPr id="65" name="TextBox 64"/>
          <p:cNvSpPr txBox="1"/>
          <p:nvPr/>
        </p:nvSpPr>
        <p:spPr>
          <a:xfrm>
            <a:off x="6858000" y="3730752"/>
            <a:ext cx="4892040" cy="182880"/>
          </a:xfrm>
          <a:prstGeom prst="rect">
            <a:avLst/>
          </a:prstGeom>
          <a:noFill/>
        </p:spPr>
        <p:txBody>
          <a:bodyPr wrap="square" anchor="t">
            <a:spAutoFit/>
          </a:bodyPr>
          <a:lstStyle/>
          <a:p>
            <a:pPr algn="l"/>
            <a:r>
              <a:rPr sz="900" b="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D97706"/>
                </a:solidFill>
              </a:rPr>
              <a:t>Delivered at mid-sem</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6-layer offline-first pipeline (25 subreddits)</a:t>
            </a:r>
          </a:p>
          <a:p>
            <a:pPr>
              <a:spcAft>
                <a:spcPts val="400"/>
              </a:spcAft>
            </a:pPr>
            <a:r>
              <a:rPr sz="1200" b="0">
                <a:solidFill>
                  <a:srgbClr val="333333"/>
                </a:solidFill>
              </a:rPr>
              <a:t>•  ModernBERT fine-tuning up to Stage 2  (F1 0.7285)</a:t>
            </a:r>
          </a:p>
          <a:p>
            <a:pPr>
              <a:spcAft>
                <a:spcPts val="400"/>
              </a:spcAft>
            </a:pPr>
            <a:r>
              <a:rPr sz="1200" b="0">
                <a:solidFill>
                  <a:srgbClr val="333333"/>
                </a:solidFill>
              </a:rPr>
              <a:t>•  Multi-pass vision with 0% hallucination on pilot</a:t>
            </a:r>
          </a:p>
          <a:p>
            <a:pPr>
              <a:spcAft>
                <a:spcPts val="400"/>
              </a:spcAft>
            </a:pPr>
            <a:r>
              <a:rPr sz="1200" b="0">
                <a:solidFill>
                  <a:srgbClr val="333333"/>
                </a:solidFill>
              </a:rPr>
              <a:t>•  Trust-score design + weighted formula</a:t>
            </a:r>
          </a:p>
          <a:p>
            <a:pPr>
              <a:spcAft>
                <a:spcPts val="400"/>
              </a:spcAft>
            </a:pPr>
            <a:r>
              <a:rPr sz="1200" b="0">
                <a:solidFill>
                  <a:srgbClr val="333333"/>
                </a:solidFill>
              </a:rPr>
              <a:t>•  Brand-Health + Alert Feed dashboard pages</a:t>
            </a:r>
          </a:p>
          <a:p>
            <a:pPr>
              <a:spcAft>
                <a:spcPts val="400"/>
              </a:spcAft>
            </a:pPr>
            <a:r>
              <a:rPr sz="1200" b="0">
                <a:solidFill>
                  <a:srgbClr val="333333"/>
                </a:solidFill>
              </a:rPr>
              <a:t>•  Group-routed email / Slack notifications</a:t>
            </a:r>
          </a:p>
        </p:txBody>
      </p:sp>
      <p:sp>
        <p:nvSpPr>
          <p:cNvPr id="8" name="TextBox 7"/>
          <p:cNvSpPr txBox="1"/>
          <p:nvPr/>
        </p:nvSpPr>
        <p:spPr>
          <a:xfrm>
            <a:off x="6263640" y="960120"/>
            <a:ext cx="5486400" cy="320040"/>
          </a:xfrm>
          <a:prstGeom prst="rect">
            <a:avLst/>
          </a:prstGeom>
          <a:noFill/>
        </p:spPr>
        <p:txBody>
          <a:bodyPr wrap="square" anchor="t">
            <a:spAutoFit/>
          </a:bodyPr>
          <a:lstStyle/>
          <a:p>
            <a:pPr algn="l"/>
            <a:r>
              <a:rPr sz="1300" b="1">
                <a:solidFill>
                  <a:srgbClr val="10B981"/>
                </a:solidFill>
              </a:rPr>
              <a:t>Added post-midsem  (this deck)</a:t>
            </a:r>
          </a:p>
        </p:txBody>
      </p:sp>
      <p:sp>
        <p:nvSpPr>
          <p:cNvPr id="9" name="TextBox 8"/>
          <p:cNvSpPr txBox="1"/>
          <p:nvPr/>
        </p:nvSpPr>
        <p:spPr>
          <a:xfrm>
            <a:off x="6263640" y="1280160"/>
            <a:ext cx="5486400" cy="347472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dual-draft (rule + FLAN-T5)</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F1 0.7285 → 0.7642</a:t>
            </a:r>
          </a:p>
          <a:p>
            <a:pPr>
              <a:spcAft>
                <a:spcPts val="400"/>
              </a:spcAft>
            </a:pPr>
            <a:r>
              <a:rPr sz="1200" b="0">
                <a:solidFill>
                  <a:srgbClr val="333333"/>
                </a:solidFill>
              </a:rPr>
              <a:t>•  Trust-score end-to-end evaluation (n = 200)</a:t>
            </a:r>
          </a:p>
          <a:p>
            <a:pPr>
              <a:spcAft>
                <a:spcPts val="400"/>
              </a:spcAft>
            </a:pPr>
            <a:r>
              <a:rPr sz="1200" b="0">
                <a:solidFill>
                  <a:srgbClr val="333333"/>
                </a:solidFill>
              </a:rPr>
              <a:t>•  SQLite schema mirroring Cosmos DB partitioning</a:t>
            </a:r>
          </a:p>
        </p:txBody>
      </p:sp>
      <p:sp>
        <p:nvSpPr>
          <p:cNvPr id="10" name="Rectangle 9"/>
          <p:cNvSpPr/>
          <p:nvPr/>
        </p:nvSpPr>
        <p:spPr>
          <a:xfrm>
            <a:off x="457200" y="507492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212080"/>
            <a:ext cx="10972800" cy="365760"/>
          </a:xfrm>
          <a:prstGeom prst="rect">
            <a:avLst/>
          </a:prstGeom>
          <a:noFill/>
        </p:spPr>
        <p:txBody>
          <a:bodyPr wrap="square" anchor="t">
            <a:spAutoFit/>
          </a:bodyPr>
          <a:lstStyle/>
          <a:p>
            <a:pPr algn="l"/>
            <a:r>
              <a:rPr sz="1300" b="1">
                <a:solidFill>
                  <a:srgbClr val="0071DC"/>
                </a:solidFill>
              </a:rPr>
              <a:t>Framing</a:t>
            </a:r>
          </a:p>
        </p:txBody>
      </p:sp>
      <p:sp>
        <p:nvSpPr>
          <p:cNvPr id="12" name="TextBox 11"/>
          <p:cNvSpPr txBox="1"/>
          <p:nvPr/>
        </p:nvSpPr>
        <p:spPr>
          <a:xfrm>
            <a:off x="640080" y="5577840"/>
            <a:ext cx="10972800" cy="731520"/>
          </a:xfrm>
          <a:prstGeom prst="rect">
            <a:avLst/>
          </a:prstGeom>
          <a:noFill/>
        </p:spPr>
        <p:txBody>
          <a:bodyPr wrap="square" anchor="t">
            <a:spAutoFit/>
          </a:bodyPr>
          <a:lstStyle/>
          <a:p>
            <a:pPr algn="l"/>
            <a:r>
              <a:rPr sz="1200" b="0">
                <a:solidFill>
                  <a:srgbClr val="333333"/>
                </a:solidFill>
              </a:rPr>
              <a:t>Mid-sem answered can the pipeline produce trust-weighted sentiment?    Post-midsem answers can an analyst act on it, correct it, and feed the corrections back into the model?</a:t>
            </a:r>
          </a:p>
        </p:txBody>
      </p:sp>
      <p:sp>
        <p:nvSpPr>
          <p:cNvPr id="13" name="TextBox 1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4" name="TextBox 1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256032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two reply options  (rule + LLM)</a:t>
            </a:r>
          </a:p>
          <a:p>
            <a:pPr>
              <a:spcAft>
                <a:spcPts val="400"/>
              </a:spcAft>
            </a:pPr>
            <a:r>
              <a:rPr sz="1200" b="0">
                <a:solidFill>
                  <a:srgbClr val="333333"/>
                </a:solidFill>
              </a:rPr>
              <a:t>•  Analyst picks A or B, edits, and posts to Reddit</a:t>
            </a:r>
          </a:p>
          <a:p>
            <a:pPr>
              <a:spcAft>
                <a:spcPts val="400"/>
              </a:spcAft>
            </a:pPr>
            <a:r>
              <a:rPr sz="1200" b="0">
                <a:solidFill>
                  <a:srgbClr val="333333"/>
                </a:solidFill>
              </a:rPr>
              <a:t>•  Posted replies also captured  →  future few-shot pool</a:t>
            </a:r>
          </a:p>
        </p:txBody>
      </p:sp>
      <p:pic>
        <p:nvPicPr>
          <p:cNvPr id="7" name="Picture 6" descr="review_validate.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5212080"/>
            <a:ext cx="5486400" cy="109728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349240"/>
            <a:ext cx="5120640" cy="320040"/>
          </a:xfrm>
          <a:prstGeom prst="rect">
            <a:avLst/>
          </a:prstGeom>
          <a:noFill/>
        </p:spPr>
        <p:txBody>
          <a:bodyPr wrap="square" anchor="t">
            <a:spAutoFit/>
          </a:bodyPr>
          <a:lstStyle/>
          <a:p>
            <a:pPr algn="l"/>
            <a:r>
              <a:rPr sz="1200" b="1">
                <a:solidFill>
                  <a:srgbClr val="10B981"/>
                </a:solidFill>
              </a:rPr>
              <a:t>Why it matters</a:t>
            </a:r>
          </a:p>
        </p:txBody>
      </p:sp>
      <p:sp>
        <p:nvSpPr>
          <p:cNvPr id="10" name="TextBox 9"/>
          <p:cNvSpPr txBox="1"/>
          <p:nvPr/>
        </p:nvSpPr>
        <p:spPr>
          <a:xfrm>
            <a:off x="640080" y="5669280"/>
            <a:ext cx="5120640" cy="640080"/>
          </a:xfrm>
          <a:prstGeom prst="rect">
            <a:avLst/>
          </a:prstGeom>
          <a:noFill/>
        </p:spPr>
        <p:txBody>
          <a:bodyPr wrap="square" anchor="t">
            <a:spAutoFit/>
          </a:bodyPr>
          <a:lstStyle/>
          <a:p>
            <a:pPr algn="l"/>
            <a:r>
              <a:rPr sz="1100" b="0">
                <a:solidFill>
                  <a:srgbClr val="333333"/>
                </a:solidFill>
              </a:rPr>
              <a:t>Turns a passive dashboard into a training signal — corrections harvested here drive the ModernBERT re-training loop and reply few-shot pool.</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a:solidFill>
                  <a:srgbClr val="FFFFFF"/>
                </a:solidFill>
              </a:rPr>
              <a:t>Draft A</a:t>
            </a:r>
          </a:p>
        </p:txBody>
      </p:sp>
      <p:sp>
        <p:nvSpPr>
          <p:cNvPr id="9" name="TextBox 8"/>
          <p:cNvSpPr txBox="1"/>
          <p:nvPr/>
        </p:nvSpPr>
        <p:spPr>
          <a:xfrm>
            <a:off x="365760" y="1508760"/>
            <a:ext cx="3794760" cy="365760"/>
          </a:xfrm>
          <a:prstGeom prst="rect">
            <a:avLst/>
          </a:prstGeom>
          <a:noFill/>
        </p:spPr>
        <p:txBody>
          <a:bodyPr wrap="square" anchor="t">
            <a:spAutoFit/>
          </a:bodyPr>
          <a:lstStyle/>
          <a:p>
            <a:pPr algn="ctr"/>
            <a:r>
              <a:rPr sz="1600" b="1">
                <a:solidFill>
                  <a:srgbClr val="041E42"/>
                </a:solidFill>
              </a:rPr>
              <a:t>GPT-4o</a:t>
            </a:r>
          </a:p>
        </p:txBody>
      </p:sp>
      <p:sp>
        <p:nvSpPr>
          <p:cNvPr id="10" name="TextBox 9"/>
          <p:cNvSpPr txBox="1"/>
          <p:nvPr/>
        </p:nvSpPr>
        <p:spPr>
          <a:xfrm>
            <a:off x="365760" y="1920240"/>
            <a:ext cx="3794760" cy="320040"/>
          </a:xfrm>
          <a:prstGeom prst="rect">
            <a:avLst/>
          </a:prstGeom>
          <a:noFill/>
        </p:spPr>
        <p:txBody>
          <a:bodyPr wrap="square" anchor="t">
            <a:spAutoFit/>
          </a:bodyPr>
          <a:lstStyle/>
          <a:p>
            <a:pPr algn="ctr"/>
            <a:r>
              <a:rPr sz="1000" b="0">
                <a:solidFill>
                  <a:srgbClr val="666666"/>
                </a:solidFill>
              </a:rPr>
              <a:t>Walmart LLM Gateway</a:t>
            </a:r>
          </a:p>
        </p:txBody>
      </p:sp>
      <p:sp>
        <p:nvSpPr>
          <p:cNvPr id="11" name="TextBox 10"/>
          <p:cNvSpPr txBox="1"/>
          <p:nvPr/>
        </p:nvSpPr>
        <p:spPr>
          <a:xfrm>
            <a:off x="548640" y="2331720"/>
            <a:ext cx="3429000" cy="1645920"/>
          </a:xfrm>
          <a:prstGeom prst="rect">
            <a:avLst/>
          </a:prstGeom>
          <a:noFill/>
        </p:spPr>
        <p:txBody>
          <a:bodyPr wrap="square" anchor="ctr">
            <a:spAutoFit/>
          </a:bodyPr>
          <a:lstStyle/>
          <a:p>
            <a:pPr algn="ctr"/>
            <a:r>
              <a:rPr sz="1100" b="0">
                <a:solidFill>
                  <a:srgbClr val="333333"/>
                </a:solidFill>
              </a:rPr>
              <a:t>Strong reasoning, safest tone</a:t>
            </a:r>
          </a:p>
          <a:p>
            <a:pPr algn="ctr"/>
            <a:r>
              <a:rPr sz="1100" b="0">
                <a:solidFill>
                  <a:srgbClr val="333333"/>
                </a:solidFill>
              </a:rPr>
              <a:t>Guardrails via Walmart proxy</a:t>
            </a:r>
          </a:p>
          <a:p>
            <a:pPr algn="ctr"/>
            <a:r>
              <a:rPr sz="1100" b="0">
                <a:solidFill>
                  <a:srgbClr val="333333"/>
                </a:solidFill>
              </a:rPr>
              <a:t>~$0.0002 / reply</a:t>
            </a:r>
          </a:p>
          <a:p>
            <a:pPr algn="ctr"/>
            <a:r>
              <a:rPr sz="1100" b="0">
                <a:solidFill>
                  <a:srgbClr val="333333"/>
                </a:solidFill>
              </a:rPr>
              <a:t>Fallback: direct OpenAI</a:t>
            </a:r>
          </a:p>
        </p:txBody>
      </p:sp>
      <p:sp>
        <p:nvSpPr>
          <p:cNvPr id="12" name="Rectangle 11"/>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33272"/>
            <a:ext cx="3794760" cy="320040"/>
          </a:xfrm>
          <a:prstGeom prst="rect">
            <a:avLst/>
          </a:prstGeom>
          <a:noFill/>
        </p:spPr>
        <p:txBody>
          <a:bodyPr wrap="square" anchor="t">
            <a:spAutoFit/>
          </a:bodyPr>
          <a:lstStyle/>
          <a:p>
            <a:pPr algn="ctr"/>
            <a:r>
              <a:rPr sz="1300" b="1">
                <a:solidFill>
                  <a:srgbClr val="FFFFFF"/>
                </a:solidFill>
              </a:rPr>
              <a:t>Draft B</a:t>
            </a:r>
          </a:p>
        </p:txBody>
      </p:sp>
      <p:sp>
        <p:nvSpPr>
          <p:cNvPr id="15" name="TextBox 14"/>
          <p:cNvSpPr txBox="1"/>
          <p:nvPr/>
        </p:nvSpPr>
        <p:spPr>
          <a:xfrm>
            <a:off x="4297680" y="1508760"/>
            <a:ext cx="3794760" cy="365760"/>
          </a:xfrm>
          <a:prstGeom prst="rect">
            <a:avLst/>
          </a:prstGeom>
          <a:noFill/>
        </p:spPr>
        <p:txBody>
          <a:bodyPr wrap="square" anchor="t">
            <a:spAutoFit/>
          </a:bodyPr>
          <a:lstStyle/>
          <a:p>
            <a:pPr algn="ctr"/>
            <a:r>
              <a:rPr sz="1600" b="1">
                <a:solidFill>
                  <a:srgbClr val="041E42"/>
                </a:solidFill>
              </a:rPr>
              <a:t>Mistral 7B-Instruct</a:t>
            </a:r>
          </a:p>
        </p:txBody>
      </p:sp>
      <p:sp>
        <p:nvSpPr>
          <p:cNvPr id="16" name="TextBox 15"/>
          <p:cNvSpPr txBox="1"/>
          <p:nvPr/>
        </p:nvSpPr>
        <p:spPr>
          <a:xfrm>
            <a:off x="4297680" y="1920240"/>
            <a:ext cx="3794760" cy="320040"/>
          </a:xfrm>
          <a:prstGeom prst="rect">
            <a:avLst/>
          </a:prstGeom>
          <a:noFill/>
        </p:spPr>
        <p:txBody>
          <a:bodyPr wrap="square" anchor="t">
            <a:spAutoFit/>
          </a:bodyPr>
          <a:lstStyle/>
          <a:p>
            <a:pPr algn="ctr"/>
            <a:r>
              <a:rPr sz="1000" b="0">
                <a:solidFill>
                  <a:srgbClr val="666666"/>
                </a:solidFill>
              </a:rPr>
              <a:t>Local Ollama  (:11434)</a:t>
            </a:r>
          </a:p>
        </p:txBody>
      </p:sp>
      <p:sp>
        <p:nvSpPr>
          <p:cNvPr id="17" name="TextBox 16"/>
          <p:cNvSpPr txBox="1"/>
          <p:nvPr/>
        </p:nvSpPr>
        <p:spPr>
          <a:xfrm>
            <a:off x="4480560" y="2331720"/>
            <a:ext cx="3429000" cy="1645920"/>
          </a:xfrm>
          <a:prstGeom prst="rect">
            <a:avLst/>
          </a:prstGeom>
          <a:noFill/>
        </p:spPr>
        <p:txBody>
          <a:bodyPr wrap="square" anchor="ctr">
            <a:spAutoFit/>
          </a:bodyPr>
          <a:lstStyle/>
          <a:p>
            <a:pPr algn="ctr"/>
            <a:r>
              <a:rPr sz="1100" b="0">
                <a:solidFill>
                  <a:srgbClr val="333333"/>
                </a:solidFill>
              </a:rPr>
              <a:t>Open-weights, free</a:t>
            </a:r>
          </a:p>
          <a:p>
            <a:pPr algn="ctr"/>
            <a:r>
              <a:rPr sz="1100" b="0">
                <a:solidFill>
                  <a:srgbClr val="333333"/>
                </a:solidFill>
              </a:rPr>
              <a:t>Runs fully offline</a:t>
            </a:r>
          </a:p>
          <a:p>
            <a:pPr algn="ctr"/>
            <a:r>
              <a:rPr sz="1100" b="0">
                <a:solidFill>
                  <a:srgbClr val="333333"/>
                </a:solidFill>
              </a:rPr>
              <a:t>~15 s warm latency</a:t>
            </a:r>
          </a:p>
          <a:p>
            <a:pPr algn="ctr"/>
            <a:r>
              <a:rPr sz="1100" b="0">
                <a:solidFill>
                  <a:srgbClr val="333333"/>
                </a:solidFill>
              </a:rPr>
              <a:t>Strong at retail jargon</a:t>
            </a:r>
          </a:p>
        </p:txBody>
      </p:sp>
      <p:sp>
        <p:nvSpPr>
          <p:cNvPr id="18" name="Rectangle 17"/>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033272"/>
            <a:ext cx="3794760" cy="320040"/>
          </a:xfrm>
          <a:prstGeom prst="rect">
            <a:avLst/>
          </a:prstGeom>
          <a:noFill/>
        </p:spPr>
        <p:txBody>
          <a:bodyPr wrap="square" anchor="t">
            <a:spAutoFit/>
          </a:bodyPr>
          <a:lstStyle/>
          <a:p>
            <a:pPr algn="ctr"/>
            <a:r>
              <a:rPr sz="1300" b="1">
                <a:solidFill>
                  <a:srgbClr val="FFFFFF"/>
                </a:solidFill>
              </a:rPr>
              <a:t>Draft C</a:t>
            </a:r>
          </a:p>
        </p:txBody>
      </p:sp>
      <p:sp>
        <p:nvSpPr>
          <p:cNvPr id="21" name="TextBox 20"/>
          <p:cNvSpPr txBox="1"/>
          <p:nvPr/>
        </p:nvSpPr>
        <p:spPr>
          <a:xfrm>
            <a:off x="8229600" y="1508760"/>
            <a:ext cx="3794760" cy="365760"/>
          </a:xfrm>
          <a:prstGeom prst="rect">
            <a:avLst/>
          </a:prstGeom>
          <a:noFill/>
        </p:spPr>
        <p:txBody>
          <a:bodyPr wrap="square" anchor="t">
            <a:spAutoFit/>
          </a:bodyPr>
          <a:lstStyle/>
          <a:p>
            <a:pPr algn="ctr"/>
            <a:r>
              <a:rPr sz="1600" b="1">
                <a:solidFill>
                  <a:srgbClr val="041E42"/>
                </a:solidFill>
              </a:rPr>
              <a:t>Smart Composer</a:t>
            </a:r>
          </a:p>
        </p:txBody>
      </p:sp>
      <p:sp>
        <p:nvSpPr>
          <p:cNvPr id="22" name="TextBox 21"/>
          <p:cNvSpPr txBox="1"/>
          <p:nvPr/>
        </p:nvSpPr>
        <p:spPr>
          <a:xfrm>
            <a:off x="8229600" y="1920240"/>
            <a:ext cx="3794760" cy="320040"/>
          </a:xfrm>
          <a:prstGeom prst="rect">
            <a:avLst/>
          </a:prstGeom>
          <a:noFill/>
        </p:spPr>
        <p:txBody>
          <a:bodyPr wrap="square" anchor="t">
            <a:spAutoFit/>
          </a:bodyPr>
          <a:lstStyle/>
          <a:p>
            <a:pPr algn="ctr"/>
            <a:r>
              <a:rPr sz="1000" b="0">
                <a:solidFill>
                  <a:srgbClr val="666666"/>
                </a:solidFill>
              </a:rPr>
              <a:t>Deterministic template</a:t>
            </a:r>
          </a:p>
        </p:txBody>
      </p:sp>
      <p:sp>
        <p:nvSpPr>
          <p:cNvPr id="23" name="TextBox 22"/>
          <p:cNvSpPr txBox="1"/>
          <p:nvPr/>
        </p:nvSpPr>
        <p:spPr>
          <a:xfrm>
            <a:off x="8412480" y="2331720"/>
            <a:ext cx="3429000" cy="1645920"/>
          </a:xfrm>
          <a:prstGeom prst="rect">
            <a:avLst/>
          </a:prstGeom>
          <a:noFill/>
        </p:spPr>
        <p:txBody>
          <a:bodyPr wrap="square" anchor="ctr">
            <a:spAutoFit/>
          </a:bodyPr>
          <a:lstStyle/>
          <a:p>
            <a:pPr algn="ctr"/>
            <a:r>
              <a:rPr sz="1100" b="0">
                <a:solidFill>
                  <a:srgbClr val="333333"/>
                </a:solidFill>
              </a:rPr>
              <a:t>No LLM, always available</a:t>
            </a:r>
          </a:p>
          <a:p>
            <a:pPr algn="ctr"/>
            <a:r>
              <a:rPr sz="1100" b="0">
                <a:solidFill>
                  <a:srgbClr val="333333"/>
                </a:solidFill>
              </a:rPr>
              <a:t>Zero latency, zero cost</a:t>
            </a:r>
          </a:p>
          <a:p>
            <a:pPr algn="ctr"/>
            <a:r>
              <a:rPr sz="1100" b="0">
                <a:solidFill>
                  <a:srgbClr val="333333"/>
                </a:solidFill>
              </a:rPr>
              <a:t>Content-aware phrase pools</a:t>
            </a:r>
          </a:p>
          <a:p>
            <a:pPr algn="ctr"/>
            <a:r>
              <a:rPr sz="1100" b="0">
                <a:solidFill>
                  <a:srgbClr val="333333"/>
                </a:solidFill>
              </a:rPr>
              <a:t>Safety-net fallback</a:t>
            </a:r>
          </a:p>
        </p:txBody>
      </p:sp>
      <p:sp>
        <p:nvSpPr>
          <p:cNvPr id="24" name="Rectangle 23"/>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343400"/>
            <a:ext cx="10972800" cy="320040"/>
          </a:xfrm>
          <a:prstGeom prst="rect">
            <a:avLst/>
          </a:prstGeom>
          <a:noFill/>
        </p:spPr>
        <p:txBody>
          <a:bodyPr wrap="square" anchor="t">
            <a:spAutoFit/>
          </a:bodyPr>
          <a:lstStyle/>
          <a:p>
            <a:pPr algn="l"/>
            <a:r>
              <a:rPr sz="1300" b="1">
                <a:solidFill>
                  <a:srgbClr val="0071DC"/>
                </a:solidFill>
              </a:rPr>
              <a:t>Fallback logic  —  no draft is ever missing</a:t>
            </a:r>
          </a:p>
        </p:txBody>
      </p:sp>
      <p:sp>
        <p:nvSpPr>
          <p:cNvPr id="26" name="TextBox 25"/>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a:solidFill>
                  <a:srgbClr val="041E42"/>
                </a:solidFill>
              </a:rPr>
              <a:t>Prompt template  (built in  _build_reply_prompt)</a:t>
            </a:r>
          </a:p>
        </p:txBody>
      </p:sp>
      <p:sp>
        <p:nvSpPr>
          <p:cNvPr id="7" name="Rectangle 6"/>
          <p:cNvSpPr/>
          <p:nvPr/>
        </p:nvSpPr>
        <p:spPr>
          <a:xfrm>
            <a:off x="457200" y="1280160"/>
            <a:ext cx="11247120" cy="324612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10881360" cy="2971800"/>
          </a:xfrm>
          <a:prstGeom prst="rect">
            <a:avLst/>
          </a:prstGeom>
          <a:noFill/>
        </p:spPr>
        <p:txBody>
          <a:bodyPr wrap="square" anchor="t">
            <a:spAutoFit/>
          </a:bodyPr>
          <a:lstStyle/>
          <a:p>
            <a:pPr algn="l"/>
            <a:r>
              <a:rPr sz="1000" b="0">
                <a:solidFill>
                  <a:srgbClr val="E6EDF7"/>
                </a:solidFill>
              </a:rPr>
              <a:t>You are a senior Walmart customer-care analyst replying on Reddit.</a:t>
            </a:r>
          </a:p>
          <a:p>
            <a:pPr algn="l"/>
            <a:r>
              <a:rPr sz="1000" b="0">
                <a:solidFill>
                  <a:srgbClr val="E6EDF7"/>
                </a:solidFill>
              </a:rPr>
              <a:t>Write ONE reply to the customer below. Keep it 2-4 sentences,</a:t>
            </a:r>
          </a:p>
          <a:p>
            <a:pPr algn="l"/>
            <a:r>
              <a:rPr sz="1000" b="0">
                <a:solidFill>
                  <a:srgbClr val="E6EDF7"/>
                </a:solidFill>
              </a:rPr>
              <a:t>empathetic, specific to their complaint, no corporate jargon,</a:t>
            </a:r>
          </a:p>
          <a:p>
            <a:pPr algn="l"/>
            <a:r>
              <a:rPr sz="1000" b="0">
                <a:solidFill>
                  <a:srgbClr val="E6EDF7"/>
                </a:solidFill>
              </a:rPr>
              <a:t>no hashtags, no emojis. Do NOT promise refunds you can't verify;</a:t>
            </a:r>
          </a:p>
          <a:p>
            <a:pPr algn="l"/>
            <a:r>
              <a:rPr sz="1000" b="0">
                <a:solidFill>
                  <a:srgbClr val="E6EDF7"/>
                </a:solidFill>
              </a:rPr>
              <a:t>invite them to DM order details if action is needed. Sign off as</a:t>
            </a:r>
          </a:p>
          <a:p>
            <a:pPr algn="l"/>
            <a:r>
              <a:rPr sz="1000" b="0">
                <a:solidFill>
                  <a:srgbClr val="E6EDF7"/>
                </a:solidFill>
              </a:rPr>
              <a:t>a real person, not a brand.</a:t>
            </a:r>
          </a:p>
          <a:p>
            <a:pPr algn="l"/>
          </a:p>
          <a:p>
            <a:pPr algn="l"/>
            <a:r>
              <a:rPr sz="1000" b="0">
                <a:solidFill>
                  <a:srgbClr val="E6EDF7"/>
                </a:solidFill>
              </a:rPr>
              <a:t>Example customer post: {past_post_1}</a:t>
            </a:r>
          </a:p>
          <a:p>
            <a:pPr algn="l"/>
            <a:r>
              <a:rPr sz="1000" b="0">
                <a:solidFill>
                  <a:srgbClr val="E6EDF7"/>
                </a:solidFill>
              </a:rPr>
              <a:t>Example analyst reply: {past_reply_1}</a:t>
            </a:r>
          </a:p>
          <a:p>
            <a:pPr algn="l"/>
            <a:r>
              <a:rPr sz="1000" b="0">
                <a:solidFill>
                  <a:srgbClr val="E6EDF7"/>
                </a:solidFill>
              </a:rPr>
              <a:t>Example customer post: {past_post_2}</a:t>
            </a:r>
          </a:p>
          <a:p>
            <a:pPr algn="l"/>
            <a:r>
              <a:rPr sz="1000" b="0">
                <a:solidFill>
                  <a:srgbClr val="E6EDF7"/>
                </a:solidFill>
              </a:rPr>
              <a:t>Example analyst reply: {past_reply_2}</a:t>
            </a:r>
          </a:p>
          <a:p>
            <a:pPr algn="l"/>
          </a:p>
          <a:p>
            <a:pPr algn="l"/>
            <a:r>
              <a:rPr sz="1000" b="0">
                <a:solidFill>
                  <a:srgbClr val="E6EDF7"/>
                </a:solidFill>
              </a:rPr>
              <a:t>Subreddit: r/{subreddit}</a:t>
            </a:r>
          </a:p>
          <a:p>
            <a:pPr algn="l"/>
            <a:r>
              <a:rPr sz="1000" b="0">
                <a:solidFill>
                  <a:srgbClr val="E6EDF7"/>
                </a:solidFill>
              </a:rPr>
              <a:t>Customer ({author}) complaint about: {aspect_1}, {aspect_2}</a:t>
            </a:r>
          </a:p>
          <a:p>
            <a:pPr algn="l"/>
            <a:r>
              <a:rPr sz="1000" b="0">
                <a:solidFill>
                  <a:srgbClr val="E6EDF7"/>
                </a:solidFill>
              </a:rPr>
              <a:t>Customer post:</a:t>
            </a:r>
          </a:p>
          <a:p>
            <a:pPr algn="l"/>
            <a:r>
              <a:rPr sz="1000" b="0">
                <a:solidFill>
                  <a:srgbClr val="E6EDF7"/>
                </a:solidFill>
              </a:rPr>
              <a:t>{post_title + post_body, ≤ 1200 chars}</a:t>
            </a:r>
          </a:p>
          <a:p>
            <a:pPr algn="l"/>
          </a:p>
          <a:p>
            <a:pPr algn="l"/>
            <a:r>
              <a:rPr sz="1000" b="0">
                <a:solidFill>
                  <a:srgbClr val="E6EDF7"/>
                </a:solidFill>
              </a:rPr>
              <a:t>Reply:</a:t>
            </a:r>
          </a:p>
        </p:txBody>
      </p:sp>
      <p:sp>
        <p:nvSpPr>
          <p:cNvPr id="9" name="Rectangle 8"/>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0600"/>
            <a:ext cx="5212080" cy="320040"/>
          </a:xfrm>
          <a:prstGeom prst="rect">
            <a:avLst/>
          </a:prstGeom>
          <a:noFill/>
        </p:spPr>
        <p:txBody>
          <a:bodyPr wrap="square" anchor="t">
            <a:spAutoFit/>
          </a:bodyPr>
          <a:lstStyle/>
          <a:p>
            <a:pPr algn="l"/>
            <a:r>
              <a:rPr sz="1200" b="1">
                <a:solidFill>
                  <a:srgbClr val="10B981"/>
                </a:solidFill>
              </a:rPr>
              <a:t>Few-shot source  —  feedback  table</a:t>
            </a:r>
          </a:p>
        </p:txBody>
      </p:sp>
      <p:sp>
        <p:nvSpPr>
          <p:cNvPr id="11" name="TextBox 10"/>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12" name="Rectangle 11"/>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800600"/>
            <a:ext cx="5212080" cy="320040"/>
          </a:xfrm>
          <a:prstGeom prst="rect">
            <a:avLst/>
          </a:prstGeom>
          <a:noFill/>
        </p:spPr>
        <p:txBody>
          <a:bodyPr wrap="square" anchor="t">
            <a:spAutoFit/>
          </a:bodyPr>
          <a:lstStyle/>
          <a:p>
            <a:pPr algn="l"/>
            <a:r>
              <a:rPr sz="1200" b="1">
                <a:solidFill>
                  <a:srgbClr val="D97706"/>
                </a:solidFill>
              </a:rPr>
              <a:t>Style guardrails baked into the prompt</a:t>
            </a:r>
          </a:p>
        </p:txBody>
      </p:sp>
      <p:sp>
        <p:nvSpPr>
          <p:cNvPr id="14" name="TextBox 13"/>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a:solidFill>
                  <a:srgbClr val="FFFFFF"/>
                </a:solidFill>
              </a:rPr>
              <a:t>A · GPT-4o  (Walmart Gateway)</a:t>
            </a:r>
          </a:p>
        </p:txBody>
      </p:sp>
      <p:sp>
        <p:nvSpPr>
          <p:cNvPr id="15" name="TextBox 14"/>
          <p:cNvSpPr txBox="1"/>
          <p:nvPr/>
        </p:nvSpPr>
        <p:spPr>
          <a:xfrm>
            <a:off x="502920" y="3246120"/>
            <a:ext cx="3520440" cy="2331720"/>
          </a:xfrm>
          <a:prstGeom prst="rect">
            <a:avLst/>
          </a:prstGeom>
          <a:noFill/>
        </p:spPr>
        <p:txBody>
          <a:bodyPr wrap="square" anchor="t">
            <a:spAutoFit/>
          </a:bodyPr>
          <a:lstStyle/>
          <a:p>
            <a:pPr algn="l"/>
            <a:r>
              <a:rPr sz="900" b="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8803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a:solidFill>
                  <a:srgbClr val="FFFFFF"/>
                </a:solidFill>
              </a:rPr>
              <a:t>B · Mistral 7B  (local Ollama)</a:t>
            </a:r>
          </a:p>
        </p:txBody>
      </p:sp>
      <p:sp>
        <p:nvSpPr>
          <p:cNvPr id="19" name="TextBox 18"/>
          <p:cNvSpPr txBox="1"/>
          <p:nvPr/>
        </p:nvSpPr>
        <p:spPr>
          <a:xfrm>
            <a:off x="4434840" y="3246120"/>
            <a:ext cx="3520440" cy="2331720"/>
          </a:xfrm>
          <a:prstGeom prst="rect">
            <a:avLst/>
          </a:prstGeom>
          <a:noFill/>
        </p:spPr>
        <p:txBody>
          <a:bodyPr wrap="square" anchor="t">
            <a:spAutoFit/>
          </a:bodyPr>
          <a:lstStyle/>
          <a:p>
            <a:pPr algn="l"/>
            <a:r>
              <a:rPr sz="900" b="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8803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a:solidFill>
                  <a:srgbClr val="FFFFFF"/>
                </a:solidFill>
              </a:rPr>
              <a:t>C · Smart Composer  (no-LLM)</a:t>
            </a:r>
          </a:p>
        </p:txBody>
      </p:sp>
      <p:sp>
        <p:nvSpPr>
          <p:cNvPr id="23" name="TextBox 22"/>
          <p:cNvSpPr txBox="1"/>
          <p:nvPr/>
        </p:nvSpPr>
        <p:spPr>
          <a:xfrm>
            <a:off x="8366760" y="3246120"/>
            <a:ext cx="3520440" cy="2331720"/>
          </a:xfrm>
          <a:prstGeom prst="rect">
            <a:avLst/>
          </a:prstGeom>
          <a:noFill/>
        </p:spPr>
        <p:txBody>
          <a:bodyPr wrap="square" anchor="t">
            <a:spAutoFit/>
          </a:bodyPr>
          <a:lstStyle/>
          <a:p>
            <a:pPr algn="l"/>
            <a:r>
              <a:rPr sz="900" b="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806440"/>
            <a:ext cx="11247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52160"/>
            <a:ext cx="10972800" cy="457200"/>
          </a:xfrm>
          <a:prstGeom prst="rect">
            <a:avLst/>
          </a:prstGeom>
          <a:noFill/>
        </p:spPr>
        <p:txBody>
          <a:bodyPr wrap="square" anchor="ctr">
            <a:spAutoFit/>
          </a:bodyPr>
          <a:lstStyle/>
          <a:p>
            <a:pPr algn="l"/>
            <a:r>
              <a:rPr sz="1000" b="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6" name="TextBox 2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7" name="TextBox 2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a:solidFill>
                  <a:srgbClr val="FFFFFF"/>
                </a:solidFill>
              </a:rPr>
              <a:t>feedback  table  (SQLite / Cosmos DB)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041E42"/>
                </a:solidFill>
              </a:rPr>
              <a:t>Facets</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60120"/>
            <a:ext cx="5669280" cy="3543300"/>
          </a:xfrm>
          <a:prstGeom prst="rect">
            <a:avLst/>
          </a:prstGeom>
        </p:spPr>
      </p:pic>
      <p:sp>
        <p:nvSpPr>
          <p:cNvPr id="9" name="Rectangle 8"/>
          <p:cNvSpPr/>
          <p:nvPr/>
        </p:nvSpPr>
        <p:spPr>
          <a:xfrm>
            <a:off x="457200" y="5074920"/>
            <a:ext cx="11247120" cy="12344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212080"/>
            <a:ext cx="10972800" cy="320040"/>
          </a:xfrm>
          <a:prstGeom prst="rect">
            <a:avLst/>
          </a:prstGeom>
          <a:noFill/>
        </p:spPr>
        <p:txBody>
          <a:bodyPr wrap="square" anchor="t">
            <a:spAutoFit/>
          </a:bodyPr>
          <a:lstStyle/>
          <a:p>
            <a:pPr algn="l"/>
            <a:r>
              <a:rPr sz="1200" b="1">
                <a:solidFill>
                  <a:srgbClr val="041E42"/>
                </a:solidFill>
              </a:rPr>
              <a:t>Per-post card</a:t>
            </a:r>
          </a:p>
        </p:txBody>
      </p:sp>
      <p:sp>
        <p:nvSpPr>
          <p:cNvPr id="11" name="TextBox 10"/>
          <p:cNvSpPr txBox="1"/>
          <p:nvPr/>
        </p:nvSpPr>
        <p:spPr>
          <a:xfrm>
            <a:off x="640080" y="5532120"/>
            <a:ext cx="10972800" cy="731520"/>
          </a:xfrm>
          <a:prstGeom prst="rect">
            <a:avLst/>
          </a:prstGeom>
          <a:noFill/>
        </p:spPr>
        <p:txBody>
          <a:bodyPr wrap="square" anchor="t">
            <a:spAutoFit/>
          </a:bodyPr>
          <a:lstStyle/>
          <a:p>
            <a:pPr algn="l"/>
            <a:r>
              <a:rPr sz="1100" b="0">
                <a:solidFill>
                  <a:srgbClr val="333333"/>
                </a:solidFill>
              </a:rPr>
              <a:t>Title + body excerpt · sentiment badge with confidence % · trust tier (H / M / L) · aspect chips · subreddit + timestamp · actions:  Review  ·  Add to Lifecycle  ·  View Details.</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a:solidFill>
                  <a:srgbClr val="333333"/>
                </a:solidFill>
              </a:rPr>
              <a:t>New P1 / P2</a:t>
            </a:r>
          </a:p>
          <a:p>
            <a:pPr algn="ctr"/>
            <a:r>
              <a:rPr sz="1200" b="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a:solidFill>
                  <a:srgbClr val="333333"/>
                </a:solidFill>
              </a:rPr>
              <a:t>Assigned</a:t>
            </a:r>
          </a:p>
          <a:p>
            <a:pPr algn="ctr"/>
            <a:r>
              <a:rPr sz="1200" b="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a:solidFill>
                  <a:srgbClr val="333333"/>
                </a:solidFill>
              </a:rPr>
              <a:t>Reply being</a:t>
            </a:r>
          </a:p>
          <a:p>
            <a:pPr algn="ctr"/>
            <a:r>
              <a:rPr sz="1200" b="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a:solidFill>
                  <a:srgbClr val="333333"/>
                </a:solidFill>
              </a:rPr>
              <a:t>Reply posted or</a:t>
            </a:r>
          </a:p>
          <a:p>
            <a:pPr algn="ctr"/>
            <a:r>
              <a:rPr sz="1200" b="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4286250"/>
          </a:xfrm>
          <a:prstGeom prst="rect">
            <a:avLst/>
          </a:prstGeom>
        </p:spPr>
      </p:pic>
      <p:sp>
        <p:nvSpPr>
          <p:cNvPr id="26" name="Rectangle 25"/>
          <p:cNvSpPr/>
          <p:nvPr/>
        </p:nvSpPr>
        <p:spPr>
          <a:xfrm>
            <a:off x="7589520" y="3246120"/>
            <a:ext cx="411480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200" b="1">
                <a:solidFill>
                  <a:srgbClr val="0071DC"/>
                </a:solidFill>
              </a:rPr>
              <a:t>Resolve modal  —  2-step flow</a:t>
            </a:r>
          </a:p>
        </p:txBody>
      </p:sp>
      <p:sp>
        <p:nvSpPr>
          <p:cNvPr id="28" name="TextBox 27"/>
          <p:cNvSpPr txBox="1"/>
          <p:nvPr/>
        </p:nvSpPr>
        <p:spPr>
          <a:xfrm>
            <a:off x="7772400" y="3703320"/>
            <a:ext cx="3840480" cy="237744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Strategic view — issue rankings, cross-brand pulse, LLM summaries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486400" cy="21488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54864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14984"/>
            <a:ext cx="5486400" cy="320040"/>
          </a:xfrm>
          <a:prstGeom prst="rect">
            <a:avLst/>
          </a:prstGeom>
          <a:noFill/>
        </p:spPr>
        <p:txBody>
          <a:bodyPr wrap="square" anchor="t">
            <a:spAutoFit/>
          </a:bodyPr>
          <a:lstStyle/>
          <a:p>
            <a:pPr algn="ctr"/>
            <a:r>
              <a:rPr sz="1300" b="1">
                <a:solidFill>
                  <a:srgbClr val="FFFFFF"/>
                </a:solidFill>
              </a:rPr>
              <a:t>Priority-Negatives</a:t>
            </a:r>
          </a:p>
        </p:txBody>
      </p:sp>
      <p:sp>
        <p:nvSpPr>
          <p:cNvPr id="9" name="TextBox 8"/>
          <p:cNvSpPr txBox="1"/>
          <p:nvPr/>
        </p:nvSpPr>
        <p:spPr>
          <a:xfrm>
            <a:off x="640080" y="1463040"/>
            <a:ext cx="5120640" cy="1554480"/>
          </a:xfrm>
          <a:prstGeom prst="rect">
            <a:avLst/>
          </a:prstGeom>
          <a:noFill/>
        </p:spPr>
        <p:txBody>
          <a:bodyPr wrap="square" anchor="ctr">
            <a:spAutoFit/>
          </a:bodyPr>
          <a:lstStyle/>
          <a:p>
            <a:pPr algn="ctr"/>
            <a:r>
              <a:rPr sz="1200" b="0">
                <a:solidFill>
                  <a:srgbClr val="333333"/>
                </a:solidFill>
              </a:rPr>
              <a:t>Top issues ranked by</a:t>
            </a:r>
          </a:p>
          <a:p>
            <a:pPr algn="ctr"/>
            <a:r>
              <a:rPr sz="1200" b="0">
                <a:solidFill>
                  <a:srgbClr val="333333"/>
                </a:solidFill>
              </a:rPr>
              <a:t>volume × severity × recency</a:t>
            </a:r>
          </a:p>
          <a:p>
            <a:pPr algn="ctr"/>
            <a:r>
              <a:rPr sz="1200" b="0">
                <a:solidFill>
                  <a:srgbClr val="333333"/>
                </a:solidFill>
              </a:rPr>
              <a:t>by aspect</a:t>
            </a:r>
          </a:p>
        </p:txBody>
      </p:sp>
      <p:sp>
        <p:nvSpPr>
          <p:cNvPr id="10" name="Rectangle 9"/>
          <p:cNvSpPr/>
          <p:nvPr/>
        </p:nvSpPr>
        <p:spPr>
          <a:xfrm>
            <a:off x="6309360" y="960120"/>
            <a:ext cx="5486400" cy="21488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960120"/>
            <a:ext cx="54864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014984"/>
            <a:ext cx="5486400" cy="320040"/>
          </a:xfrm>
          <a:prstGeom prst="rect">
            <a:avLst/>
          </a:prstGeom>
          <a:noFill/>
        </p:spPr>
        <p:txBody>
          <a:bodyPr wrap="square" anchor="t">
            <a:spAutoFit/>
          </a:bodyPr>
          <a:lstStyle/>
          <a:p>
            <a:pPr algn="ctr"/>
            <a:r>
              <a:rPr sz="1300" b="1">
                <a:solidFill>
                  <a:srgbClr val="FFFFFF"/>
                </a:solidFill>
              </a:rPr>
              <a:t>Competitor Pulse</a:t>
            </a:r>
          </a:p>
        </p:txBody>
      </p:sp>
      <p:sp>
        <p:nvSpPr>
          <p:cNvPr id="13" name="TextBox 12"/>
          <p:cNvSpPr txBox="1"/>
          <p:nvPr/>
        </p:nvSpPr>
        <p:spPr>
          <a:xfrm>
            <a:off x="6492240" y="1463040"/>
            <a:ext cx="5120640" cy="1554480"/>
          </a:xfrm>
          <a:prstGeom prst="rect">
            <a:avLst/>
          </a:prstGeom>
          <a:noFill/>
        </p:spPr>
        <p:txBody>
          <a:bodyPr wrap="square" anchor="ctr">
            <a:spAutoFit/>
          </a:bodyPr>
          <a:lstStyle/>
          <a:p>
            <a:pPr algn="ctr"/>
            <a:r>
              <a:rPr sz="1200" b="0">
                <a:solidFill>
                  <a:srgbClr val="333333"/>
                </a:solidFill>
              </a:rPr>
              <a:t>Walmart vs Costco,</a:t>
            </a:r>
          </a:p>
          <a:p>
            <a:pPr algn="ctr"/>
            <a:r>
              <a:rPr sz="1200" b="0">
                <a:solidFill>
                  <a:srgbClr val="333333"/>
                </a:solidFill>
              </a:rPr>
              <a:t>Target, Amazon on shared aspects</a:t>
            </a:r>
          </a:p>
        </p:txBody>
      </p:sp>
      <p:sp>
        <p:nvSpPr>
          <p:cNvPr id="14" name="Rectangle 13"/>
          <p:cNvSpPr/>
          <p:nvPr/>
        </p:nvSpPr>
        <p:spPr>
          <a:xfrm>
            <a:off x="457200" y="3246120"/>
            <a:ext cx="5486400" cy="21488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246120"/>
            <a:ext cx="54864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300984"/>
            <a:ext cx="5486400" cy="320040"/>
          </a:xfrm>
          <a:prstGeom prst="rect">
            <a:avLst/>
          </a:prstGeom>
          <a:noFill/>
        </p:spPr>
        <p:txBody>
          <a:bodyPr wrap="square" anchor="t">
            <a:spAutoFit/>
          </a:bodyPr>
          <a:lstStyle/>
          <a:p>
            <a:pPr algn="ctr"/>
            <a:r>
              <a:rPr sz="1300" b="1">
                <a:solidFill>
                  <a:srgbClr val="FFFFFF"/>
                </a:solidFill>
              </a:rPr>
              <a:t>Weekly LLM Summaries</a:t>
            </a:r>
          </a:p>
        </p:txBody>
      </p:sp>
      <p:sp>
        <p:nvSpPr>
          <p:cNvPr id="17" name="TextBox 16"/>
          <p:cNvSpPr txBox="1"/>
          <p:nvPr/>
        </p:nvSpPr>
        <p:spPr>
          <a:xfrm>
            <a:off x="640080" y="3749039"/>
            <a:ext cx="5120640" cy="1554480"/>
          </a:xfrm>
          <a:prstGeom prst="rect">
            <a:avLst/>
          </a:prstGeom>
          <a:noFill/>
        </p:spPr>
        <p:txBody>
          <a:bodyPr wrap="square" anchor="ctr">
            <a:spAutoFit/>
          </a:bodyPr>
          <a:lstStyle/>
          <a:p>
            <a:pPr algn="ctr"/>
            <a:r>
              <a:rPr sz="1200" b="0">
                <a:solidFill>
                  <a:srgbClr val="333333"/>
                </a:solidFill>
              </a:rPr>
              <a:t>Natural-language weekly</a:t>
            </a:r>
          </a:p>
          <a:p>
            <a:pPr algn="ctr"/>
            <a:r>
              <a:rPr sz="1200" b="0">
                <a:solidFill>
                  <a:srgbClr val="333333"/>
                </a:solidFill>
              </a:rPr>
              <a:t>digest + action items</a:t>
            </a:r>
          </a:p>
          <a:p>
            <a:pPr algn="ctr"/>
            <a:r>
              <a:rPr sz="1200" b="0">
                <a:solidFill>
                  <a:srgbClr val="333333"/>
                </a:solidFill>
              </a:rPr>
              <a:t>+ emerging topics</a:t>
            </a:r>
          </a:p>
        </p:txBody>
      </p:sp>
      <p:sp>
        <p:nvSpPr>
          <p:cNvPr id="18" name="Rectangle 17"/>
          <p:cNvSpPr/>
          <p:nvPr/>
        </p:nvSpPr>
        <p:spPr>
          <a:xfrm>
            <a:off x="6309360" y="3246120"/>
            <a:ext cx="5486400" cy="214884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246120"/>
            <a:ext cx="54864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3300984"/>
            <a:ext cx="5486400" cy="320040"/>
          </a:xfrm>
          <a:prstGeom prst="rect">
            <a:avLst/>
          </a:prstGeom>
          <a:noFill/>
        </p:spPr>
        <p:txBody>
          <a:bodyPr wrap="square" anchor="t">
            <a:spAutoFit/>
          </a:bodyPr>
          <a:lstStyle/>
          <a:p>
            <a:pPr algn="ctr"/>
            <a:r>
              <a:rPr sz="1300" b="1">
                <a:solidFill>
                  <a:srgbClr val="FFFFFF"/>
                </a:solidFill>
              </a:rPr>
              <a:t>Aspect Drilldown</a:t>
            </a:r>
          </a:p>
        </p:txBody>
      </p:sp>
      <p:sp>
        <p:nvSpPr>
          <p:cNvPr id="21" name="TextBox 20"/>
          <p:cNvSpPr txBox="1"/>
          <p:nvPr/>
        </p:nvSpPr>
        <p:spPr>
          <a:xfrm>
            <a:off x="6492240" y="3749039"/>
            <a:ext cx="5120640" cy="1554480"/>
          </a:xfrm>
          <a:prstGeom prst="rect">
            <a:avLst/>
          </a:prstGeom>
          <a:noFill/>
        </p:spPr>
        <p:txBody>
          <a:bodyPr wrap="square" anchor="ctr">
            <a:spAutoFit/>
          </a:bodyPr>
          <a:lstStyle/>
          <a:p>
            <a:pPr algn="ctr"/>
            <a:r>
              <a:rPr sz="1200" b="0">
                <a:solidFill>
                  <a:srgbClr val="333333"/>
                </a:solidFill>
              </a:rPr>
              <a:t>8-aspect taxonomy</a:t>
            </a:r>
          </a:p>
          <a:p>
            <a:pPr algn="ctr"/>
            <a:r>
              <a:rPr sz="1200" b="0">
                <a:solidFill>
                  <a:srgbClr val="333333"/>
                </a:solidFill>
              </a:rPr>
              <a:t>per-aspect sentiment trend</a:t>
            </a:r>
          </a:p>
          <a:p>
            <a:pPr algn="ctr"/>
            <a:r>
              <a:rPr sz="1200" b="0">
                <a:solidFill>
                  <a:srgbClr val="333333"/>
                </a:solidFill>
              </a:rPr>
              <a:t>+ representative posts</a:t>
            </a:r>
          </a:p>
        </p:txBody>
      </p:sp>
      <p:sp>
        <p:nvSpPr>
          <p:cNvPr id="22" name="TextBox 21"/>
          <p:cNvSpPr txBox="1"/>
          <p:nvPr/>
        </p:nvSpPr>
        <p:spPr>
          <a:xfrm>
            <a:off x="457200" y="5623560"/>
            <a:ext cx="11247120" cy="685800"/>
          </a:xfrm>
          <a:prstGeom prst="rect">
            <a:avLst/>
          </a:prstGeom>
          <a:noFill/>
        </p:spPr>
        <p:txBody>
          <a:bodyPr wrap="square" anchor="t">
            <a:spAutoFit/>
          </a:bodyPr>
          <a:lstStyle/>
          <a:p>
            <a:pPr algn="ctr"/>
            <a:r>
              <a:rPr sz="1000" b="0">
                <a:solidFill>
                  <a:srgbClr val="666666"/>
                </a:solidFill>
              </a:rPr>
              <a:t>Screenshot on Slide 17 (Live Demo grid) — insights_competitor page.</a:t>
            </a:r>
          </a:p>
        </p:txBody>
      </p:sp>
      <p:sp>
        <p:nvSpPr>
          <p:cNvPr id="23" name="TextBox 2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4" name="TextBox 2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directly in Review &amp; Validate</a:t>
            </a:r>
          </a:p>
          <a:p>
            <a:pPr>
              <a:spcAft>
                <a:spcPts val="400"/>
              </a:spcAft>
            </a:pPr>
            <a:r>
              <a:rPr sz="1200" b="0">
                <a:solidFill>
                  <a:srgbClr val="333333"/>
                </a:solidFill>
              </a:rPr>
              <a:t>•  Powered by the same  alerts  rows that drive email/Slack</a:t>
            </a:r>
          </a:p>
        </p:txBody>
      </p:sp>
      <p:pic>
        <p:nvPicPr>
          <p:cNvPr id="7" name="Picture 6" descr="notifications.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4617720"/>
            <a:ext cx="5486400" cy="16459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54880"/>
            <a:ext cx="5120640" cy="320040"/>
          </a:xfrm>
          <a:prstGeom prst="rect">
            <a:avLst/>
          </a:prstGeom>
          <a:noFill/>
        </p:spPr>
        <p:txBody>
          <a:bodyPr wrap="square" anchor="t">
            <a:spAutoFit/>
          </a:bodyPr>
          <a:lstStyle/>
          <a:p>
            <a:pPr algn="l"/>
            <a:r>
              <a:rPr sz="1200" b="1">
                <a:solidFill>
                  <a:srgbClr val="0071DC"/>
                </a:solidFill>
              </a:rPr>
              <a:t>Priority thresholds</a:t>
            </a:r>
          </a:p>
        </p:txBody>
      </p:sp>
      <p:sp>
        <p:nvSpPr>
          <p:cNvPr id="10" name="TextBox 9"/>
          <p:cNvSpPr txBox="1"/>
          <p:nvPr/>
        </p:nvSpPr>
        <p:spPr>
          <a:xfrm>
            <a:off x="640080" y="5074920"/>
            <a:ext cx="5120640" cy="1143000"/>
          </a:xfrm>
          <a:prstGeom prst="rect">
            <a:avLst/>
          </a:prstGeom>
          <a:noFill/>
        </p:spPr>
        <p:txBody>
          <a:bodyPr wrap="square" anchor="t">
            <a:spAutoFit/>
          </a:bodyPr>
          <a:lstStyle/>
          <a:p>
            <a:pPr algn="l"/>
            <a:r>
              <a:rPr sz="1100" b="0">
                <a:solidFill>
                  <a:srgbClr val="333333"/>
                </a:solidFill>
              </a:rPr>
              <a:t>P1 — trust ≥ 0.70  and  confidence ≥ 0.80</a:t>
            </a:r>
          </a:p>
          <a:p>
            <a:pPr algn="l"/>
            <a:r>
              <a:rPr sz="1100" b="0">
                <a:solidFill>
                  <a:srgbClr val="333333"/>
                </a:solidFill>
              </a:rPr>
              <a:t>P2 — trust ≥ 0.50  and  confidence ≥ 0.60</a:t>
            </a:r>
          </a:p>
          <a:p>
            <a:pPr algn="l"/>
            <a:r>
              <a:rPr sz="1100" b="0">
                <a:solidFill>
                  <a:srgbClr val="333333"/>
                </a:solidFill>
              </a:rPr>
              <a:t>Source: config/models.yaml + dispatcher.py</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Long-post F1  (&gt; 256 tok)</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400" b="1">
                <a:solidFill>
                  <a:srgbClr val="10B981"/>
                </a:solidFill>
              </a:rPr>
              <a:t>0.28 → 1.00</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a:solidFill>
                  <a:srgbClr val="041E42"/>
                </a:solidFill>
              </a:rPr>
              <a:t>Per-length-bucket F1</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251460">
                <a:tc>
                  <a:txBody>
                    <a:bodyPr/>
                    <a:lstStyle/>
                    <a:p>
                      <a:r>
                        <a:rPr sz="1100" b="1">
                          <a:solidFill>
                            <a:srgbClr val="FFFFFF"/>
                          </a:solidFill>
                        </a:rPr>
                        <a:t>Bucket</a:t>
                      </a:r>
                    </a:p>
                  </a:txBody>
                  <a:tcPr>
                    <a:solidFill>
                      <a:srgbClr val="041E42"/>
                    </a:solidFill>
                  </a:tcPr>
                </a:tc>
                <a:tc>
                  <a:txBody>
                    <a:bodyPr/>
                    <a:lstStyle/>
                    <a:p>
                      <a:r>
                        <a:rPr sz="1100" b="1">
                          <a:solidFill>
                            <a:srgbClr val="FFFFFF"/>
                          </a:solidFill>
                        </a:rPr>
                        <a:t>Baseline</a:t>
                      </a:r>
                    </a:p>
                  </a:txBody>
                  <a:tcPr>
                    <a:solidFill>
                      <a:srgbClr val="041E42"/>
                    </a:solidFill>
                  </a:tcPr>
                </a:tc>
                <a:tc>
                  <a:txBody>
                    <a:bodyPr/>
                    <a:lstStyle/>
                    <a:p>
                      <a:r>
                        <a:rPr sz="1100" b="1">
                          <a:solidFill>
                            <a:srgbClr val="FFFFFF"/>
                          </a:solidFill>
                        </a:rPr>
                        <a:t>ModernBERT</a:t>
                      </a:r>
                    </a:p>
                  </a:txBody>
                  <a:tcPr>
                    <a:solidFill>
                      <a:srgbClr val="041E42"/>
                    </a:solidFill>
                  </a:tcPr>
                </a:tc>
                <a:tc>
                  <a:txBody>
                    <a:bodyPr/>
                    <a:lstStyle/>
                    <a:p>
                      <a:r>
                        <a:rPr sz="1100" b="1">
                          <a:solidFill>
                            <a:srgbClr val="FFFFFF"/>
                          </a:solidFill>
                        </a:rPr>
                        <a:t>Δ</a:t>
                      </a:r>
                    </a:p>
                  </a:txBody>
                  <a:tcPr>
                    <a:solidFill>
                      <a:srgbClr val="041E42"/>
                    </a:solidFill>
                  </a:tcPr>
                </a:tc>
              </a:tr>
              <a:tr h="251460">
                <a:tc>
                  <a:txBody>
                    <a:bodyPr/>
                    <a:lstStyle/>
                    <a:p>
                      <a:r>
                        <a:rPr sz="1100" b="1">
                          <a:solidFill>
                            <a:srgbClr val="333333"/>
                          </a:solidFill>
                        </a:rPr>
                        <a:t>Short  (&lt; 64 tokens)</a:t>
                      </a:r>
                    </a:p>
                  </a:txBody>
                  <a:tcPr>
                    <a:solidFill>
                      <a:srgbClr val="FFFFFF"/>
                    </a:solidFill>
                  </a:tcPr>
                </a:tc>
                <a:tc>
                  <a:txBody>
                    <a:bodyPr/>
                    <a:lstStyle/>
                    <a:p>
                      <a:r>
                        <a:rPr sz="1100">
                          <a:solidFill>
                            <a:srgbClr val="333333"/>
                          </a:solidFill>
                        </a:rPr>
                        <a:t>0.7500</a:t>
                      </a:r>
                    </a:p>
                  </a:txBody>
                  <a:tcPr>
                    <a:solidFill>
                      <a:srgbClr val="FFFFFF"/>
                    </a:solidFill>
                  </a:tcPr>
                </a:tc>
                <a:tc>
                  <a:txBody>
                    <a:bodyPr/>
                    <a:lstStyle/>
                    <a:p>
                      <a:r>
                        <a:rPr sz="1100">
                          <a:solidFill>
                            <a:srgbClr val="333333"/>
                          </a:solidFill>
                        </a:rPr>
                        <a:t>0.7800</a:t>
                      </a:r>
                    </a:p>
                  </a:txBody>
                  <a:tcPr>
                    <a:solidFill>
                      <a:srgbClr val="FFFFFF"/>
                    </a:solidFill>
                  </a:tcPr>
                </a:tc>
                <a:tc>
                  <a:txBody>
                    <a:bodyPr/>
                    <a:lstStyle/>
                    <a:p>
                      <a:r>
                        <a:rPr sz="1100">
                          <a:solidFill>
                            <a:srgbClr val="333333"/>
                          </a:solidFill>
                        </a:rPr>
                        <a:t>+3.0</a:t>
                      </a:r>
                    </a:p>
                  </a:txBody>
                  <a:tcPr>
                    <a:solidFill>
                      <a:srgbClr val="FFFFFF"/>
                    </a:solidFill>
                  </a:tcPr>
                </a:tc>
              </a:tr>
              <a:tr h="251460">
                <a:tc>
                  <a:txBody>
                    <a:bodyPr/>
                    <a:lstStyle/>
                    <a:p>
                      <a:r>
                        <a:rPr sz="1100" b="1">
                          <a:solidFill>
                            <a:srgbClr val="333333"/>
                          </a:solidFill>
                        </a:rPr>
                        <a:t>Medium  (64 – 256 tokens)</a:t>
                      </a:r>
                    </a:p>
                  </a:txBody>
                  <a:tcPr>
                    <a:solidFill>
                      <a:srgbClr val="F5F5F5"/>
                    </a:solidFill>
                  </a:tcPr>
                </a:tc>
                <a:tc>
                  <a:txBody>
                    <a:bodyPr/>
                    <a:lstStyle/>
                    <a:p>
                      <a:r>
                        <a:rPr sz="1100">
                          <a:solidFill>
                            <a:srgbClr val="333333"/>
                          </a:solidFill>
                        </a:rPr>
                        <a:t>0.6500</a:t>
                      </a:r>
                    </a:p>
                  </a:txBody>
                  <a:tcPr>
                    <a:solidFill>
                      <a:srgbClr val="F5F5F5"/>
                    </a:solidFill>
                  </a:tcPr>
                </a:tc>
                <a:tc>
                  <a:txBody>
                    <a:bodyPr/>
                    <a:lstStyle/>
                    <a:p>
                      <a:r>
                        <a:rPr sz="1100">
                          <a:solidFill>
                            <a:srgbClr val="333333"/>
                          </a:solidFill>
                        </a:rPr>
                        <a:t>0.7400</a:t>
                      </a:r>
                    </a:p>
                  </a:txBody>
                  <a:tcPr>
                    <a:solidFill>
                      <a:srgbClr val="F5F5F5"/>
                    </a:solidFill>
                  </a:tcPr>
                </a:tc>
                <a:tc>
                  <a:txBody>
                    <a:bodyPr/>
                    <a:lstStyle/>
                    <a:p>
                      <a:r>
                        <a:rPr sz="1100">
                          <a:solidFill>
                            <a:srgbClr val="333333"/>
                          </a:solidFill>
                        </a:rPr>
                        <a:t>+9.0</a:t>
                      </a:r>
                    </a:p>
                  </a:txBody>
                  <a:tcPr>
                    <a:solidFill>
                      <a:srgbClr val="F5F5F5"/>
                    </a:solidFill>
                  </a:tcPr>
                </a:tc>
              </a:tr>
              <a:tr h="251460">
                <a:tc>
                  <a:txBody>
                    <a:bodyPr/>
                    <a:lstStyle/>
                    <a:p>
                      <a:r>
                        <a:rPr sz="1100" b="1">
                          <a:solidFill>
                            <a:srgbClr val="333333"/>
                          </a:solidFill>
                        </a:rPr>
                        <a:t>Long  (&gt; 256 tokens)</a:t>
                      </a:r>
                    </a:p>
                  </a:txBody>
                  <a:tcPr>
                    <a:solidFill>
                      <a:srgbClr val="DCFCE7"/>
                    </a:solidFill>
                  </a:tcPr>
                </a:tc>
                <a:tc>
                  <a:txBody>
                    <a:bodyPr/>
                    <a:lstStyle/>
                    <a:p>
                      <a:r>
                        <a:rPr sz="1100">
                          <a:solidFill>
                            <a:srgbClr val="333333"/>
                          </a:solidFill>
                        </a:rPr>
                        <a:t>0.2778</a:t>
                      </a:r>
                    </a:p>
                  </a:txBody>
                  <a:tcPr>
                    <a:solidFill>
                      <a:srgbClr val="DCFCE7"/>
                    </a:solidFill>
                  </a:tcPr>
                </a:tc>
                <a:tc>
                  <a:txBody>
                    <a:bodyPr/>
                    <a:lstStyle/>
                    <a:p>
                      <a:r>
                        <a:rPr sz="1100">
                          <a:solidFill>
                            <a:srgbClr val="333333"/>
                          </a:solidFill>
                        </a:rPr>
                        <a:t>1.0000</a:t>
                      </a:r>
                    </a:p>
                  </a:txBody>
                  <a:tcPr>
                    <a:solidFill>
                      <a:srgbClr val="DCFCE7"/>
                    </a:solidFill>
                  </a:tcPr>
                </a:tc>
                <a:tc>
                  <a:txBody>
                    <a:bodyPr/>
                    <a:lstStyle/>
                    <a:p>
                      <a:r>
                        <a:rPr sz="1100">
                          <a:solidFill>
                            <a:srgbClr val="333333"/>
                          </a:solidFill>
                        </a:rPr>
                        <a:t>+72.2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t">
            <a:spAutoFit/>
          </a:bodyPr>
          <a:lstStyle/>
          <a:p>
            <a:pPr algn="ctr"/>
            <a:r>
              <a:rPr sz="1100" b="0">
                <a:solidFill>
                  <a:srgbClr val="333333"/>
                </a:solidFill>
              </a:rPr>
              <a:t>What TYPE of image?</a:t>
            </a:r>
          </a:p>
          <a:p>
            <a:pPr algn="ctr"/>
            <a:r>
              <a:rPr sz="1100" b="0">
                <a:solidFill>
                  <a:srgbClr val="333333"/>
                </a:solidFill>
              </a:rPr>
              <a:t>screenshot / photo /</a:t>
            </a:r>
          </a:p>
          <a:p>
            <a:pPr algn="ctr"/>
            <a:r>
              <a:rPr sz="1100" b="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t">
            <a:spAutoFit/>
          </a:bodyPr>
          <a:lstStyle/>
          <a:p>
            <a:pPr algn="ctr"/>
            <a:r>
              <a:rPr sz="1100" b="0">
                <a:solidFill>
                  <a:srgbClr val="333333"/>
                </a:solidFill>
              </a:rPr>
              <a:t>Split into 2–4 crops</a:t>
            </a:r>
          </a:p>
          <a:p>
            <a:pPr algn="ctr"/>
            <a:r>
              <a:rPr sz="1100" b="0">
                <a:solidFill>
                  <a:srgbClr val="333333"/>
                </a:solidFill>
              </a:rPr>
              <a:t>→ 2–4× effective</a:t>
            </a:r>
          </a:p>
          <a:p>
            <a:pPr algn="ctr"/>
            <a:r>
              <a:rPr sz="1100" b="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t">
            <a:spAutoFit/>
          </a:bodyPr>
          <a:lstStyle/>
          <a:p>
            <a:pPr algn="ctr"/>
            <a:r>
              <a:rPr sz="1100" b="0">
                <a:solidFill>
                  <a:srgbClr val="333333"/>
                </a:solidFill>
              </a:rPr>
              <a:t>Per tile: read ALL</a:t>
            </a:r>
          </a:p>
          <a:p>
            <a:pPr algn="ctr"/>
            <a:r>
              <a:rPr sz="1100" b="0">
                <a:solidFill>
                  <a:srgbClr val="333333"/>
                </a:solidFill>
              </a:rPr>
              <a:t>text verbatim</a:t>
            </a:r>
          </a:p>
          <a:p>
            <a:pPr algn="ctr"/>
            <a:r>
              <a:rPr sz="1100" b="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t">
            <a:spAutoFit/>
          </a:bodyPr>
          <a:lstStyle/>
          <a:p>
            <a:pPr algn="ctr"/>
            <a:r>
              <a:rPr sz="1100" b="0">
                <a:solidFill>
                  <a:srgbClr val="333333"/>
                </a:solidFill>
              </a:rPr>
              <a:t>Text-only LLM call</a:t>
            </a:r>
          </a:p>
          <a:p>
            <a:pPr algn="ctr"/>
            <a:r>
              <a:rPr sz="1100" b="0">
                <a:solidFill>
                  <a:srgbClr val="333333"/>
                </a:solidFill>
              </a:rPr>
              <a:t>— image REMOVED —</a:t>
            </a:r>
          </a:p>
          <a:p>
            <a:pPr algn="ctr"/>
            <a:r>
              <a:rPr sz="1100" b="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a:solidFill>
                  <a:srgbClr val="041E42"/>
                </a:solidFill>
              </a:rPr>
              <a:t>trust_score  =  0.4 × metadata  +  0.3 × dedup  +  0.3 × llm_credibility</a:t>
            </a:r>
          </a:p>
        </p:txBody>
      </p:sp>
      <p:sp>
        <p:nvSpPr>
          <p:cNvPr id="18" name="Rectangle 17"/>
          <p:cNvSpPr/>
          <p:nvPr/>
        </p:nvSpPr>
        <p:spPr>
          <a:xfrm>
            <a:off x="457200" y="4251960"/>
            <a:ext cx="11247120" cy="19659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89120"/>
            <a:ext cx="10972800" cy="320040"/>
          </a:xfrm>
          <a:prstGeom prst="rect">
            <a:avLst/>
          </a:prstGeom>
          <a:noFill/>
        </p:spPr>
        <p:txBody>
          <a:bodyPr wrap="square" anchor="t">
            <a:spAutoFit/>
          </a:bodyPr>
          <a:lstStyle/>
          <a:p>
            <a:pPr algn="l"/>
            <a:r>
              <a:rPr sz="1300" b="1">
                <a:solidFill>
                  <a:srgbClr val="10B981"/>
                </a:solidFill>
              </a:rPr>
              <a:t>Design principle — flag, don't drop</a:t>
            </a:r>
          </a:p>
        </p:txBody>
      </p:sp>
      <p:sp>
        <p:nvSpPr>
          <p:cNvPr id="20" name="TextBox 19"/>
          <p:cNvSpPr txBox="1"/>
          <p:nvPr/>
        </p:nvSpPr>
        <p:spPr>
          <a:xfrm>
            <a:off x="640080" y="4709160"/>
            <a:ext cx="10972800" cy="1463040"/>
          </a:xfrm>
          <a:prstGeom prst="rect">
            <a:avLst/>
          </a:prstGeom>
          <a:noFill/>
        </p:spPr>
        <p:txBody>
          <a:bodyPr wrap="square" anchor="t">
            <a:spAutoFit/>
          </a:bodyPr>
          <a:lstStyle/>
          <a:p>
            <a:pPr algn="l"/>
            <a:r>
              <a:rPr sz="1200" b="0">
                <a:solidFill>
                  <a:srgbClr val="333333"/>
                </a:solidFill>
              </a:rPr>
              <a:t>Low-trust posts are surfaced with an explanatory chip ("promotional / duplicate / thin-metadata") and can be overridden by an analyst in one click — the override is captured for the learning loop. Every constant in the formula has a stakeholder-arguable English rationale in config/models.yaml.</a:t>
            </a:r>
          </a:p>
        </p:txBody>
      </p:sp>
      <p:sp>
        <p:nvSpPr>
          <p:cNvPr id="21" name="TextBox 2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2" name="TextBox 2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Long-post F1  (&gt; 256 tokens)</a:t>
                      </a:r>
                    </a:p>
                  </a:txBody>
                  <a:tcPr>
                    <a:solidFill>
                      <a:srgbClr val="DCFCE7"/>
                    </a:solidFill>
                  </a:tcPr>
                </a:tc>
                <a:tc>
                  <a:txBody>
                    <a:bodyPr/>
                    <a:lstStyle/>
                    <a:p>
                      <a:r>
                        <a:rPr sz="1000">
                          <a:solidFill>
                            <a:srgbClr val="333333"/>
                          </a:solidFill>
                        </a:rPr>
                        <a:t>1.0000</a:t>
                      </a:r>
                    </a:p>
                  </a:txBody>
                  <a:tcPr>
                    <a:solidFill>
                      <a:srgbClr val="DCFCE7"/>
                    </a:solidFill>
                  </a:tcPr>
                </a:tc>
                <a:tc>
                  <a:txBody>
                    <a:bodyPr/>
                    <a:lstStyle/>
                    <a:p>
                      <a:r>
                        <a:rPr sz="1000">
                          <a:solidFill>
                            <a:srgbClr val="333333"/>
                          </a:solidFill>
                        </a:rPr>
                        <a:t>From 0.2778 baseline</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a:solidFill>
                  <a:srgbClr val="333333"/>
                </a:solidFill>
              </a:rPr>
              <a:t>Macro-F1 0.6272 → 0.7642 overall; 0.28 → 1.00 on long posts.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2578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500" b="1">
                <a:solidFill>
                  <a:srgbClr val="10B981"/>
                </a:solidFill>
              </a:rPr>
              <a:t>What worked</a:t>
            </a:r>
          </a:p>
        </p:txBody>
      </p:sp>
      <p:sp>
        <p:nvSpPr>
          <p:cNvPr id="8" name="TextBox 7"/>
          <p:cNvSpPr txBox="1"/>
          <p:nvPr/>
        </p:nvSpPr>
        <p:spPr>
          <a:xfrm>
            <a:off x="640080" y="1508760"/>
            <a:ext cx="5212080" cy="457200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(0.28 → 1.00)  came for free once we switched off truncation.</a:t>
            </a:r>
          </a:p>
          <a:p>
            <a:pPr>
              <a:spcAft>
                <a:spcPts val="400"/>
              </a:spcAft>
            </a:pPr>
            <a:r>
              <a:rPr sz="1100" b="0">
                <a:solidFill>
                  <a:srgbClr val="333333"/>
                </a:solidFill>
              </a:rPr>
              <a:t>•  Removing the image on the final vision merge step ended the 50 % hallucination problem  —  the mechanism, not just the number, is what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52578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500" b="1">
                <a:solidFill>
                  <a:srgbClr val="D97706"/>
                </a:solidFill>
              </a:rPr>
              <a:t>What's still open (honest)</a:t>
            </a:r>
          </a:p>
        </p:txBody>
      </p:sp>
      <p:sp>
        <p:nvSpPr>
          <p:cNvPr id="11" name="TextBox 10"/>
          <p:cNvSpPr txBox="1"/>
          <p:nvPr/>
        </p:nvSpPr>
        <p:spPr>
          <a:xfrm>
            <a:off x="6355080" y="1508760"/>
            <a:ext cx="5212080" cy="457200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Long-post F1 of 1.00 is on 7 posts  —  read it as evidence the truncation ceiling is gone, not that the model is perfect on long text.</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they're in the roadmap on the next slide.</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Future Work  —  Grounded 3-Horizon Roadmap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Only items with clear next steps; not a wishlist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51560"/>
            <a:ext cx="11247120" cy="14630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051560"/>
            <a:ext cx="228600" cy="1463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88720"/>
            <a:ext cx="10424160" cy="365760"/>
          </a:xfrm>
          <a:prstGeom prst="rect">
            <a:avLst/>
          </a:prstGeom>
          <a:noFill/>
        </p:spPr>
        <p:txBody>
          <a:bodyPr wrap="square" anchor="t">
            <a:spAutoFit/>
          </a:bodyPr>
          <a:lstStyle/>
          <a:p>
            <a:pPr algn="l"/>
            <a:r>
              <a:rPr sz="1500" b="1">
                <a:solidFill>
                  <a:srgbClr val="041E42"/>
                </a:solidFill>
              </a:rPr>
              <a:t>Now → 1 month</a:t>
            </a:r>
          </a:p>
        </p:txBody>
      </p:sp>
      <p:sp>
        <p:nvSpPr>
          <p:cNvPr id="9" name="TextBox 8"/>
          <p:cNvSpPr txBox="1"/>
          <p:nvPr/>
        </p:nvSpPr>
        <p:spPr>
          <a:xfrm>
            <a:off x="822960" y="1645920"/>
            <a:ext cx="10424160" cy="822960"/>
          </a:xfrm>
          <a:prstGeom prst="rect">
            <a:avLst/>
          </a:prstGeom>
          <a:noFill/>
        </p:spPr>
        <p:txBody>
          <a:bodyPr wrap="square" anchor="t">
            <a:spAutoFit/>
          </a:bodyPr>
          <a:lstStyle/>
          <a:p>
            <a:pPr algn="l"/>
            <a:r>
              <a:rPr sz="1200" b="0">
                <a:solidFill>
                  <a:srgbClr val="333333"/>
                </a:solidFill>
              </a:rPr>
              <a:t>Grow the gold set to ~500 posts using the HITL feedback the team is already producing; rerun 5-fold OOF and check the F1 delta.</a:t>
            </a:r>
          </a:p>
        </p:txBody>
      </p:sp>
      <p:sp>
        <p:nvSpPr>
          <p:cNvPr id="10" name="Rectangle 9"/>
          <p:cNvSpPr/>
          <p:nvPr/>
        </p:nvSpPr>
        <p:spPr>
          <a:xfrm>
            <a:off x="457200" y="2651760"/>
            <a:ext cx="11247120" cy="14630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651760"/>
            <a:ext cx="228600" cy="1463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788920"/>
            <a:ext cx="10424160" cy="365760"/>
          </a:xfrm>
          <a:prstGeom prst="rect">
            <a:avLst/>
          </a:prstGeom>
          <a:noFill/>
        </p:spPr>
        <p:txBody>
          <a:bodyPr wrap="square" anchor="t">
            <a:spAutoFit/>
          </a:bodyPr>
          <a:lstStyle/>
          <a:p>
            <a:pPr algn="l"/>
            <a:r>
              <a:rPr sz="1500" b="1">
                <a:solidFill>
                  <a:srgbClr val="041E42"/>
                </a:solidFill>
              </a:rPr>
              <a:t>1 → 3 months</a:t>
            </a:r>
          </a:p>
        </p:txBody>
      </p:sp>
      <p:sp>
        <p:nvSpPr>
          <p:cNvPr id="13" name="TextBox 12"/>
          <p:cNvSpPr txBox="1"/>
          <p:nvPr/>
        </p:nvSpPr>
        <p:spPr>
          <a:xfrm>
            <a:off x="822960" y="3246120"/>
            <a:ext cx="10424160" cy="822960"/>
          </a:xfrm>
          <a:prstGeom prst="rect">
            <a:avLst/>
          </a:prstGeom>
          <a:noFill/>
        </p:spPr>
        <p:txBody>
          <a:bodyPr wrap="square" anchor="t">
            <a:spAutoFit/>
          </a:bodyPr>
          <a:lstStyle/>
          <a:p>
            <a:pPr algn="l"/>
            <a:r>
              <a:rPr sz="1200" b="0">
                <a:solidFill>
                  <a:srgbClr val="333333"/>
                </a:solidFill>
              </a:rPr>
              <a:t>Wire the monthly ModernBERT retrain into a Cron / Airflow job so it stops being a manual notebook run; add promotion gate on OOF F1.</a:t>
            </a:r>
          </a:p>
        </p:txBody>
      </p:sp>
      <p:sp>
        <p:nvSpPr>
          <p:cNvPr id="14" name="Rectangle 13"/>
          <p:cNvSpPr/>
          <p:nvPr/>
        </p:nvSpPr>
        <p:spPr>
          <a:xfrm>
            <a:off x="457200" y="4251960"/>
            <a:ext cx="11247120" cy="14630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251960"/>
            <a:ext cx="228600" cy="1463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389120"/>
            <a:ext cx="10424160" cy="365760"/>
          </a:xfrm>
          <a:prstGeom prst="rect">
            <a:avLst/>
          </a:prstGeom>
          <a:noFill/>
        </p:spPr>
        <p:txBody>
          <a:bodyPr wrap="square" anchor="t">
            <a:spAutoFit/>
          </a:bodyPr>
          <a:lstStyle/>
          <a:p>
            <a:pPr algn="l"/>
            <a:r>
              <a:rPr sz="1500" b="1">
                <a:solidFill>
                  <a:srgbClr val="041E42"/>
                </a:solidFill>
              </a:rPr>
              <a:t>3 → 6 months</a:t>
            </a:r>
          </a:p>
        </p:txBody>
      </p:sp>
      <p:sp>
        <p:nvSpPr>
          <p:cNvPr id="17" name="TextBox 16"/>
          <p:cNvSpPr txBox="1"/>
          <p:nvPr/>
        </p:nvSpPr>
        <p:spPr>
          <a:xfrm>
            <a:off x="822960" y="4846320"/>
            <a:ext cx="10424160" cy="822960"/>
          </a:xfrm>
          <a:prstGeom prst="rect">
            <a:avLst/>
          </a:prstGeom>
          <a:noFill/>
        </p:spPr>
        <p:txBody>
          <a:bodyPr wrap="square" anchor="t">
            <a:spAutoFit/>
          </a:bodyPr>
          <a:lstStyle/>
          <a:p>
            <a:pPr algn="l"/>
            <a:r>
              <a:rPr sz="1200" b="0">
                <a:solidFill>
                  <a:srgbClr val="333333"/>
                </a:solidFill>
              </a:rPr>
              <a:t>Migrate storage to managed Postgres or Cosmos so multiple analysts can use the same feedback table concurrently; extend ingestion beyond Reddit only if the demand from the analyst team is real.</a:t>
            </a:r>
          </a:p>
        </p:txBody>
      </p:sp>
      <p:sp>
        <p:nvSpPr>
          <p:cNvPr id="18" name="Rectangle 17"/>
          <p:cNvSpPr/>
          <p:nvPr/>
        </p:nvSpPr>
        <p:spPr>
          <a:xfrm>
            <a:off x="457200" y="5852160"/>
            <a:ext cx="11247120" cy="457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97880"/>
            <a:ext cx="10972800" cy="365760"/>
          </a:xfrm>
          <a:prstGeom prst="rect">
            <a:avLst/>
          </a:prstGeom>
          <a:noFill/>
        </p:spPr>
        <p:txBody>
          <a:bodyPr wrap="square" anchor="ctr">
            <a:spAutoFit/>
          </a:bodyPr>
          <a:lstStyle/>
          <a:p>
            <a:pPr algn="l"/>
            <a:r>
              <a:rPr sz="1000" b="0">
                <a:solidFill>
                  <a:srgbClr val="333333"/>
                </a:solidFill>
              </a:rPr>
              <a:t>Deliberately excluded  —  ideas without a clear next step  (auto-reply gate, seasonal P1 forecast, bilingual taxonomy)  —  covered in the report's Future Work chapter.</a:t>
            </a:r>
          </a:p>
        </p:txBody>
      </p:sp>
      <p:sp>
        <p:nvSpPr>
          <p:cNvPr id="20" name="TextBox 19"/>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1" name="TextBox 20"/>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4114800"/>
        </p:xfrm>
        <a:graphic>
          <a:graphicData uri="http://schemas.openxmlformats.org/drawingml/2006/table">
            <a:tbl>
              <a:tblPr firstRow="1" bandRow="1">
                <a:tableStyleId>{5C22544A-7EE6-4342-B048-85BDC9FD1C3A}</a:tableStyleId>
              </a:tblPr>
              <a:tblGrid>
                <a:gridCol w="3749040"/>
                <a:gridCol w="3749040"/>
                <a:gridCol w="3749040"/>
              </a:tblGrid>
              <a:tr h="51435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51435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51435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51435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51435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51435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51435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51435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TextBox 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0" name="TextBox 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