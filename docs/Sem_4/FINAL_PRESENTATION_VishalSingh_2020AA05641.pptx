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reddit.com/r/samsclub/comments/1u2bgdw/why_do_you_guys_sell_whole_pizzas_made_hours_ago/"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3.png"/><Relationship Id="rId7"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41E42"/>
        </a:solidFill>
        <a:effectLst/>
      </p:bgPr>
    </p:bg>
    <p:spTree>
      <p:nvGrpSpPr>
        <p:cNvPr id="1" name=""/>
        <p:cNvGrpSpPr/>
        <p:nvPr/>
      </p:nvGrpSpPr>
      <p:grpSpPr/>
      <p:sp>
        <p:nvSpPr>
          <p:cNvPr id="2" name="Rectangle 1"/>
          <p:cNvSpPr/>
          <p:nvPr/>
        </p:nvSpPr>
        <p:spPr>
          <a:xfrm>
            <a:off x="0" y="2286000"/>
            <a:ext cx="365760" cy="246888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097280"/>
            <a:ext cx="10515600" cy="822960"/>
          </a:xfrm>
          <a:prstGeom prst="rect">
            <a:avLst/>
          </a:prstGeom>
          <a:noFill/>
        </p:spPr>
        <p:txBody>
          <a:bodyPr wrap="square" anchor="t">
            <a:spAutoFit/>
          </a:bodyPr>
          <a:lstStyle/>
          <a:p>
            <a:pPr algn="l"/>
            <a:r>
              <a:rPr sz="4400" b="1">
                <a:solidFill>
                  <a:srgbClr val="FFFFFF"/>
                </a:solidFill>
              </a:rPr>
              <a:t>Retail Sentiment Intelligence</a:t>
            </a:r>
          </a:p>
        </p:txBody>
      </p:sp>
      <p:sp>
        <p:nvSpPr>
          <p:cNvPr id="4" name="TextBox 3"/>
          <p:cNvSpPr txBox="1"/>
          <p:nvPr/>
        </p:nvSpPr>
        <p:spPr>
          <a:xfrm>
            <a:off x="822960" y="1965960"/>
            <a:ext cx="10515600" cy="548640"/>
          </a:xfrm>
          <a:prstGeom prst="rect">
            <a:avLst/>
          </a:prstGeom>
          <a:noFill/>
        </p:spPr>
        <p:txBody>
          <a:bodyPr wrap="square" anchor="t">
            <a:spAutoFit/>
          </a:bodyPr>
          <a:lstStyle/>
          <a:p>
            <a:pPr algn="l"/>
            <a:r>
              <a:rPr sz="2000" b="0">
                <a:solidFill>
                  <a:srgbClr val="FFC220"/>
                </a:solidFill>
              </a:rPr>
              <a:t>Trust-Aware Sentiment Analysis of Retail Feedback using LLMs</a:t>
            </a:r>
          </a:p>
        </p:txBody>
      </p:sp>
      <p:sp>
        <p:nvSpPr>
          <p:cNvPr id="5" name="TextBox 4"/>
          <p:cNvSpPr txBox="1"/>
          <p:nvPr/>
        </p:nvSpPr>
        <p:spPr>
          <a:xfrm>
            <a:off x="822960" y="2697480"/>
            <a:ext cx="10515600" cy="365760"/>
          </a:xfrm>
          <a:prstGeom prst="rect">
            <a:avLst/>
          </a:prstGeom>
          <a:noFill/>
        </p:spPr>
        <p:txBody>
          <a:bodyPr wrap="square" anchor="t">
            <a:spAutoFit/>
          </a:bodyPr>
          <a:lstStyle/>
          <a:p>
            <a:pPr algn="l"/>
            <a:r>
              <a:rPr sz="1400" b="1">
                <a:solidFill>
                  <a:srgbClr val="FFFFFF"/>
                </a:solidFill>
              </a:rPr>
              <a:t>BITS ZG628T  ·  Dissertation  ·  Post Mid-Semester Presentation</a:t>
            </a:r>
          </a:p>
        </p:txBody>
      </p:sp>
      <p:sp>
        <p:nvSpPr>
          <p:cNvPr id="6" name="TextBox 5"/>
          <p:cNvSpPr txBox="1"/>
          <p:nvPr/>
        </p:nvSpPr>
        <p:spPr>
          <a:xfrm>
            <a:off x="822960" y="3566160"/>
            <a:ext cx="10515600" cy="365760"/>
          </a:xfrm>
          <a:prstGeom prst="rect">
            <a:avLst/>
          </a:prstGeom>
          <a:noFill/>
        </p:spPr>
        <p:txBody>
          <a:bodyPr wrap="square" anchor="t">
            <a:spAutoFit/>
          </a:bodyPr>
          <a:lstStyle/>
          <a:p>
            <a:pPr algn="l"/>
            <a:r>
              <a:rPr sz="1800" b="1">
                <a:solidFill>
                  <a:srgbClr val="FFFFFF"/>
                </a:solidFill>
              </a:rPr>
              <a:t>Vishal Singh   ·   ID No. 2020AA05641</a:t>
            </a:r>
          </a:p>
        </p:txBody>
      </p:sp>
      <p:sp>
        <p:nvSpPr>
          <p:cNvPr id="7" name="TextBox 6"/>
          <p:cNvSpPr txBox="1"/>
          <p:nvPr/>
        </p:nvSpPr>
        <p:spPr>
          <a:xfrm>
            <a:off x="822960" y="3977639"/>
            <a:ext cx="10515600" cy="365760"/>
          </a:xfrm>
          <a:prstGeom prst="rect">
            <a:avLst/>
          </a:prstGeom>
          <a:noFill/>
        </p:spPr>
        <p:txBody>
          <a:bodyPr wrap="square" anchor="t">
            <a:spAutoFit/>
          </a:bodyPr>
          <a:lstStyle/>
          <a:p>
            <a:pPr algn="l"/>
            <a:r>
              <a:rPr sz="1400" b="0">
                <a:solidFill>
                  <a:srgbClr val="E8F4FD"/>
                </a:solidFill>
              </a:rPr>
              <a:t>M.Tech (Artificial Intelligence &amp; Machine Learning)</a:t>
            </a:r>
          </a:p>
        </p:txBody>
      </p:sp>
      <p:sp>
        <p:nvSpPr>
          <p:cNvPr id="8" name="TextBox 7"/>
          <p:cNvSpPr txBox="1"/>
          <p:nvPr/>
        </p:nvSpPr>
        <p:spPr>
          <a:xfrm>
            <a:off x="822960" y="4297680"/>
            <a:ext cx="10515600" cy="365760"/>
          </a:xfrm>
          <a:prstGeom prst="rect">
            <a:avLst/>
          </a:prstGeom>
          <a:noFill/>
        </p:spPr>
        <p:txBody>
          <a:bodyPr wrap="square" anchor="t">
            <a:spAutoFit/>
          </a:bodyPr>
          <a:lstStyle/>
          <a:p>
            <a:pPr algn="l"/>
            <a:r>
              <a:rPr sz="1400" b="0">
                <a:solidFill>
                  <a:srgbClr val="E8F4FD"/>
                </a:solidFill>
              </a:rPr>
              <a:t>Birla Institute of Technology &amp; Science, Pilani  (WILP)</a:t>
            </a:r>
          </a:p>
        </p:txBody>
      </p:sp>
      <p:sp>
        <p:nvSpPr>
          <p:cNvPr id="9" name="TextBox 8"/>
          <p:cNvSpPr txBox="1"/>
          <p:nvPr/>
        </p:nvSpPr>
        <p:spPr>
          <a:xfrm>
            <a:off x="822960" y="5029200"/>
            <a:ext cx="10515600" cy="365760"/>
          </a:xfrm>
          <a:prstGeom prst="rect">
            <a:avLst/>
          </a:prstGeom>
          <a:noFill/>
        </p:spPr>
        <p:txBody>
          <a:bodyPr wrap="square" anchor="t">
            <a:spAutoFit/>
          </a:bodyPr>
          <a:lstStyle/>
          <a:p>
            <a:pPr algn="l"/>
            <a:r>
              <a:rPr sz="1200" b="0">
                <a:solidFill>
                  <a:srgbClr val="FFFFFF"/>
                </a:solidFill>
              </a:rPr>
              <a:t>Dissertation work at  Walmart Global Tech, Bengaluru</a:t>
            </a:r>
          </a:p>
        </p:txBody>
      </p:sp>
      <p:sp>
        <p:nvSpPr>
          <p:cNvPr id="10" name="TextBox 9"/>
          <p:cNvSpPr txBox="1"/>
          <p:nvPr/>
        </p:nvSpPr>
        <p:spPr>
          <a:xfrm>
            <a:off x="822960" y="5349240"/>
            <a:ext cx="10515600" cy="365760"/>
          </a:xfrm>
          <a:prstGeom prst="rect">
            <a:avLst/>
          </a:prstGeom>
          <a:noFill/>
        </p:spPr>
        <p:txBody>
          <a:bodyPr wrap="square" anchor="t">
            <a:spAutoFit/>
          </a:bodyPr>
          <a:lstStyle/>
          <a:p>
            <a:pPr algn="l"/>
            <a:r>
              <a:rPr sz="1200" b="0">
                <a:solidFill>
                  <a:srgbClr val="FFFFFF"/>
                </a:solidFill>
              </a:rPr>
              <a:t>Supervisor:  Mr. Varunendra Pratap Singh  —  Principal Software Engineer, Walmart Global Tech</a:t>
            </a:r>
          </a:p>
        </p:txBody>
      </p:sp>
      <p:sp>
        <p:nvSpPr>
          <p:cNvPr id="11" name="TextBox 10"/>
          <p:cNvSpPr txBox="1"/>
          <p:nvPr/>
        </p:nvSpPr>
        <p:spPr>
          <a:xfrm>
            <a:off x="822960" y="5669280"/>
            <a:ext cx="10515600" cy="365760"/>
          </a:xfrm>
          <a:prstGeom prst="rect">
            <a:avLst/>
          </a:prstGeom>
          <a:noFill/>
        </p:spPr>
        <p:txBody>
          <a:bodyPr wrap="square" anchor="t">
            <a:spAutoFit/>
          </a:bodyPr>
          <a:lstStyle/>
          <a:p>
            <a:pPr algn="l"/>
            <a:r>
              <a:rPr sz="1200" b="0">
                <a:solidFill>
                  <a:srgbClr val="FFFFFF"/>
                </a:solidFill>
              </a:rPr>
              <a:t>Additional Examiner:  Ms. Pradnya Kashikar  —  BITS Pilani</a:t>
            </a:r>
          </a:p>
        </p:txBody>
      </p:sp>
      <p:sp>
        <p:nvSpPr>
          <p:cNvPr id="12" name="TextBox 11"/>
          <p:cNvSpPr txBox="1"/>
          <p:nvPr/>
        </p:nvSpPr>
        <p:spPr>
          <a:xfrm>
            <a:off x="822960" y="6263640"/>
            <a:ext cx="10515600" cy="365760"/>
          </a:xfrm>
          <a:prstGeom prst="rect">
            <a:avLst/>
          </a:prstGeom>
          <a:noFill/>
        </p:spPr>
        <p:txBody>
          <a:bodyPr wrap="square" anchor="t">
            <a:spAutoFit/>
          </a:bodyPr>
          <a:lstStyle/>
          <a:p>
            <a:pPr algn="l"/>
            <a:r>
              <a:rPr sz="1100" b="0">
                <a:solidFill>
                  <a:srgbClr val="666666"/>
                </a:solidFill>
              </a:rPr>
              <a:t>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Agenda</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Focus of today — post mid-semester work only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14400"/>
            <a:ext cx="5623560" cy="347472"/>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960120"/>
            <a:ext cx="502920" cy="256032"/>
          </a:xfrm>
          <a:prstGeom prst="rect">
            <a:avLst/>
          </a:prstGeom>
          <a:noFill/>
        </p:spPr>
        <p:txBody>
          <a:bodyPr wrap="square" anchor="t">
            <a:spAutoFit/>
          </a:bodyPr>
          <a:lstStyle/>
          <a:p>
            <a:pPr algn="l"/>
            <a:r>
              <a:rPr sz="1200" b="1">
                <a:solidFill>
                  <a:srgbClr val="0071DC"/>
                </a:solidFill>
              </a:rPr>
              <a:t>1</a:t>
            </a:r>
          </a:p>
        </p:txBody>
      </p:sp>
      <p:sp>
        <p:nvSpPr>
          <p:cNvPr id="8" name="TextBox 7"/>
          <p:cNvSpPr txBox="1"/>
          <p:nvPr/>
        </p:nvSpPr>
        <p:spPr>
          <a:xfrm>
            <a:off x="1097280" y="941832"/>
            <a:ext cx="4892040" cy="182880"/>
          </a:xfrm>
          <a:prstGeom prst="rect">
            <a:avLst/>
          </a:prstGeom>
          <a:noFill/>
        </p:spPr>
        <p:txBody>
          <a:bodyPr wrap="square" anchor="t">
            <a:spAutoFit/>
          </a:bodyPr>
          <a:lstStyle/>
          <a:p>
            <a:pPr algn="l"/>
            <a:r>
              <a:rPr sz="1100" b="1">
                <a:solidFill>
                  <a:srgbClr val="041E42"/>
                </a:solidFill>
              </a:rPr>
              <a:t>Since Mid-Sem — What's New</a:t>
            </a:r>
          </a:p>
        </p:txBody>
      </p:sp>
      <p:sp>
        <p:nvSpPr>
          <p:cNvPr id="9" name="TextBox 8"/>
          <p:cNvSpPr txBox="1"/>
          <p:nvPr/>
        </p:nvSpPr>
        <p:spPr>
          <a:xfrm>
            <a:off x="1097280" y="1097280"/>
            <a:ext cx="4892040" cy="182880"/>
          </a:xfrm>
          <a:prstGeom prst="rect">
            <a:avLst/>
          </a:prstGeom>
          <a:noFill/>
        </p:spPr>
        <p:txBody>
          <a:bodyPr wrap="square" anchor="t">
            <a:spAutoFit/>
          </a:bodyPr>
          <a:lstStyle/>
          <a:p>
            <a:pPr algn="l"/>
            <a:r>
              <a:rPr sz="900" b="0">
                <a:solidFill>
                  <a:srgbClr val="666666"/>
                </a:solidFill>
              </a:rPr>
              <a:t>Post-midsem workstream map</a:t>
            </a:r>
          </a:p>
        </p:txBody>
      </p:sp>
      <p:sp>
        <p:nvSpPr>
          <p:cNvPr id="10" name="Rectangle 9"/>
          <p:cNvSpPr/>
          <p:nvPr/>
        </p:nvSpPr>
        <p:spPr>
          <a:xfrm>
            <a:off x="457200" y="1353312"/>
            <a:ext cx="5623560" cy="347472"/>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399032"/>
            <a:ext cx="502920" cy="256032"/>
          </a:xfrm>
          <a:prstGeom prst="rect">
            <a:avLst/>
          </a:prstGeom>
          <a:noFill/>
        </p:spPr>
        <p:txBody>
          <a:bodyPr wrap="square" anchor="t">
            <a:spAutoFit/>
          </a:bodyPr>
          <a:lstStyle/>
          <a:p>
            <a:pPr algn="l"/>
            <a:r>
              <a:rPr sz="1200" b="1">
                <a:solidFill>
                  <a:srgbClr val="0071DC"/>
                </a:solidFill>
              </a:rPr>
              <a:t>2</a:t>
            </a:r>
          </a:p>
        </p:txBody>
      </p:sp>
      <p:sp>
        <p:nvSpPr>
          <p:cNvPr id="12" name="TextBox 11"/>
          <p:cNvSpPr txBox="1"/>
          <p:nvPr/>
        </p:nvSpPr>
        <p:spPr>
          <a:xfrm>
            <a:off x="1097280" y="1380744"/>
            <a:ext cx="4892040" cy="182880"/>
          </a:xfrm>
          <a:prstGeom prst="rect">
            <a:avLst/>
          </a:prstGeom>
          <a:noFill/>
        </p:spPr>
        <p:txBody>
          <a:bodyPr wrap="square" anchor="t">
            <a:spAutoFit/>
          </a:bodyPr>
          <a:lstStyle/>
          <a:p>
            <a:pPr algn="l"/>
            <a:r>
              <a:rPr sz="1100" b="1">
                <a:solidFill>
                  <a:srgbClr val="041E42"/>
                </a:solidFill>
              </a:rPr>
              <a:t>Review &amp; Validate  (HITL)</a:t>
            </a:r>
          </a:p>
        </p:txBody>
      </p:sp>
      <p:sp>
        <p:nvSpPr>
          <p:cNvPr id="13" name="TextBox 12"/>
          <p:cNvSpPr txBox="1"/>
          <p:nvPr/>
        </p:nvSpPr>
        <p:spPr>
          <a:xfrm>
            <a:off x="1097280" y="1536192"/>
            <a:ext cx="4892040" cy="182880"/>
          </a:xfrm>
          <a:prstGeom prst="rect">
            <a:avLst/>
          </a:prstGeom>
          <a:noFill/>
        </p:spPr>
        <p:txBody>
          <a:bodyPr wrap="square" anchor="t">
            <a:spAutoFit/>
          </a:bodyPr>
          <a:lstStyle/>
          <a:p>
            <a:pPr algn="l"/>
            <a:r>
              <a:rPr sz="900" b="0">
                <a:solidFill>
                  <a:srgbClr val="666666"/>
                </a:solidFill>
              </a:rPr>
              <a:t>Human-in-the-loop correction workflow</a:t>
            </a:r>
          </a:p>
        </p:txBody>
      </p:sp>
      <p:sp>
        <p:nvSpPr>
          <p:cNvPr id="14" name="Rectangle 13"/>
          <p:cNvSpPr/>
          <p:nvPr/>
        </p:nvSpPr>
        <p:spPr>
          <a:xfrm>
            <a:off x="457200" y="1792224"/>
            <a:ext cx="5623560" cy="347472"/>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1837944"/>
            <a:ext cx="502920" cy="256032"/>
          </a:xfrm>
          <a:prstGeom prst="rect">
            <a:avLst/>
          </a:prstGeom>
          <a:noFill/>
        </p:spPr>
        <p:txBody>
          <a:bodyPr wrap="square" anchor="t">
            <a:spAutoFit/>
          </a:bodyPr>
          <a:lstStyle/>
          <a:p>
            <a:pPr algn="l"/>
            <a:r>
              <a:rPr sz="1200" b="1">
                <a:solidFill>
                  <a:srgbClr val="0071DC"/>
                </a:solidFill>
              </a:rPr>
              <a:t>3</a:t>
            </a:r>
          </a:p>
        </p:txBody>
      </p:sp>
      <p:sp>
        <p:nvSpPr>
          <p:cNvPr id="16" name="TextBox 15"/>
          <p:cNvSpPr txBox="1"/>
          <p:nvPr/>
        </p:nvSpPr>
        <p:spPr>
          <a:xfrm>
            <a:off x="1097280" y="1819656"/>
            <a:ext cx="4892040" cy="182880"/>
          </a:xfrm>
          <a:prstGeom prst="rect">
            <a:avLst/>
          </a:prstGeom>
          <a:noFill/>
        </p:spPr>
        <p:txBody>
          <a:bodyPr wrap="square" anchor="t">
            <a:spAutoFit/>
          </a:bodyPr>
          <a:lstStyle/>
          <a:p>
            <a:pPr algn="l"/>
            <a:r>
              <a:rPr sz="1100" b="1">
                <a:solidFill>
                  <a:srgbClr val="041E42"/>
                </a:solidFill>
              </a:rPr>
              <a:t>Smart Reply  —  Triple Draft</a:t>
            </a:r>
          </a:p>
        </p:txBody>
      </p:sp>
      <p:sp>
        <p:nvSpPr>
          <p:cNvPr id="17" name="TextBox 16"/>
          <p:cNvSpPr txBox="1"/>
          <p:nvPr/>
        </p:nvSpPr>
        <p:spPr>
          <a:xfrm>
            <a:off x="1097280" y="1975104"/>
            <a:ext cx="4892040" cy="182880"/>
          </a:xfrm>
          <a:prstGeom prst="rect">
            <a:avLst/>
          </a:prstGeom>
          <a:noFill/>
        </p:spPr>
        <p:txBody>
          <a:bodyPr wrap="square" anchor="t">
            <a:spAutoFit/>
          </a:bodyPr>
          <a:lstStyle/>
          <a:p>
            <a:pPr algn="l"/>
            <a:r>
              <a:rPr sz="900" b="0">
                <a:solidFill>
                  <a:srgbClr val="666666"/>
                </a:solidFill>
              </a:rPr>
              <a:t>GPT-4o  +  Mistral 7B  +  Smart Composer</a:t>
            </a:r>
          </a:p>
        </p:txBody>
      </p:sp>
      <p:sp>
        <p:nvSpPr>
          <p:cNvPr id="18" name="Rectangle 17"/>
          <p:cNvSpPr/>
          <p:nvPr/>
        </p:nvSpPr>
        <p:spPr>
          <a:xfrm>
            <a:off x="457200" y="2231136"/>
            <a:ext cx="5623560" cy="347472"/>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276856"/>
            <a:ext cx="502920" cy="256032"/>
          </a:xfrm>
          <a:prstGeom prst="rect">
            <a:avLst/>
          </a:prstGeom>
          <a:noFill/>
        </p:spPr>
        <p:txBody>
          <a:bodyPr wrap="square" anchor="t">
            <a:spAutoFit/>
          </a:bodyPr>
          <a:lstStyle/>
          <a:p>
            <a:pPr algn="l"/>
            <a:r>
              <a:rPr sz="1200" b="1">
                <a:solidFill>
                  <a:srgbClr val="0071DC"/>
                </a:solidFill>
              </a:rPr>
              <a:t>4</a:t>
            </a:r>
          </a:p>
        </p:txBody>
      </p:sp>
      <p:sp>
        <p:nvSpPr>
          <p:cNvPr id="20" name="TextBox 19"/>
          <p:cNvSpPr txBox="1"/>
          <p:nvPr/>
        </p:nvSpPr>
        <p:spPr>
          <a:xfrm>
            <a:off x="1097280" y="2258568"/>
            <a:ext cx="4892040" cy="182880"/>
          </a:xfrm>
          <a:prstGeom prst="rect">
            <a:avLst/>
          </a:prstGeom>
          <a:noFill/>
        </p:spPr>
        <p:txBody>
          <a:bodyPr wrap="square" anchor="t">
            <a:spAutoFit/>
          </a:bodyPr>
          <a:lstStyle/>
          <a:p>
            <a:pPr algn="l"/>
            <a:r>
              <a:rPr sz="1100" b="1">
                <a:solidFill>
                  <a:srgbClr val="041E42"/>
                </a:solidFill>
              </a:rPr>
              <a:t>Smart Reply  —  Prompt &amp; Few-Shot</a:t>
            </a:r>
          </a:p>
        </p:txBody>
      </p:sp>
      <p:sp>
        <p:nvSpPr>
          <p:cNvPr id="21" name="TextBox 20"/>
          <p:cNvSpPr txBox="1"/>
          <p:nvPr/>
        </p:nvSpPr>
        <p:spPr>
          <a:xfrm>
            <a:off x="1097280" y="2414016"/>
            <a:ext cx="4892040" cy="182880"/>
          </a:xfrm>
          <a:prstGeom prst="rect">
            <a:avLst/>
          </a:prstGeom>
          <a:noFill/>
        </p:spPr>
        <p:txBody>
          <a:bodyPr wrap="square" anchor="t">
            <a:spAutoFit/>
          </a:bodyPr>
          <a:lstStyle/>
          <a:p>
            <a:pPr algn="l"/>
            <a:r>
              <a:rPr sz="900" b="0">
                <a:solidFill>
                  <a:srgbClr val="666666"/>
                </a:solidFill>
              </a:rPr>
              <a:t>Prompt template + past validated replies</a:t>
            </a:r>
          </a:p>
        </p:txBody>
      </p:sp>
      <p:sp>
        <p:nvSpPr>
          <p:cNvPr id="22" name="Rectangle 21"/>
          <p:cNvSpPr/>
          <p:nvPr/>
        </p:nvSpPr>
        <p:spPr>
          <a:xfrm>
            <a:off x="457200" y="2670048"/>
            <a:ext cx="5623560" cy="347472"/>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2715768"/>
            <a:ext cx="502920" cy="256032"/>
          </a:xfrm>
          <a:prstGeom prst="rect">
            <a:avLst/>
          </a:prstGeom>
          <a:noFill/>
        </p:spPr>
        <p:txBody>
          <a:bodyPr wrap="square" anchor="t">
            <a:spAutoFit/>
          </a:bodyPr>
          <a:lstStyle/>
          <a:p>
            <a:pPr algn="l"/>
            <a:r>
              <a:rPr sz="1200" b="1">
                <a:solidFill>
                  <a:srgbClr val="0071DC"/>
                </a:solidFill>
              </a:rPr>
              <a:t>5</a:t>
            </a:r>
          </a:p>
        </p:txBody>
      </p:sp>
      <p:sp>
        <p:nvSpPr>
          <p:cNvPr id="24" name="TextBox 23"/>
          <p:cNvSpPr txBox="1"/>
          <p:nvPr/>
        </p:nvSpPr>
        <p:spPr>
          <a:xfrm>
            <a:off x="1097280" y="2697480"/>
            <a:ext cx="4892040" cy="182880"/>
          </a:xfrm>
          <a:prstGeom prst="rect">
            <a:avLst/>
          </a:prstGeom>
          <a:noFill/>
        </p:spPr>
        <p:txBody>
          <a:bodyPr wrap="square" anchor="t">
            <a:spAutoFit/>
          </a:bodyPr>
          <a:lstStyle/>
          <a:p>
            <a:pPr algn="l"/>
            <a:r>
              <a:rPr sz="1100" b="1">
                <a:solidFill>
                  <a:srgbClr val="041E42"/>
                </a:solidFill>
              </a:rPr>
              <a:t>Smart Reply  —  Worked Example</a:t>
            </a:r>
          </a:p>
        </p:txBody>
      </p:sp>
      <p:sp>
        <p:nvSpPr>
          <p:cNvPr id="25" name="TextBox 24"/>
          <p:cNvSpPr txBox="1"/>
          <p:nvPr/>
        </p:nvSpPr>
        <p:spPr>
          <a:xfrm>
            <a:off x="1097280" y="2852928"/>
            <a:ext cx="4892040" cy="182880"/>
          </a:xfrm>
          <a:prstGeom prst="rect">
            <a:avLst/>
          </a:prstGeom>
          <a:noFill/>
        </p:spPr>
        <p:txBody>
          <a:bodyPr wrap="square" anchor="t">
            <a:spAutoFit/>
          </a:bodyPr>
          <a:lstStyle/>
          <a:p>
            <a:pPr algn="l"/>
            <a:r>
              <a:rPr sz="900" b="0">
                <a:solidFill>
                  <a:srgbClr val="666666"/>
                </a:solidFill>
              </a:rPr>
              <a:t>One complaint  →  three drafts</a:t>
            </a:r>
          </a:p>
        </p:txBody>
      </p:sp>
      <p:sp>
        <p:nvSpPr>
          <p:cNvPr id="26" name="Rectangle 25"/>
          <p:cNvSpPr/>
          <p:nvPr/>
        </p:nvSpPr>
        <p:spPr>
          <a:xfrm>
            <a:off x="457200" y="3108960"/>
            <a:ext cx="5623560" cy="347472"/>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3154680"/>
            <a:ext cx="502920" cy="256032"/>
          </a:xfrm>
          <a:prstGeom prst="rect">
            <a:avLst/>
          </a:prstGeom>
          <a:noFill/>
        </p:spPr>
        <p:txBody>
          <a:bodyPr wrap="square" anchor="t">
            <a:spAutoFit/>
          </a:bodyPr>
          <a:lstStyle/>
          <a:p>
            <a:pPr algn="l"/>
            <a:r>
              <a:rPr sz="1200" b="1">
                <a:solidFill>
                  <a:srgbClr val="0071DC"/>
                </a:solidFill>
              </a:rPr>
              <a:t>6</a:t>
            </a:r>
          </a:p>
        </p:txBody>
      </p:sp>
      <p:sp>
        <p:nvSpPr>
          <p:cNvPr id="28" name="TextBox 27"/>
          <p:cNvSpPr txBox="1"/>
          <p:nvPr/>
        </p:nvSpPr>
        <p:spPr>
          <a:xfrm>
            <a:off x="1097280" y="3136392"/>
            <a:ext cx="4892040" cy="182880"/>
          </a:xfrm>
          <a:prstGeom prst="rect">
            <a:avLst/>
          </a:prstGeom>
          <a:noFill/>
        </p:spPr>
        <p:txBody>
          <a:bodyPr wrap="square" anchor="t">
            <a:spAutoFit/>
          </a:bodyPr>
          <a:lstStyle/>
          <a:p>
            <a:pPr algn="l"/>
            <a:r>
              <a:rPr sz="1100" b="1">
                <a:solidFill>
                  <a:srgbClr val="041E42"/>
                </a:solidFill>
              </a:rPr>
              <a:t>Learning Loop</a:t>
            </a:r>
          </a:p>
        </p:txBody>
      </p:sp>
      <p:sp>
        <p:nvSpPr>
          <p:cNvPr id="29" name="TextBox 28"/>
          <p:cNvSpPr txBox="1"/>
          <p:nvPr/>
        </p:nvSpPr>
        <p:spPr>
          <a:xfrm>
            <a:off x="1097280" y="3291840"/>
            <a:ext cx="4892040" cy="182880"/>
          </a:xfrm>
          <a:prstGeom prst="rect">
            <a:avLst/>
          </a:prstGeom>
          <a:noFill/>
        </p:spPr>
        <p:txBody>
          <a:bodyPr wrap="square" anchor="t">
            <a:spAutoFit/>
          </a:bodyPr>
          <a:lstStyle/>
          <a:p>
            <a:pPr algn="l"/>
            <a:r>
              <a:rPr sz="900" b="0">
                <a:solidFill>
                  <a:srgbClr val="666666"/>
                </a:solidFill>
              </a:rPr>
              <a:t>Corrections + posted replies → retraining</a:t>
            </a:r>
          </a:p>
        </p:txBody>
      </p:sp>
      <p:sp>
        <p:nvSpPr>
          <p:cNvPr id="30" name="Rectangle 29"/>
          <p:cNvSpPr/>
          <p:nvPr/>
        </p:nvSpPr>
        <p:spPr>
          <a:xfrm>
            <a:off x="457200" y="3547872"/>
            <a:ext cx="5623560" cy="347472"/>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3593592"/>
            <a:ext cx="502920" cy="256032"/>
          </a:xfrm>
          <a:prstGeom prst="rect">
            <a:avLst/>
          </a:prstGeom>
          <a:noFill/>
        </p:spPr>
        <p:txBody>
          <a:bodyPr wrap="square" anchor="t">
            <a:spAutoFit/>
          </a:bodyPr>
          <a:lstStyle/>
          <a:p>
            <a:pPr algn="l"/>
            <a:r>
              <a:rPr sz="1200" b="1">
                <a:solidFill>
                  <a:srgbClr val="0071DC"/>
                </a:solidFill>
              </a:rPr>
              <a:t>7</a:t>
            </a:r>
          </a:p>
        </p:txBody>
      </p:sp>
      <p:sp>
        <p:nvSpPr>
          <p:cNvPr id="32" name="TextBox 31"/>
          <p:cNvSpPr txBox="1"/>
          <p:nvPr/>
        </p:nvSpPr>
        <p:spPr>
          <a:xfrm>
            <a:off x="1097280" y="3575304"/>
            <a:ext cx="4892040" cy="182880"/>
          </a:xfrm>
          <a:prstGeom prst="rect">
            <a:avLst/>
          </a:prstGeom>
          <a:noFill/>
        </p:spPr>
        <p:txBody>
          <a:bodyPr wrap="square" anchor="t">
            <a:spAutoFit/>
          </a:bodyPr>
          <a:lstStyle/>
          <a:p>
            <a:pPr algn="l"/>
            <a:r>
              <a:rPr sz="1100" b="1">
                <a:solidFill>
                  <a:srgbClr val="041E42"/>
                </a:solidFill>
              </a:rPr>
              <a:t>Post Explorer</a:t>
            </a:r>
          </a:p>
        </p:txBody>
      </p:sp>
      <p:sp>
        <p:nvSpPr>
          <p:cNvPr id="33" name="TextBox 32"/>
          <p:cNvSpPr txBox="1"/>
          <p:nvPr/>
        </p:nvSpPr>
        <p:spPr>
          <a:xfrm>
            <a:off x="1097280" y="3730752"/>
            <a:ext cx="4892040" cy="182880"/>
          </a:xfrm>
          <a:prstGeom prst="rect">
            <a:avLst/>
          </a:prstGeom>
          <a:noFill/>
        </p:spPr>
        <p:txBody>
          <a:bodyPr wrap="square" anchor="t">
            <a:spAutoFit/>
          </a:bodyPr>
          <a:lstStyle/>
          <a:p>
            <a:pPr algn="l"/>
            <a:r>
              <a:rPr sz="900" b="0">
                <a:solidFill>
                  <a:srgbClr val="666666"/>
                </a:solidFill>
              </a:rPr>
              <a:t>Multi-facet search across analysed posts</a:t>
            </a:r>
          </a:p>
        </p:txBody>
      </p:sp>
      <p:sp>
        <p:nvSpPr>
          <p:cNvPr id="34" name="Rectangle 33"/>
          <p:cNvSpPr/>
          <p:nvPr/>
        </p:nvSpPr>
        <p:spPr>
          <a:xfrm>
            <a:off x="457200" y="3986784"/>
            <a:ext cx="5623560" cy="347472"/>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4032504"/>
            <a:ext cx="502920" cy="256032"/>
          </a:xfrm>
          <a:prstGeom prst="rect">
            <a:avLst/>
          </a:prstGeom>
          <a:noFill/>
        </p:spPr>
        <p:txBody>
          <a:bodyPr wrap="square" anchor="t">
            <a:spAutoFit/>
          </a:bodyPr>
          <a:lstStyle/>
          <a:p>
            <a:pPr algn="l"/>
            <a:r>
              <a:rPr sz="1200" b="1">
                <a:solidFill>
                  <a:srgbClr val="0071DC"/>
                </a:solidFill>
              </a:rPr>
              <a:t>8</a:t>
            </a:r>
          </a:p>
        </p:txBody>
      </p:sp>
      <p:sp>
        <p:nvSpPr>
          <p:cNvPr id="36" name="TextBox 35"/>
          <p:cNvSpPr txBox="1"/>
          <p:nvPr/>
        </p:nvSpPr>
        <p:spPr>
          <a:xfrm>
            <a:off x="1097280" y="4014216"/>
            <a:ext cx="4892040" cy="182880"/>
          </a:xfrm>
          <a:prstGeom prst="rect">
            <a:avLst/>
          </a:prstGeom>
          <a:noFill/>
        </p:spPr>
        <p:txBody>
          <a:bodyPr wrap="square" anchor="t">
            <a:spAutoFit/>
          </a:bodyPr>
          <a:lstStyle/>
          <a:p>
            <a:pPr algn="l"/>
            <a:r>
              <a:rPr sz="1100" b="1">
                <a:solidFill>
                  <a:srgbClr val="041E42"/>
                </a:solidFill>
              </a:rPr>
              <a:t>Post Lifecycle  (Kanban)</a:t>
            </a:r>
          </a:p>
        </p:txBody>
      </p:sp>
      <p:sp>
        <p:nvSpPr>
          <p:cNvPr id="37" name="TextBox 36"/>
          <p:cNvSpPr txBox="1"/>
          <p:nvPr/>
        </p:nvSpPr>
        <p:spPr>
          <a:xfrm>
            <a:off x="1097280" y="4169664"/>
            <a:ext cx="4892040" cy="182880"/>
          </a:xfrm>
          <a:prstGeom prst="rect">
            <a:avLst/>
          </a:prstGeom>
          <a:noFill/>
        </p:spPr>
        <p:txBody>
          <a:bodyPr wrap="square" anchor="t">
            <a:spAutoFit/>
          </a:bodyPr>
          <a:lstStyle/>
          <a:p>
            <a:pPr algn="l"/>
            <a:r>
              <a:rPr sz="900" b="0">
                <a:solidFill>
                  <a:srgbClr val="666666"/>
                </a:solidFill>
              </a:rPr>
              <a:t>Triage → Acknowledged → In-Progress → Resolved</a:t>
            </a:r>
          </a:p>
        </p:txBody>
      </p:sp>
      <p:sp>
        <p:nvSpPr>
          <p:cNvPr id="38" name="Rectangle 37"/>
          <p:cNvSpPr/>
          <p:nvPr/>
        </p:nvSpPr>
        <p:spPr>
          <a:xfrm>
            <a:off x="6217920" y="914400"/>
            <a:ext cx="5623560" cy="347472"/>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0" y="960120"/>
            <a:ext cx="502920" cy="256032"/>
          </a:xfrm>
          <a:prstGeom prst="rect">
            <a:avLst/>
          </a:prstGeom>
          <a:noFill/>
        </p:spPr>
        <p:txBody>
          <a:bodyPr wrap="square" anchor="t">
            <a:spAutoFit/>
          </a:bodyPr>
          <a:lstStyle/>
          <a:p>
            <a:pPr algn="l"/>
            <a:r>
              <a:rPr sz="1200" b="1">
                <a:solidFill>
                  <a:srgbClr val="0071DC"/>
                </a:solidFill>
              </a:rPr>
              <a:t>9</a:t>
            </a:r>
          </a:p>
        </p:txBody>
      </p:sp>
      <p:sp>
        <p:nvSpPr>
          <p:cNvPr id="40" name="TextBox 39"/>
          <p:cNvSpPr txBox="1"/>
          <p:nvPr/>
        </p:nvSpPr>
        <p:spPr>
          <a:xfrm>
            <a:off x="6858000" y="941832"/>
            <a:ext cx="4892040" cy="182880"/>
          </a:xfrm>
          <a:prstGeom prst="rect">
            <a:avLst/>
          </a:prstGeom>
          <a:noFill/>
        </p:spPr>
        <p:txBody>
          <a:bodyPr wrap="square" anchor="t">
            <a:spAutoFit/>
          </a:bodyPr>
          <a:lstStyle/>
          <a:p>
            <a:pPr algn="l"/>
            <a:r>
              <a:rPr sz="1100" b="1">
                <a:solidFill>
                  <a:srgbClr val="041E42"/>
                </a:solidFill>
              </a:rPr>
              <a:t>Insights &amp; Competitor Analysis</a:t>
            </a:r>
          </a:p>
        </p:txBody>
      </p:sp>
      <p:sp>
        <p:nvSpPr>
          <p:cNvPr id="41" name="TextBox 40"/>
          <p:cNvSpPr txBox="1"/>
          <p:nvPr/>
        </p:nvSpPr>
        <p:spPr>
          <a:xfrm>
            <a:off x="6858000" y="1097280"/>
            <a:ext cx="4892040" cy="182880"/>
          </a:xfrm>
          <a:prstGeom prst="rect">
            <a:avLst/>
          </a:prstGeom>
          <a:noFill/>
        </p:spPr>
        <p:txBody>
          <a:bodyPr wrap="square" anchor="t">
            <a:spAutoFit/>
          </a:bodyPr>
          <a:lstStyle/>
          <a:p>
            <a:pPr algn="l"/>
            <a:r>
              <a:rPr sz="900" b="0">
                <a:solidFill>
                  <a:srgbClr val="666666"/>
                </a:solidFill>
              </a:rPr>
              <a:t>Strategic weekly summaries + cross-brand</a:t>
            </a:r>
          </a:p>
        </p:txBody>
      </p:sp>
      <p:sp>
        <p:nvSpPr>
          <p:cNvPr id="42" name="Rectangle 41"/>
          <p:cNvSpPr/>
          <p:nvPr/>
        </p:nvSpPr>
        <p:spPr>
          <a:xfrm>
            <a:off x="6217920" y="1353312"/>
            <a:ext cx="5623560" cy="347472"/>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09360" y="1399032"/>
            <a:ext cx="502920" cy="256032"/>
          </a:xfrm>
          <a:prstGeom prst="rect">
            <a:avLst/>
          </a:prstGeom>
          <a:noFill/>
        </p:spPr>
        <p:txBody>
          <a:bodyPr wrap="square" anchor="t">
            <a:spAutoFit/>
          </a:bodyPr>
          <a:lstStyle/>
          <a:p>
            <a:pPr algn="l"/>
            <a:r>
              <a:rPr sz="1200" b="1">
                <a:solidFill>
                  <a:srgbClr val="0071DC"/>
                </a:solidFill>
              </a:rPr>
              <a:t>10</a:t>
            </a:r>
          </a:p>
        </p:txBody>
      </p:sp>
      <p:sp>
        <p:nvSpPr>
          <p:cNvPr id="44" name="TextBox 43"/>
          <p:cNvSpPr txBox="1"/>
          <p:nvPr/>
        </p:nvSpPr>
        <p:spPr>
          <a:xfrm>
            <a:off x="6858000" y="1380744"/>
            <a:ext cx="4892040" cy="182880"/>
          </a:xfrm>
          <a:prstGeom prst="rect">
            <a:avLst/>
          </a:prstGeom>
          <a:noFill/>
        </p:spPr>
        <p:txBody>
          <a:bodyPr wrap="square" anchor="t">
            <a:spAutoFit/>
          </a:bodyPr>
          <a:lstStyle/>
          <a:p>
            <a:pPr algn="l"/>
            <a:r>
              <a:rPr sz="1100" b="1">
                <a:solidFill>
                  <a:srgbClr val="041E42"/>
                </a:solidFill>
              </a:rPr>
              <a:t>Notification Centre</a:t>
            </a:r>
          </a:p>
        </p:txBody>
      </p:sp>
      <p:sp>
        <p:nvSpPr>
          <p:cNvPr id="45" name="TextBox 44"/>
          <p:cNvSpPr txBox="1"/>
          <p:nvPr/>
        </p:nvSpPr>
        <p:spPr>
          <a:xfrm>
            <a:off x="6858000" y="1536192"/>
            <a:ext cx="4892040" cy="182880"/>
          </a:xfrm>
          <a:prstGeom prst="rect">
            <a:avLst/>
          </a:prstGeom>
          <a:noFill/>
        </p:spPr>
        <p:txBody>
          <a:bodyPr wrap="square" anchor="t">
            <a:spAutoFit/>
          </a:bodyPr>
          <a:lstStyle/>
          <a:p>
            <a:pPr algn="l"/>
            <a:r>
              <a:rPr sz="900" b="0">
                <a:solidFill>
                  <a:srgbClr val="666666"/>
                </a:solidFill>
              </a:rPr>
              <a:t>In-app + email + Slack, group-routed</a:t>
            </a:r>
          </a:p>
        </p:txBody>
      </p:sp>
      <p:sp>
        <p:nvSpPr>
          <p:cNvPr id="46" name="Rectangle 45"/>
          <p:cNvSpPr/>
          <p:nvPr/>
        </p:nvSpPr>
        <p:spPr>
          <a:xfrm>
            <a:off x="6217920" y="1792224"/>
            <a:ext cx="5623560" cy="347472"/>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09360" y="1837944"/>
            <a:ext cx="502920" cy="256032"/>
          </a:xfrm>
          <a:prstGeom prst="rect">
            <a:avLst/>
          </a:prstGeom>
          <a:noFill/>
        </p:spPr>
        <p:txBody>
          <a:bodyPr wrap="square" anchor="t">
            <a:spAutoFit/>
          </a:bodyPr>
          <a:lstStyle/>
          <a:p>
            <a:pPr algn="l"/>
            <a:r>
              <a:rPr sz="1200" b="1">
                <a:solidFill>
                  <a:srgbClr val="0071DC"/>
                </a:solidFill>
              </a:rPr>
              <a:t>11</a:t>
            </a:r>
          </a:p>
        </p:txBody>
      </p:sp>
      <p:sp>
        <p:nvSpPr>
          <p:cNvPr id="48" name="TextBox 47"/>
          <p:cNvSpPr txBox="1"/>
          <p:nvPr/>
        </p:nvSpPr>
        <p:spPr>
          <a:xfrm>
            <a:off x="6858000" y="1819656"/>
            <a:ext cx="4892040" cy="182880"/>
          </a:xfrm>
          <a:prstGeom prst="rect">
            <a:avLst/>
          </a:prstGeom>
          <a:noFill/>
        </p:spPr>
        <p:txBody>
          <a:bodyPr wrap="square" anchor="t">
            <a:spAutoFit/>
          </a:bodyPr>
          <a:lstStyle/>
          <a:p>
            <a:pPr algn="l"/>
            <a:r>
              <a:rPr sz="1100" b="1">
                <a:solidFill>
                  <a:srgbClr val="041E42"/>
                </a:solidFill>
              </a:rPr>
              <a:t>ModernBERT — Final Results</a:t>
            </a:r>
          </a:p>
        </p:txBody>
      </p:sp>
      <p:sp>
        <p:nvSpPr>
          <p:cNvPr id="49" name="TextBox 48"/>
          <p:cNvSpPr txBox="1"/>
          <p:nvPr/>
        </p:nvSpPr>
        <p:spPr>
          <a:xfrm>
            <a:off x="6858000" y="1975104"/>
            <a:ext cx="4892040" cy="182880"/>
          </a:xfrm>
          <a:prstGeom prst="rect">
            <a:avLst/>
          </a:prstGeom>
          <a:noFill/>
        </p:spPr>
        <p:txBody>
          <a:bodyPr wrap="square" anchor="t">
            <a:spAutoFit/>
          </a:bodyPr>
          <a:lstStyle/>
          <a:p>
            <a:pPr algn="l"/>
            <a:r>
              <a:rPr sz="900" b="0">
                <a:solidFill>
                  <a:srgbClr val="666666"/>
                </a:solidFill>
              </a:rPr>
              <a:t>Macro-F1  0.6272 → 0.7642  (+13.7 pts)</a:t>
            </a:r>
          </a:p>
        </p:txBody>
      </p:sp>
      <p:sp>
        <p:nvSpPr>
          <p:cNvPr id="50" name="Rectangle 49"/>
          <p:cNvSpPr/>
          <p:nvPr/>
        </p:nvSpPr>
        <p:spPr>
          <a:xfrm>
            <a:off x="6217920" y="2231136"/>
            <a:ext cx="5623560" cy="347472"/>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09360" y="2276856"/>
            <a:ext cx="502920" cy="256032"/>
          </a:xfrm>
          <a:prstGeom prst="rect">
            <a:avLst/>
          </a:prstGeom>
          <a:noFill/>
        </p:spPr>
        <p:txBody>
          <a:bodyPr wrap="square" anchor="t">
            <a:spAutoFit/>
          </a:bodyPr>
          <a:lstStyle/>
          <a:p>
            <a:pPr algn="l"/>
            <a:r>
              <a:rPr sz="1200" b="1">
                <a:solidFill>
                  <a:srgbClr val="0071DC"/>
                </a:solidFill>
              </a:rPr>
              <a:t>12</a:t>
            </a:r>
          </a:p>
        </p:txBody>
      </p:sp>
      <p:sp>
        <p:nvSpPr>
          <p:cNvPr id="52" name="TextBox 51"/>
          <p:cNvSpPr txBox="1"/>
          <p:nvPr/>
        </p:nvSpPr>
        <p:spPr>
          <a:xfrm>
            <a:off x="6858000" y="2258568"/>
            <a:ext cx="4892040" cy="182880"/>
          </a:xfrm>
          <a:prstGeom prst="rect">
            <a:avLst/>
          </a:prstGeom>
          <a:noFill/>
        </p:spPr>
        <p:txBody>
          <a:bodyPr wrap="square" anchor="t">
            <a:spAutoFit/>
          </a:bodyPr>
          <a:lstStyle/>
          <a:p>
            <a:pPr algn="l"/>
            <a:r>
              <a:rPr sz="1100" b="1">
                <a:solidFill>
                  <a:srgbClr val="041E42"/>
                </a:solidFill>
              </a:rPr>
              <a:t>Vision — Multi-Pass Payoff</a:t>
            </a:r>
          </a:p>
        </p:txBody>
      </p:sp>
      <p:sp>
        <p:nvSpPr>
          <p:cNvPr id="53" name="TextBox 52"/>
          <p:cNvSpPr txBox="1"/>
          <p:nvPr/>
        </p:nvSpPr>
        <p:spPr>
          <a:xfrm>
            <a:off x="6858000" y="2414016"/>
            <a:ext cx="4892040" cy="182880"/>
          </a:xfrm>
          <a:prstGeom prst="rect">
            <a:avLst/>
          </a:prstGeom>
          <a:noFill/>
        </p:spPr>
        <p:txBody>
          <a:bodyPr wrap="square" anchor="t">
            <a:spAutoFit/>
          </a:bodyPr>
          <a:lstStyle/>
          <a:p>
            <a:pPr algn="l"/>
            <a:r>
              <a:rPr sz="900" b="0">
                <a:solidFill>
                  <a:srgbClr val="666666"/>
                </a:solidFill>
              </a:rPr>
              <a:t>Hallucination  50% → 0%,  extraction 25% → 75%</a:t>
            </a:r>
          </a:p>
        </p:txBody>
      </p:sp>
      <p:sp>
        <p:nvSpPr>
          <p:cNvPr id="54" name="Rectangle 53"/>
          <p:cNvSpPr/>
          <p:nvPr/>
        </p:nvSpPr>
        <p:spPr>
          <a:xfrm>
            <a:off x="6217920" y="2670048"/>
            <a:ext cx="5623560" cy="347472"/>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09360" y="2715768"/>
            <a:ext cx="502920" cy="256032"/>
          </a:xfrm>
          <a:prstGeom prst="rect">
            <a:avLst/>
          </a:prstGeom>
          <a:noFill/>
        </p:spPr>
        <p:txBody>
          <a:bodyPr wrap="square" anchor="t">
            <a:spAutoFit/>
          </a:bodyPr>
          <a:lstStyle/>
          <a:p>
            <a:pPr algn="l"/>
            <a:r>
              <a:rPr sz="1200" b="1">
                <a:solidFill>
                  <a:srgbClr val="0071DC"/>
                </a:solidFill>
              </a:rPr>
              <a:t>13</a:t>
            </a:r>
          </a:p>
        </p:txBody>
      </p:sp>
      <p:sp>
        <p:nvSpPr>
          <p:cNvPr id="56" name="TextBox 55"/>
          <p:cNvSpPr txBox="1"/>
          <p:nvPr/>
        </p:nvSpPr>
        <p:spPr>
          <a:xfrm>
            <a:off x="6858000" y="2697480"/>
            <a:ext cx="4892040" cy="182880"/>
          </a:xfrm>
          <a:prstGeom prst="rect">
            <a:avLst/>
          </a:prstGeom>
          <a:noFill/>
        </p:spPr>
        <p:txBody>
          <a:bodyPr wrap="square" anchor="t">
            <a:spAutoFit/>
          </a:bodyPr>
          <a:lstStyle/>
          <a:p>
            <a:pPr algn="l"/>
            <a:r>
              <a:rPr sz="1100" b="1">
                <a:solidFill>
                  <a:srgbClr val="041E42"/>
                </a:solidFill>
              </a:rPr>
              <a:t>Trust-Score Evaluation</a:t>
            </a:r>
          </a:p>
        </p:txBody>
      </p:sp>
      <p:sp>
        <p:nvSpPr>
          <p:cNvPr id="57" name="TextBox 56"/>
          <p:cNvSpPr txBox="1"/>
          <p:nvPr/>
        </p:nvSpPr>
        <p:spPr>
          <a:xfrm>
            <a:off x="6858000" y="2852928"/>
            <a:ext cx="4892040" cy="182880"/>
          </a:xfrm>
          <a:prstGeom prst="rect">
            <a:avLst/>
          </a:prstGeom>
          <a:noFill/>
        </p:spPr>
        <p:txBody>
          <a:bodyPr wrap="square" anchor="t">
            <a:spAutoFit/>
          </a:bodyPr>
          <a:lstStyle/>
          <a:p>
            <a:pPr algn="l"/>
            <a:r>
              <a:rPr sz="900" b="0">
                <a:solidFill>
                  <a:srgbClr val="666666"/>
                </a:solidFill>
              </a:rPr>
              <a:t>15% flagged; 12 of 15 confirmed by annotator</a:t>
            </a:r>
          </a:p>
        </p:txBody>
      </p:sp>
      <p:sp>
        <p:nvSpPr>
          <p:cNvPr id="58" name="Rectangle 57"/>
          <p:cNvSpPr/>
          <p:nvPr/>
        </p:nvSpPr>
        <p:spPr>
          <a:xfrm>
            <a:off x="6217920" y="3108960"/>
            <a:ext cx="5623560" cy="347472"/>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9360" y="3154680"/>
            <a:ext cx="502920" cy="256032"/>
          </a:xfrm>
          <a:prstGeom prst="rect">
            <a:avLst/>
          </a:prstGeom>
          <a:noFill/>
        </p:spPr>
        <p:txBody>
          <a:bodyPr wrap="square" anchor="t">
            <a:spAutoFit/>
          </a:bodyPr>
          <a:lstStyle/>
          <a:p>
            <a:pPr algn="l"/>
            <a:r>
              <a:rPr sz="1200" b="1">
                <a:solidFill>
                  <a:srgbClr val="0071DC"/>
                </a:solidFill>
              </a:rPr>
              <a:t>14</a:t>
            </a:r>
          </a:p>
        </p:txBody>
      </p:sp>
      <p:sp>
        <p:nvSpPr>
          <p:cNvPr id="60" name="TextBox 59"/>
          <p:cNvSpPr txBox="1"/>
          <p:nvPr/>
        </p:nvSpPr>
        <p:spPr>
          <a:xfrm>
            <a:off x="6858000" y="3136392"/>
            <a:ext cx="4892040" cy="182880"/>
          </a:xfrm>
          <a:prstGeom prst="rect">
            <a:avLst/>
          </a:prstGeom>
          <a:noFill/>
        </p:spPr>
        <p:txBody>
          <a:bodyPr wrap="square" anchor="t">
            <a:spAutoFit/>
          </a:bodyPr>
          <a:lstStyle/>
          <a:p>
            <a:pPr algn="l"/>
            <a:r>
              <a:rPr sz="1100" b="1">
                <a:solidFill>
                  <a:srgbClr val="041E42"/>
                </a:solidFill>
              </a:rPr>
              <a:t>Storage — SQLite → Cosmos DB</a:t>
            </a:r>
          </a:p>
        </p:txBody>
      </p:sp>
      <p:sp>
        <p:nvSpPr>
          <p:cNvPr id="61" name="TextBox 60"/>
          <p:cNvSpPr txBox="1"/>
          <p:nvPr/>
        </p:nvSpPr>
        <p:spPr>
          <a:xfrm>
            <a:off x="6858000" y="3291840"/>
            <a:ext cx="4892040" cy="182880"/>
          </a:xfrm>
          <a:prstGeom prst="rect">
            <a:avLst/>
          </a:prstGeom>
          <a:noFill/>
        </p:spPr>
        <p:txBody>
          <a:bodyPr wrap="square" anchor="t">
            <a:spAutoFit/>
          </a:bodyPr>
          <a:lstStyle/>
          <a:p>
            <a:pPr algn="l"/>
            <a:r>
              <a:rPr sz="900" b="0">
                <a:solidFill>
                  <a:srgbClr val="666666"/>
                </a:solidFill>
              </a:rPr>
              <a:t>Lift-and-shift ready</a:t>
            </a:r>
          </a:p>
        </p:txBody>
      </p:sp>
      <p:sp>
        <p:nvSpPr>
          <p:cNvPr id="62" name="Rectangle 61"/>
          <p:cNvSpPr/>
          <p:nvPr/>
        </p:nvSpPr>
        <p:spPr>
          <a:xfrm>
            <a:off x="6217920" y="3547872"/>
            <a:ext cx="5623560" cy="347472"/>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309360" y="3593592"/>
            <a:ext cx="502920" cy="256032"/>
          </a:xfrm>
          <a:prstGeom prst="rect">
            <a:avLst/>
          </a:prstGeom>
          <a:noFill/>
        </p:spPr>
        <p:txBody>
          <a:bodyPr wrap="square" anchor="t">
            <a:spAutoFit/>
          </a:bodyPr>
          <a:lstStyle/>
          <a:p>
            <a:pPr algn="l"/>
            <a:r>
              <a:rPr sz="1200" b="1">
                <a:solidFill>
                  <a:srgbClr val="0071DC"/>
                </a:solidFill>
              </a:rPr>
              <a:t>15</a:t>
            </a:r>
          </a:p>
        </p:txBody>
      </p:sp>
      <p:sp>
        <p:nvSpPr>
          <p:cNvPr id="64" name="TextBox 63"/>
          <p:cNvSpPr txBox="1"/>
          <p:nvPr/>
        </p:nvSpPr>
        <p:spPr>
          <a:xfrm>
            <a:off x="6858000" y="3575304"/>
            <a:ext cx="4892040" cy="182880"/>
          </a:xfrm>
          <a:prstGeom prst="rect">
            <a:avLst/>
          </a:prstGeom>
          <a:noFill/>
        </p:spPr>
        <p:txBody>
          <a:bodyPr wrap="square" anchor="t">
            <a:spAutoFit/>
          </a:bodyPr>
          <a:lstStyle/>
          <a:p>
            <a:pPr algn="l"/>
            <a:r>
              <a:rPr sz="1100" b="1">
                <a:solidFill>
                  <a:srgbClr val="041E42"/>
                </a:solidFill>
              </a:rPr>
              <a:t>Live Demo</a:t>
            </a:r>
          </a:p>
        </p:txBody>
      </p:sp>
      <p:sp>
        <p:nvSpPr>
          <p:cNvPr id="65" name="TextBox 64"/>
          <p:cNvSpPr txBox="1"/>
          <p:nvPr/>
        </p:nvSpPr>
        <p:spPr>
          <a:xfrm>
            <a:off x="6858000" y="3730752"/>
            <a:ext cx="4892040" cy="182880"/>
          </a:xfrm>
          <a:prstGeom prst="rect">
            <a:avLst/>
          </a:prstGeom>
          <a:noFill/>
        </p:spPr>
        <p:txBody>
          <a:bodyPr wrap="square" anchor="t">
            <a:spAutoFit/>
          </a:bodyPr>
          <a:lstStyle/>
          <a:p>
            <a:pPr algn="l"/>
            <a:r>
              <a:rPr sz="900" b="0">
                <a:solidFill>
                  <a:srgbClr val="666666"/>
                </a:solidFill>
              </a:rPr>
              <a:t>Dashboard walkthrough (screenshots)</a:t>
            </a:r>
          </a:p>
        </p:txBody>
      </p:sp>
      <p:sp>
        <p:nvSpPr>
          <p:cNvPr id="66" name="Rectangle 65"/>
          <p:cNvSpPr/>
          <p:nvPr/>
        </p:nvSpPr>
        <p:spPr>
          <a:xfrm>
            <a:off x="6217920" y="3986784"/>
            <a:ext cx="5623560" cy="347472"/>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309360" y="4032504"/>
            <a:ext cx="502920" cy="256032"/>
          </a:xfrm>
          <a:prstGeom prst="rect">
            <a:avLst/>
          </a:prstGeom>
          <a:noFill/>
        </p:spPr>
        <p:txBody>
          <a:bodyPr wrap="square" anchor="t">
            <a:spAutoFit/>
          </a:bodyPr>
          <a:lstStyle/>
          <a:p>
            <a:pPr algn="l"/>
            <a:r>
              <a:rPr sz="1200" b="1">
                <a:solidFill>
                  <a:srgbClr val="0071DC"/>
                </a:solidFill>
              </a:rPr>
              <a:t>16</a:t>
            </a:r>
          </a:p>
        </p:txBody>
      </p:sp>
      <p:sp>
        <p:nvSpPr>
          <p:cNvPr id="68" name="TextBox 67"/>
          <p:cNvSpPr txBox="1"/>
          <p:nvPr/>
        </p:nvSpPr>
        <p:spPr>
          <a:xfrm>
            <a:off x="6858000" y="4014216"/>
            <a:ext cx="4892040" cy="182880"/>
          </a:xfrm>
          <a:prstGeom prst="rect">
            <a:avLst/>
          </a:prstGeom>
          <a:noFill/>
        </p:spPr>
        <p:txBody>
          <a:bodyPr wrap="square" anchor="t">
            <a:spAutoFit/>
          </a:bodyPr>
          <a:lstStyle/>
          <a:p>
            <a:pPr algn="l"/>
            <a:r>
              <a:rPr sz="1100" b="1">
                <a:solidFill>
                  <a:srgbClr val="041E42"/>
                </a:solidFill>
              </a:rPr>
              <a:t>Conclusions &amp; Future Work</a:t>
            </a:r>
          </a:p>
        </p:txBody>
      </p:sp>
      <p:sp>
        <p:nvSpPr>
          <p:cNvPr id="69" name="TextBox 68"/>
          <p:cNvSpPr txBox="1"/>
          <p:nvPr/>
        </p:nvSpPr>
        <p:spPr>
          <a:xfrm>
            <a:off x="6858000" y="4169664"/>
            <a:ext cx="4892040" cy="182880"/>
          </a:xfrm>
          <a:prstGeom prst="rect">
            <a:avLst/>
          </a:prstGeom>
          <a:noFill/>
        </p:spPr>
        <p:txBody>
          <a:bodyPr wrap="square" anchor="t">
            <a:spAutoFit/>
          </a:bodyPr>
          <a:lstStyle/>
          <a:p>
            <a:pPr algn="l"/>
            <a:r>
              <a:rPr sz="900" b="0">
                <a:solidFill>
                  <a:srgbClr val="666666"/>
                </a:solidFill>
              </a:rPr>
              <a:t>RQ1–RQ4 outcomes + roadmap</a:t>
            </a:r>
          </a:p>
        </p:txBody>
      </p:sp>
      <p:sp>
        <p:nvSpPr>
          <p:cNvPr id="70" name="TextBox 69"/>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71" name="TextBox 70"/>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2 / 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Since Mid-Sem — What's New</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Mid-sem shipped the pipeline; post-midsem made it usable for analysts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60120"/>
            <a:ext cx="5486400" cy="320040"/>
          </a:xfrm>
          <a:prstGeom prst="rect">
            <a:avLst/>
          </a:prstGeom>
          <a:noFill/>
        </p:spPr>
        <p:txBody>
          <a:bodyPr wrap="square" anchor="t">
            <a:spAutoFit/>
          </a:bodyPr>
          <a:lstStyle/>
          <a:p>
            <a:pPr algn="l"/>
            <a:r>
              <a:rPr sz="1300" b="1">
                <a:solidFill>
                  <a:srgbClr val="D97706"/>
                </a:solidFill>
              </a:rPr>
              <a:t>Delivered at mid-sem</a:t>
            </a:r>
          </a:p>
        </p:txBody>
      </p:sp>
      <p:sp>
        <p:nvSpPr>
          <p:cNvPr id="7" name="TextBox 6"/>
          <p:cNvSpPr txBox="1"/>
          <p:nvPr/>
        </p:nvSpPr>
        <p:spPr>
          <a:xfrm>
            <a:off x="457200" y="1280160"/>
            <a:ext cx="5486400" cy="3474720"/>
          </a:xfrm>
          <a:prstGeom prst="rect">
            <a:avLst/>
          </a:prstGeom>
          <a:noFill/>
        </p:spPr>
        <p:txBody>
          <a:bodyPr wrap="square">
            <a:spAutoFit/>
          </a:bodyPr>
          <a:lstStyle/>
          <a:p>
            <a:pPr>
              <a:spcAft>
                <a:spcPts val="400"/>
              </a:spcAft>
            </a:pPr>
            <a:r>
              <a:rPr sz="1200" b="0">
                <a:solidFill>
                  <a:srgbClr val="333333"/>
                </a:solidFill>
              </a:rPr>
              <a:t>•  6-layer offline-first pipeline (25 subreddits)</a:t>
            </a:r>
          </a:p>
          <a:p>
            <a:pPr>
              <a:spcAft>
                <a:spcPts val="400"/>
              </a:spcAft>
            </a:pPr>
            <a:r>
              <a:rPr sz="1200" b="0">
                <a:solidFill>
                  <a:srgbClr val="333333"/>
                </a:solidFill>
              </a:rPr>
              <a:t>•  ModernBERT fine-tuning up to Stage 2  (F1 0.7285)</a:t>
            </a:r>
          </a:p>
          <a:p>
            <a:pPr>
              <a:spcAft>
                <a:spcPts val="400"/>
              </a:spcAft>
            </a:pPr>
            <a:r>
              <a:rPr sz="1200" b="0">
                <a:solidFill>
                  <a:srgbClr val="333333"/>
                </a:solidFill>
              </a:rPr>
              <a:t>•  Multi-pass vision with 0% hallucination on pilot</a:t>
            </a:r>
          </a:p>
          <a:p>
            <a:pPr>
              <a:spcAft>
                <a:spcPts val="400"/>
              </a:spcAft>
            </a:pPr>
            <a:r>
              <a:rPr sz="1200" b="0">
                <a:solidFill>
                  <a:srgbClr val="333333"/>
                </a:solidFill>
              </a:rPr>
              <a:t>•  Trust-score design + weighted formula</a:t>
            </a:r>
          </a:p>
          <a:p>
            <a:pPr>
              <a:spcAft>
                <a:spcPts val="400"/>
              </a:spcAft>
            </a:pPr>
            <a:r>
              <a:rPr sz="1200" b="0">
                <a:solidFill>
                  <a:srgbClr val="333333"/>
                </a:solidFill>
              </a:rPr>
              <a:t>•  Brand-Health + Alert Feed dashboard pages</a:t>
            </a:r>
          </a:p>
          <a:p>
            <a:pPr>
              <a:spcAft>
                <a:spcPts val="400"/>
              </a:spcAft>
            </a:pPr>
            <a:r>
              <a:rPr sz="1200" b="0">
                <a:solidFill>
                  <a:srgbClr val="333333"/>
                </a:solidFill>
              </a:rPr>
              <a:t>•  Group-routed email / Slack notifications</a:t>
            </a:r>
          </a:p>
        </p:txBody>
      </p:sp>
      <p:sp>
        <p:nvSpPr>
          <p:cNvPr id="8" name="TextBox 7"/>
          <p:cNvSpPr txBox="1"/>
          <p:nvPr/>
        </p:nvSpPr>
        <p:spPr>
          <a:xfrm>
            <a:off x="6263640" y="960120"/>
            <a:ext cx="5486400" cy="320040"/>
          </a:xfrm>
          <a:prstGeom prst="rect">
            <a:avLst/>
          </a:prstGeom>
          <a:noFill/>
        </p:spPr>
        <p:txBody>
          <a:bodyPr wrap="square" anchor="t">
            <a:spAutoFit/>
          </a:bodyPr>
          <a:lstStyle/>
          <a:p>
            <a:pPr algn="l"/>
            <a:r>
              <a:rPr sz="1300" b="1">
                <a:solidFill>
                  <a:srgbClr val="10B981"/>
                </a:solidFill>
              </a:rPr>
              <a:t>Added post-midsem  (this deck)</a:t>
            </a:r>
          </a:p>
        </p:txBody>
      </p:sp>
      <p:sp>
        <p:nvSpPr>
          <p:cNvPr id="9" name="TextBox 8"/>
          <p:cNvSpPr txBox="1"/>
          <p:nvPr/>
        </p:nvSpPr>
        <p:spPr>
          <a:xfrm>
            <a:off x="6263640" y="1280160"/>
            <a:ext cx="5486400" cy="3474720"/>
          </a:xfrm>
          <a:prstGeom prst="rect">
            <a:avLst/>
          </a:prstGeom>
          <a:noFill/>
        </p:spPr>
        <p:txBody>
          <a:bodyPr wrap="square">
            <a:spAutoFit/>
          </a:bodyPr>
          <a:lstStyle/>
          <a:p>
            <a:pPr>
              <a:spcAft>
                <a:spcPts val="400"/>
              </a:spcAft>
            </a:pPr>
            <a:r>
              <a:rPr sz="1200" b="0">
                <a:solidFill>
                  <a:srgbClr val="333333"/>
                </a:solidFill>
              </a:rPr>
              <a:t>•  Review &amp; Validate  —  human-in-the-loop UI + backend</a:t>
            </a:r>
          </a:p>
          <a:p>
            <a:pPr>
              <a:spcAft>
                <a:spcPts val="400"/>
              </a:spcAft>
            </a:pPr>
            <a:r>
              <a:rPr sz="1200" b="0">
                <a:solidFill>
                  <a:srgbClr val="333333"/>
                </a:solidFill>
              </a:rPr>
              <a:t>•  Smart Reply Composer  —  dual-draft (rule + FLAN-T5)</a:t>
            </a:r>
          </a:p>
          <a:p>
            <a:pPr>
              <a:spcAft>
                <a:spcPts val="400"/>
              </a:spcAft>
            </a:pPr>
            <a:r>
              <a:rPr sz="1200" b="0">
                <a:solidFill>
                  <a:srgbClr val="333333"/>
                </a:solidFill>
              </a:rPr>
              <a:t>•  Learning-loop store  —  corrections &amp; posted replies</a:t>
            </a:r>
          </a:p>
          <a:p>
            <a:pPr>
              <a:spcAft>
                <a:spcPts val="400"/>
              </a:spcAft>
            </a:pPr>
            <a:r>
              <a:rPr sz="1200" b="0">
                <a:solidFill>
                  <a:srgbClr val="333333"/>
                </a:solidFill>
              </a:rPr>
              <a:t>•  Post Explorer  —  multi-facet search</a:t>
            </a:r>
          </a:p>
          <a:p>
            <a:pPr>
              <a:spcAft>
                <a:spcPts val="400"/>
              </a:spcAft>
            </a:pPr>
            <a:r>
              <a:rPr sz="1200" b="0">
                <a:solidFill>
                  <a:srgbClr val="333333"/>
                </a:solidFill>
              </a:rPr>
              <a:t>•  Post Lifecycle  —  Kanban with 2-step Resolve</a:t>
            </a:r>
          </a:p>
          <a:p>
            <a:pPr>
              <a:spcAft>
                <a:spcPts val="400"/>
              </a:spcAft>
            </a:pPr>
            <a:r>
              <a:rPr sz="1200" b="0">
                <a:solidFill>
                  <a:srgbClr val="333333"/>
                </a:solidFill>
              </a:rPr>
              <a:t>•  Insights &amp; Competitor Analysis page</a:t>
            </a:r>
          </a:p>
          <a:p>
            <a:pPr>
              <a:spcAft>
                <a:spcPts val="400"/>
              </a:spcAft>
            </a:pPr>
            <a:r>
              <a:rPr sz="1200" b="0">
                <a:solidFill>
                  <a:srgbClr val="333333"/>
                </a:solidFill>
              </a:rPr>
              <a:t>•  In-app Notification Centre mirroring the digest</a:t>
            </a:r>
          </a:p>
          <a:p>
            <a:pPr>
              <a:spcAft>
                <a:spcPts val="400"/>
              </a:spcAft>
            </a:pPr>
            <a:r>
              <a:rPr sz="1200" b="0">
                <a:solidFill>
                  <a:srgbClr val="333333"/>
                </a:solidFill>
              </a:rPr>
              <a:t>•  ModernBERT Stage 3 (final)  —  F1 0.7285 → 0.7642</a:t>
            </a:r>
          </a:p>
          <a:p>
            <a:pPr>
              <a:spcAft>
                <a:spcPts val="400"/>
              </a:spcAft>
            </a:pPr>
            <a:r>
              <a:rPr sz="1200" b="0">
                <a:solidFill>
                  <a:srgbClr val="333333"/>
                </a:solidFill>
              </a:rPr>
              <a:t>•  Trust-score end-to-end evaluation (n = 200)</a:t>
            </a:r>
          </a:p>
          <a:p>
            <a:pPr>
              <a:spcAft>
                <a:spcPts val="400"/>
              </a:spcAft>
            </a:pPr>
            <a:r>
              <a:rPr sz="1200" b="0">
                <a:solidFill>
                  <a:srgbClr val="333333"/>
                </a:solidFill>
              </a:rPr>
              <a:t>•  SQLite schema mirroring Cosmos DB partitioning</a:t>
            </a:r>
          </a:p>
        </p:txBody>
      </p:sp>
      <p:sp>
        <p:nvSpPr>
          <p:cNvPr id="10" name="Rectangle 9"/>
          <p:cNvSpPr/>
          <p:nvPr/>
        </p:nvSpPr>
        <p:spPr>
          <a:xfrm>
            <a:off x="457200" y="5074920"/>
            <a:ext cx="11247120" cy="12344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212080"/>
            <a:ext cx="10972800" cy="365760"/>
          </a:xfrm>
          <a:prstGeom prst="rect">
            <a:avLst/>
          </a:prstGeom>
          <a:noFill/>
        </p:spPr>
        <p:txBody>
          <a:bodyPr wrap="square" anchor="t">
            <a:spAutoFit/>
          </a:bodyPr>
          <a:lstStyle/>
          <a:p>
            <a:pPr algn="l"/>
            <a:r>
              <a:rPr sz="1300" b="1">
                <a:solidFill>
                  <a:srgbClr val="0071DC"/>
                </a:solidFill>
              </a:rPr>
              <a:t>Framing</a:t>
            </a:r>
          </a:p>
        </p:txBody>
      </p:sp>
      <p:sp>
        <p:nvSpPr>
          <p:cNvPr id="12" name="TextBox 11"/>
          <p:cNvSpPr txBox="1"/>
          <p:nvPr/>
        </p:nvSpPr>
        <p:spPr>
          <a:xfrm>
            <a:off x="640080" y="5577840"/>
            <a:ext cx="10972800" cy="731520"/>
          </a:xfrm>
          <a:prstGeom prst="rect">
            <a:avLst/>
          </a:prstGeom>
          <a:noFill/>
        </p:spPr>
        <p:txBody>
          <a:bodyPr wrap="square" anchor="t">
            <a:spAutoFit/>
          </a:bodyPr>
          <a:lstStyle/>
          <a:p>
            <a:pPr algn="l"/>
            <a:r>
              <a:rPr sz="1200" b="0">
                <a:solidFill>
                  <a:srgbClr val="333333"/>
                </a:solidFill>
              </a:rPr>
              <a:t>Mid-sem answered can the pipeline produce trust-weighted sentiment?    Post-midsem answers can an analyst act on it, correct it, and feed the corrections back into the model?</a:t>
            </a:r>
          </a:p>
        </p:txBody>
      </p:sp>
      <p:sp>
        <p:nvSpPr>
          <p:cNvPr id="13" name="TextBox 12"/>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4" name="TextBox 13"/>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3 / 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Review &amp; Validate  —  Human-in-the-Loop</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Every prediction can be corrected; every correction is logged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60120"/>
            <a:ext cx="5486400" cy="2560320"/>
          </a:xfrm>
          <a:prstGeom prst="rect">
            <a:avLst/>
          </a:prstGeom>
          <a:noFill/>
        </p:spPr>
        <p:txBody>
          <a:bodyPr wrap="square">
            <a:spAutoFit/>
          </a:bodyPr>
          <a:lstStyle/>
          <a:p>
            <a:pPr>
              <a:spcAft>
                <a:spcPts val="400"/>
              </a:spcAft>
            </a:pPr>
            <a:r>
              <a:rPr sz="1200" b="0">
                <a:solidFill>
                  <a:srgbClr val="333333"/>
                </a:solidFill>
              </a:rPr>
              <a:t>•  Queue sorted by  priority (P1 first)  ·  trust × confidence</a:t>
            </a:r>
          </a:p>
          <a:p>
            <a:pPr>
              <a:spcAft>
                <a:spcPts val="400"/>
              </a:spcAft>
            </a:pPr>
            <a:r>
              <a:rPr sz="1200" b="0">
                <a:solidFill>
                  <a:srgbClr val="333333"/>
                </a:solidFill>
              </a:rPr>
              <a:t>•  Analyst can override sentiment and aspect tags in one click</a:t>
            </a:r>
          </a:p>
          <a:p>
            <a:pPr>
              <a:spcAft>
                <a:spcPts val="400"/>
              </a:spcAft>
            </a:pPr>
            <a:r>
              <a:rPr sz="1200" b="0">
                <a:solidFill>
                  <a:srgbClr val="333333"/>
                </a:solidFill>
              </a:rPr>
              <a:t>•  Corrections written to  feedback table  with analyst + timestamp</a:t>
            </a:r>
          </a:p>
          <a:p>
            <a:pPr>
              <a:spcAft>
                <a:spcPts val="400"/>
              </a:spcAft>
            </a:pPr>
            <a:r>
              <a:rPr sz="1200" b="0">
                <a:solidFill>
                  <a:srgbClr val="333333"/>
                </a:solidFill>
              </a:rPr>
              <a:t>•  Generate Drafts  →  two reply options  (rule + LLM)</a:t>
            </a:r>
          </a:p>
          <a:p>
            <a:pPr>
              <a:spcAft>
                <a:spcPts val="400"/>
              </a:spcAft>
            </a:pPr>
            <a:r>
              <a:rPr sz="1200" b="0">
                <a:solidFill>
                  <a:srgbClr val="333333"/>
                </a:solidFill>
              </a:rPr>
              <a:t>•  Analyst picks A or B, edits, and posts to Reddit</a:t>
            </a:r>
          </a:p>
          <a:p>
            <a:pPr>
              <a:spcAft>
                <a:spcPts val="400"/>
              </a:spcAft>
            </a:pPr>
            <a:r>
              <a:rPr sz="1200" b="0">
                <a:solidFill>
                  <a:srgbClr val="333333"/>
                </a:solidFill>
              </a:rPr>
              <a:t>•  Posted replies also captured  →  future few-shot pool</a:t>
            </a:r>
          </a:p>
        </p:txBody>
      </p:sp>
      <p:pic>
        <p:nvPicPr>
          <p:cNvPr id="7" name="Picture 6" descr="review_validate.png"/>
          <p:cNvPicPr>
            <a:picLocks noChangeAspect="1"/>
          </p:cNvPicPr>
          <p:nvPr/>
        </p:nvPicPr>
        <p:blipFill>
          <a:blip r:embed="rId2"/>
          <a:stretch>
            <a:fillRect/>
          </a:stretch>
        </p:blipFill>
        <p:spPr>
          <a:xfrm>
            <a:off x="6172200" y="960120"/>
            <a:ext cx="5669280" cy="3543300"/>
          </a:xfrm>
          <a:prstGeom prst="rect">
            <a:avLst/>
          </a:prstGeom>
        </p:spPr>
      </p:pic>
      <p:sp>
        <p:nvSpPr>
          <p:cNvPr id="8" name="Rectangle 7"/>
          <p:cNvSpPr/>
          <p:nvPr/>
        </p:nvSpPr>
        <p:spPr>
          <a:xfrm>
            <a:off x="457200" y="5212080"/>
            <a:ext cx="5486400" cy="109728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349240"/>
            <a:ext cx="5120640" cy="320040"/>
          </a:xfrm>
          <a:prstGeom prst="rect">
            <a:avLst/>
          </a:prstGeom>
          <a:noFill/>
        </p:spPr>
        <p:txBody>
          <a:bodyPr wrap="square" anchor="t">
            <a:spAutoFit/>
          </a:bodyPr>
          <a:lstStyle/>
          <a:p>
            <a:pPr algn="l"/>
            <a:r>
              <a:rPr sz="1200" b="1">
                <a:solidFill>
                  <a:srgbClr val="10B981"/>
                </a:solidFill>
              </a:rPr>
              <a:t>Why it matters</a:t>
            </a:r>
          </a:p>
        </p:txBody>
      </p:sp>
      <p:sp>
        <p:nvSpPr>
          <p:cNvPr id="10" name="TextBox 9"/>
          <p:cNvSpPr txBox="1"/>
          <p:nvPr/>
        </p:nvSpPr>
        <p:spPr>
          <a:xfrm>
            <a:off x="640080" y="5669280"/>
            <a:ext cx="5120640" cy="640080"/>
          </a:xfrm>
          <a:prstGeom prst="rect">
            <a:avLst/>
          </a:prstGeom>
          <a:noFill/>
        </p:spPr>
        <p:txBody>
          <a:bodyPr wrap="square" anchor="t">
            <a:spAutoFit/>
          </a:bodyPr>
          <a:lstStyle/>
          <a:p>
            <a:pPr algn="l"/>
            <a:r>
              <a:rPr sz="1100" b="0">
                <a:solidFill>
                  <a:srgbClr val="333333"/>
                </a:solidFill>
              </a:rPr>
              <a:t>Turns a passive dashboard into a training signal — corrections harvested here drive the ModernBERT re-training loop and reply few-shot pool.</a:t>
            </a:r>
          </a:p>
        </p:txBody>
      </p:sp>
      <p:sp>
        <p:nvSpPr>
          <p:cNvPr id="11" name="TextBox 1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2" name="TextBox 1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4 / 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Smart Reply Composer  —  Triple Draft</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One prompt, three generators; analyst picks the best draft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60120"/>
            <a:ext cx="3794760" cy="306324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960120"/>
            <a:ext cx="3794760" cy="45720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33272"/>
            <a:ext cx="3794760" cy="320040"/>
          </a:xfrm>
          <a:prstGeom prst="rect">
            <a:avLst/>
          </a:prstGeom>
          <a:noFill/>
        </p:spPr>
        <p:txBody>
          <a:bodyPr wrap="square" anchor="t">
            <a:spAutoFit/>
          </a:bodyPr>
          <a:lstStyle/>
          <a:p>
            <a:pPr algn="ctr"/>
            <a:r>
              <a:rPr sz="1300" b="1">
                <a:solidFill>
                  <a:srgbClr val="FFFFFF"/>
                </a:solidFill>
              </a:rPr>
              <a:t>Draft A</a:t>
            </a:r>
          </a:p>
        </p:txBody>
      </p:sp>
      <p:sp>
        <p:nvSpPr>
          <p:cNvPr id="9" name="TextBox 8"/>
          <p:cNvSpPr txBox="1"/>
          <p:nvPr/>
        </p:nvSpPr>
        <p:spPr>
          <a:xfrm>
            <a:off x="365760" y="1508760"/>
            <a:ext cx="3794760" cy="365760"/>
          </a:xfrm>
          <a:prstGeom prst="rect">
            <a:avLst/>
          </a:prstGeom>
          <a:noFill/>
        </p:spPr>
        <p:txBody>
          <a:bodyPr wrap="square" anchor="t">
            <a:spAutoFit/>
          </a:bodyPr>
          <a:lstStyle/>
          <a:p>
            <a:pPr algn="ctr"/>
            <a:r>
              <a:rPr sz="1600" b="1">
                <a:solidFill>
                  <a:srgbClr val="041E42"/>
                </a:solidFill>
              </a:rPr>
              <a:t>GPT-4o</a:t>
            </a:r>
          </a:p>
        </p:txBody>
      </p:sp>
      <p:sp>
        <p:nvSpPr>
          <p:cNvPr id="10" name="TextBox 9"/>
          <p:cNvSpPr txBox="1"/>
          <p:nvPr/>
        </p:nvSpPr>
        <p:spPr>
          <a:xfrm>
            <a:off x="365760" y="1920240"/>
            <a:ext cx="3794760" cy="320040"/>
          </a:xfrm>
          <a:prstGeom prst="rect">
            <a:avLst/>
          </a:prstGeom>
          <a:noFill/>
        </p:spPr>
        <p:txBody>
          <a:bodyPr wrap="square" anchor="t">
            <a:spAutoFit/>
          </a:bodyPr>
          <a:lstStyle/>
          <a:p>
            <a:pPr algn="ctr"/>
            <a:r>
              <a:rPr sz="1000" b="0">
                <a:solidFill>
                  <a:srgbClr val="666666"/>
                </a:solidFill>
              </a:rPr>
              <a:t>Walmart LLM Gateway</a:t>
            </a:r>
          </a:p>
        </p:txBody>
      </p:sp>
      <p:sp>
        <p:nvSpPr>
          <p:cNvPr id="11" name="TextBox 10"/>
          <p:cNvSpPr txBox="1"/>
          <p:nvPr/>
        </p:nvSpPr>
        <p:spPr>
          <a:xfrm>
            <a:off x="548640" y="2331720"/>
            <a:ext cx="3429000" cy="1645920"/>
          </a:xfrm>
          <a:prstGeom prst="rect">
            <a:avLst/>
          </a:prstGeom>
          <a:noFill/>
        </p:spPr>
        <p:txBody>
          <a:bodyPr wrap="square" anchor="ctr">
            <a:spAutoFit/>
          </a:bodyPr>
          <a:lstStyle/>
          <a:p>
            <a:pPr algn="ctr"/>
            <a:r>
              <a:rPr sz="1100" b="0">
                <a:solidFill>
                  <a:srgbClr val="333333"/>
                </a:solidFill>
              </a:rPr>
              <a:t>Strong reasoning, safest tone</a:t>
            </a:r>
          </a:p>
          <a:p>
            <a:pPr algn="ctr"/>
            <a:r>
              <a:rPr sz="1100" b="0">
                <a:solidFill>
                  <a:srgbClr val="333333"/>
                </a:solidFill>
              </a:rPr>
              <a:t>Guardrails via Walmart proxy</a:t>
            </a:r>
          </a:p>
          <a:p>
            <a:pPr algn="ctr"/>
            <a:r>
              <a:rPr sz="1100" b="0">
                <a:solidFill>
                  <a:srgbClr val="333333"/>
                </a:solidFill>
              </a:rPr>
              <a:t>~$0.0002 / reply</a:t>
            </a:r>
          </a:p>
          <a:p>
            <a:pPr algn="ctr"/>
            <a:r>
              <a:rPr sz="1100" b="0">
                <a:solidFill>
                  <a:srgbClr val="333333"/>
                </a:solidFill>
              </a:rPr>
              <a:t>Fallback: direct OpenAI</a:t>
            </a:r>
          </a:p>
        </p:txBody>
      </p:sp>
      <p:sp>
        <p:nvSpPr>
          <p:cNvPr id="12" name="Rectangle 11"/>
          <p:cNvSpPr/>
          <p:nvPr/>
        </p:nvSpPr>
        <p:spPr>
          <a:xfrm>
            <a:off x="4297680" y="960120"/>
            <a:ext cx="3794760" cy="306324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960120"/>
            <a:ext cx="3794760"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33272"/>
            <a:ext cx="3794760" cy="320040"/>
          </a:xfrm>
          <a:prstGeom prst="rect">
            <a:avLst/>
          </a:prstGeom>
          <a:noFill/>
        </p:spPr>
        <p:txBody>
          <a:bodyPr wrap="square" anchor="t">
            <a:spAutoFit/>
          </a:bodyPr>
          <a:lstStyle/>
          <a:p>
            <a:pPr algn="ctr"/>
            <a:r>
              <a:rPr sz="1300" b="1">
                <a:solidFill>
                  <a:srgbClr val="FFFFFF"/>
                </a:solidFill>
              </a:rPr>
              <a:t>Draft B</a:t>
            </a:r>
          </a:p>
        </p:txBody>
      </p:sp>
      <p:sp>
        <p:nvSpPr>
          <p:cNvPr id="15" name="TextBox 14"/>
          <p:cNvSpPr txBox="1"/>
          <p:nvPr/>
        </p:nvSpPr>
        <p:spPr>
          <a:xfrm>
            <a:off x="4297680" y="1508760"/>
            <a:ext cx="3794760" cy="365760"/>
          </a:xfrm>
          <a:prstGeom prst="rect">
            <a:avLst/>
          </a:prstGeom>
          <a:noFill/>
        </p:spPr>
        <p:txBody>
          <a:bodyPr wrap="square" anchor="t">
            <a:spAutoFit/>
          </a:bodyPr>
          <a:lstStyle/>
          <a:p>
            <a:pPr algn="ctr"/>
            <a:r>
              <a:rPr sz="1600" b="1">
                <a:solidFill>
                  <a:srgbClr val="041E42"/>
                </a:solidFill>
              </a:rPr>
              <a:t>Mistral 7B-Instruct</a:t>
            </a:r>
          </a:p>
        </p:txBody>
      </p:sp>
      <p:sp>
        <p:nvSpPr>
          <p:cNvPr id="16" name="TextBox 15"/>
          <p:cNvSpPr txBox="1"/>
          <p:nvPr/>
        </p:nvSpPr>
        <p:spPr>
          <a:xfrm>
            <a:off x="4297680" y="1920240"/>
            <a:ext cx="3794760" cy="320040"/>
          </a:xfrm>
          <a:prstGeom prst="rect">
            <a:avLst/>
          </a:prstGeom>
          <a:noFill/>
        </p:spPr>
        <p:txBody>
          <a:bodyPr wrap="square" anchor="t">
            <a:spAutoFit/>
          </a:bodyPr>
          <a:lstStyle/>
          <a:p>
            <a:pPr algn="ctr"/>
            <a:r>
              <a:rPr sz="1000" b="0">
                <a:solidFill>
                  <a:srgbClr val="666666"/>
                </a:solidFill>
              </a:rPr>
              <a:t>Local Ollama  (:11434)</a:t>
            </a:r>
          </a:p>
        </p:txBody>
      </p:sp>
      <p:sp>
        <p:nvSpPr>
          <p:cNvPr id="17" name="TextBox 16"/>
          <p:cNvSpPr txBox="1"/>
          <p:nvPr/>
        </p:nvSpPr>
        <p:spPr>
          <a:xfrm>
            <a:off x="4480560" y="2331720"/>
            <a:ext cx="3429000" cy="1645920"/>
          </a:xfrm>
          <a:prstGeom prst="rect">
            <a:avLst/>
          </a:prstGeom>
          <a:noFill/>
        </p:spPr>
        <p:txBody>
          <a:bodyPr wrap="square" anchor="ctr">
            <a:spAutoFit/>
          </a:bodyPr>
          <a:lstStyle/>
          <a:p>
            <a:pPr algn="ctr"/>
            <a:r>
              <a:rPr sz="1100" b="0">
                <a:solidFill>
                  <a:srgbClr val="333333"/>
                </a:solidFill>
              </a:rPr>
              <a:t>Open-weights, free</a:t>
            </a:r>
          </a:p>
          <a:p>
            <a:pPr algn="ctr"/>
            <a:r>
              <a:rPr sz="1100" b="0">
                <a:solidFill>
                  <a:srgbClr val="333333"/>
                </a:solidFill>
              </a:rPr>
              <a:t>Runs fully offline</a:t>
            </a:r>
          </a:p>
          <a:p>
            <a:pPr algn="ctr"/>
            <a:r>
              <a:rPr sz="1100" b="0">
                <a:solidFill>
                  <a:srgbClr val="333333"/>
                </a:solidFill>
              </a:rPr>
              <a:t>~15 s warm latency</a:t>
            </a:r>
          </a:p>
          <a:p>
            <a:pPr algn="ctr"/>
            <a:r>
              <a:rPr sz="1100" b="0">
                <a:solidFill>
                  <a:srgbClr val="333333"/>
                </a:solidFill>
              </a:rPr>
              <a:t>Strong at retail jargon</a:t>
            </a:r>
          </a:p>
        </p:txBody>
      </p:sp>
      <p:sp>
        <p:nvSpPr>
          <p:cNvPr id="18" name="Rectangle 17"/>
          <p:cNvSpPr/>
          <p:nvPr/>
        </p:nvSpPr>
        <p:spPr>
          <a:xfrm>
            <a:off x="8229600" y="960120"/>
            <a:ext cx="3794760" cy="306324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0" y="960120"/>
            <a:ext cx="37947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1033272"/>
            <a:ext cx="3794760" cy="320040"/>
          </a:xfrm>
          <a:prstGeom prst="rect">
            <a:avLst/>
          </a:prstGeom>
          <a:noFill/>
        </p:spPr>
        <p:txBody>
          <a:bodyPr wrap="square" anchor="t">
            <a:spAutoFit/>
          </a:bodyPr>
          <a:lstStyle/>
          <a:p>
            <a:pPr algn="ctr"/>
            <a:r>
              <a:rPr sz="1300" b="1">
                <a:solidFill>
                  <a:srgbClr val="FFFFFF"/>
                </a:solidFill>
              </a:rPr>
              <a:t>Draft C</a:t>
            </a:r>
          </a:p>
        </p:txBody>
      </p:sp>
      <p:sp>
        <p:nvSpPr>
          <p:cNvPr id="21" name="TextBox 20"/>
          <p:cNvSpPr txBox="1"/>
          <p:nvPr/>
        </p:nvSpPr>
        <p:spPr>
          <a:xfrm>
            <a:off x="8229600" y="1508760"/>
            <a:ext cx="3794760" cy="365760"/>
          </a:xfrm>
          <a:prstGeom prst="rect">
            <a:avLst/>
          </a:prstGeom>
          <a:noFill/>
        </p:spPr>
        <p:txBody>
          <a:bodyPr wrap="square" anchor="t">
            <a:spAutoFit/>
          </a:bodyPr>
          <a:lstStyle/>
          <a:p>
            <a:pPr algn="ctr"/>
            <a:r>
              <a:rPr sz="1600" b="1">
                <a:solidFill>
                  <a:srgbClr val="041E42"/>
                </a:solidFill>
              </a:rPr>
              <a:t>Smart Composer</a:t>
            </a:r>
          </a:p>
        </p:txBody>
      </p:sp>
      <p:sp>
        <p:nvSpPr>
          <p:cNvPr id="22" name="TextBox 21"/>
          <p:cNvSpPr txBox="1"/>
          <p:nvPr/>
        </p:nvSpPr>
        <p:spPr>
          <a:xfrm>
            <a:off x="8229600" y="1920240"/>
            <a:ext cx="3794760" cy="320040"/>
          </a:xfrm>
          <a:prstGeom prst="rect">
            <a:avLst/>
          </a:prstGeom>
          <a:noFill/>
        </p:spPr>
        <p:txBody>
          <a:bodyPr wrap="square" anchor="t">
            <a:spAutoFit/>
          </a:bodyPr>
          <a:lstStyle/>
          <a:p>
            <a:pPr algn="ctr"/>
            <a:r>
              <a:rPr sz="1000" b="0">
                <a:solidFill>
                  <a:srgbClr val="666666"/>
                </a:solidFill>
              </a:rPr>
              <a:t>Deterministic template</a:t>
            </a:r>
          </a:p>
        </p:txBody>
      </p:sp>
      <p:sp>
        <p:nvSpPr>
          <p:cNvPr id="23" name="TextBox 22"/>
          <p:cNvSpPr txBox="1"/>
          <p:nvPr/>
        </p:nvSpPr>
        <p:spPr>
          <a:xfrm>
            <a:off x="8412480" y="2331720"/>
            <a:ext cx="3429000" cy="1645920"/>
          </a:xfrm>
          <a:prstGeom prst="rect">
            <a:avLst/>
          </a:prstGeom>
          <a:noFill/>
        </p:spPr>
        <p:txBody>
          <a:bodyPr wrap="square" anchor="ctr">
            <a:spAutoFit/>
          </a:bodyPr>
          <a:lstStyle/>
          <a:p>
            <a:pPr algn="ctr"/>
            <a:r>
              <a:rPr sz="1100" b="0">
                <a:solidFill>
                  <a:srgbClr val="333333"/>
                </a:solidFill>
              </a:rPr>
              <a:t>No LLM, always available</a:t>
            </a:r>
          </a:p>
          <a:p>
            <a:pPr algn="ctr"/>
            <a:r>
              <a:rPr sz="1100" b="0">
                <a:solidFill>
                  <a:srgbClr val="333333"/>
                </a:solidFill>
              </a:rPr>
              <a:t>Zero latency, zero cost</a:t>
            </a:r>
          </a:p>
          <a:p>
            <a:pPr algn="ctr"/>
            <a:r>
              <a:rPr sz="1100" b="0">
                <a:solidFill>
                  <a:srgbClr val="333333"/>
                </a:solidFill>
              </a:rPr>
              <a:t>Content-aware phrase pools</a:t>
            </a:r>
          </a:p>
          <a:p>
            <a:pPr algn="ctr"/>
            <a:r>
              <a:rPr sz="1100" b="0">
                <a:solidFill>
                  <a:srgbClr val="333333"/>
                </a:solidFill>
              </a:rPr>
              <a:t>Safety-net fallback</a:t>
            </a:r>
          </a:p>
        </p:txBody>
      </p:sp>
      <p:sp>
        <p:nvSpPr>
          <p:cNvPr id="24" name="Rectangle 23"/>
          <p:cNvSpPr/>
          <p:nvPr/>
        </p:nvSpPr>
        <p:spPr>
          <a:xfrm>
            <a:off x="457200" y="4206240"/>
            <a:ext cx="11247120" cy="21031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4343400"/>
            <a:ext cx="10972800" cy="320040"/>
          </a:xfrm>
          <a:prstGeom prst="rect">
            <a:avLst/>
          </a:prstGeom>
          <a:noFill/>
        </p:spPr>
        <p:txBody>
          <a:bodyPr wrap="square" anchor="t">
            <a:spAutoFit/>
          </a:bodyPr>
          <a:lstStyle/>
          <a:p>
            <a:pPr algn="l"/>
            <a:r>
              <a:rPr sz="1300" b="1">
                <a:solidFill>
                  <a:srgbClr val="0071DC"/>
                </a:solidFill>
              </a:rPr>
              <a:t>Fallback logic  —  no draft is ever missing</a:t>
            </a:r>
          </a:p>
        </p:txBody>
      </p:sp>
      <p:sp>
        <p:nvSpPr>
          <p:cNvPr id="26" name="TextBox 25"/>
          <p:cNvSpPr txBox="1"/>
          <p:nvPr/>
        </p:nvSpPr>
        <p:spPr>
          <a:xfrm>
            <a:off x="640080" y="4663440"/>
            <a:ext cx="10972800" cy="1554480"/>
          </a:xfrm>
          <a:prstGeom prst="rect">
            <a:avLst/>
          </a:prstGeom>
          <a:noFill/>
        </p:spPr>
        <p:txBody>
          <a:bodyPr wrap="square">
            <a:spAutoFit/>
          </a:bodyPr>
          <a:lstStyle/>
          <a:p>
            <a:pPr>
              <a:spcAft>
                <a:spcPts val="400"/>
              </a:spcAft>
            </a:pPr>
            <a:r>
              <a:rPr sz="1100" b="0">
                <a:solidFill>
                  <a:srgbClr val="333333"/>
                </a:solidFill>
              </a:rPr>
              <a:t>•  GPT-4o unavailable  (no gateway key / consumer-ID / network)  →  Smart Composer draft in slot A</a:t>
            </a:r>
          </a:p>
          <a:p>
            <a:pPr>
              <a:spcAft>
                <a:spcPts val="400"/>
              </a:spcAft>
            </a:pPr>
            <a:r>
              <a:rPr sz="1100" b="0">
                <a:solidFill>
                  <a:srgbClr val="333333"/>
                </a:solidFill>
              </a:rPr>
              <a:t>•  Mistral unavailable  (Ollama not running)  →  Smart Composer draft in slot B</a:t>
            </a:r>
          </a:p>
          <a:p>
            <a:pPr>
              <a:spcAft>
                <a:spcPts val="400"/>
              </a:spcAft>
            </a:pPr>
            <a:r>
              <a:rPr sz="1100" b="0">
                <a:solidFill>
                  <a:srgbClr val="333333"/>
                </a:solidFill>
              </a:rPr>
              <a:t>•  Smart Composer  always  produces slot C  —  guaranteed reply</a:t>
            </a:r>
          </a:p>
          <a:p>
            <a:pPr>
              <a:spcAft>
                <a:spcPts val="400"/>
              </a:spcAft>
            </a:pPr>
            <a:r>
              <a:rPr sz="1100" b="0">
                <a:solidFill>
                  <a:srgbClr val="333333"/>
                </a:solidFill>
              </a:rPr>
              <a:t>•  UI labels each card with the actual model used, plus an offline-fallback badge when applicable</a:t>
            </a:r>
          </a:p>
        </p:txBody>
      </p:sp>
      <p:sp>
        <p:nvSpPr>
          <p:cNvPr id="27" name="TextBox 26"/>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8" name="TextBox 27"/>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5 / 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Smart Reply  —  Prompt Design &amp; Few-Shot</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Same prompt fed to GPT and Mistral; Smart Composer skips the LLM step</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11247120" cy="320040"/>
          </a:xfrm>
          <a:prstGeom prst="rect">
            <a:avLst/>
          </a:prstGeom>
          <a:noFill/>
        </p:spPr>
        <p:txBody>
          <a:bodyPr wrap="square" anchor="t">
            <a:spAutoFit/>
          </a:bodyPr>
          <a:lstStyle/>
          <a:p>
            <a:pPr algn="l"/>
            <a:r>
              <a:rPr sz="1300" b="1">
                <a:solidFill>
                  <a:srgbClr val="041E42"/>
                </a:solidFill>
              </a:rPr>
              <a:t>Prompt template  (built in  _build_reply_prompt)</a:t>
            </a:r>
          </a:p>
        </p:txBody>
      </p:sp>
      <p:sp>
        <p:nvSpPr>
          <p:cNvPr id="7" name="Rectangle 6"/>
          <p:cNvSpPr/>
          <p:nvPr/>
        </p:nvSpPr>
        <p:spPr>
          <a:xfrm>
            <a:off x="457200" y="1280160"/>
            <a:ext cx="11247120" cy="3246120"/>
          </a:xfrm>
          <a:prstGeom prst="rect">
            <a:avLst/>
          </a:prstGeom>
          <a:solidFill>
            <a:srgbClr val="1E293B"/>
          </a:solidFill>
          <a:ln>
            <a:solidFill>
              <a:srgbClr val="041E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417320"/>
            <a:ext cx="10881360" cy="2971800"/>
          </a:xfrm>
          <a:prstGeom prst="rect">
            <a:avLst/>
          </a:prstGeom>
          <a:noFill/>
        </p:spPr>
        <p:txBody>
          <a:bodyPr wrap="square" anchor="t">
            <a:spAutoFit/>
          </a:bodyPr>
          <a:lstStyle/>
          <a:p>
            <a:pPr algn="l"/>
            <a:r>
              <a:rPr sz="1000" b="0">
                <a:solidFill>
                  <a:srgbClr val="E6EDF7"/>
                </a:solidFill>
              </a:rPr>
              <a:t>You are a senior Walmart customer-care analyst replying on Reddit.</a:t>
            </a:r>
          </a:p>
          <a:p>
            <a:pPr algn="l"/>
            <a:r>
              <a:rPr sz="1000" b="0">
                <a:solidFill>
                  <a:srgbClr val="E6EDF7"/>
                </a:solidFill>
              </a:rPr>
              <a:t>Write ONE reply to the customer below. Keep it 2-4 sentences,</a:t>
            </a:r>
          </a:p>
          <a:p>
            <a:pPr algn="l"/>
            <a:r>
              <a:rPr sz="1000" b="0">
                <a:solidFill>
                  <a:srgbClr val="E6EDF7"/>
                </a:solidFill>
              </a:rPr>
              <a:t>empathetic, specific to their complaint, no corporate jargon,</a:t>
            </a:r>
          </a:p>
          <a:p>
            <a:pPr algn="l"/>
            <a:r>
              <a:rPr sz="1000" b="0">
                <a:solidFill>
                  <a:srgbClr val="E6EDF7"/>
                </a:solidFill>
              </a:rPr>
              <a:t>no hashtags, no emojis. Do NOT promise refunds you can't verify;</a:t>
            </a:r>
          </a:p>
          <a:p>
            <a:pPr algn="l"/>
            <a:r>
              <a:rPr sz="1000" b="0">
                <a:solidFill>
                  <a:srgbClr val="E6EDF7"/>
                </a:solidFill>
              </a:rPr>
              <a:t>invite them to DM order details if action is needed. Sign off as</a:t>
            </a:r>
          </a:p>
          <a:p>
            <a:pPr algn="l"/>
            <a:r>
              <a:rPr sz="1000" b="0">
                <a:solidFill>
                  <a:srgbClr val="E6EDF7"/>
                </a:solidFill>
              </a:rPr>
              <a:t>a real person, not a brand.</a:t>
            </a:r>
          </a:p>
          <a:p>
            <a:pPr algn="l"/>
          </a:p>
          <a:p>
            <a:pPr algn="l"/>
            <a:r>
              <a:rPr sz="1000" b="0">
                <a:solidFill>
                  <a:srgbClr val="E6EDF7"/>
                </a:solidFill>
              </a:rPr>
              <a:t>Example customer post: {past_post_1}</a:t>
            </a:r>
          </a:p>
          <a:p>
            <a:pPr algn="l"/>
            <a:r>
              <a:rPr sz="1000" b="0">
                <a:solidFill>
                  <a:srgbClr val="E6EDF7"/>
                </a:solidFill>
              </a:rPr>
              <a:t>Example analyst reply: {past_reply_1}</a:t>
            </a:r>
          </a:p>
          <a:p>
            <a:pPr algn="l"/>
            <a:r>
              <a:rPr sz="1000" b="0">
                <a:solidFill>
                  <a:srgbClr val="E6EDF7"/>
                </a:solidFill>
              </a:rPr>
              <a:t>Example customer post: {past_post_2}</a:t>
            </a:r>
          </a:p>
          <a:p>
            <a:pPr algn="l"/>
            <a:r>
              <a:rPr sz="1000" b="0">
                <a:solidFill>
                  <a:srgbClr val="E6EDF7"/>
                </a:solidFill>
              </a:rPr>
              <a:t>Example analyst reply: {past_reply_2}</a:t>
            </a:r>
          </a:p>
          <a:p>
            <a:pPr algn="l"/>
          </a:p>
          <a:p>
            <a:pPr algn="l"/>
            <a:r>
              <a:rPr sz="1000" b="0">
                <a:solidFill>
                  <a:srgbClr val="E6EDF7"/>
                </a:solidFill>
              </a:rPr>
              <a:t>Subreddit: r/{subreddit}</a:t>
            </a:r>
          </a:p>
          <a:p>
            <a:pPr algn="l"/>
            <a:r>
              <a:rPr sz="1000" b="0">
                <a:solidFill>
                  <a:srgbClr val="E6EDF7"/>
                </a:solidFill>
              </a:rPr>
              <a:t>Customer ({author}) complaint about: {aspect_1}, {aspect_2}</a:t>
            </a:r>
          </a:p>
          <a:p>
            <a:pPr algn="l"/>
            <a:r>
              <a:rPr sz="1000" b="0">
                <a:solidFill>
                  <a:srgbClr val="E6EDF7"/>
                </a:solidFill>
              </a:rPr>
              <a:t>Customer post:</a:t>
            </a:r>
          </a:p>
          <a:p>
            <a:pPr algn="l"/>
            <a:r>
              <a:rPr sz="1000" b="0">
                <a:solidFill>
                  <a:srgbClr val="E6EDF7"/>
                </a:solidFill>
              </a:rPr>
              <a:t>{post_title + post_body, ≤ 1200 chars}</a:t>
            </a:r>
          </a:p>
          <a:p>
            <a:pPr algn="l"/>
          </a:p>
          <a:p>
            <a:pPr algn="l"/>
            <a:r>
              <a:rPr sz="1000" b="0">
                <a:solidFill>
                  <a:srgbClr val="E6EDF7"/>
                </a:solidFill>
              </a:rPr>
              <a:t>Reply:</a:t>
            </a:r>
          </a:p>
        </p:txBody>
      </p:sp>
      <p:sp>
        <p:nvSpPr>
          <p:cNvPr id="9" name="Rectangle 8"/>
          <p:cNvSpPr/>
          <p:nvPr/>
        </p:nvSpPr>
        <p:spPr>
          <a:xfrm>
            <a:off x="457200" y="4709160"/>
            <a:ext cx="5486400" cy="160020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800600"/>
            <a:ext cx="5212080" cy="320040"/>
          </a:xfrm>
          <a:prstGeom prst="rect">
            <a:avLst/>
          </a:prstGeom>
          <a:noFill/>
        </p:spPr>
        <p:txBody>
          <a:bodyPr wrap="square" anchor="t">
            <a:spAutoFit/>
          </a:bodyPr>
          <a:lstStyle/>
          <a:p>
            <a:pPr algn="l"/>
            <a:r>
              <a:rPr sz="1200" b="1">
                <a:solidFill>
                  <a:srgbClr val="10B981"/>
                </a:solidFill>
              </a:rPr>
              <a:t>Few-shot source  —  feedback  table</a:t>
            </a:r>
          </a:p>
        </p:txBody>
      </p:sp>
      <p:sp>
        <p:nvSpPr>
          <p:cNvPr id="11" name="TextBox 10"/>
          <p:cNvSpPr txBox="1"/>
          <p:nvPr/>
        </p:nvSpPr>
        <p:spPr>
          <a:xfrm>
            <a:off x="640080" y="5120640"/>
            <a:ext cx="5212080" cy="1143000"/>
          </a:xfrm>
          <a:prstGeom prst="rect">
            <a:avLst/>
          </a:prstGeom>
          <a:noFill/>
        </p:spPr>
        <p:txBody>
          <a:bodyPr wrap="square">
            <a:spAutoFit/>
          </a:bodyPr>
          <a:lstStyle/>
          <a:p>
            <a:pPr>
              <a:spcAft>
                <a:spcPts val="400"/>
              </a:spcAft>
            </a:pPr>
            <a:r>
              <a:rPr sz="1000" b="0">
                <a:solidFill>
                  <a:srgbClr val="333333"/>
                </a:solidFill>
              </a:rPr>
              <a:t>•  Top-3 past validated replies for the same aspect</a:t>
            </a:r>
          </a:p>
          <a:p>
            <a:pPr>
              <a:spcAft>
                <a:spcPts val="400"/>
              </a:spcAft>
            </a:pPr>
            <a:r>
              <a:rPr sz="1000" b="0">
                <a:solidFill>
                  <a:srgbClr val="333333"/>
                </a:solidFill>
              </a:rPr>
              <a:t>•  Written by human analysts, already posted to Reddit</a:t>
            </a:r>
          </a:p>
          <a:p>
            <a:pPr>
              <a:spcAft>
                <a:spcPts val="400"/>
              </a:spcAft>
            </a:pPr>
            <a:r>
              <a:rPr sz="1000" b="0">
                <a:solidFill>
                  <a:srgbClr val="333333"/>
                </a:solidFill>
              </a:rPr>
              <a:t>•  Refreshed on every  Generate  click  →  adapts over time</a:t>
            </a:r>
          </a:p>
        </p:txBody>
      </p:sp>
      <p:sp>
        <p:nvSpPr>
          <p:cNvPr id="12" name="Rectangle 11"/>
          <p:cNvSpPr/>
          <p:nvPr/>
        </p:nvSpPr>
        <p:spPr>
          <a:xfrm>
            <a:off x="6172200" y="4709160"/>
            <a:ext cx="5532120" cy="1600200"/>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4800600"/>
            <a:ext cx="5212080" cy="320040"/>
          </a:xfrm>
          <a:prstGeom prst="rect">
            <a:avLst/>
          </a:prstGeom>
          <a:noFill/>
        </p:spPr>
        <p:txBody>
          <a:bodyPr wrap="square" anchor="t">
            <a:spAutoFit/>
          </a:bodyPr>
          <a:lstStyle/>
          <a:p>
            <a:pPr algn="l"/>
            <a:r>
              <a:rPr sz="1200" b="1">
                <a:solidFill>
                  <a:srgbClr val="D97706"/>
                </a:solidFill>
              </a:rPr>
              <a:t>Style guardrails baked into the prompt</a:t>
            </a:r>
          </a:p>
        </p:txBody>
      </p:sp>
      <p:sp>
        <p:nvSpPr>
          <p:cNvPr id="14" name="TextBox 13"/>
          <p:cNvSpPr txBox="1"/>
          <p:nvPr/>
        </p:nvSpPr>
        <p:spPr>
          <a:xfrm>
            <a:off x="6355080" y="5120640"/>
            <a:ext cx="5212080" cy="1143000"/>
          </a:xfrm>
          <a:prstGeom prst="rect">
            <a:avLst/>
          </a:prstGeom>
          <a:noFill/>
        </p:spPr>
        <p:txBody>
          <a:bodyPr wrap="square">
            <a:spAutoFit/>
          </a:bodyPr>
          <a:lstStyle/>
          <a:p>
            <a:pPr>
              <a:spcAft>
                <a:spcPts val="400"/>
              </a:spcAft>
            </a:pPr>
            <a:r>
              <a:rPr sz="1000" b="0">
                <a:solidFill>
                  <a:srgbClr val="333333"/>
                </a:solidFill>
              </a:rPr>
              <a:t>•  2 – 4 sentences, empathetic, specific</a:t>
            </a:r>
          </a:p>
          <a:p>
            <a:pPr>
              <a:spcAft>
                <a:spcPts val="400"/>
              </a:spcAft>
            </a:pPr>
            <a:r>
              <a:rPr sz="1000" b="0">
                <a:solidFill>
                  <a:srgbClr val="333333"/>
                </a:solidFill>
              </a:rPr>
              <a:t>•  No corporate jargon, no hashtags, no emojis</a:t>
            </a:r>
          </a:p>
          <a:p>
            <a:pPr>
              <a:spcAft>
                <a:spcPts val="400"/>
              </a:spcAft>
            </a:pPr>
            <a:r>
              <a:rPr sz="1000" b="0">
                <a:solidFill>
                  <a:srgbClr val="333333"/>
                </a:solidFill>
              </a:rPr>
              <a:t>•  No unverifiable refund promises  →  DM to continue</a:t>
            </a:r>
          </a:p>
          <a:p>
            <a:pPr>
              <a:spcAft>
                <a:spcPts val="400"/>
              </a:spcAft>
            </a:pPr>
            <a:r>
              <a:rPr sz="1000" b="0">
                <a:solidFill>
                  <a:srgbClr val="333333"/>
                </a:solidFill>
              </a:rPr>
              <a:t>•  Sign off as a person, not a brand</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6 / 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Smart Reply  —  Worked Example  (all three drafts real, live-captured)</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raw_posts.id = reddit_1u2bgdw  ·  r/samsclub  ·  gateway ✓  ·  Ollama ✓  ·  Smart Composer ✓</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14400"/>
            <a:ext cx="11247120" cy="1874519"/>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987552"/>
            <a:ext cx="10972800" cy="320040"/>
          </a:xfrm>
          <a:prstGeom prst="rect">
            <a:avLst/>
          </a:prstGeom>
          <a:noFill/>
        </p:spPr>
        <p:txBody>
          <a:bodyPr wrap="square" anchor="t">
            <a:spAutoFit/>
          </a:bodyPr>
          <a:lstStyle/>
          <a:p>
            <a:pPr algn="l"/>
            <a:r>
              <a:rPr sz="1100" b="1">
                <a:solidFill>
                  <a:srgbClr val="D97706"/>
                </a:solidFill>
              </a:rPr>
              <a:t>CUSTOMER COMPLAINT  ·  r/samsclub</a:t>
            </a:r>
          </a:p>
        </p:txBody>
      </p:sp>
      <p:sp>
        <p:nvSpPr>
          <p:cNvPr id="8" name="TextBox 7"/>
          <p:cNvSpPr txBox="1"/>
          <p:nvPr/>
        </p:nvSpPr>
        <p:spPr>
          <a:xfrm>
            <a:off x="640080" y="1280160"/>
            <a:ext cx="10972800" cy="292608"/>
          </a:xfrm>
          <a:prstGeom prst="rect">
            <a:avLst/>
          </a:prstGeom>
          <a:noFill/>
        </p:spPr>
        <p:txBody>
          <a:bodyPr wrap="square" anchor="t">
            <a:spAutoFit/>
          </a:bodyPr>
          <a:lstStyle/>
          <a:p>
            <a:pPr algn="l"/>
            <a:r>
              <a:rPr sz="1200" b="1">
                <a:solidFill>
                  <a:srgbClr val="041E42"/>
                </a:solidFill>
              </a:rPr>
              <a:t>Why do you guys sell whole pizzas made hours ago to customers?</a:t>
            </a:r>
          </a:p>
        </p:txBody>
      </p:sp>
      <p:sp>
        <p:nvSpPr>
          <p:cNvPr id="9" name="TextBox 8"/>
          <p:cNvSpPr txBox="1"/>
          <p:nvPr/>
        </p:nvSpPr>
        <p:spPr>
          <a:xfrm>
            <a:off x="640080" y="1572768"/>
            <a:ext cx="10972800" cy="822960"/>
          </a:xfrm>
          <a:prstGeom prst="rect">
            <a:avLst/>
          </a:prstGeom>
          <a:noFill/>
        </p:spPr>
        <p:txBody>
          <a:bodyPr wrap="square" anchor="t">
            <a:spAutoFit/>
          </a:bodyPr>
          <a:lstStyle/>
          <a:p>
            <a:pPr algn="l"/>
            <a:r>
              <a:rPr sz="1000" b="0">
                <a:solidFill>
                  <a:srgbClr val="333333"/>
                </a:solidFill>
              </a:rPr>
              <a:t>"The very few times I've gotten a whole pie, it'll be stuff premade and left in the hot case for like an hour 30mins before it's in my hand. How can I tell? They put a sticker with the date and the pizza looks and taste hours old. Pizza is meant to be made to order and waited for."</a:t>
            </a:r>
          </a:p>
        </p:txBody>
      </p:sp>
      <p:sp>
        <p:nvSpPr>
          <p:cNvPr id="10" name="TextBox 9"/>
          <p:cNvSpPr txBox="1"/>
          <p:nvPr/>
        </p:nvSpPr>
        <p:spPr>
          <a:xfrm>
            <a:off x="640080" y="2377440"/>
            <a:ext cx="7772400" cy="256032"/>
          </a:xfrm>
          <a:prstGeom prst="rect">
            <a:avLst/>
          </a:prstGeom>
          <a:noFill/>
        </p:spPr>
        <p:txBody>
          <a:bodyPr wrap="square" anchor="t">
            <a:spAutoFit/>
          </a:bodyPr>
          <a:lstStyle/>
          <a:p>
            <a:pPr algn="l"/>
            <a:r>
              <a:rPr sz="900" b="0">
                <a:solidFill>
                  <a:srgbClr val="666666"/>
                </a:solidFill>
              </a:rPr>
              <a:t>ModernBERT: negative (conf 0.9999997)  ·  aspects: customer service · product quality · store experience  ·  trust 0.66</a:t>
            </a:r>
          </a:p>
        </p:txBody>
      </p:sp>
      <p:sp>
        <p:nvSpPr>
          <p:cNvPr id="11" name="TextBox 10"/>
          <p:cNvSpPr txBox="1"/>
          <p:nvPr/>
        </p:nvSpPr>
        <p:spPr>
          <a:xfrm>
            <a:off x="8458200" y="2377440"/>
            <a:ext cx="3200400" cy="256032"/>
          </a:xfrm>
          <a:prstGeom prst="rect">
            <a:avLst/>
          </a:prstGeom>
          <a:noFill/>
        </p:spPr>
        <p:txBody>
          <a:bodyPr wrap="square">
            <a:spAutoFit/>
          </a:bodyPr>
          <a:lstStyle/>
          <a:p>
            <a:pPr algn="r"/>
            <a:r>
              <a:rPr sz="900" b="1" u="sng">
                <a:solidFill>
                  <a:srgbClr val="0071DC"/>
                </a:solidFill>
                <a:hlinkClick r:id="rId2"/>
              </a:rPr>
              <a:t>🔗 Open original on Reddit</a:t>
            </a:r>
          </a:p>
        </p:txBody>
      </p:sp>
      <p:sp>
        <p:nvSpPr>
          <p:cNvPr id="12" name="Rectangle 11"/>
          <p:cNvSpPr/>
          <p:nvPr/>
        </p:nvSpPr>
        <p:spPr>
          <a:xfrm>
            <a:off x="365760" y="2788920"/>
            <a:ext cx="3794760" cy="28803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2788920"/>
            <a:ext cx="3794760" cy="384048"/>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2834640"/>
            <a:ext cx="3794760" cy="320040"/>
          </a:xfrm>
          <a:prstGeom prst="rect">
            <a:avLst/>
          </a:prstGeom>
          <a:noFill/>
        </p:spPr>
        <p:txBody>
          <a:bodyPr wrap="square" anchor="t">
            <a:spAutoFit/>
          </a:bodyPr>
          <a:lstStyle/>
          <a:p>
            <a:pPr algn="ctr"/>
            <a:r>
              <a:rPr sz="1100" b="1">
                <a:solidFill>
                  <a:srgbClr val="FFFFFF"/>
                </a:solidFill>
              </a:rPr>
              <a:t>A · GPT-4o  (Walmart Gateway)</a:t>
            </a:r>
          </a:p>
        </p:txBody>
      </p:sp>
      <p:sp>
        <p:nvSpPr>
          <p:cNvPr id="15" name="TextBox 14"/>
          <p:cNvSpPr txBox="1"/>
          <p:nvPr/>
        </p:nvSpPr>
        <p:spPr>
          <a:xfrm>
            <a:off x="502920" y="3246120"/>
            <a:ext cx="3520440" cy="2331720"/>
          </a:xfrm>
          <a:prstGeom prst="rect">
            <a:avLst/>
          </a:prstGeom>
          <a:noFill/>
        </p:spPr>
        <p:txBody>
          <a:bodyPr wrap="square" anchor="t">
            <a:spAutoFit/>
          </a:bodyPr>
          <a:lstStyle/>
          <a:p>
            <a:pPr algn="l"/>
            <a:r>
              <a:rPr sz="900" b="0">
                <a:solidFill>
                  <a:srgbClr val="333333"/>
                </a:solidFill>
              </a:rPr>
              <a:t>Hi u/there, I'm sorry to hear about your experience with the pizzas. I understand how disappointing it must be to get something that feels less fresh than expected. While the hot case is meant to provide convenience, I agree that quality should never be sacrificed. If you'd like, feel free to DM me with the details of your store location so we can look into this and address it properly. – [Your Name]</a:t>
            </a:r>
          </a:p>
        </p:txBody>
      </p:sp>
      <p:sp>
        <p:nvSpPr>
          <p:cNvPr id="16" name="Rectangle 15"/>
          <p:cNvSpPr/>
          <p:nvPr/>
        </p:nvSpPr>
        <p:spPr>
          <a:xfrm>
            <a:off x="4297680" y="2788920"/>
            <a:ext cx="3794760" cy="2880360"/>
          </a:xfrm>
          <a:prstGeom prst="rect">
            <a:avLst/>
          </a:prstGeom>
          <a:solidFill>
            <a:srgbClr val="EDE9FE"/>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2788920"/>
            <a:ext cx="3794760"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97680" y="2834640"/>
            <a:ext cx="3794760" cy="320040"/>
          </a:xfrm>
          <a:prstGeom prst="rect">
            <a:avLst/>
          </a:prstGeom>
          <a:noFill/>
        </p:spPr>
        <p:txBody>
          <a:bodyPr wrap="square" anchor="t">
            <a:spAutoFit/>
          </a:bodyPr>
          <a:lstStyle/>
          <a:p>
            <a:pPr algn="ctr"/>
            <a:r>
              <a:rPr sz="1100" b="1">
                <a:solidFill>
                  <a:srgbClr val="FFFFFF"/>
                </a:solidFill>
              </a:rPr>
              <a:t>B · Mistral 7B  (local Ollama)</a:t>
            </a:r>
          </a:p>
        </p:txBody>
      </p:sp>
      <p:sp>
        <p:nvSpPr>
          <p:cNvPr id="19" name="TextBox 18"/>
          <p:cNvSpPr txBox="1"/>
          <p:nvPr/>
        </p:nvSpPr>
        <p:spPr>
          <a:xfrm>
            <a:off x="4434840" y="3246120"/>
            <a:ext cx="3520440" cy="2331720"/>
          </a:xfrm>
          <a:prstGeom prst="rect">
            <a:avLst/>
          </a:prstGeom>
          <a:noFill/>
        </p:spPr>
        <p:txBody>
          <a:bodyPr wrap="square" anchor="t">
            <a:spAutoFit/>
          </a:bodyPr>
          <a:lstStyle/>
          <a:p>
            <a:pPr algn="l"/>
            <a:r>
              <a:rPr sz="900" b="0">
                <a:solidFill>
                  <a:srgbClr val="333333"/>
                </a:solidFill>
              </a:rPr>
              <a:t>Hi u/there, I appreciate your concern about the quality of our prepared pizzas. It's important to us that our customers receive fresh and delicious food. The stickers with dates are there to help us manage the rotation of our products, ensuring they are consumed before they become stale. If you ever encounter a pizza that doesn't meet your expectations, please feel free to DM me the details of your order so I can look into it further. Thank you for taking the time to share your feedback.</a:t>
            </a:r>
          </a:p>
        </p:txBody>
      </p:sp>
      <p:sp>
        <p:nvSpPr>
          <p:cNvPr id="20" name="Rectangle 19"/>
          <p:cNvSpPr/>
          <p:nvPr/>
        </p:nvSpPr>
        <p:spPr>
          <a:xfrm>
            <a:off x="8229600" y="2788920"/>
            <a:ext cx="3794760" cy="288036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0" y="2788920"/>
            <a:ext cx="3794760"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2834640"/>
            <a:ext cx="3794760" cy="320040"/>
          </a:xfrm>
          <a:prstGeom prst="rect">
            <a:avLst/>
          </a:prstGeom>
          <a:noFill/>
        </p:spPr>
        <p:txBody>
          <a:bodyPr wrap="square" anchor="t">
            <a:spAutoFit/>
          </a:bodyPr>
          <a:lstStyle/>
          <a:p>
            <a:pPr algn="ctr"/>
            <a:r>
              <a:rPr sz="1100" b="1">
                <a:solidFill>
                  <a:srgbClr val="FFFFFF"/>
                </a:solidFill>
              </a:rPr>
              <a:t>C · Smart Composer  (no-LLM)</a:t>
            </a:r>
          </a:p>
        </p:txBody>
      </p:sp>
      <p:sp>
        <p:nvSpPr>
          <p:cNvPr id="23" name="TextBox 22"/>
          <p:cNvSpPr txBox="1"/>
          <p:nvPr/>
        </p:nvSpPr>
        <p:spPr>
          <a:xfrm>
            <a:off x="8366760" y="3246120"/>
            <a:ext cx="3520440" cy="2331720"/>
          </a:xfrm>
          <a:prstGeom prst="rect">
            <a:avLst/>
          </a:prstGeom>
          <a:noFill/>
        </p:spPr>
        <p:txBody>
          <a:bodyPr wrap="square" anchor="t">
            <a:spAutoFit/>
          </a:bodyPr>
          <a:lstStyle/>
          <a:p>
            <a:pPr algn="l"/>
            <a:r>
              <a:rPr sz="900" b="0">
                <a:solidFill>
                  <a:srgbClr val="333333"/>
                </a:solidFill>
              </a:rPr>
              <a:t>Hi u/there — thanks for flagging this. completely understand the frustration around your order. Drop us a private message with the order # or store info and we'll take it from here. — Walmart Care</a:t>
            </a:r>
          </a:p>
        </p:txBody>
      </p:sp>
      <p:sp>
        <p:nvSpPr>
          <p:cNvPr id="24" name="Rectangle 23"/>
          <p:cNvSpPr/>
          <p:nvPr/>
        </p:nvSpPr>
        <p:spPr>
          <a:xfrm>
            <a:off x="457200" y="5806440"/>
            <a:ext cx="11247120" cy="5486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52160"/>
            <a:ext cx="10972800" cy="457200"/>
          </a:xfrm>
          <a:prstGeom prst="rect">
            <a:avLst/>
          </a:prstGeom>
          <a:noFill/>
        </p:spPr>
        <p:txBody>
          <a:bodyPr wrap="square" anchor="ctr">
            <a:spAutoFit/>
          </a:bodyPr>
          <a:lstStyle/>
          <a:p>
            <a:pPr algn="l"/>
            <a:r>
              <a:rPr sz="1000" b="0">
                <a:solidFill>
                  <a:srgbClr val="333333"/>
                </a:solidFill>
              </a:rPr>
              <a:t>One prompt fed to all three engines.  Analyst picks the best draft, edits inline, clicks Save &amp; Open Reddit  →  the posted reply is written to  feedback  and becomes the next post's top few-shot example.</a:t>
            </a:r>
          </a:p>
        </p:txBody>
      </p:sp>
      <p:sp>
        <p:nvSpPr>
          <p:cNvPr id="26" name="TextBox 25"/>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7" name="TextBox 26"/>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7 / 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Learning Loop  —  Feedback → Retraining</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Every human action becomes a training signal  —  hot loop (live) + warm loop (monthly)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60120"/>
            <a:ext cx="2788920" cy="10515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960120"/>
            <a:ext cx="2788920" cy="32004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2788920" cy="274320"/>
          </a:xfrm>
          <a:prstGeom prst="rect">
            <a:avLst/>
          </a:prstGeom>
          <a:noFill/>
        </p:spPr>
        <p:txBody>
          <a:bodyPr wrap="square" anchor="t">
            <a:spAutoFit/>
          </a:bodyPr>
          <a:lstStyle/>
          <a:p>
            <a:pPr algn="ctr"/>
            <a:r>
              <a:rPr sz="1100" b="1">
                <a:solidFill>
                  <a:srgbClr val="FFFFFF"/>
                </a:solidFill>
              </a:rPr>
              <a:t>Label / aspect correction</a:t>
            </a:r>
          </a:p>
        </p:txBody>
      </p:sp>
      <p:sp>
        <p:nvSpPr>
          <p:cNvPr id="9" name="TextBox 8"/>
          <p:cNvSpPr txBox="1"/>
          <p:nvPr/>
        </p:nvSpPr>
        <p:spPr>
          <a:xfrm>
            <a:off x="365760" y="1417320"/>
            <a:ext cx="2788920" cy="594360"/>
          </a:xfrm>
          <a:prstGeom prst="rect">
            <a:avLst/>
          </a:prstGeom>
          <a:noFill/>
        </p:spPr>
        <p:txBody>
          <a:bodyPr wrap="square" anchor="ctr">
            <a:spAutoFit/>
          </a:bodyPr>
          <a:lstStyle/>
          <a:p>
            <a:pPr algn="ctr"/>
            <a:r>
              <a:rPr sz="1100" b="0">
                <a:solidFill>
                  <a:srgbClr val="333333"/>
                </a:solidFill>
              </a:rPr>
              <a:t>Review &amp; Validate</a:t>
            </a:r>
          </a:p>
        </p:txBody>
      </p:sp>
      <p:sp>
        <p:nvSpPr>
          <p:cNvPr id="10" name="Rectangle 9"/>
          <p:cNvSpPr/>
          <p:nvPr/>
        </p:nvSpPr>
        <p:spPr>
          <a:xfrm>
            <a:off x="3291840" y="960120"/>
            <a:ext cx="2788920" cy="10515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91840" y="960120"/>
            <a:ext cx="2788920" cy="3200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91840" y="1005840"/>
            <a:ext cx="2788920" cy="274320"/>
          </a:xfrm>
          <a:prstGeom prst="rect">
            <a:avLst/>
          </a:prstGeom>
          <a:noFill/>
        </p:spPr>
        <p:txBody>
          <a:bodyPr wrap="square" anchor="t">
            <a:spAutoFit/>
          </a:bodyPr>
          <a:lstStyle/>
          <a:p>
            <a:pPr algn="ctr"/>
            <a:r>
              <a:rPr sz="1100" b="1">
                <a:solidFill>
                  <a:srgbClr val="FFFFFF"/>
                </a:solidFill>
              </a:rPr>
              <a:t>Trust-score override</a:t>
            </a:r>
          </a:p>
        </p:txBody>
      </p:sp>
      <p:sp>
        <p:nvSpPr>
          <p:cNvPr id="13" name="TextBox 12"/>
          <p:cNvSpPr txBox="1"/>
          <p:nvPr/>
        </p:nvSpPr>
        <p:spPr>
          <a:xfrm>
            <a:off x="3291840" y="1417320"/>
            <a:ext cx="2788920" cy="594360"/>
          </a:xfrm>
          <a:prstGeom prst="rect">
            <a:avLst/>
          </a:prstGeom>
          <a:noFill/>
        </p:spPr>
        <p:txBody>
          <a:bodyPr wrap="square" anchor="ctr">
            <a:spAutoFit/>
          </a:bodyPr>
          <a:lstStyle/>
          <a:p>
            <a:pPr algn="ctr"/>
            <a:r>
              <a:rPr sz="1100" b="0">
                <a:solidFill>
                  <a:srgbClr val="333333"/>
                </a:solidFill>
              </a:rPr>
              <a:t>Review &amp; Validate</a:t>
            </a:r>
          </a:p>
        </p:txBody>
      </p:sp>
      <p:sp>
        <p:nvSpPr>
          <p:cNvPr id="14" name="Rectangle 13"/>
          <p:cNvSpPr/>
          <p:nvPr/>
        </p:nvSpPr>
        <p:spPr>
          <a:xfrm>
            <a:off x="6217920" y="960120"/>
            <a:ext cx="2788920" cy="10515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960120"/>
            <a:ext cx="2788920" cy="3200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0" y="1005840"/>
            <a:ext cx="2788920" cy="274320"/>
          </a:xfrm>
          <a:prstGeom prst="rect">
            <a:avLst/>
          </a:prstGeom>
          <a:noFill/>
        </p:spPr>
        <p:txBody>
          <a:bodyPr wrap="square" anchor="t">
            <a:spAutoFit/>
          </a:bodyPr>
          <a:lstStyle/>
          <a:p>
            <a:pPr algn="ctr"/>
            <a:r>
              <a:rPr sz="1100" b="1">
                <a:solidFill>
                  <a:srgbClr val="FFFFFF"/>
                </a:solidFill>
              </a:rPr>
              <a:t>Posted reply</a:t>
            </a:r>
          </a:p>
        </p:txBody>
      </p:sp>
      <p:sp>
        <p:nvSpPr>
          <p:cNvPr id="17" name="TextBox 16"/>
          <p:cNvSpPr txBox="1"/>
          <p:nvPr/>
        </p:nvSpPr>
        <p:spPr>
          <a:xfrm>
            <a:off x="6217920" y="1417320"/>
            <a:ext cx="2788920" cy="594360"/>
          </a:xfrm>
          <a:prstGeom prst="rect">
            <a:avLst/>
          </a:prstGeom>
          <a:noFill/>
        </p:spPr>
        <p:txBody>
          <a:bodyPr wrap="square" anchor="ctr">
            <a:spAutoFit/>
          </a:bodyPr>
          <a:lstStyle/>
          <a:p>
            <a:pPr algn="ctr"/>
            <a:r>
              <a:rPr sz="1100" b="0">
                <a:solidFill>
                  <a:srgbClr val="333333"/>
                </a:solidFill>
              </a:rPr>
              <a:t>Smart Reply Composer</a:t>
            </a:r>
          </a:p>
        </p:txBody>
      </p:sp>
      <p:sp>
        <p:nvSpPr>
          <p:cNvPr id="18" name="Rectangle 17"/>
          <p:cNvSpPr/>
          <p:nvPr/>
        </p:nvSpPr>
        <p:spPr>
          <a:xfrm>
            <a:off x="9144000" y="960120"/>
            <a:ext cx="2788920" cy="10515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144000" y="960120"/>
            <a:ext cx="2788920" cy="3200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0" y="1005840"/>
            <a:ext cx="2788920" cy="274320"/>
          </a:xfrm>
          <a:prstGeom prst="rect">
            <a:avLst/>
          </a:prstGeom>
          <a:noFill/>
        </p:spPr>
        <p:txBody>
          <a:bodyPr wrap="square" anchor="t">
            <a:spAutoFit/>
          </a:bodyPr>
          <a:lstStyle/>
          <a:p>
            <a:pPr algn="ctr"/>
            <a:r>
              <a:rPr sz="1100" b="1">
                <a:solidFill>
                  <a:srgbClr val="FFFFFF"/>
                </a:solidFill>
              </a:rPr>
              <a:t>Lifecycle transition</a:t>
            </a:r>
          </a:p>
        </p:txBody>
      </p:sp>
      <p:sp>
        <p:nvSpPr>
          <p:cNvPr id="21" name="TextBox 20"/>
          <p:cNvSpPr txBox="1"/>
          <p:nvPr/>
        </p:nvSpPr>
        <p:spPr>
          <a:xfrm>
            <a:off x="9144000" y="1417320"/>
            <a:ext cx="2788920" cy="594360"/>
          </a:xfrm>
          <a:prstGeom prst="rect">
            <a:avLst/>
          </a:prstGeom>
          <a:noFill/>
        </p:spPr>
        <p:txBody>
          <a:bodyPr wrap="square" anchor="ctr">
            <a:spAutoFit/>
          </a:bodyPr>
          <a:lstStyle/>
          <a:p>
            <a:pPr algn="ctr"/>
            <a:r>
              <a:rPr sz="1100" b="0">
                <a:solidFill>
                  <a:srgbClr val="333333"/>
                </a:solidFill>
              </a:rPr>
              <a:t>Kanban board</a:t>
            </a:r>
          </a:p>
        </p:txBody>
      </p:sp>
      <p:sp>
        <p:nvSpPr>
          <p:cNvPr id="22" name="Rectangle 21"/>
          <p:cNvSpPr/>
          <p:nvPr/>
        </p:nvSpPr>
        <p:spPr>
          <a:xfrm>
            <a:off x="457200" y="2286000"/>
            <a:ext cx="11247120" cy="640080"/>
          </a:xfrm>
          <a:prstGeom prst="rect">
            <a:avLst/>
          </a:prstGeom>
          <a:solidFill>
            <a:srgbClr val="041E42"/>
          </a:solidFill>
          <a:ln>
            <a:solidFill>
              <a:srgbClr val="041E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2331720"/>
            <a:ext cx="10972800" cy="548640"/>
          </a:xfrm>
          <a:prstGeom prst="rect">
            <a:avLst/>
          </a:prstGeom>
          <a:noFill/>
        </p:spPr>
        <p:txBody>
          <a:bodyPr wrap="square" anchor="ctr">
            <a:spAutoFit/>
          </a:bodyPr>
          <a:lstStyle/>
          <a:p>
            <a:pPr algn="ctr"/>
            <a:r>
              <a:rPr sz="1200" b="1">
                <a:solidFill>
                  <a:srgbClr val="FFFFFF"/>
                </a:solidFill>
              </a:rPr>
              <a:t>feedback  table  (SQLite / Cosmos DB)  —  one row per human action, JSON payload, partition_key = analyst_id</a:t>
            </a:r>
          </a:p>
        </p:txBody>
      </p:sp>
      <p:sp>
        <p:nvSpPr>
          <p:cNvPr id="24" name="Rectangle 23"/>
          <p:cNvSpPr/>
          <p:nvPr/>
        </p:nvSpPr>
        <p:spPr>
          <a:xfrm>
            <a:off x="457200" y="3108960"/>
            <a:ext cx="5532120" cy="228600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200400"/>
            <a:ext cx="5212080" cy="320040"/>
          </a:xfrm>
          <a:prstGeom prst="rect">
            <a:avLst/>
          </a:prstGeom>
          <a:noFill/>
        </p:spPr>
        <p:txBody>
          <a:bodyPr wrap="square" anchor="t">
            <a:spAutoFit/>
          </a:bodyPr>
          <a:lstStyle/>
          <a:p>
            <a:pPr algn="l"/>
            <a:r>
              <a:rPr sz="1300" b="1">
                <a:solidFill>
                  <a:srgbClr val="10B981"/>
                </a:solidFill>
              </a:rPr>
              <a:t>HOT LOOP  ·  in-context, live</a:t>
            </a:r>
          </a:p>
        </p:txBody>
      </p:sp>
      <p:sp>
        <p:nvSpPr>
          <p:cNvPr id="26" name="TextBox 25"/>
          <p:cNvSpPr txBox="1"/>
          <p:nvPr/>
        </p:nvSpPr>
        <p:spPr>
          <a:xfrm>
            <a:off x="640080" y="3566160"/>
            <a:ext cx="5212080" cy="1783080"/>
          </a:xfrm>
          <a:prstGeom prst="rect">
            <a:avLst/>
          </a:prstGeom>
          <a:noFill/>
        </p:spPr>
        <p:txBody>
          <a:bodyPr wrap="square">
            <a:spAutoFit/>
          </a:bodyPr>
          <a:lstStyle/>
          <a:p>
            <a:pPr>
              <a:spcAft>
                <a:spcPts val="400"/>
              </a:spcAft>
            </a:pPr>
            <a:r>
              <a:rPr sz="1100" b="0">
                <a:solidFill>
                  <a:srgbClr val="333333"/>
                </a:solidFill>
              </a:rPr>
              <a:t>•  Every Generate Drafts click queries feedback</a:t>
            </a:r>
          </a:p>
          <a:p>
            <a:pPr>
              <a:spcAft>
                <a:spcPts val="400"/>
              </a:spcAft>
            </a:pPr>
            <a:r>
              <a:rPr sz="1100" b="0">
                <a:solidFill>
                  <a:srgbClr val="333333"/>
                </a:solidFill>
              </a:rPr>
              <a:t>•  SELECT … WHERE kind = 'auto_reply_posted'</a:t>
            </a:r>
          </a:p>
          <a:p>
            <a:pPr>
              <a:spcAft>
                <a:spcPts val="400"/>
              </a:spcAft>
            </a:pPr>
            <a:r>
              <a:rPr sz="1100" b="0">
                <a:solidFill>
                  <a:srgbClr val="333333"/>
                </a:solidFill>
              </a:rPr>
              <a:t>•  ORDER BY created_at DESC LIMIT 5  →  top 3 pairs</a:t>
            </a:r>
          </a:p>
          <a:p>
            <a:pPr>
              <a:spcAft>
                <a:spcPts val="400"/>
              </a:spcAft>
            </a:pPr>
            <a:r>
              <a:rPr sz="1100" b="0">
                <a:solidFill>
                  <a:srgbClr val="333333"/>
                </a:solidFill>
              </a:rPr>
              <a:t>•  Injected into the prompt as few-shot examples</a:t>
            </a:r>
          </a:p>
          <a:p>
            <a:pPr>
              <a:spcAft>
                <a:spcPts val="400"/>
              </a:spcAft>
            </a:pPr>
            <a:r>
              <a:rPr sz="1100" b="0">
                <a:solidFill>
                  <a:srgbClr val="333333"/>
                </a:solidFill>
              </a:rPr>
              <a:t>•  Effect visible on the next reply  —  no training</a:t>
            </a:r>
          </a:p>
        </p:txBody>
      </p:sp>
      <p:sp>
        <p:nvSpPr>
          <p:cNvPr id="27" name="Rectangle 26"/>
          <p:cNvSpPr/>
          <p:nvPr/>
        </p:nvSpPr>
        <p:spPr>
          <a:xfrm>
            <a:off x="6172200" y="3108960"/>
            <a:ext cx="5532120" cy="2286000"/>
          </a:xfrm>
          <a:prstGeom prst="rect">
            <a:avLst/>
          </a:prstGeom>
          <a:solidFill>
            <a:srgbClr val="EDE9FE"/>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55080" y="3200400"/>
            <a:ext cx="5212080" cy="320040"/>
          </a:xfrm>
          <a:prstGeom prst="rect">
            <a:avLst/>
          </a:prstGeom>
          <a:noFill/>
        </p:spPr>
        <p:txBody>
          <a:bodyPr wrap="square" anchor="t">
            <a:spAutoFit/>
          </a:bodyPr>
          <a:lstStyle/>
          <a:p>
            <a:pPr algn="l"/>
            <a:r>
              <a:rPr sz="1300" b="1">
                <a:solidFill>
                  <a:srgbClr val="7C3AED"/>
                </a:solidFill>
              </a:rPr>
              <a:t>WARM LOOP  ·  supervised, monthly</a:t>
            </a:r>
          </a:p>
        </p:txBody>
      </p:sp>
      <p:sp>
        <p:nvSpPr>
          <p:cNvPr id="29" name="TextBox 28"/>
          <p:cNvSpPr txBox="1"/>
          <p:nvPr/>
        </p:nvSpPr>
        <p:spPr>
          <a:xfrm>
            <a:off x="6355080" y="3566160"/>
            <a:ext cx="5212080" cy="1783080"/>
          </a:xfrm>
          <a:prstGeom prst="rect">
            <a:avLst/>
          </a:prstGeom>
          <a:noFill/>
        </p:spPr>
        <p:txBody>
          <a:bodyPr wrap="square">
            <a:spAutoFit/>
          </a:bodyPr>
          <a:lstStyle/>
          <a:p>
            <a:pPr>
              <a:spcAft>
                <a:spcPts val="400"/>
              </a:spcAft>
            </a:pPr>
            <a:r>
              <a:rPr sz="1100" b="0">
                <a:solidFill>
                  <a:srgbClr val="333333"/>
                </a:solidFill>
              </a:rPr>
              <a:t>•  Export corrections since last train date</a:t>
            </a:r>
          </a:p>
          <a:p>
            <a:pPr>
              <a:spcAft>
                <a:spcPts val="400"/>
              </a:spcAft>
            </a:pPr>
            <a:r>
              <a:rPr sz="1100" b="0">
                <a:solidFill>
                  <a:srgbClr val="333333"/>
                </a:solidFill>
              </a:rPr>
              <a:t>•  Append to Walmart-200  →  Walmart-N (augmented)</a:t>
            </a:r>
          </a:p>
          <a:p>
            <a:pPr>
              <a:spcAft>
                <a:spcPts val="400"/>
              </a:spcAft>
            </a:pPr>
            <a:r>
              <a:rPr sz="1100" b="0">
                <a:solidFill>
                  <a:srgbClr val="333333"/>
                </a:solidFill>
              </a:rPr>
              <a:t>•  Rerun ModernBERT Stage-3 with 5-fold OOF CV</a:t>
            </a:r>
          </a:p>
          <a:p>
            <a:pPr>
              <a:spcAft>
                <a:spcPts val="400"/>
              </a:spcAft>
            </a:pPr>
            <a:r>
              <a:rPr sz="1100" b="0">
                <a:solidFill>
                  <a:srgbClr val="333333"/>
                </a:solidFill>
              </a:rPr>
              <a:t>•  New checkpoint wins only if OOF F1 improves</a:t>
            </a:r>
          </a:p>
          <a:p>
            <a:pPr>
              <a:spcAft>
                <a:spcPts val="400"/>
              </a:spcAft>
            </a:pPr>
            <a:r>
              <a:rPr sz="1100" b="0">
                <a:solidFill>
                  <a:srgbClr val="333333"/>
                </a:solidFill>
              </a:rPr>
              <a:t>•  Symlink flipped in config/models.yaml</a:t>
            </a:r>
          </a:p>
        </p:txBody>
      </p:sp>
      <p:sp>
        <p:nvSpPr>
          <p:cNvPr id="30" name="Rectangle 29"/>
          <p:cNvSpPr/>
          <p:nvPr/>
        </p:nvSpPr>
        <p:spPr>
          <a:xfrm>
            <a:off x="457200" y="5532120"/>
            <a:ext cx="11247120" cy="7772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5623560"/>
            <a:ext cx="10972800" cy="320040"/>
          </a:xfrm>
          <a:prstGeom prst="rect">
            <a:avLst/>
          </a:prstGeom>
          <a:noFill/>
        </p:spPr>
        <p:txBody>
          <a:bodyPr wrap="square" anchor="t">
            <a:spAutoFit/>
          </a:bodyPr>
          <a:lstStyle/>
          <a:p>
            <a:pPr algn="l"/>
            <a:r>
              <a:rPr sz="1200" b="1">
                <a:solidFill>
                  <a:srgbClr val="0071DC"/>
                </a:solidFill>
              </a:rPr>
              <a:t>Two failure modes eliminated by design</a:t>
            </a:r>
          </a:p>
        </p:txBody>
      </p:sp>
      <p:sp>
        <p:nvSpPr>
          <p:cNvPr id="32" name="TextBox 31"/>
          <p:cNvSpPr txBox="1"/>
          <p:nvPr/>
        </p:nvSpPr>
        <p:spPr>
          <a:xfrm>
            <a:off x="640080" y="5943600"/>
            <a:ext cx="10972800" cy="320040"/>
          </a:xfrm>
          <a:prstGeom prst="rect">
            <a:avLst/>
          </a:prstGeom>
          <a:noFill/>
        </p:spPr>
        <p:txBody>
          <a:bodyPr wrap="square" anchor="t">
            <a:spAutoFit/>
          </a:bodyPr>
          <a:lstStyle/>
          <a:p>
            <a:pPr algn="l"/>
            <a:r>
              <a:rPr sz="1100" b="0">
                <a:solidFill>
                  <a:srgbClr val="333333"/>
                </a:solidFill>
              </a:rPr>
              <a:t>(1)  hot loop uses in-context learning  —  no retrain, no catastrophic forgetting.   (2)  warm loop uses 5-fold OOF CV  —  no leakage between train and eval sets.</a:t>
            </a:r>
          </a:p>
        </p:txBody>
      </p:sp>
      <p:sp>
        <p:nvSpPr>
          <p:cNvPr id="33" name="TextBox 32"/>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4" name="TextBox 33"/>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8 / 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Post Explorer  —  Multi-Facet Search</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Find the exact 20 posts an analyst needs to look at today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60120"/>
            <a:ext cx="5486400" cy="320040"/>
          </a:xfrm>
          <a:prstGeom prst="rect">
            <a:avLst/>
          </a:prstGeom>
          <a:noFill/>
        </p:spPr>
        <p:txBody>
          <a:bodyPr wrap="square" anchor="t">
            <a:spAutoFit/>
          </a:bodyPr>
          <a:lstStyle/>
          <a:p>
            <a:pPr algn="l"/>
            <a:r>
              <a:rPr sz="1300" b="1">
                <a:solidFill>
                  <a:srgbClr val="041E42"/>
                </a:solidFill>
              </a:rPr>
              <a:t>Facets</a:t>
            </a:r>
          </a:p>
        </p:txBody>
      </p:sp>
      <p:sp>
        <p:nvSpPr>
          <p:cNvPr id="7" name="TextBox 6"/>
          <p:cNvSpPr txBox="1"/>
          <p:nvPr/>
        </p:nvSpPr>
        <p:spPr>
          <a:xfrm>
            <a:off x="457200" y="1280160"/>
            <a:ext cx="5486400" cy="3474720"/>
          </a:xfrm>
          <a:prstGeom prst="rect">
            <a:avLst/>
          </a:prstGeom>
          <a:noFill/>
        </p:spPr>
        <p:txBody>
          <a:bodyPr wrap="square">
            <a:spAutoFit/>
          </a:bodyPr>
          <a:lstStyle/>
          <a:p>
            <a:pPr>
              <a:spcAft>
                <a:spcPts val="400"/>
              </a:spcAft>
            </a:pPr>
            <a:r>
              <a:rPr sz="1200" b="0">
                <a:solidFill>
                  <a:srgbClr val="333333"/>
                </a:solidFill>
              </a:rPr>
              <a:t>•  Sentiment  ·  neg / neu / pos</a:t>
            </a:r>
          </a:p>
          <a:p>
            <a:pPr>
              <a:spcAft>
                <a:spcPts val="400"/>
              </a:spcAft>
            </a:pPr>
            <a:r>
              <a:rPr sz="1200" b="0">
                <a:solidFill>
                  <a:srgbClr val="333333"/>
                </a:solidFill>
              </a:rPr>
              <a:t>•  Confidence slider  (0.50 – 1.00)</a:t>
            </a:r>
          </a:p>
          <a:p>
            <a:pPr>
              <a:spcAft>
                <a:spcPts val="400"/>
              </a:spcAft>
            </a:pPr>
            <a:r>
              <a:rPr sz="1200" b="0">
                <a:solidFill>
                  <a:srgbClr val="333333"/>
                </a:solidFill>
              </a:rPr>
              <a:t>•  Trust-score slider  (0.00 – 1.00)</a:t>
            </a:r>
          </a:p>
          <a:p>
            <a:pPr>
              <a:spcAft>
                <a:spcPts val="400"/>
              </a:spcAft>
            </a:pPr>
            <a:r>
              <a:rPr sz="1200" b="0">
                <a:solidFill>
                  <a:srgbClr val="333333"/>
                </a:solidFill>
              </a:rPr>
              <a:t>•  Subreddit  —  multi-select from 25 tracked</a:t>
            </a:r>
          </a:p>
          <a:p>
            <a:pPr>
              <a:spcAft>
                <a:spcPts val="400"/>
              </a:spcAft>
            </a:pPr>
            <a:r>
              <a:rPr sz="1200" b="0">
                <a:solidFill>
                  <a:srgbClr val="333333"/>
                </a:solidFill>
              </a:rPr>
              <a:t>•  Aspect  —  8-item retail taxonomy</a:t>
            </a:r>
          </a:p>
          <a:p>
            <a:pPr>
              <a:spcAft>
                <a:spcPts val="400"/>
              </a:spcAft>
            </a:pPr>
            <a:r>
              <a:rPr sz="1200" b="0">
                <a:solidFill>
                  <a:srgbClr val="333333"/>
                </a:solidFill>
              </a:rPr>
              <a:t>•  Date range  —  today / week / month / custom</a:t>
            </a:r>
          </a:p>
          <a:p>
            <a:pPr>
              <a:spcAft>
                <a:spcPts val="400"/>
              </a:spcAft>
            </a:pPr>
            <a:r>
              <a:rPr sz="1200" b="0">
                <a:solidFill>
                  <a:srgbClr val="333333"/>
                </a:solidFill>
              </a:rPr>
              <a:t>•  Full-text search  —  title + body</a:t>
            </a:r>
          </a:p>
        </p:txBody>
      </p:sp>
      <p:pic>
        <p:nvPicPr>
          <p:cNvPr id="8" name="Picture 7" descr="post_explorer.png"/>
          <p:cNvPicPr>
            <a:picLocks noChangeAspect="1"/>
          </p:cNvPicPr>
          <p:nvPr/>
        </p:nvPicPr>
        <p:blipFill>
          <a:blip r:embed="rId2"/>
          <a:stretch>
            <a:fillRect/>
          </a:stretch>
        </p:blipFill>
        <p:spPr>
          <a:xfrm>
            <a:off x="6172200" y="960120"/>
            <a:ext cx="5669280" cy="3543300"/>
          </a:xfrm>
          <a:prstGeom prst="rect">
            <a:avLst/>
          </a:prstGeom>
        </p:spPr>
      </p:pic>
      <p:sp>
        <p:nvSpPr>
          <p:cNvPr id="9" name="Rectangle 8"/>
          <p:cNvSpPr/>
          <p:nvPr/>
        </p:nvSpPr>
        <p:spPr>
          <a:xfrm>
            <a:off x="457200" y="5074920"/>
            <a:ext cx="11247120" cy="123444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5212080"/>
            <a:ext cx="10972800" cy="320040"/>
          </a:xfrm>
          <a:prstGeom prst="rect">
            <a:avLst/>
          </a:prstGeom>
          <a:noFill/>
        </p:spPr>
        <p:txBody>
          <a:bodyPr wrap="square" anchor="t">
            <a:spAutoFit/>
          </a:bodyPr>
          <a:lstStyle/>
          <a:p>
            <a:pPr algn="l"/>
            <a:r>
              <a:rPr sz="1200" b="1">
                <a:solidFill>
                  <a:srgbClr val="041E42"/>
                </a:solidFill>
              </a:rPr>
              <a:t>Per-post card</a:t>
            </a:r>
          </a:p>
        </p:txBody>
      </p:sp>
      <p:sp>
        <p:nvSpPr>
          <p:cNvPr id="11" name="TextBox 10"/>
          <p:cNvSpPr txBox="1"/>
          <p:nvPr/>
        </p:nvSpPr>
        <p:spPr>
          <a:xfrm>
            <a:off x="640080" y="5532120"/>
            <a:ext cx="10972800" cy="731520"/>
          </a:xfrm>
          <a:prstGeom prst="rect">
            <a:avLst/>
          </a:prstGeom>
          <a:noFill/>
        </p:spPr>
        <p:txBody>
          <a:bodyPr wrap="square" anchor="t">
            <a:spAutoFit/>
          </a:bodyPr>
          <a:lstStyle/>
          <a:p>
            <a:pPr algn="l"/>
            <a:r>
              <a:rPr sz="1100" b="0">
                <a:solidFill>
                  <a:srgbClr val="333333"/>
                </a:solidFill>
              </a:rPr>
              <a:t>Title + body excerpt · sentiment badge with confidence % · trust tier (H / M / L) · aspect chips · subreddit + timestamp · actions:  Review  ·  Add to Lifecycle  ·  View Details.</a:t>
            </a:r>
          </a:p>
        </p:txBody>
      </p:sp>
      <p:sp>
        <p:nvSpPr>
          <p:cNvPr id="12" name="TextBox 11"/>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3" name="TextBox 12"/>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9 / 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Post Lifecycle  —  Kanban Workflow</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Track a complaint from Triage to Resolved with SLA visibility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34440"/>
            <a:ext cx="2743200" cy="17373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234440"/>
            <a:ext cx="2743200" cy="4114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280160"/>
            <a:ext cx="2743200" cy="320040"/>
          </a:xfrm>
          <a:prstGeom prst="rect">
            <a:avLst/>
          </a:prstGeom>
          <a:noFill/>
        </p:spPr>
        <p:txBody>
          <a:bodyPr wrap="square" anchor="t">
            <a:spAutoFit/>
          </a:bodyPr>
          <a:lstStyle/>
          <a:p>
            <a:pPr algn="ctr"/>
            <a:r>
              <a:rPr sz="1300" b="1">
                <a:solidFill>
                  <a:srgbClr val="FFFFFF"/>
                </a:solidFill>
              </a:rPr>
              <a:t>TRIAGED</a:t>
            </a:r>
          </a:p>
        </p:txBody>
      </p:sp>
      <p:sp>
        <p:nvSpPr>
          <p:cNvPr id="9" name="TextBox 8"/>
          <p:cNvSpPr txBox="1"/>
          <p:nvPr/>
        </p:nvSpPr>
        <p:spPr>
          <a:xfrm>
            <a:off x="457200" y="1737360"/>
            <a:ext cx="2743200" cy="1188720"/>
          </a:xfrm>
          <a:prstGeom prst="rect">
            <a:avLst/>
          </a:prstGeom>
          <a:noFill/>
        </p:spPr>
        <p:txBody>
          <a:bodyPr wrap="square" anchor="ctr">
            <a:spAutoFit/>
          </a:bodyPr>
          <a:lstStyle/>
          <a:p>
            <a:pPr algn="ctr"/>
            <a:r>
              <a:rPr sz="1200" b="0">
                <a:solidFill>
                  <a:srgbClr val="333333"/>
                </a:solidFill>
              </a:rPr>
              <a:t>New P1 / P2</a:t>
            </a:r>
          </a:p>
          <a:p>
            <a:pPr algn="ctr"/>
            <a:r>
              <a:rPr sz="1200" b="0">
                <a:solidFill>
                  <a:srgbClr val="333333"/>
                </a:solidFill>
              </a:rPr>
              <a:t>posts land here</a:t>
            </a:r>
          </a:p>
        </p:txBody>
      </p:sp>
      <p:sp>
        <p:nvSpPr>
          <p:cNvPr id="10" name="Right Arrow 9"/>
          <p:cNvSpPr/>
          <p:nvPr/>
        </p:nvSpPr>
        <p:spPr>
          <a:xfrm>
            <a:off x="320497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37560" y="1234440"/>
            <a:ext cx="2743200" cy="17373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234440"/>
            <a:ext cx="2743200" cy="41148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7560" y="1280160"/>
            <a:ext cx="2743200" cy="320040"/>
          </a:xfrm>
          <a:prstGeom prst="rect">
            <a:avLst/>
          </a:prstGeom>
          <a:noFill/>
        </p:spPr>
        <p:txBody>
          <a:bodyPr wrap="square" anchor="t">
            <a:spAutoFit/>
          </a:bodyPr>
          <a:lstStyle/>
          <a:p>
            <a:pPr algn="ctr"/>
            <a:r>
              <a:rPr sz="1300" b="1">
                <a:solidFill>
                  <a:srgbClr val="FFFFFF"/>
                </a:solidFill>
              </a:rPr>
              <a:t>ACKNOWLEDGED</a:t>
            </a:r>
          </a:p>
        </p:txBody>
      </p:sp>
      <p:sp>
        <p:nvSpPr>
          <p:cNvPr id="14" name="TextBox 13"/>
          <p:cNvSpPr txBox="1"/>
          <p:nvPr/>
        </p:nvSpPr>
        <p:spPr>
          <a:xfrm>
            <a:off x="3337560" y="1737360"/>
            <a:ext cx="2743200" cy="1188720"/>
          </a:xfrm>
          <a:prstGeom prst="rect">
            <a:avLst/>
          </a:prstGeom>
          <a:noFill/>
        </p:spPr>
        <p:txBody>
          <a:bodyPr wrap="square" anchor="ctr">
            <a:spAutoFit/>
          </a:bodyPr>
          <a:lstStyle/>
          <a:p>
            <a:pPr algn="ctr"/>
            <a:r>
              <a:rPr sz="1200" b="0">
                <a:solidFill>
                  <a:srgbClr val="333333"/>
                </a:solidFill>
              </a:rPr>
              <a:t>Assigned</a:t>
            </a:r>
          </a:p>
          <a:p>
            <a:pPr algn="ctr"/>
            <a:r>
              <a:rPr sz="1200" b="0">
                <a:solidFill>
                  <a:srgbClr val="333333"/>
                </a:solidFill>
              </a:rPr>
              <a:t>to analyst</a:t>
            </a:r>
          </a:p>
        </p:txBody>
      </p:sp>
      <p:sp>
        <p:nvSpPr>
          <p:cNvPr id="15" name="Right Arrow 14"/>
          <p:cNvSpPr/>
          <p:nvPr/>
        </p:nvSpPr>
        <p:spPr>
          <a:xfrm>
            <a:off x="608533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1234440"/>
            <a:ext cx="2743200" cy="17373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1234440"/>
            <a:ext cx="2743200" cy="4114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0" y="1280160"/>
            <a:ext cx="2743200" cy="320040"/>
          </a:xfrm>
          <a:prstGeom prst="rect">
            <a:avLst/>
          </a:prstGeom>
          <a:noFill/>
        </p:spPr>
        <p:txBody>
          <a:bodyPr wrap="square" anchor="t">
            <a:spAutoFit/>
          </a:bodyPr>
          <a:lstStyle/>
          <a:p>
            <a:pPr algn="ctr"/>
            <a:r>
              <a:rPr sz="1300" b="1">
                <a:solidFill>
                  <a:srgbClr val="FFFFFF"/>
                </a:solidFill>
              </a:rPr>
              <a:t>IN PROGRESS</a:t>
            </a:r>
          </a:p>
        </p:txBody>
      </p:sp>
      <p:sp>
        <p:nvSpPr>
          <p:cNvPr id="19" name="TextBox 18"/>
          <p:cNvSpPr txBox="1"/>
          <p:nvPr/>
        </p:nvSpPr>
        <p:spPr>
          <a:xfrm>
            <a:off x="6217920" y="1737360"/>
            <a:ext cx="2743200" cy="1188720"/>
          </a:xfrm>
          <a:prstGeom prst="rect">
            <a:avLst/>
          </a:prstGeom>
          <a:noFill/>
        </p:spPr>
        <p:txBody>
          <a:bodyPr wrap="square" anchor="ctr">
            <a:spAutoFit/>
          </a:bodyPr>
          <a:lstStyle/>
          <a:p>
            <a:pPr algn="ctr"/>
            <a:r>
              <a:rPr sz="1200" b="0">
                <a:solidFill>
                  <a:srgbClr val="333333"/>
                </a:solidFill>
              </a:rPr>
              <a:t>Reply being</a:t>
            </a:r>
          </a:p>
          <a:p>
            <a:pPr algn="ctr"/>
            <a:r>
              <a:rPr sz="1200" b="0">
                <a:solidFill>
                  <a:srgbClr val="333333"/>
                </a:solidFill>
              </a:rPr>
              <a:t>drafted / posted</a:t>
            </a:r>
          </a:p>
        </p:txBody>
      </p:sp>
      <p:sp>
        <p:nvSpPr>
          <p:cNvPr id="20" name="Right Arrow 19"/>
          <p:cNvSpPr/>
          <p:nvPr/>
        </p:nvSpPr>
        <p:spPr>
          <a:xfrm>
            <a:off x="896569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98280" y="1234440"/>
            <a:ext cx="2743200" cy="17373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98280" y="1234440"/>
            <a:ext cx="2743200" cy="411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98280" y="1280160"/>
            <a:ext cx="2743200" cy="320040"/>
          </a:xfrm>
          <a:prstGeom prst="rect">
            <a:avLst/>
          </a:prstGeom>
          <a:noFill/>
        </p:spPr>
        <p:txBody>
          <a:bodyPr wrap="square" anchor="t">
            <a:spAutoFit/>
          </a:bodyPr>
          <a:lstStyle/>
          <a:p>
            <a:pPr algn="ctr"/>
            <a:r>
              <a:rPr sz="1300" b="1">
                <a:solidFill>
                  <a:srgbClr val="FFFFFF"/>
                </a:solidFill>
              </a:rPr>
              <a:t>RESOLVED</a:t>
            </a:r>
          </a:p>
        </p:txBody>
      </p:sp>
      <p:sp>
        <p:nvSpPr>
          <p:cNvPr id="24" name="TextBox 23"/>
          <p:cNvSpPr txBox="1"/>
          <p:nvPr/>
        </p:nvSpPr>
        <p:spPr>
          <a:xfrm>
            <a:off x="9098280" y="1737360"/>
            <a:ext cx="2743200" cy="1188720"/>
          </a:xfrm>
          <a:prstGeom prst="rect">
            <a:avLst/>
          </a:prstGeom>
          <a:noFill/>
        </p:spPr>
        <p:txBody>
          <a:bodyPr wrap="square" anchor="ctr">
            <a:spAutoFit/>
          </a:bodyPr>
          <a:lstStyle/>
          <a:p>
            <a:pPr algn="ctr"/>
            <a:r>
              <a:rPr sz="1200" b="0">
                <a:solidFill>
                  <a:srgbClr val="333333"/>
                </a:solidFill>
              </a:rPr>
              <a:t>Reply posted or</a:t>
            </a:r>
          </a:p>
          <a:p>
            <a:pPr algn="ctr"/>
            <a:r>
              <a:rPr sz="1200" b="0">
                <a:solidFill>
                  <a:srgbClr val="333333"/>
                </a:solidFill>
              </a:rPr>
              <a:t>no-action closed</a:t>
            </a:r>
          </a:p>
        </p:txBody>
      </p:sp>
      <p:pic>
        <p:nvPicPr>
          <p:cNvPr id="25" name="Picture 24" descr="lifecycle_kanban.png"/>
          <p:cNvPicPr>
            <a:picLocks noChangeAspect="1"/>
          </p:cNvPicPr>
          <p:nvPr/>
        </p:nvPicPr>
        <p:blipFill>
          <a:blip r:embed="rId2"/>
          <a:stretch>
            <a:fillRect/>
          </a:stretch>
        </p:blipFill>
        <p:spPr>
          <a:xfrm>
            <a:off x="457200" y="3246120"/>
            <a:ext cx="6858000" cy="4286250"/>
          </a:xfrm>
          <a:prstGeom prst="rect">
            <a:avLst/>
          </a:prstGeom>
        </p:spPr>
      </p:pic>
      <p:sp>
        <p:nvSpPr>
          <p:cNvPr id="26" name="Rectangle 25"/>
          <p:cNvSpPr/>
          <p:nvPr/>
        </p:nvSpPr>
        <p:spPr>
          <a:xfrm>
            <a:off x="7589520" y="3246120"/>
            <a:ext cx="4114800" cy="28803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0" y="3383280"/>
            <a:ext cx="3840480" cy="320040"/>
          </a:xfrm>
          <a:prstGeom prst="rect">
            <a:avLst/>
          </a:prstGeom>
          <a:noFill/>
        </p:spPr>
        <p:txBody>
          <a:bodyPr wrap="square" anchor="t">
            <a:spAutoFit/>
          </a:bodyPr>
          <a:lstStyle/>
          <a:p>
            <a:pPr algn="l"/>
            <a:r>
              <a:rPr sz="1200" b="1">
                <a:solidFill>
                  <a:srgbClr val="0071DC"/>
                </a:solidFill>
              </a:rPr>
              <a:t>Resolve modal  —  2-step flow</a:t>
            </a:r>
          </a:p>
        </p:txBody>
      </p:sp>
      <p:sp>
        <p:nvSpPr>
          <p:cNvPr id="28" name="TextBox 27"/>
          <p:cNvSpPr txBox="1"/>
          <p:nvPr/>
        </p:nvSpPr>
        <p:spPr>
          <a:xfrm>
            <a:off x="7772400" y="3703320"/>
            <a:ext cx="3840480" cy="2377440"/>
          </a:xfrm>
          <a:prstGeom prst="rect">
            <a:avLst/>
          </a:prstGeom>
          <a:noFill/>
        </p:spPr>
        <p:txBody>
          <a:bodyPr wrap="square">
            <a:spAutoFit/>
          </a:bodyPr>
          <a:lstStyle/>
          <a:p>
            <a:pPr>
              <a:spcAft>
                <a:spcPts val="400"/>
              </a:spcAft>
            </a:pPr>
            <a:r>
              <a:rPr sz="1100" b="0">
                <a:solidFill>
                  <a:srgbClr val="333333"/>
                </a:solidFill>
              </a:rPr>
              <a:t>•  Step 1 · save action note + optional LLM reply</a:t>
            </a:r>
          </a:p>
          <a:p>
            <a:pPr>
              <a:spcAft>
                <a:spcPts val="400"/>
              </a:spcAft>
            </a:pPr>
            <a:r>
              <a:rPr sz="1100" b="0">
                <a:solidFill>
                  <a:srgbClr val="333333"/>
                </a:solidFill>
              </a:rPr>
              <a:t>•  (a) Save &amp; open Reddit  →  reply copied to clipboard</a:t>
            </a:r>
          </a:p>
          <a:p>
            <a:pPr>
              <a:spcAft>
                <a:spcPts val="400"/>
              </a:spcAft>
            </a:pPr>
            <a:r>
              <a:rPr sz="1100" b="0">
                <a:solidFill>
                  <a:srgbClr val="333333"/>
                </a:solidFill>
              </a:rPr>
              <a:t>•  (b) OR  Resolve (no-reply)  →  close without posting</a:t>
            </a:r>
          </a:p>
          <a:p>
            <a:pPr>
              <a:spcAft>
                <a:spcPts val="400"/>
              </a:spcAft>
            </a:pPr>
            <a:r>
              <a:rPr sz="1100" b="0">
                <a:solidFill>
                  <a:srgbClr val="333333"/>
                </a:solidFill>
              </a:rPr>
              <a:t>•  Step 2 · paste on Reddit → Mark Resolved</a:t>
            </a:r>
          </a:p>
          <a:p>
            <a:pPr>
              <a:spcAft>
                <a:spcPts val="400"/>
              </a:spcAft>
            </a:pPr>
            <a:r>
              <a:rPr sz="1100" b="0">
                <a:solidFill>
                  <a:srgbClr val="333333"/>
                </a:solidFill>
              </a:rPr>
              <a:t>•  All transitions timestamped  →  SLA analytics</a:t>
            </a:r>
          </a:p>
        </p:txBody>
      </p:sp>
      <p:sp>
        <p:nvSpPr>
          <p:cNvPr id="29" name="TextBox 28"/>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0" name="TextBox 29"/>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10 / 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Insights &amp; Competitor Analysis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Strategic view — issue rankings, cross-brand pulse, LLM summaries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486400" cy="214884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60120"/>
            <a:ext cx="5486400" cy="41148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014984"/>
            <a:ext cx="5486400" cy="320040"/>
          </a:xfrm>
          <a:prstGeom prst="rect">
            <a:avLst/>
          </a:prstGeom>
          <a:noFill/>
        </p:spPr>
        <p:txBody>
          <a:bodyPr wrap="square" anchor="t">
            <a:spAutoFit/>
          </a:bodyPr>
          <a:lstStyle/>
          <a:p>
            <a:pPr algn="ctr"/>
            <a:r>
              <a:rPr sz="1300" b="1">
                <a:solidFill>
                  <a:srgbClr val="FFFFFF"/>
                </a:solidFill>
              </a:rPr>
              <a:t>Priority-Negatives</a:t>
            </a:r>
          </a:p>
        </p:txBody>
      </p:sp>
      <p:sp>
        <p:nvSpPr>
          <p:cNvPr id="9" name="TextBox 8"/>
          <p:cNvSpPr txBox="1"/>
          <p:nvPr/>
        </p:nvSpPr>
        <p:spPr>
          <a:xfrm>
            <a:off x="640080" y="1463040"/>
            <a:ext cx="5120640" cy="1554480"/>
          </a:xfrm>
          <a:prstGeom prst="rect">
            <a:avLst/>
          </a:prstGeom>
          <a:noFill/>
        </p:spPr>
        <p:txBody>
          <a:bodyPr wrap="square" anchor="ctr">
            <a:spAutoFit/>
          </a:bodyPr>
          <a:lstStyle/>
          <a:p>
            <a:pPr algn="ctr"/>
            <a:r>
              <a:rPr sz="1200" b="0">
                <a:solidFill>
                  <a:srgbClr val="333333"/>
                </a:solidFill>
              </a:rPr>
              <a:t>Top issues ranked by</a:t>
            </a:r>
          </a:p>
          <a:p>
            <a:pPr algn="ctr"/>
            <a:r>
              <a:rPr sz="1200" b="0">
                <a:solidFill>
                  <a:srgbClr val="333333"/>
                </a:solidFill>
              </a:rPr>
              <a:t>volume × severity × recency</a:t>
            </a:r>
          </a:p>
          <a:p>
            <a:pPr algn="ctr"/>
            <a:r>
              <a:rPr sz="1200" b="0">
                <a:solidFill>
                  <a:srgbClr val="333333"/>
                </a:solidFill>
              </a:rPr>
              <a:t>by aspect</a:t>
            </a:r>
          </a:p>
        </p:txBody>
      </p:sp>
      <p:sp>
        <p:nvSpPr>
          <p:cNvPr id="10" name="Rectangle 9"/>
          <p:cNvSpPr/>
          <p:nvPr/>
        </p:nvSpPr>
        <p:spPr>
          <a:xfrm>
            <a:off x="6309360" y="960120"/>
            <a:ext cx="5486400" cy="214884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09360" y="960120"/>
            <a:ext cx="5486400" cy="4114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0" y="1014984"/>
            <a:ext cx="5486400" cy="320040"/>
          </a:xfrm>
          <a:prstGeom prst="rect">
            <a:avLst/>
          </a:prstGeom>
          <a:noFill/>
        </p:spPr>
        <p:txBody>
          <a:bodyPr wrap="square" anchor="t">
            <a:spAutoFit/>
          </a:bodyPr>
          <a:lstStyle/>
          <a:p>
            <a:pPr algn="ctr"/>
            <a:r>
              <a:rPr sz="1300" b="1">
                <a:solidFill>
                  <a:srgbClr val="FFFFFF"/>
                </a:solidFill>
              </a:rPr>
              <a:t>Competitor Pulse</a:t>
            </a:r>
          </a:p>
        </p:txBody>
      </p:sp>
      <p:sp>
        <p:nvSpPr>
          <p:cNvPr id="13" name="TextBox 12"/>
          <p:cNvSpPr txBox="1"/>
          <p:nvPr/>
        </p:nvSpPr>
        <p:spPr>
          <a:xfrm>
            <a:off x="6492240" y="1463040"/>
            <a:ext cx="5120640" cy="1554480"/>
          </a:xfrm>
          <a:prstGeom prst="rect">
            <a:avLst/>
          </a:prstGeom>
          <a:noFill/>
        </p:spPr>
        <p:txBody>
          <a:bodyPr wrap="square" anchor="ctr">
            <a:spAutoFit/>
          </a:bodyPr>
          <a:lstStyle/>
          <a:p>
            <a:pPr algn="ctr"/>
            <a:r>
              <a:rPr sz="1200" b="0">
                <a:solidFill>
                  <a:srgbClr val="333333"/>
                </a:solidFill>
              </a:rPr>
              <a:t>Walmart vs Costco,</a:t>
            </a:r>
          </a:p>
          <a:p>
            <a:pPr algn="ctr"/>
            <a:r>
              <a:rPr sz="1200" b="0">
                <a:solidFill>
                  <a:srgbClr val="333333"/>
                </a:solidFill>
              </a:rPr>
              <a:t>Target, Amazon on shared aspects</a:t>
            </a:r>
          </a:p>
        </p:txBody>
      </p:sp>
      <p:sp>
        <p:nvSpPr>
          <p:cNvPr id="14" name="Rectangle 13"/>
          <p:cNvSpPr/>
          <p:nvPr/>
        </p:nvSpPr>
        <p:spPr>
          <a:xfrm>
            <a:off x="457200" y="3246120"/>
            <a:ext cx="5486400" cy="214884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3246120"/>
            <a:ext cx="5486400" cy="411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300984"/>
            <a:ext cx="5486400" cy="320040"/>
          </a:xfrm>
          <a:prstGeom prst="rect">
            <a:avLst/>
          </a:prstGeom>
          <a:noFill/>
        </p:spPr>
        <p:txBody>
          <a:bodyPr wrap="square" anchor="t">
            <a:spAutoFit/>
          </a:bodyPr>
          <a:lstStyle/>
          <a:p>
            <a:pPr algn="ctr"/>
            <a:r>
              <a:rPr sz="1300" b="1">
                <a:solidFill>
                  <a:srgbClr val="FFFFFF"/>
                </a:solidFill>
              </a:rPr>
              <a:t>Weekly LLM Summaries</a:t>
            </a:r>
          </a:p>
        </p:txBody>
      </p:sp>
      <p:sp>
        <p:nvSpPr>
          <p:cNvPr id="17" name="TextBox 16"/>
          <p:cNvSpPr txBox="1"/>
          <p:nvPr/>
        </p:nvSpPr>
        <p:spPr>
          <a:xfrm>
            <a:off x="640080" y="3749039"/>
            <a:ext cx="5120640" cy="1554480"/>
          </a:xfrm>
          <a:prstGeom prst="rect">
            <a:avLst/>
          </a:prstGeom>
          <a:noFill/>
        </p:spPr>
        <p:txBody>
          <a:bodyPr wrap="square" anchor="ctr">
            <a:spAutoFit/>
          </a:bodyPr>
          <a:lstStyle/>
          <a:p>
            <a:pPr algn="ctr"/>
            <a:r>
              <a:rPr sz="1200" b="0">
                <a:solidFill>
                  <a:srgbClr val="333333"/>
                </a:solidFill>
              </a:rPr>
              <a:t>Natural-language weekly</a:t>
            </a:r>
          </a:p>
          <a:p>
            <a:pPr algn="ctr"/>
            <a:r>
              <a:rPr sz="1200" b="0">
                <a:solidFill>
                  <a:srgbClr val="333333"/>
                </a:solidFill>
              </a:rPr>
              <a:t>digest + action items</a:t>
            </a:r>
          </a:p>
          <a:p>
            <a:pPr algn="ctr"/>
            <a:r>
              <a:rPr sz="1200" b="0">
                <a:solidFill>
                  <a:srgbClr val="333333"/>
                </a:solidFill>
              </a:rPr>
              <a:t>+ emerging topics</a:t>
            </a:r>
          </a:p>
        </p:txBody>
      </p:sp>
      <p:sp>
        <p:nvSpPr>
          <p:cNvPr id="18" name="Rectangle 17"/>
          <p:cNvSpPr/>
          <p:nvPr/>
        </p:nvSpPr>
        <p:spPr>
          <a:xfrm>
            <a:off x="6309360" y="3246120"/>
            <a:ext cx="5486400" cy="214884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3246120"/>
            <a:ext cx="5486400" cy="4114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3300984"/>
            <a:ext cx="5486400" cy="320040"/>
          </a:xfrm>
          <a:prstGeom prst="rect">
            <a:avLst/>
          </a:prstGeom>
          <a:noFill/>
        </p:spPr>
        <p:txBody>
          <a:bodyPr wrap="square" anchor="t">
            <a:spAutoFit/>
          </a:bodyPr>
          <a:lstStyle/>
          <a:p>
            <a:pPr algn="ctr"/>
            <a:r>
              <a:rPr sz="1300" b="1">
                <a:solidFill>
                  <a:srgbClr val="FFFFFF"/>
                </a:solidFill>
              </a:rPr>
              <a:t>Aspect Drilldown</a:t>
            </a:r>
          </a:p>
        </p:txBody>
      </p:sp>
      <p:sp>
        <p:nvSpPr>
          <p:cNvPr id="21" name="TextBox 20"/>
          <p:cNvSpPr txBox="1"/>
          <p:nvPr/>
        </p:nvSpPr>
        <p:spPr>
          <a:xfrm>
            <a:off x="6492240" y="3749039"/>
            <a:ext cx="5120640" cy="1554480"/>
          </a:xfrm>
          <a:prstGeom prst="rect">
            <a:avLst/>
          </a:prstGeom>
          <a:noFill/>
        </p:spPr>
        <p:txBody>
          <a:bodyPr wrap="square" anchor="ctr">
            <a:spAutoFit/>
          </a:bodyPr>
          <a:lstStyle/>
          <a:p>
            <a:pPr algn="ctr"/>
            <a:r>
              <a:rPr sz="1200" b="0">
                <a:solidFill>
                  <a:srgbClr val="333333"/>
                </a:solidFill>
              </a:rPr>
              <a:t>8-aspect taxonomy</a:t>
            </a:r>
          </a:p>
          <a:p>
            <a:pPr algn="ctr"/>
            <a:r>
              <a:rPr sz="1200" b="0">
                <a:solidFill>
                  <a:srgbClr val="333333"/>
                </a:solidFill>
              </a:rPr>
              <a:t>per-aspect sentiment trend</a:t>
            </a:r>
          </a:p>
          <a:p>
            <a:pPr algn="ctr"/>
            <a:r>
              <a:rPr sz="1200" b="0">
                <a:solidFill>
                  <a:srgbClr val="333333"/>
                </a:solidFill>
              </a:rPr>
              <a:t>+ representative posts</a:t>
            </a:r>
          </a:p>
        </p:txBody>
      </p:sp>
      <p:sp>
        <p:nvSpPr>
          <p:cNvPr id="22" name="TextBox 21"/>
          <p:cNvSpPr txBox="1"/>
          <p:nvPr/>
        </p:nvSpPr>
        <p:spPr>
          <a:xfrm>
            <a:off x="457200" y="5623560"/>
            <a:ext cx="11247120" cy="685800"/>
          </a:xfrm>
          <a:prstGeom prst="rect">
            <a:avLst/>
          </a:prstGeom>
          <a:noFill/>
        </p:spPr>
        <p:txBody>
          <a:bodyPr wrap="square" anchor="t">
            <a:spAutoFit/>
          </a:bodyPr>
          <a:lstStyle/>
          <a:p>
            <a:pPr algn="ctr"/>
            <a:r>
              <a:rPr sz="1000" b="0">
                <a:solidFill>
                  <a:srgbClr val="666666"/>
                </a:solidFill>
              </a:rPr>
              <a:t>Screenshot on Slide 17 (Live Demo grid) — insights_competitor page.</a:t>
            </a:r>
          </a:p>
        </p:txBody>
      </p:sp>
      <p:sp>
        <p:nvSpPr>
          <p:cNvPr id="23" name="TextBox 22"/>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4" name="TextBox 23"/>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11 / 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Notification Centre</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In-app mirror of the group-routed email / Slack digest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60120"/>
            <a:ext cx="5486400" cy="3200400"/>
          </a:xfrm>
          <a:prstGeom prst="rect">
            <a:avLst/>
          </a:prstGeom>
          <a:noFill/>
        </p:spPr>
        <p:txBody>
          <a:bodyPr wrap="square">
            <a:spAutoFit/>
          </a:bodyPr>
          <a:lstStyle/>
          <a:p>
            <a:pPr>
              <a:spcAft>
                <a:spcPts val="400"/>
              </a:spcAft>
            </a:pPr>
            <a:r>
              <a:rPr sz="1200" b="0">
                <a:solidFill>
                  <a:srgbClr val="333333"/>
                </a:solidFill>
              </a:rPr>
              <a:t>•  Every P1 / P2 email or Slack alert is mirrored in the app</a:t>
            </a:r>
          </a:p>
          <a:p>
            <a:pPr>
              <a:spcAft>
                <a:spcPts val="400"/>
              </a:spcAft>
            </a:pPr>
            <a:r>
              <a:rPr sz="1200" b="0">
                <a:solidFill>
                  <a:srgbClr val="333333"/>
                </a:solidFill>
              </a:rPr>
              <a:t>•  Notifications grouped by  subreddit ↔ business team</a:t>
            </a:r>
          </a:p>
          <a:p>
            <a:pPr>
              <a:spcAft>
                <a:spcPts val="400"/>
              </a:spcAft>
            </a:pPr>
            <a:r>
              <a:rPr sz="1200" b="0">
                <a:solidFill>
                  <a:srgbClr val="333333"/>
                </a:solidFill>
              </a:rPr>
              <a:t>•  Read / unread state persisted per analyst</a:t>
            </a:r>
          </a:p>
          <a:p>
            <a:pPr>
              <a:spcAft>
                <a:spcPts val="400"/>
              </a:spcAft>
            </a:pPr>
            <a:r>
              <a:rPr sz="1200" b="0">
                <a:solidFill>
                  <a:srgbClr val="333333"/>
                </a:solidFill>
              </a:rPr>
              <a:t>•  Deep-links open the post directly in Review &amp; Validate</a:t>
            </a:r>
          </a:p>
          <a:p>
            <a:pPr>
              <a:spcAft>
                <a:spcPts val="400"/>
              </a:spcAft>
            </a:pPr>
            <a:r>
              <a:rPr sz="1200" b="0">
                <a:solidFill>
                  <a:srgbClr val="333333"/>
                </a:solidFill>
              </a:rPr>
              <a:t>•  Powered by the same  alerts  rows that drive email/Slack</a:t>
            </a:r>
          </a:p>
        </p:txBody>
      </p:sp>
      <p:pic>
        <p:nvPicPr>
          <p:cNvPr id="7" name="Picture 6" descr="notifications.png"/>
          <p:cNvPicPr>
            <a:picLocks noChangeAspect="1"/>
          </p:cNvPicPr>
          <p:nvPr/>
        </p:nvPicPr>
        <p:blipFill>
          <a:blip r:embed="rId2"/>
          <a:stretch>
            <a:fillRect/>
          </a:stretch>
        </p:blipFill>
        <p:spPr>
          <a:xfrm>
            <a:off x="6172200" y="960120"/>
            <a:ext cx="5669280" cy="3543300"/>
          </a:xfrm>
          <a:prstGeom prst="rect">
            <a:avLst/>
          </a:prstGeom>
        </p:spPr>
      </p:pic>
      <p:sp>
        <p:nvSpPr>
          <p:cNvPr id="8" name="Rectangle 7"/>
          <p:cNvSpPr/>
          <p:nvPr/>
        </p:nvSpPr>
        <p:spPr>
          <a:xfrm>
            <a:off x="457200" y="4617720"/>
            <a:ext cx="5486400" cy="16459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754880"/>
            <a:ext cx="5120640" cy="320040"/>
          </a:xfrm>
          <a:prstGeom prst="rect">
            <a:avLst/>
          </a:prstGeom>
          <a:noFill/>
        </p:spPr>
        <p:txBody>
          <a:bodyPr wrap="square" anchor="t">
            <a:spAutoFit/>
          </a:bodyPr>
          <a:lstStyle/>
          <a:p>
            <a:pPr algn="l"/>
            <a:r>
              <a:rPr sz="1200" b="1">
                <a:solidFill>
                  <a:srgbClr val="0071DC"/>
                </a:solidFill>
              </a:rPr>
              <a:t>Priority thresholds</a:t>
            </a:r>
          </a:p>
        </p:txBody>
      </p:sp>
      <p:sp>
        <p:nvSpPr>
          <p:cNvPr id="10" name="TextBox 9"/>
          <p:cNvSpPr txBox="1"/>
          <p:nvPr/>
        </p:nvSpPr>
        <p:spPr>
          <a:xfrm>
            <a:off x="640080" y="5074920"/>
            <a:ext cx="5120640" cy="1143000"/>
          </a:xfrm>
          <a:prstGeom prst="rect">
            <a:avLst/>
          </a:prstGeom>
          <a:noFill/>
        </p:spPr>
        <p:txBody>
          <a:bodyPr wrap="square" anchor="t">
            <a:spAutoFit/>
          </a:bodyPr>
          <a:lstStyle/>
          <a:p>
            <a:pPr algn="l"/>
            <a:r>
              <a:rPr sz="1100" b="0">
                <a:solidFill>
                  <a:srgbClr val="333333"/>
                </a:solidFill>
              </a:rPr>
              <a:t>P1 — trust ≥ 0.70  and  confidence ≥ 0.80</a:t>
            </a:r>
          </a:p>
          <a:p>
            <a:pPr algn="l"/>
            <a:r>
              <a:rPr sz="1100" b="0">
                <a:solidFill>
                  <a:srgbClr val="333333"/>
                </a:solidFill>
              </a:rPr>
              <a:t>P2 — trust ≥ 0.50  and  confidence ≥ 0.60</a:t>
            </a:r>
          </a:p>
          <a:p>
            <a:pPr algn="l"/>
            <a:r>
              <a:rPr sz="1100" b="0">
                <a:solidFill>
                  <a:srgbClr val="333333"/>
                </a:solidFill>
              </a:rPr>
              <a:t>Source: config/models.yaml + dispatcher.py</a:t>
            </a:r>
          </a:p>
        </p:txBody>
      </p:sp>
      <p:sp>
        <p:nvSpPr>
          <p:cNvPr id="11" name="TextBox 1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2" name="TextBox 1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12 / 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ModernBERT  —  Final Training Results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3-stage curriculum,  5-fold out-of-fold CV,  n = 200</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3657600" cy="160020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097280"/>
            <a:ext cx="3657600" cy="320040"/>
          </a:xfrm>
          <a:prstGeom prst="rect">
            <a:avLst/>
          </a:prstGeom>
          <a:noFill/>
        </p:spPr>
        <p:txBody>
          <a:bodyPr wrap="square" anchor="t">
            <a:spAutoFit/>
          </a:bodyPr>
          <a:lstStyle/>
          <a:p>
            <a:pPr algn="ctr"/>
            <a:r>
              <a:rPr sz="1100" b="1">
                <a:solidFill>
                  <a:srgbClr val="666666"/>
                </a:solidFill>
              </a:rPr>
              <a:t>Overall Macro-F1</a:t>
            </a:r>
          </a:p>
        </p:txBody>
      </p:sp>
      <p:sp>
        <p:nvSpPr>
          <p:cNvPr id="8" name="TextBox 7"/>
          <p:cNvSpPr txBox="1"/>
          <p:nvPr/>
        </p:nvSpPr>
        <p:spPr>
          <a:xfrm>
            <a:off x="457200" y="1463040"/>
            <a:ext cx="3657600" cy="960120"/>
          </a:xfrm>
          <a:prstGeom prst="rect">
            <a:avLst/>
          </a:prstGeom>
          <a:noFill/>
        </p:spPr>
        <p:txBody>
          <a:bodyPr wrap="square" anchor="ctr">
            <a:spAutoFit/>
          </a:bodyPr>
          <a:lstStyle/>
          <a:p>
            <a:pPr algn="ctr"/>
            <a:r>
              <a:rPr sz="2400" b="1">
                <a:solidFill>
                  <a:srgbClr val="10B981"/>
                </a:solidFill>
              </a:rPr>
              <a:t>0.6272 → 0.7642</a:t>
            </a:r>
          </a:p>
        </p:txBody>
      </p:sp>
      <p:sp>
        <p:nvSpPr>
          <p:cNvPr id="9" name="Rectangle 8"/>
          <p:cNvSpPr/>
          <p:nvPr/>
        </p:nvSpPr>
        <p:spPr>
          <a:xfrm>
            <a:off x="4251960" y="960120"/>
            <a:ext cx="3657600" cy="160020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51960" y="1097280"/>
            <a:ext cx="3657600" cy="320040"/>
          </a:xfrm>
          <a:prstGeom prst="rect">
            <a:avLst/>
          </a:prstGeom>
          <a:noFill/>
        </p:spPr>
        <p:txBody>
          <a:bodyPr wrap="square" anchor="t">
            <a:spAutoFit/>
          </a:bodyPr>
          <a:lstStyle/>
          <a:p>
            <a:pPr algn="ctr"/>
            <a:r>
              <a:rPr sz="1100" b="1">
                <a:solidFill>
                  <a:srgbClr val="666666"/>
                </a:solidFill>
              </a:rPr>
              <a:t>Long-post F1  (&gt; 256 tok)</a:t>
            </a:r>
          </a:p>
        </p:txBody>
      </p:sp>
      <p:sp>
        <p:nvSpPr>
          <p:cNvPr id="11" name="TextBox 10"/>
          <p:cNvSpPr txBox="1"/>
          <p:nvPr/>
        </p:nvSpPr>
        <p:spPr>
          <a:xfrm>
            <a:off x="4251960" y="1463040"/>
            <a:ext cx="3657600" cy="960120"/>
          </a:xfrm>
          <a:prstGeom prst="rect">
            <a:avLst/>
          </a:prstGeom>
          <a:noFill/>
        </p:spPr>
        <p:txBody>
          <a:bodyPr wrap="square" anchor="ctr">
            <a:spAutoFit/>
          </a:bodyPr>
          <a:lstStyle/>
          <a:p>
            <a:pPr algn="ctr"/>
            <a:r>
              <a:rPr sz="2400" b="1">
                <a:solidFill>
                  <a:srgbClr val="10B981"/>
                </a:solidFill>
              </a:rPr>
              <a:t>0.28 → 1.00</a:t>
            </a:r>
          </a:p>
        </p:txBody>
      </p:sp>
      <p:sp>
        <p:nvSpPr>
          <p:cNvPr id="12" name="Rectangle 11"/>
          <p:cNvSpPr/>
          <p:nvPr/>
        </p:nvSpPr>
        <p:spPr>
          <a:xfrm>
            <a:off x="8046720" y="960120"/>
            <a:ext cx="3657600" cy="160020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1097280"/>
            <a:ext cx="3657600" cy="320040"/>
          </a:xfrm>
          <a:prstGeom prst="rect">
            <a:avLst/>
          </a:prstGeom>
          <a:noFill/>
        </p:spPr>
        <p:txBody>
          <a:bodyPr wrap="square" anchor="t">
            <a:spAutoFit/>
          </a:bodyPr>
          <a:lstStyle/>
          <a:p>
            <a:pPr algn="ctr"/>
            <a:r>
              <a:rPr sz="1100" b="1">
                <a:solidFill>
                  <a:srgbClr val="666666"/>
                </a:solidFill>
              </a:rPr>
              <a:t>Uplift over baseline</a:t>
            </a:r>
          </a:p>
        </p:txBody>
      </p:sp>
      <p:sp>
        <p:nvSpPr>
          <p:cNvPr id="14" name="TextBox 13"/>
          <p:cNvSpPr txBox="1"/>
          <p:nvPr/>
        </p:nvSpPr>
        <p:spPr>
          <a:xfrm>
            <a:off x="8046720" y="1463040"/>
            <a:ext cx="3657600" cy="960120"/>
          </a:xfrm>
          <a:prstGeom prst="rect">
            <a:avLst/>
          </a:prstGeom>
          <a:noFill/>
        </p:spPr>
        <p:txBody>
          <a:bodyPr wrap="square" anchor="ctr">
            <a:spAutoFit/>
          </a:bodyPr>
          <a:lstStyle/>
          <a:p>
            <a:pPr algn="ctr"/>
            <a:r>
              <a:rPr sz="2800" b="1">
                <a:solidFill>
                  <a:srgbClr val="0071DC"/>
                </a:solidFill>
              </a:rPr>
              <a:t>+13.7 pts</a:t>
            </a:r>
          </a:p>
        </p:txBody>
      </p:sp>
      <p:sp>
        <p:nvSpPr>
          <p:cNvPr id="15" name="TextBox 14"/>
          <p:cNvSpPr txBox="1"/>
          <p:nvPr/>
        </p:nvSpPr>
        <p:spPr>
          <a:xfrm>
            <a:off x="457200" y="2743200"/>
            <a:ext cx="11247120" cy="320040"/>
          </a:xfrm>
          <a:prstGeom prst="rect">
            <a:avLst/>
          </a:prstGeom>
          <a:noFill/>
        </p:spPr>
        <p:txBody>
          <a:bodyPr wrap="square" anchor="t">
            <a:spAutoFit/>
          </a:bodyPr>
          <a:lstStyle/>
          <a:p>
            <a:pPr algn="l"/>
            <a:r>
              <a:rPr sz="1300" b="1">
                <a:solidFill>
                  <a:srgbClr val="041E42"/>
                </a:solidFill>
              </a:rPr>
              <a:t>3-stage curriculum</a:t>
            </a:r>
          </a:p>
        </p:txBody>
      </p:sp>
      <p:graphicFrame>
        <p:nvGraphicFramePr>
          <p:cNvPr id="16" name="Table 15"/>
          <p:cNvGraphicFramePr>
            <a:graphicFrameLocks noGrp="1"/>
          </p:cNvGraphicFramePr>
          <p:nvPr/>
        </p:nvGraphicFramePr>
        <p:xfrm>
          <a:off x="457200" y="3108960"/>
          <a:ext cx="11247120" cy="1691640"/>
        </p:xfrm>
        <a:graphic>
          <a:graphicData uri="http://schemas.openxmlformats.org/drawingml/2006/table">
            <a:tbl>
              <a:tblPr firstRow="1" bandRow="1">
                <a:tableStyleId>{5C22544A-7EE6-4342-B048-85BDC9FD1C3A}</a:tableStyleId>
              </a:tblPr>
              <a:tblGrid>
                <a:gridCol w="2811780"/>
                <a:gridCol w="2811780"/>
                <a:gridCol w="2811780"/>
                <a:gridCol w="2811780"/>
              </a:tblGrid>
              <a:tr h="338328">
                <a:tc>
                  <a:txBody>
                    <a:bodyPr/>
                    <a:lstStyle/>
                    <a:p>
                      <a:r>
                        <a:rPr sz="1100" b="1">
                          <a:solidFill>
                            <a:srgbClr val="FFFFFF"/>
                          </a:solidFill>
                        </a:rPr>
                        <a:t>Stage</a:t>
                      </a:r>
                    </a:p>
                  </a:txBody>
                  <a:tcPr>
                    <a:solidFill>
                      <a:srgbClr val="041E42"/>
                    </a:solidFill>
                  </a:tcPr>
                </a:tc>
                <a:tc>
                  <a:txBody>
                    <a:bodyPr/>
                    <a:lstStyle/>
                    <a:p>
                      <a:r>
                        <a:rPr sz="1100" b="1">
                          <a:solidFill>
                            <a:srgbClr val="FFFFFF"/>
                          </a:solidFill>
                        </a:rPr>
                        <a:t>Data</a:t>
                      </a:r>
                    </a:p>
                  </a:txBody>
                  <a:tcPr>
                    <a:solidFill>
                      <a:srgbClr val="041E42"/>
                    </a:solidFill>
                  </a:tcPr>
                </a:tc>
                <a:tc>
                  <a:txBody>
                    <a:bodyPr/>
                    <a:lstStyle/>
                    <a:p>
                      <a:r>
                        <a:rPr sz="1100" b="1">
                          <a:solidFill>
                            <a:srgbClr val="FFFFFF"/>
                          </a:solidFill>
                        </a:rPr>
                        <a:t>Macro-F1</a:t>
                      </a:r>
                    </a:p>
                  </a:txBody>
                  <a:tcPr>
                    <a:solidFill>
                      <a:srgbClr val="041E42"/>
                    </a:solidFill>
                  </a:tcPr>
                </a:tc>
                <a:tc>
                  <a:txBody>
                    <a:bodyPr/>
                    <a:lstStyle/>
                    <a:p>
                      <a:r>
                        <a:rPr sz="1100" b="1">
                          <a:solidFill>
                            <a:srgbClr val="FFFFFF"/>
                          </a:solidFill>
                        </a:rPr>
                        <a:t>Δ vs baseline</a:t>
                      </a:r>
                    </a:p>
                  </a:txBody>
                  <a:tcPr>
                    <a:solidFill>
                      <a:srgbClr val="041E42"/>
                    </a:solidFill>
                  </a:tcPr>
                </a:tc>
              </a:tr>
              <a:tr h="338328">
                <a:tc>
                  <a:txBody>
                    <a:bodyPr/>
                    <a:lstStyle/>
                    <a:p>
                      <a:r>
                        <a:rPr sz="1100" b="1">
                          <a:solidFill>
                            <a:srgbClr val="333333"/>
                          </a:solidFill>
                        </a:rPr>
                        <a:t>Baseline (Twitter-RoBERTa)</a:t>
                      </a:r>
                    </a:p>
                  </a:txBody>
                  <a:tcPr>
                    <a:solidFill>
                      <a:srgbClr val="FFFFFF"/>
                    </a:solidFill>
                  </a:tcPr>
                </a:tc>
                <a:tc>
                  <a:txBody>
                    <a:bodyPr/>
                    <a:lstStyle/>
                    <a:p>
                      <a:r>
                        <a:rPr sz="1100">
                          <a:solidFill>
                            <a:srgbClr val="333333"/>
                          </a:solidFill>
                        </a:rPr>
                        <a:t>off-the-shelf</a:t>
                      </a:r>
                    </a:p>
                  </a:txBody>
                  <a:tcPr>
                    <a:solidFill>
                      <a:srgbClr val="FFFFFF"/>
                    </a:solidFill>
                  </a:tcPr>
                </a:tc>
                <a:tc>
                  <a:txBody>
                    <a:bodyPr/>
                    <a:lstStyle/>
                    <a:p>
                      <a:r>
                        <a:rPr sz="1100">
                          <a:solidFill>
                            <a:srgbClr val="333333"/>
                          </a:solidFill>
                        </a:rPr>
                        <a:t>0.6272</a:t>
                      </a:r>
                    </a:p>
                  </a:txBody>
                  <a:tcPr>
                    <a:solidFill>
                      <a:srgbClr val="FFFFFF"/>
                    </a:solidFill>
                  </a:tcPr>
                </a:tc>
                <a:tc>
                  <a:txBody>
                    <a:bodyPr/>
                    <a:lstStyle/>
                    <a:p>
                      <a:r>
                        <a:rPr sz="1100">
                          <a:solidFill>
                            <a:srgbClr val="333333"/>
                          </a:solidFill>
                        </a:rPr>
                        <a:t>—</a:t>
                      </a:r>
                    </a:p>
                  </a:txBody>
                  <a:tcPr>
                    <a:solidFill>
                      <a:srgbClr val="FFFFFF"/>
                    </a:solidFill>
                  </a:tcPr>
                </a:tc>
              </a:tr>
              <a:tr h="338328">
                <a:tc>
                  <a:txBody>
                    <a:bodyPr/>
                    <a:lstStyle/>
                    <a:p>
                      <a:r>
                        <a:rPr sz="1100" b="1">
                          <a:solidFill>
                            <a:srgbClr val="333333"/>
                          </a:solidFill>
                        </a:rPr>
                        <a:t>Stage 1</a:t>
                      </a:r>
                    </a:p>
                  </a:txBody>
                  <a:tcPr>
                    <a:solidFill>
                      <a:srgbClr val="F5F5F5"/>
                    </a:solidFill>
                  </a:tcPr>
                </a:tc>
                <a:tc>
                  <a:txBody>
                    <a:bodyPr/>
                    <a:lstStyle/>
                    <a:p>
                      <a:r>
                        <a:rPr sz="1100">
                          <a:solidFill>
                            <a:srgbClr val="333333"/>
                          </a:solidFill>
                        </a:rPr>
                        <a:t>TweetEval sentiment (~45 k tweets)</a:t>
                      </a:r>
                    </a:p>
                  </a:txBody>
                  <a:tcPr>
                    <a:solidFill>
                      <a:srgbClr val="F5F5F5"/>
                    </a:solidFill>
                  </a:tcPr>
                </a:tc>
                <a:tc>
                  <a:txBody>
                    <a:bodyPr/>
                    <a:lstStyle/>
                    <a:p>
                      <a:r>
                        <a:rPr sz="1100">
                          <a:solidFill>
                            <a:srgbClr val="333333"/>
                          </a:solidFill>
                        </a:rPr>
                        <a:t>0.6810</a:t>
                      </a:r>
                    </a:p>
                  </a:txBody>
                  <a:tcPr>
                    <a:solidFill>
                      <a:srgbClr val="F5F5F5"/>
                    </a:solidFill>
                  </a:tcPr>
                </a:tc>
                <a:tc>
                  <a:txBody>
                    <a:bodyPr/>
                    <a:lstStyle/>
                    <a:p>
                      <a:r>
                        <a:rPr sz="1100">
                          <a:solidFill>
                            <a:srgbClr val="333333"/>
                          </a:solidFill>
                        </a:rPr>
                        <a:t>+5.4</a:t>
                      </a:r>
                    </a:p>
                  </a:txBody>
                  <a:tcPr>
                    <a:solidFill>
                      <a:srgbClr val="F5F5F5"/>
                    </a:solidFill>
                  </a:tcPr>
                </a:tc>
              </a:tr>
              <a:tr h="338328">
                <a:tc>
                  <a:txBody>
                    <a:bodyPr/>
                    <a:lstStyle/>
                    <a:p>
                      <a:r>
                        <a:rPr sz="1100" b="1">
                          <a:solidFill>
                            <a:srgbClr val="333333"/>
                          </a:solidFill>
                        </a:rPr>
                        <a:t>Stage 2</a:t>
                      </a:r>
                    </a:p>
                  </a:txBody>
                  <a:tcPr>
                    <a:solidFill>
                      <a:srgbClr val="FFFFFF"/>
                    </a:solidFill>
                  </a:tcPr>
                </a:tc>
                <a:tc>
                  <a:txBody>
                    <a:bodyPr/>
                    <a:lstStyle/>
                    <a:p>
                      <a:r>
                        <a:rPr sz="1100">
                          <a:solidFill>
                            <a:srgbClr val="333333"/>
                          </a:solidFill>
                        </a:rPr>
                        <a:t>GoEmotions-3class Reddit (~54 k, pseudo)</a:t>
                      </a:r>
                    </a:p>
                  </a:txBody>
                  <a:tcPr>
                    <a:solidFill>
                      <a:srgbClr val="FFFFFF"/>
                    </a:solidFill>
                  </a:tcPr>
                </a:tc>
                <a:tc>
                  <a:txBody>
                    <a:bodyPr/>
                    <a:lstStyle/>
                    <a:p>
                      <a:r>
                        <a:rPr sz="1100">
                          <a:solidFill>
                            <a:srgbClr val="333333"/>
                          </a:solidFill>
                        </a:rPr>
                        <a:t>0.7285</a:t>
                      </a:r>
                    </a:p>
                  </a:txBody>
                  <a:tcPr>
                    <a:solidFill>
                      <a:srgbClr val="FFFFFF"/>
                    </a:solidFill>
                  </a:tcPr>
                </a:tc>
                <a:tc>
                  <a:txBody>
                    <a:bodyPr/>
                    <a:lstStyle/>
                    <a:p>
                      <a:r>
                        <a:rPr sz="1100">
                          <a:solidFill>
                            <a:srgbClr val="333333"/>
                          </a:solidFill>
                        </a:rPr>
                        <a:t>+10.1</a:t>
                      </a:r>
                    </a:p>
                  </a:txBody>
                  <a:tcPr>
                    <a:solidFill>
                      <a:srgbClr val="FFFFFF"/>
                    </a:solidFill>
                  </a:tcPr>
                </a:tc>
              </a:tr>
              <a:tr h="338328">
                <a:tc>
                  <a:txBody>
                    <a:bodyPr/>
                    <a:lstStyle/>
                    <a:p>
                      <a:r>
                        <a:rPr sz="1100" b="1">
                          <a:solidFill>
                            <a:srgbClr val="333333"/>
                          </a:solidFill>
                        </a:rPr>
                        <a:t>Stage 3  (final)</a:t>
                      </a:r>
                    </a:p>
                  </a:txBody>
                  <a:tcPr>
                    <a:solidFill>
                      <a:srgbClr val="DCFCE7"/>
                    </a:solidFill>
                  </a:tcPr>
                </a:tc>
                <a:tc>
                  <a:txBody>
                    <a:bodyPr/>
                    <a:lstStyle/>
                    <a:p>
                      <a:r>
                        <a:rPr sz="1100">
                          <a:solidFill>
                            <a:srgbClr val="333333"/>
                          </a:solidFill>
                        </a:rPr>
                        <a:t>Walmart-200 hand-labelled</a:t>
                      </a:r>
                    </a:p>
                  </a:txBody>
                  <a:tcPr>
                    <a:solidFill>
                      <a:srgbClr val="DCFCE7"/>
                    </a:solidFill>
                  </a:tcPr>
                </a:tc>
                <a:tc>
                  <a:txBody>
                    <a:bodyPr/>
                    <a:lstStyle/>
                    <a:p>
                      <a:r>
                        <a:rPr sz="1100">
                          <a:solidFill>
                            <a:srgbClr val="333333"/>
                          </a:solidFill>
                        </a:rPr>
                        <a:t>0.7642</a:t>
                      </a:r>
                    </a:p>
                  </a:txBody>
                  <a:tcPr>
                    <a:solidFill>
                      <a:srgbClr val="DCFCE7"/>
                    </a:solidFill>
                  </a:tcPr>
                </a:tc>
                <a:tc>
                  <a:txBody>
                    <a:bodyPr/>
                    <a:lstStyle/>
                    <a:p>
                      <a:r>
                        <a:rPr sz="1100">
                          <a:solidFill>
                            <a:srgbClr val="333333"/>
                          </a:solidFill>
                        </a:rPr>
                        <a:t>+13.7</a:t>
                      </a:r>
                    </a:p>
                  </a:txBody>
                  <a:tcPr>
                    <a:solidFill>
                      <a:srgbClr val="DCFCE7"/>
                    </a:solidFill>
                  </a:tcPr>
                </a:tc>
              </a:tr>
            </a:tbl>
          </a:graphicData>
        </a:graphic>
      </p:graphicFrame>
      <p:sp>
        <p:nvSpPr>
          <p:cNvPr id="17" name="TextBox 16"/>
          <p:cNvSpPr txBox="1"/>
          <p:nvPr/>
        </p:nvSpPr>
        <p:spPr>
          <a:xfrm>
            <a:off x="457200" y="4937760"/>
            <a:ext cx="11247120" cy="320040"/>
          </a:xfrm>
          <a:prstGeom prst="rect">
            <a:avLst/>
          </a:prstGeom>
          <a:noFill/>
        </p:spPr>
        <p:txBody>
          <a:bodyPr wrap="square" anchor="t">
            <a:spAutoFit/>
          </a:bodyPr>
          <a:lstStyle/>
          <a:p>
            <a:pPr algn="l"/>
            <a:r>
              <a:rPr sz="1300" b="1">
                <a:solidFill>
                  <a:srgbClr val="041E42"/>
                </a:solidFill>
              </a:rPr>
              <a:t>Per-length-bucket F1</a:t>
            </a:r>
          </a:p>
        </p:txBody>
      </p:sp>
      <p:graphicFrame>
        <p:nvGraphicFramePr>
          <p:cNvPr id="18" name="Table 17"/>
          <p:cNvGraphicFramePr>
            <a:graphicFrameLocks noGrp="1"/>
          </p:cNvGraphicFramePr>
          <p:nvPr/>
        </p:nvGraphicFramePr>
        <p:xfrm>
          <a:off x="457200" y="5303520"/>
          <a:ext cx="11247120" cy="1005840"/>
        </p:xfrm>
        <a:graphic>
          <a:graphicData uri="http://schemas.openxmlformats.org/drawingml/2006/table">
            <a:tbl>
              <a:tblPr firstRow="1" bandRow="1">
                <a:tableStyleId>{5C22544A-7EE6-4342-B048-85BDC9FD1C3A}</a:tableStyleId>
              </a:tblPr>
              <a:tblGrid>
                <a:gridCol w="2811780"/>
                <a:gridCol w="2811780"/>
                <a:gridCol w="2811780"/>
                <a:gridCol w="2811780"/>
              </a:tblGrid>
              <a:tr h="251460">
                <a:tc>
                  <a:txBody>
                    <a:bodyPr/>
                    <a:lstStyle/>
                    <a:p>
                      <a:r>
                        <a:rPr sz="1100" b="1">
                          <a:solidFill>
                            <a:srgbClr val="FFFFFF"/>
                          </a:solidFill>
                        </a:rPr>
                        <a:t>Bucket</a:t>
                      </a:r>
                    </a:p>
                  </a:txBody>
                  <a:tcPr>
                    <a:solidFill>
                      <a:srgbClr val="041E42"/>
                    </a:solidFill>
                  </a:tcPr>
                </a:tc>
                <a:tc>
                  <a:txBody>
                    <a:bodyPr/>
                    <a:lstStyle/>
                    <a:p>
                      <a:r>
                        <a:rPr sz="1100" b="1">
                          <a:solidFill>
                            <a:srgbClr val="FFFFFF"/>
                          </a:solidFill>
                        </a:rPr>
                        <a:t>Baseline</a:t>
                      </a:r>
                    </a:p>
                  </a:txBody>
                  <a:tcPr>
                    <a:solidFill>
                      <a:srgbClr val="041E42"/>
                    </a:solidFill>
                  </a:tcPr>
                </a:tc>
                <a:tc>
                  <a:txBody>
                    <a:bodyPr/>
                    <a:lstStyle/>
                    <a:p>
                      <a:r>
                        <a:rPr sz="1100" b="1">
                          <a:solidFill>
                            <a:srgbClr val="FFFFFF"/>
                          </a:solidFill>
                        </a:rPr>
                        <a:t>ModernBERT</a:t>
                      </a:r>
                    </a:p>
                  </a:txBody>
                  <a:tcPr>
                    <a:solidFill>
                      <a:srgbClr val="041E42"/>
                    </a:solidFill>
                  </a:tcPr>
                </a:tc>
                <a:tc>
                  <a:txBody>
                    <a:bodyPr/>
                    <a:lstStyle/>
                    <a:p>
                      <a:r>
                        <a:rPr sz="1100" b="1">
                          <a:solidFill>
                            <a:srgbClr val="FFFFFF"/>
                          </a:solidFill>
                        </a:rPr>
                        <a:t>Δ</a:t>
                      </a:r>
                    </a:p>
                  </a:txBody>
                  <a:tcPr>
                    <a:solidFill>
                      <a:srgbClr val="041E42"/>
                    </a:solidFill>
                  </a:tcPr>
                </a:tc>
              </a:tr>
              <a:tr h="251460">
                <a:tc>
                  <a:txBody>
                    <a:bodyPr/>
                    <a:lstStyle/>
                    <a:p>
                      <a:r>
                        <a:rPr sz="1100" b="1">
                          <a:solidFill>
                            <a:srgbClr val="333333"/>
                          </a:solidFill>
                        </a:rPr>
                        <a:t>Short  (&lt; 64 tokens)</a:t>
                      </a:r>
                    </a:p>
                  </a:txBody>
                  <a:tcPr>
                    <a:solidFill>
                      <a:srgbClr val="FFFFFF"/>
                    </a:solidFill>
                  </a:tcPr>
                </a:tc>
                <a:tc>
                  <a:txBody>
                    <a:bodyPr/>
                    <a:lstStyle/>
                    <a:p>
                      <a:r>
                        <a:rPr sz="1100">
                          <a:solidFill>
                            <a:srgbClr val="333333"/>
                          </a:solidFill>
                        </a:rPr>
                        <a:t>0.7500</a:t>
                      </a:r>
                    </a:p>
                  </a:txBody>
                  <a:tcPr>
                    <a:solidFill>
                      <a:srgbClr val="FFFFFF"/>
                    </a:solidFill>
                  </a:tcPr>
                </a:tc>
                <a:tc>
                  <a:txBody>
                    <a:bodyPr/>
                    <a:lstStyle/>
                    <a:p>
                      <a:r>
                        <a:rPr sz="1100">
                          <a:solidFill>
                            <a:srgbClr val="333333"/>
                          </a:solidFill>
                        </a:rPr>
                        <a:t>0.7800</a:t>
                      </a:r>
                    </a:p>
                  </a:txBody>
                  <a:tcPr>
                    <a:solidFill>
                      <a:srgbClr val="FFFFFF"/>
                    </a:solidFill>
                  </a:tcPr>
                </a:tc>
                <a:tc>
                  <a:txBody>
                    <a:bodyPr/>
                    <a:lstStyle/>
                    <a:p>
                      <a:r>
                        <a:rPr sz="1100">
                          <a:solidFill>
                            <a:srgbClr val="333333"/>
                          </a:solidFill>
                        </a:rPr>
                        <a:t>+3.0</a:t>
                      </a:r>
                    </a:p>
                  </a:txBody>
                  <a:tcPr>
                    <a:solidFill>
                      <a:srgbClr val="FFFFFF"/>
                    </a:solidFill>
                  </a:tcPr>
                </a:tc>
              </a:tr>
              <a:tr h="251460">
                <a:tc>
                  <a:txBody>
                    <a:bodyPr/>
                    <a:lstStyle/>
                    <a:p>
                      <a:r>
                        <a:rPr sz="1100" b="1">
                          <a:solidFill>
                            <a:srgbClr val="333333"/>
                          </a:solidFill>
                        </a:rPr>
                        <a:t>Medium  (64 – 256 tokens)</a:t>
                      </a:r>
                    </a:p>
                  </a:txBody>
                  <a:tcPr>
                    <a:solidFill>
                      <a:srgbClr val="F5F5F5"/>
                    </a:solidFill>
                  </a:tcPr>
                </a:tc>
                <a:tc>
                  <a:txBody>
                    <a:bodyPr/>
                    <a:lstStyle/>
                    <a:p>
                      <a:r>
                        <a:rPr sz="1100">
                          <a:solidFill>
                            <a:srgbClr val="333333"/>
                          </a:solidFill>
                        </a:rPr>
                        <a:t>0.6500</a:t>
                      </a:r>
                    </a:p>
                  </a:txBody>
                  <a:tcPr>
                    <a:solidFill>
                      <a:srgbClr val="F5F5F5"/>
                    </a:solidFill>
                  </a:tcPr>
                </a:tc>
                <a:tc>
                  <a:txBody>
                    <a:bodyPr/>
                    <a:lstStyle/>
                    <a:p>
                      <a:r>
                        <a:rPr sz="1100">
                          <a:solidFill>
                            <a:srgbClr val="333333"/>
                          </a:solidFill>
                        </a:rPr>
                        <a:t>0.7400</a:t>
                      </a:r>
                    </a:p>
                  </a:txBody>
                  <a:tcPr>
                    <a:solidFill>
                      <a:srgbClr val="F5F5F5"/>
                    </a:solidFill>
                  </a:tcPr>
                </a:tc>
                <a:tc>
                  <a:txBody>
                    <a:bodyPr/>
                    <a:lstStyle/>
                    <a:p>
                      <a:r>
                        <a:rPr sz="1100">
                          <a:solidFill>
                            <a:srgbClr val="333333"/>
                          </a:solidFill>
                        </a:rPr>
                        <a:t>+9.0</a:t>
                      </a:r>
                    </a:p>
                  </a:txBody>
                  <a:tcPr>
                    <a:solidFill>
                      <a:srgbClr val="F5F5F5"/>
                    </a:solidFill>
                  </a:tcPr>
                </a:tc>
              </a:tr>
              <a:tr h="251460">
                <a:tc>
                  <a:txBody>
                    <a:bodyPr/>
                    <a:lstStyle/>
                    <a:p>
                      <a:r>
                        <a:rPr sz="1100" b="1">
                          <a:solidFill>
                            <a:srgbClr val="333333"/>
                          </a:solidFill>
                        </a:rPr>
                        <a:t>Long  (&gt; 256 tokens)</a:t>
                      </a:r>
                    </a:p>
                  </a:txBody>
                  <a:tcPr>
                    <a:solidFill>
                      <a:srgbClr val="DCFCE7"/>
                    </a:solidFill>
                  </a:tcPr>
                </a:tc>
                <a:tc>
                  <a:txBody>
                    <a:bodyPr/>
                    <a:lstStyle/>
                    <a:p>
                      <a:r>
                        <a:rPr sz="1100">
                          <a:solidFill>
                            <a:srgbClr val="333333"/>
                          </a:solidFill>
                        </a:rPr>
                        <a:t>0.2778</a:t>
                      </a:r>
                    </a:p>
                  </a:txBody>
                  <a:tcPr>
                    <a:solidFill>
                      <a:srgbClr val="DCFCE7"/>
                    </a:solidFill>
                  </a:tcPr>
                </a:tc>
                <a:tc>
                  <a:txBody>
                    <a:bodyPr/>
                    <a:lstStyle/>
                    <a:p>
                      <a:r>
                        <a:rPr sz="1100">
                          <a:solidFill>
                            <a:srgbClr val="333333"/>
                          </a:solidFill>
                        </a:rPr>
                        <a:t>1.0000</a:t>
                      </a:r>
                    </a:p>
                  </a:txBody>
                  <a:tcPr>
                    <a:solidFill>
                      <a:srgbClr val="DCFCE7"/>
                    </a:solidFill>
                  </a:tcPr>
                </a:tc>
                <a:tc>
                  <a:txBody>
                    <a:bodyPr/>
                    <a:lstStyle/>
                    <a:p>
                      <a:r>
                        <a:rPr sz="1100">
                          <a:solidFill>
                            <a:srgbClr val="333333"/>
                          </a:solidFill>
                        </a:rPr>
                        <a:t>+72.2</a:t>
                      </a:r>
                    </a:p>
                  </a:txBody>
                  <a:tcPr>
                    <a:solidFill>
                      <a:srgbClr val="DCFCE7"/>
                    </a:solidFill>
                  </a:tcPr>
                </a:tc>
              </a:tr>
            </a:tbl>
          </a:graphicData>
        </a:graphic>
      </p:graphicFrame>
      <p:sp>
        <p:nvSpPr>
          <p:cNvPr id="19" name="TextBox 18"/>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0" name="TextBox 19"/>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13 / 25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Vision Pipeline  —  Multi-Pass Payoff</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Same model (Gemma 3 4B), same hardware, smarter calling strategy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051560"/>
            <a:ext cx="2743200" cy="19659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051560"/>
            <a:ext cx="2743200" cy="4114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97280"/>
            <a:ext cx="2743200" cy="320040"/>
          </a:xfrm>
          <a:prstGeom prst="rect">
            <a:avLst/>
          </a:prstGeom>
          <a:noFill/>
        </p:spPr>
        <p:txBody>
          <a:bodyPr wrap="square" anchor="t">
            <a:spAutoFit/>
          </a:bodyPr>
          <a:lstStyle/>
          <a:p>
            <a:pPr algn="ctr"/>
            <a:r>
              <a:rPr sz="1100" b="1">
                <a:solidFill>
                  <a:srgbClr val="FFFFFF"/>
                </a:solidFill>
              </a:rPr>
              <a:t>PASS 1</a:t>
            </a:r>
          </a:p>
        </p:txBody>
      </p:sp>
      <p:sp>
        <p:nvSpPr>
          <p:cNvPr id="9" name="TextBox 8"/>
          <p:cNvSpPr txBox="1"/>
          <p:nvPr/>
        </p:nvSpPr>
        <p:spPr>
          <a:xfrm>
            <a:off x="365760" y="1554480"/>
            <a:ext cx="2743200" cy="365760"/>
          </a:xfrm>
          <a:prstGeom prst="rect">
            <a:avLst/>
          </a:prstGeom>
          <a:noFill/>
        </p:spPr>
        <p:txBody>
          <a:bodyPr wrap="square" anchor="t">
            <a:spAutoFit/>
          </a:bodyPr>
          <a:lstStyle/>
          <a:p>
            <a:pPr algn="ctr"/>
            <a:r>
              <a:rPr sz="1300" b="1">
                <a:solidFill>
                  <a:srgbClr val="041E42"/>
                </a:solidFill>
              </a:rPr>
              <a:t>STRUCTURE</a:t>
            </a:r>
          </a:p>
        </p:txBody>
      </p:sp>
      <p:sp>
        <p:nvSpPr>
          <p:cNvPr id="10" name="TextBox 9"/>
          <p:cNvSpPr txBox="1"/>
          <p:nvPr/>
        </p:nvSpPr>
        <p:spPr>
          <a:xfrm>
            <a:off x="365760" y="1965960"/>
            <a:ext cx="2743200" cy="1005840"/>
          </a:xfrm>
          <a:prstGeom prst="rect">
            <a:avLst/>
          </a:prstGeom>
          <a:noFill/>
        </p:spPr>
        <p:txBody>
          <a:bodyPr wrap="square" anchor="t">
            <a:spAutoFit/>
          </a:bodyPr>
          <a:lstStyle/>
          <a:p>
            <a:pPr algn="ctr"/>
            <a:r>
              <a:rPr sz="1100" b="0">
                <a:solidFill>
                  <a:srgbClr val="333333"/>
                </a:solidFill>
              </a:rPr>
              <a:t>What TYPE of image?</a:t>
            </a:r>
          </a:p>
          <a:p>
            <a:pPr algn="ctr"/>
            <a:r>
              <a:rPr sz="1100" b="0">
                <a:solidFill>
                  <a:srgbClr val="333333"/>
                </a:solidFill>
              </a:rPr>
              <a:t>screenshot / photo /</a:t>
            </a:r>
          </a:p>
          <a:p>
            <a:pPr algn="ctr"/>
            <a:r>
              <a:rPr sz="1100" b="0">
                <a:solidFill>
                  <a:srgbClr val="333333"/>
                </a:solidFill>
              </a:rPr>
              <a:t>receipt / app / meme</a:t>
            </a:r>
          </a:p>
        </p:txBody>
      </p:sp>
      <p:sp>
        <p:nvSpPr>
          <p:cNvPr id="11" name="Right Arrow 10"/>
          <p:cNvSpPr/>
          <p:nvPr/>
        </p:nvSpPr>
        <p:spPr>
          <a:xfrm>
            <a:off x="311353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46120" y="1051560"/>
            <a:ext cx="2743200" cy="19659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246120" y="1051560"/>
            <a:ext cx="2743200" cy="41148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1097280"/>
            <a:ext cx="2743200" cy="320040"/>
          </a:xfrm>
          <a:prstGeom prst="rect">
            <a:avLst/>
          </a:prstGeom>
          <a:noFill/>
        </p:spPr>
        <p:txBody>
          <a:bodyPr wrap="square" anchor="t">
            <a:spAutoFit/>
          </a:bodyPr>
          <a:lstStyle/>
          <a:p>
            <a:pPr algn="ctr"/>
            <a:r>
              <a:rPr sz="1100" b="1">
                <a:solidFill>
                  <a:srgbClr val="FFFFFF"/>
                </a:solidFill>
              </a:rPr>
              <a:t>PASS 2</a:t>
            </a:r>
          </a:p>
        </p:txBody>
      </p:sp>
      <p:sp>
        <p:nvSpPr>
          <p:cNvPr id="15" name="TextBox 14"/>
          <p:cNvSpPr txBox="1"/>
          <p:nvPr/>
        </p:nvSpPr>
        <p:spPr>
          <a:xfrm>
            <a:off x="3246120" y="1554480"/>
            <a:ext cx="2743200" cy="365760"/>
          </a:xfrm>
          <a:prstGeom prst="rect">
            <a:avLst/>
          </a:prstGeom>
          <a:noFill/>
        </p:spPr>
        <p:txBody>
          <a:bodyPr wrap="square" anchor="t">
            <a:spAutoFit/>
          </a:bodyPr>
          <a:lstStyle/>
          <a:p>
            <a:pPr algn="ctr"/>
            <a:r>
              <a:rPr sz="1300" b="1">
                <a:solidFill>
                  <a:srgbClr val="041E42"/>
                </a:solidFill>
              </a:rPr>
              <a:t>TILE</a:t>
            </a:r>
          </a:p>
        </p:txBody>
      </p:sp>
      <p:sp>
        <p:nvSpPr>
          <p:cNvPr id="16" name="TextBox 15"/>
          <p:cNvSpPr txBox="1"/>
          <p:nvPr/>
        </p:nvSpPr>
        <p:spPr>
          <a:xfrm>
            <a:off x="3246120" y="1965960"/>
            <a:ext cx="2743200" cy="1005840"/>
          </a:xfrm>
          <a:prstGeom prst="rect">
            <a:avLst/>
          </a:prstGeom>
          <a:noFill/>
        </p:spPr>
        <p:txBody>
          <a:bodyPr wrap="square" anchor="t">
            <a:spAutoFit/>
          </a:bodyPr>
          <a:lstStyle/>
          <a:p>
            <a:pPr algn="ctr"/>
            <a:r>
              <a:rPr sz="1100" b="0">
                <a:solidFill>
                  <a:srgbClr val="333333"/>
                </a:solidFill>
              </a:rPr>
              <a:t>Split into 2–4 crops</a:t>
            </a:r>
          </a:p>
          <a:p>
            <a:pPr algn="ctr"/>
            <a:r>
              <a:rPr sz="1100" b="0">
                <a:solidFill>
                  <a:srgbClr val="333333"/>
                </a:solidFill>
              </a:rPr>
              <a:t>→ 2–4× effective</a:t>
            </a:r>
          </a:p>
          <a:p>
            <a:pPr algn="ctr"/>
            <a:r>
              <a:rPr sz="1100" b="0">
                <a:solidFill>
                  <a:srgbClr val="333333"/>
                </a:solidFill>
              </a:rPr>
              <a:t>resolution, no resize</a:t>
            </a:r>
          </a:p>
        </p:txBody>
      </p:sp>
      <p:sp>
        <p:nvSpPr>
          <p:cNvPr id="17" name="Right Arrow 16"/>
          <p:cNvSpPr/>
          <p:nvPr/>
        </p:nvSpPr>
        <p:spPr>
          <a:xfrm>
            <a:off x="599389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0" y="1051560"/>
            <a:ext cx="2743200" cy="19659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0" y="1051560"/>
            <a:ext cx="2743200" cy="4114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0" y="1097280"/>
            <a:ext cx="2743200" cy="320040"/>
          </a:xfrm>
          <a:prstGeom prst="rect">
            <a:avLst/>
          </a:prstGeom>
          <a:noFill/>
        </p:spPr>
        <p:txBody>
          <a:bodyPr wrap="square" anchor="t">
            <a:spAutoFit/>
          </a:bodyPr>
          <a:lstStyle/>
          <a:p>
            <a:pPr algn="ctr"/>
            <a:r>
              <a:rPr sz="1100" b="1">
                <a:solidFill>
                  <a:srgbClr val="FFFFFF"/>
                </a:solidFill>
              </a:rPr>
              <a:t>PASS 3</a:t>
            </a:r>
          </a:p>
        </p:txBody>
      </p:sp>
      <p:sp>
        <p:nvSpPr>
          <p:cNvPr id="21" name="TextBox 20"/>
          <p:cNvSpPr txBox="1"/>
          <p:nvPr/>
        </p:nvSpPr>
        <p:spPr>
          <a:xfrm>
            <a:off x="6126480" y="1554480"/>
            <a:ext cx="2743200" cy="365760"/>
          </a:xfrm>
          <a:prstGeom prst="rect">
            <a:avLst/>
          </a:prstGeom>
          <a:noFill/>
        </p:spPr>
        <p:txBody>
          <a:bodyPr wrap="square" anchor="t">
            <a:spAutoFit/>
          </a:bodyPr>
          <a:lstStyle/>
          <a:p>
            <a:pPr algn="ctr"/>
            <a:r>
              <a:rPr sz="1300" b="1">
                <a:solidFill>
                  <a:srgbClr val="041E42"/>
                </a:solidFill>
              </a:rPr>
              <a:t>EXTRACT</a:t>
            </a:r>
          </a:p>
        </p:txBody>
      </p:sp>
      <p:sp>
        <p:nvSpPr>
          <p:cNvPr id="22" name="TextBox 21"/>
          <p:cNvSpPr txBox="1"/>
          <p:nvPr/>
        </p:nvSpPr>
        <p:spPr>
          <a:xfrm>
            <a:off x="6126480" y="1965960"/>
            <a:ext cx="2743200" cy="1005840"/>
          </a:xfrm>
          <a:prstGeom prst="rect">
            <a:avLst/>
          </a:prstGeom>
          <a:noFill/>
        </p:spPr>
        <p:txBody>
          <a:bodyPr wrap="square" anchor="t">
            <a:spAutoFit/>
          </a:bodyPr>
          <a:lstStyle/>
          <a:p>
            <a:pPr algn="ctr"/>
            <a:r>
              <a:rPr sz="1100" b="0">
                <a:solidFill>
                  <a:srgbClr val="333333"/>
                </a:solidFill>
              </a:rPr>
              <a:t>Per tile: read ALL</a:t>
            </a:r>
          </a:p>
          <a:p>
            <a:pPr algn="ctr"/>
            <a:r>
              <a:rPr sz="1100" b="0">
                <a:solidFill>
                  <a:srgbClr val="333333"/>
                </a:solidFill>
              </a:rPr>
              <a:t>text verbatim</a:t>
            </a:r>
          </a:p>
          <a:p>
            <a:pPr algn="ctr"/>
            <a:r>
              <a:rPr sz="1100" b="0">
                <a:solidFill>
                  <a:srgbClr val="333333"/>
                </a:solidFill>
              </a:rPr>
              <a:t>(quotes, prices, UI)</a:t>
            </a:r>
          </a:p>
        </p:txBody>
      </p:sp>
      <p:sp>
        <p:nvSpPr>
          <p:cNvPr id="23" name="Right Arrow 22"/>
          <p:cNvSpPr/>
          <p:nvPr/>
        </p:nvSpPr>
        <p:spPr>
          <a:xfrm>
            <a:off x="887425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06840" y="1051560"/>
            <a:ext cx="2743200" cy="19659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06840" y="1051560"/>
            <a:ext cx="2743200" cy="411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06840" y="1097280"/>
            <a:ext cx="2743200" cy="320040"/>
          </a:xfrm>
          <a:prstGeom prst="rect">
            <a:avLst/>
          </a:prstGeom>
          <a:noFill/>
        </p:spPr>
        <p:txBody>
          <a:bodyPr wrap="square" anchor="t">
            <a:spAutoFit/>
          </a:bodyPr>
          <a:lstStyle/>
          <a:p>
            <a:pPr algn="ctr"/>
            <a:r>
              <a:rPr sz="1100" b="1">
                <a:solidFill>
                  <a:srgbClr val="FFFFFF"/>
                </a:solidFill>
              </a:rPr>
              <a:t>PASS 4</a:t>
            </a:r>
          </a:p>
        </p:txBody>
      </p:sp>
      <p:sp>
        <p:nvSpPr>
          <p:cNvPr id="27" name="TextBox 26"/>
          <p:cNvSpPr txBox="1"/>
          <p:nvPr/>
        </p:nvSpPr>
        <p:spPr>
          <a:xfrm>
            <a:off x="9006840" y="1554480"/>
            <a:ext cx="2743200" cy="365760"/>
          </a:xfrm>
          <a:prstGeom prst="rect">
            <a:avLst/>
          </a:prstGeom>
          <a:noFill/>
        </p:spPr>
        <p:txBody>
          <a:bodyPr wrap="square" anchor="t">
            <a:spAutoFit/>
          </a:bodyPr>
          <a:lstStyle/>
          <a:p>
            <a:pPr algn="ctr"/>
            <a:r>
              <a:rPr sz="1300" b="1">
                <a:solidFill>
                  <a:srgbClr val="041E42"/>
                </a:solidFill>
              </a:rPr>
              <a:t>MERGE</a:t>
            </a:r>
          </a:p>
        </p:txBody>
      </p:sp>
      <p:sp>
        <p:nvSpPr>
          <p:cNvPr id="28" name="TextBox 27"/>
          <p:cNvSpPr txBox="1"/>
          <p:nvPr/>
        </p:nvSpPr>
        <p:spPr>
          <a:xfrm>
            <a:off x="9006840" y="1965960"/>
            <a:ext cx="2743200" cy="1005840"/>
          </a:xfrm>
          <a:prstGeom prst="rect">
            <a:avLst/>
          </a:prstGeom>
          <a:noFill/>
        </p:spPr>
        <p:txBody>
          <a:bodyPr wrap="square" anchor="t">
            <a:spAutoFit/>
          </a:bodyPr>
          <a:lstStyle/>
          <a:p>
            <a:pPr algn="ctr"/>
            <a:r>
              <a:rPr sz="1100" b="0">
                <a:solidFill>
                  <a:srgbClr val="333333"/>
                </a:solidFill>
              </a:rPr>
              <a:t>Text-only LLM call</a:t>
            </a:r>
          </a:p>
          <a:p>
            <a:pPr algn="ctr"/>
            <a:r>
              <a:rPr sz="1100" b="0">
                <a:solidFill>
                  <a:srgbClr val="333333"/>
                </a:solidFill>
              </a:rPr>
              <a:t>— image REMOVED —</a:t>
            </a:r>
          </a:p>
          <a:p>
            <a:pPr algn="ctr"/>
            <a:r>
              <a:rPr sz="1100" b="0">
                <a:solidFill>
                  <a:srgbClr val="333333"/>
                </a:solidFill>
              </a:rPr>
              <a:t>cannot invent visuals</a:t>
            </a:r>
          </a:p>
        </p:txBody>
      </p:sp>
      <p:sp>
        <p:nvSpPr>
          <p:cNvPr id="29" name="TextBox 28"/>
          <p:cNvSpPr txBox="1"/>
          <p:nvPr/>
        </p:nvSpPr>
        <p:spPr>
          <a:xfrm>
            <a:off x="457200" y="3337560"/>
            <a:ext cx="11247120" cy="320040"/>
          </a:xfrm>
          <a:prstGeom prst="rect">
            <a:avLst/>
          </a:prstGeom>
          <a:noFill/>
        </p:spPr>
        <p:txBody>
          <a:bodyPr wrap="square" anchor="t">
            <a:spAutoFit/>
          </a:bodyPr>
          <a:lstStyle/>
          <a:p>
            <a:pPr algn="l"/>
            <a:r>
              <a:rPr sz="1300" b="1">
                <a:solidFill>
                  <a:srgbClr val="041E42"/>
                </a:solidFill>
              </a:rPr>
              <a:t>Evaluation on 32 retail screenshots</a:t>
            </a:r>
          </a:p>
        </p:txBody>
      </p:sp>
      <p:graphicFrame>
        <p:nvGraphicFramePr>
          <p:cNvPr id="30" name="Table 29"/>
          <p:cNvGraphicFramePr>
            <a:graphicFrameLocks noGrp="1"/>
          </p:cNvGraphicFramePr>
          <p:nvPr/>
        </p:nvGraphicFramePr>
        <p:xfrm>
          <a:off x="457200" y="3703320"/>
          <a:ext cx="11247120" cy="2377440"/>
        </p:xfrm>
        <a:graphic>
          <a:graphicData uri="http://schemas.openxmlformats.org/drawingml/2006/table">
            <a:tbl>
              <a:tblPr firstRow="1" bandRow="1">
                <a:tableStyleId>{5C22544A-7EE6-4342-B048-85BDC9FD1C3A}</a:tableStyleId>
              </a:tblPr>
              <a:tblGrid>
                <a:gridCol w="2811780"/>
                <a:gridCol w="2811780"/>
                <a:gridCol w="2811780"/>
                <a:gridCol w="2811780"/>
              </a:tblGrid>
              <a:tr h="396240">
                <a:tc>
                  <a:txBody>
                    <a:bodyPr/>
                    <a:lstStyle/>
                    <a:p>
                      <a:r>
                        <a:rPr sz="1100" b="1">
                          <a:solidFill>
                            <a:srgbClr val="FFFFFF"/>
                          </a:solidFill>
                        </a:rPr>
                        <a:t>Metric</a:t>
                      </a:r>
                    </a:p>
                  </a:txBody>
                  <a:tcPr>
                    <a:solidFill>
                      <a:srgbClr val="041E42"/>
                    </a:solidFill>
                  </a:tcPr>
                </a:tc>
                <a:tc>
                  <a:txBody>
                    <a:bodyPr/>
                    <a:lstStyle/>
                    <a:p>
                      <a:r>
                        <a:rPr sz="1100" b="1">
                          <a:solidFill>
                            <a:srgbClr val="FFFFFF"/>
                          </a:solidFill>
                        </a:rPr>
                        <a:t>Single-pass</a:t>
                      </a:r>
                    </a:p>
                  </a:txBody>
                  <a:tcPr>
                    <a:solidFill>
                      <a:srgbClr val="041E42"/>
                    </a:solidFill>
                  </a:tcPr>
                </a:tc>
                <a:tc>
                  <a:txBody>
                    <a:bodyPr/>
                    <a:lstStyle/>
                    <a:p>
                      <a:r>
                        <a:rPr sz="1100" b="1">
                          <a:solidFill>
                            <a:srgbClr val="FFFFFF"/>
                          </a:solidFill>
                        </a:rPr>
                        <a:t>Multi-pass</a:t>
                      </a:r>
                    </a:p>
                  </a:txBody>
                  <a:tcPr>
                    <a:solidFill>
                      <a:srgbClr val="041E42"/>
                    </a:solidFill>
                  </a:tcPr>
                </a:tc>
                <a:tc>
                  <a:txBody>
                    <a:bodyPr/>
                    <a:lstStyle/>
                    <a:p>
                      <a:r>
                        <a:rPr sz="1100" b="1">
                          <a:solidFill>
                            <a:srgbClr val="FFFFFF"/>
                          </a:solidFill>
                        </a:rPr>
                        <a:t>Change</a:t>
                      </a:r>
                    </a:p>
                  </a:txBody>
                  <a:tcPr>
                    <a:solidFill>
                      <a:srgbClr val="041E42"/>
                    </a:solidFill>
                  </a:tcPr>
                </a:tc>
              </a:tr>
              <a:tr h="396240">
                <a:tc>
                  <a:txBody>
                    <a:bodyPr/>
                    <a:lstStyle/>
                    <a:p>
                      <a:r>
                        <a:rPr sz="1100" b="1">
                          <a:solidFill>
                            <a:srgbClr val="333333"/>
                          </a:solidFill>
                        </a:rPr>
                        <a:t>Hallucination rate</a:t>
                      </a:r>
                    </a:p>
                  </a:txBody>
                  <a:tcPr>
                    <a:solidFill>
                      <a:srgbClr val="DCFCE7"/>
                    </a:solidFill>
                  </a:tcPr>
                </a:tc>
                <a:tc>
                  <a:txBody>
                    <a:bodyPr/>
                    <a:lstStyle/>
                    <a:p>
                      <a:r>
                        <a:rPr sz="1100">
                          <a:solidFill>
                            <a:srgbClr val="333333"/>
                          </a:solidFill>
                        </a:rPr>
                        <a:t>50 %</a:t>
                      </a:r>
                    </a:p>
                  </a:txBody>
                  <a:tcPr>
                    <a:solidFill>
                      <a:srgbClr val="DCFCE7"/>
                    </a:solidFill>
                  </a:tcPr>
                </a:tc>
                <a:tc>
                  <a:txBody>
                    <a:bodyPr/>
                    <a:lstStyle/>
                    <a:p>
                      <a:r>
                        <a:rPr sz="1100">
                          <a:solidFill>
                            <a:srgbClr val="333333"/>
                          </a:solidFill>
                        </a:rPr>
                        <a:t>0 %</a:t>
                      </a:r>
                    </a:p>
                  </a:txBody>
                  <a:tcPr>
                    <a:solidFill>
                      <a:srgbClr val="DCFCE7"/>
                    </a:solidFill>
                  </a:tcPr>
                </a:tc>
                <a:tc>
                  <a:txBody>
                    <a:bodyPr/>
                    <a:lstStyle/>
                    <a:p>
                      <a:r>
                        <a:rPr sz="1100">
                          <a:solidFill>
                            <a:srgbClr val="333333"/>
                          </a:solidFill>
                        </a:rPr>
                        <a:t>eliminated</a:t>
                      </a:r>
                    </a:p>
                  </a:txBody>
                  <a:tcPr>
                    <a:solidFill>
                      <a:srgbClr val="DCFCE7"/>
                    </a:solidFill>
                  </a:tcPr>
                </a:tc>
              </a:tr>
              <a:tr h="396240">
                <a:tc>
                  <a:txBody>
                    <a:bodyPr/>
                    <a:lstStyle/>
                    <a:p>
                      <a:r>
                        <a:rPr sz="1100" b="1">
                          <a:solidFill>
                            <a:srgbClr val="333333"/>
                          </a:solidFill>
                        </a:rPr>
                        <a:t>Text-extraction success</a:t>
                      </a:r>
                    </a:p>
                  </a:txBody>
                  <a:tcPr>
                    <a:solidFill>
                      <a:srgbClr val="DCFCE7"/>
                    </a:solidFill>
                  </a:tcPr>
                </a:tc>
                <a:tc>
                  <a:txBody>
                    <a:bodyPr/>
                    <a:lstStyle/>
                    <a:p>
                      <a:r>
                        <a:rPr sz="1100">
                          <a:solidFill>
                            <a:srgbClr val="333333"/>
                          </a:solidFill>
                        </a:rPr>
                        <a:t>25 %</a:t>
                      </a:r>
                    </a:p>
                  </a:txBody>
                  <a:tcPr>
                    <a:solidFill>
                      <a:srgbClr val="DCFCE7"/>
                    </a:solidFill>
                  </a:tcPr>
                </a:tc>
                <a:tc>
                  <a:txBody>
                    <a:bodyPr/>
                    <a:lstStyle/>
                    <a:p>
                      <a:r>
                        <a:rPr sz="1100">
                          <a:solidFill>
                            <a:srgbClr val="333333"/>
                          </a:solidFill>
                        </a:rPr>
                        <a:t>75 %</a:t>
                      </a:r>
                    </a:p>
                  </a:txBody>
                  <a:tcPr>
                    <a:solidFill>
                      <a:srgbClr val="DCFCE7"/>
                    </a:solidFill>
                  </a:tcPr>
                </a:tc>
                <a:tc>
                  <a:txBody>
                    <a:bodyPr/>
                    <a:lstStyle/>
                    <a:p>
                      <a:r>
                        <a:rPr sz="1100">
                          <a:solidFill>
                            <a:srgbClr val="333333"/>
                          </a:solidFill>
                        </a:rPr>
                        <a:t>3× better</a:t>
                      </a:r>
                    </a:p>
                  </a:txBody>
                  <a:tcPr>
                    <a:solidFill>
                      <a:srgbClr val="DCFCE7"/>
                    </a:solidFill>
                  </a:tcPr>
                </a:tc>
              </a:tr>
              <a:tr h="396240">
                <a:tc>
                  <a:txBody>
                    <a:bodyPr/>
                    <a:lstStyle/>
                    <a:p>
                      <a:r>
                        <a:rPr sz="1100" b="1">
                          <a:solidFill>
                            <a:srgbClr val="333333"/>
                          </a:solidFill>
                        </a:rPr>
                        <a:t>Retail-signal recall</a:t>
                      </a:r>
                    </a:p>
                  </a:txBody>
                  <a:tcPr>
                    <a:solidFill>
                      <a:srgbClr val="DCFCE7"/>
                    </a:solidFill>
                  </a:tcPr>
                </a:tc>
                <a:tc>
                  <a:txBody>
                    <a:bodyPr/>
                    <a:lstStyle/>
                    <a:p>
                      <a:r>
                        <a:rPr sz="1100">
                          <a:solidFill>
                            <a:srgbClr val="333333"/>
                          </a:solidFill>
                        </a:rPr>
                        <a:t>40 %</a:t>
                      </a:r>
                    </a:p>
                  </a:txBody>
                  <a:tcPr>
                    <a:solidFill>
                      <a:srgbClr val="DCFCE7"/>
                    </a:solidFill>
                  </a:tcPr>
                </a:tc>
                <a:tc>
                  <a:txBody>
                    <a:bodyPr/>
                    <a:lstStyle/>
                    <a:p>
                      <a:r>
                        <a:rPr sz="1100">
                          <a:solidFill>
                            <a:srgbClr val="333333"/>
                          </a:solidFill>
                        </a:rPr>
                        <a:t>81 %</a:t>
                      </a:r>
                    </a:p>
                  </a:txBody>
                  <a:tcPr>
                    <a:solidFill>
                      <a:srgbClr val="DCFCE7"/>
                    </a:solidFill>
                  </a:tcPr>
                </a:tc>
                <a:tc>
                  <a:txBody>
                    <a:bodyPr/>
                    <a:lstStyle/>
                    <a:p>
                      <a:r>
                        <a:rPr sz="1100">
                          <a:solidFill>
                            <a:srgbClr val="333333"/>
                          </a:solidFill>
                        </a:rPr>
                        <a:t>2× better</a:t>
                      </a:r>
                    </a:p>
                  </a:txBody>
                  <a:tcPr>
                    <a:solidFill>
                      <a:srgbClr val="DCFCE7"/>
                    </a:solidFill>
                  </a:tcPr>
                </a:tc>
              </a:tr>
              <a:tr h="396240">
                <a:tc>
                  <a:txBody>
                    <a:bodyPr/>
                    <a:lstStyle/>
                    <a:p>
                      <a:r>
                        <a:rPr sz="1100" b="1">
                          <a:solidFill>
                            <a:srgbClr val="333333"/>
                          </a:solidFill>
                        </a:rPr>
                        <a:t>Fabricated claims</a:t>
                      </a:r>
                    </a:p>
                  </a:txBody>
                  <a:tcPr>
                    <a:solidFill>
                      <a:srgbClr val="F5F5F5"/>
                    </a:solidFill>
                  </a:tcPr>
                </a:tc>
                <a:tc>
                  <a:txBody>
                    <a:bodyPr/>
                    <a:lstStyle/>
                    <a:p>
                      <a:r>
                        <a:rPr sz="1100">
                          <a:solidFill>
                            <a:srgbClr val="333333"/>
                          </a:solidFill>
                        </a:rPr>
                        <a:t>many</a:t>
                      </a:r>
                    </a:p>
                  </a:txBody>
                  <a:tcPr>
                    <a:solidFill>
                      <a:srgbClr val="F5F5F5"/>
                    </a:solidFill>
                  </a:tcPr>
                </a:tc>
                <a:tc>
                  <a:txBody>
                    <a:bodyPr/>
                    <a:lstStyle/>
                    <a:p>
                      <a:r>
                        <a:rPr sz="1100">
                          <a:solidFill>
                            <a:srgbClr val="333333"/>
                          </a:solidFill>
                        </a:rPr>
                        <a:t>0</a:t>
                      </a:r>
                    </a:p>
                  </a:txBody>
                  <a:tcPr>
                    <a:solidFill>
                      <a:srgbClr val="F5F5F5"/>
                    </a:solidFill>
                  </a:tcPr>
                </a:tc>
                <a:tc>
                  <a:txBody>
                    <a:bodyPr/>
                    <a:lstStyle/>
                    <a:p>
                      <a:r>
                        <a:rPr sz="1100">
                          <a:solidFill>
                            <a:srgbClr val="333333"/>
                          </a:solidFill>
                        </a:rPr>
                        <a:t>eliminated</a:t>
                      </a:r>
                    </a:p>
                  </a:txBody>
                  <a:tcPr>
                    <a:solidFill>
                      <a:srgbClr val="F5F5F5"/>
                    </a:solidFill>
                  </a:tcPr>
                </a:tc>
              </a:tr>
              <a:tr h="396240">
                <a:tc>
                  <a:txBody>
                    <a:bodyPr/>
                    <a:lstStyle/>
                    <a:p>
                      <a:r>
                        <a:rPr sz="1100" b="1">
                          <a:solidFill>
                            <a:srgbClr val="333333"/>
                          </a:solidFill>
                        </a:rPr>
                        <a:t>Latency / image (warm)</a:t>
                      </a:r>
                    </a:p>
                  </a:txBody>
                  <a:tcPr>
                    <a:solidFill>
                      <a:srgbClr val="FFFFFF"/>
                    </a:solidFill>
                  </a:tcPr>
                </a:tc>
                <a:tc>
                  <a:txBody>
                    <a:bodyPr/>
                    <a:lstStyle/>
                    <a:p>
                      <a:r>
                        <a:rPr sz="1100">
                          <a:solidFill>
                            <a:srgbClr val="333333"/>
                          </a:solidFill>
                        </a:rPr>
                        <a:t>~5 s</a:t>
                      </a:r>
                    </a:p>
                  </a:txBody>
                  <a:tcPr>
                    <a:solidFill>
                      <a:srgbClr val="FFFFFF"/>
                    </a:solidFill>
                  </a:tcPr>
                </a:tc>
                <a:tc>
                  <a:txBody>
                    <a:bodyPr/>
                    <a:lstStyle/>
                    <a:p>
                      <a:r>
                        <a:rPr sz="1100">
                          <a:solidFill>
                            <a:srgbClr val="333333"/>
                          </a:solidFill>
                        </a:rPr>
                        <a:t>~15 s</a:t>
                      </a:r>
                    </a:p>
                  </a:txBody>
                  <a:tcPr>
                    <a:solidFill>
                      <a:srgbClr val="FFFFFF"/>
                    </a:solidFill>
                  </a:tcPr>
                </a:tc>
                <a:tc>
                  <a:txBody>
                    <a:bodyPr/>
                    <a:lstStyle/>
                    <a:p>
                      <a:r>
                        <a:rPr sz="1100">
                          <a:solidFill>
                            <a:srgbClr val="333333"/>
                          </a:solidFill>
                        </a:rPr>
                        <a:t>3× (accepted)</a:t>
                      </a:r>
                    </a:p>
                  </a:txBody>
                  <a:tcPr>
                    <a:solidFill>
                      <a:srgbClr val="FFFFFF"/>
                    </a:solidFill>
                  </a:tcPr>
                </a:tc>
              </a:tr>
            </a:tbl>
          </a:graphicData>
        </a:graphic>
      </p:graphicFrame>
      <p:sp>
        <p:nvSpPr>
          <p:cNvPr id="31" name="TextBox 3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2" name="TextBox 3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14 / 25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Trust-Score  —  End-to-End Evaluation</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On the 200-post gold set, does the trust filter catch bad posts?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3657600" cy="1737360"/>
          </a:xfrm>
          <a:prstGeom prst="rect">
            <a:avLst/>
          </a:prstGeom>
          <a:solidFill>
            <a:srgbClr val="FEF3C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097280"/>
            <a:ext cx="3657600" cy="320040"/>
          </a:xfrm>
          <a:prstGeom prst="rect">
            <a:avLst/>
          </a:prstGeom>
          <a:noFill/>
        </p:spPr>
        <p:txBody>
          <a:bodyPr wrap="square" anchor="t">
            <a:spAutoFit/>
          </a:bodyPr>
          <a:lstStyle/>
          <a:p>
            <a:pPr algn="ctr"/>
            <a:r>
              <a:rPr sz="1100" b="1">
                <a:solidFill>
                  <a:srgbClr val="666666"/>
                </a:solidFill>
              </a:rPr>
              <a:t>Low-trust share  (T &lt; 0.4)</a:t>
            </a:r>
          </a:p>
        </p:txBody>
      </p:sp>
      <p:sp>
        <p:nvSpPr>
          <p:cNvPr id="8" name="TextBox 7"/>
          <p:cNvSpPr txBox="1"/>
          <p:nvPr/>
        </p:nvSpPr>
        <p:spPr>
          <a:xfrm>
            <a:off x="457200" y="1463040"/>
            <a:ext cx="3657600" cy="1097280"/>
          </a:xfrm>
          <a:prstGeom prst="rect">
            <a:avLst/>
          </a:prstGeom>
          <a:noFill/>
        </p:spPr>
        <p:txBody>
          <a:bodyPr wrap="square" anchor="ctr">
            <a:spAutoFit/>
          </a:bodyPr>
          <a:lstStyle/>
          <a:p>
            <a:pPr algn="ctr"/>
            <a:r>
              <a:rPr sz="3800" b="1">
                <a:solidFill>
                  <a:srgbClr val="D97706"/>
                </a:solidFill>
              </a:rPr>
              <a:t>15 %</a:t>
            </a:r>
          </a:p>
        </p:txBody>
      </p:sp>
      <p:sp>
        <p:nvSpPr>
          <p:cNvPr id="9" name="Rectangle 8"/>
          <p:cNvSpPr/>
          <p:nvPr/>
        </p:nvSpPr>
        <p:spPr>
          <a:xfrm>
            <a:off x="4251960" y="960120"/>
            <a:ext cx="3657600" cy="173736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51960" y="1097280"/>
            <a:ext cx="3657600" cy="320040"/>
          </a:xfrm>
          <a:prstGeom prst="rect">
            <a:avLst/>
          </a:prstGeom>
          <a:noFill/>
        </p:spPr>
        <p:txBody>
          <a:bodyPr wrap="square" anchor="t">
            <a:spAutoFit/>
          </a:bodyPr>
          <a:lstStyle/>
          <a:p>
            <a:pPr algn="ctr"/>
            <a:r>
              <a:rPr sz="1100" b="1">
                <a:solidFill>
                  <a:srgbClr val="666666"/>
                </a:solidFill>
              </a:rPr>
              <a:t>Human-agreed  (annotator cross-check)</a:t>
            </a:r>
          </a:p>
        </p:txBody>
      </p:sp>
      <p:sp>
        <p:nvSpPr>
          <p:cNvPr id="11" name="TextBox 10"/>
          <p:cNvSpPr txBox="1"/>
          <p:nvPr/>
        </p:nvSpPr>
        <p:spPr>
          <a:xfrm>
            <a:off x="4251960" y="1463040"/>
            <a:ext cx="3657600" cy="1097280"/>
          </a:xfrm>
          <a:prstGeom prst="rect">
            <a:avLst/>
          </a:prstGeom>
          <a:noFill/>
        </p:spPr>
        <p:txBody>
          <a:bodyPr wrap="square" anchor="ctr">
            <a:spAutoFit/>
          </a:bodyPr>
          <a:lstStyle/>
          <a:p>
            <a:pPr algn="ctr"/>
            <a:r>
              <a:rPr sz="3800" b="1">
                <a:solidFill>
                  <a:srgbClr val="10B981"/>
                </a:solidFill>
              </a:rPr>
              <a:t>12 / 15</a:t>
            </a:r>
          </a:p>
        </p:txBody>
      </p:sp>
      <p:sp>
        <p:nvSpPr>
          <p:cNvPr id="12" name="Rectangle 11"/>
          <p:cNvSpPr/>
          <p:nvPr/>
        </p:nvSpPr>
        <p:spPr>
          <a:xfrm>
            <a:off x="8046720" y="960120"/>
            <a:ext cx="3657600" cy="17373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1097280"/>
            <a:ext cx="3657600" cy="320040"/>
          </a:xfrm>
          <a:prstGeom prst="rect">
            <a:avLst/>
          </a:prstGeom>
          <a:noFill/>
        </p:spPr>
        <p:txBody>
          <a:bodyPr wrap="square" anchor="t">
            <a:spAutoFit/>
          </a:bodyPr>
          <a:lstStyle/>
          <a:p>
            <a:pPr algn="ctr"/>
            <a:r>
              <a:rPr sz="1100" b="1">
                <a:solidFill>
                  <a:srgbClr val="666666"/>
                </a:solidFill>
              </a:rPr>
              <a:t>Agreement rate</a:t>
            </a:r>
          </a:p>
        </p:txBody>
      </p:sp>
      <p:sp>
        <p:nvSpPr>
          <p:cNvPr id="14" name="TextBox 13"/>
          <p:cNvSpPr txBox="1"/>
          <p:nvPr/>
        </p:nvSpPr>
        <p:spPr>
          <a:xfrm>
            <a:off x="8046720" y="1463040"/>
            <a:ext cx="3657600" cy="1097280"/>
          </a:xfrm>
          <a:prstGeom prst="rect">
            <a:avLst/>
          </a:prstGeom>
          <a:noFill/>
        </p:spPr>
        <p:txBody>
          <a:bodyPr wrap="square" anchor="ctr">
            <a:spAutoFit/>
          </a:bodyPr>
          <a:lstStyle/>
          <a:p>
            <a:pPr algn="ctr"/>
            <a:r>
              <a:rPr sz="3800" b="1">
                <a:solidFill>
                  <a:srgbClr val="0071DC"/>
                </a:solidFill>
              </a:rPr>
              <a:t>80 %</a:t>
            </a:r>
          </a:p>
        </p:txBody>
      </p:sp>
      <p:sp>
        <p:nvSpPr>
          <p:cNvPr id="15" name="TextBox 14"/>
          <p:cNvSpPr txBox="1"/>
          <p:nvPr/>
        </p:nvSpPr>
        <p:spPr>
          <a:xfrm>
            <a:off x="457200" y="2880360"/>
            <a:ext cx="11247120" cy="320040"/>
          </a:xfrm>
          <a:prstGeom prst="rect">
            <a:avLst/>
          </a:prstGeom>
          <a:noFill/>
        </p:spPr>
        <p:txBody>
          <a:bodyPr wrap="square" anchor="t">
            <a:spAutoFit/>
          </a:bodyPr>
          <a:lstStyle/>
          <a:p>
            <a:pPr algn="l"/>
            <a:r>
              <a:rPr sz="1300" b="1">
                <a:solidFill>
                  <a:srgbClr val="041E42"/>
                </a:solidFill>
              </a:rPr>
              <a:t>Weighted formula  (decomposition shown inline in dashboard)</a:t>
            </a:r>
          </a:p>
        </p:txBody>
      </p:sp>
      <p:sp>
        <p:nvSpPr>
          <p:cNvPr id="16" name="Rectangle 15"/>
          <p:cNvSpPr/>
          <p:nvPr/>
        </p:nvSpPr>
        <p:spPr>
          <a:xfrm>
            <a:off x="457200" y="3246120"/>
            <a:ext cx="11247120" cy="7772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383280"/>
            <a:ext cx="10972800" cy="502920"/>
          </a:xfrm>
          <a:prstGeom prst="rect">
            <a:avLst/>
          </a:prstGeom>
          <a:noFill/>
        </p:spPr>
        <p:txBody>
          <a:bodyPr wrap="square" anchor="ctr">
            <a:spAutoFit/>
          </a:bodyPr>
          <a:lstStyle/>
          <a:p>
            <a:pPr algn="ctr"/>
            <a:r>
              <a:rPr sz="1800" b="1">
                <a:solidFill>
                  <a:srgbClr val="041E42"/>
                </a:solidFill>
              </a:rPr>
              <a:t>trust_score  =  0.4 × metadata  +  0.3 × dedup  +  0.3 × llm_credibility</a:t>
            </a:r>
          </a:p>
        </p:txBody>
      </p:sp>
      <p:sp>
        <p:nvSpPr>
          <p:cNvPr id="18" name="Rectangle 17"/>
          <p:cNvSpPr/>
          <p:nvPr/>
        </p:nvSpPr>
        <p:spPr>
          <a:xfrm>
            <a:off x="457200" y="4251960"/>
            <a:ext cx="11247120" cy="196596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4389120"/>
            <a:ext cx="10972800" cy="320040"/>
          </a:xfrm>
          <a:prstGeom prst="rect">
            <a:avLst/>
          </a:prstGeom>
          <a:noFill/>
        </p:spPr>
        <p:txBody>
          <a:bodyPr wrap="square" anchor="t">
            <a:spAutoFit/>
          </a:bodyPr>
          <a:lstStyle/>
          <a:p>
            <a:pPr algn="l"/>
            <a:r>
              <a:rPr sz="1300" b="1">
                <a:solidFill>
                  <a:srgbClr val="10B981"/>
                </a:solidFill>
              </a:rPr>
              <a:t>Design principle — flag, don't drop</a:t>
            </a:r>
          </a:p>
        </p:txBody>
      </p:sp>
      <p:sp>
        <p:nvSpPr>
          <p:cNvPr id="20" name="TextBox 19"/>
          <p:cNvSpPr txBox="1"/>
          <p:nvPr/>
        </p:nvSpPr>
        <p:spPr>
          <a:xfrm>
            <a:off x="640080" y="4709160"/>
            <a:ext cx="10972800" cy="1463040"/>
          </a:xfrm>
          <a:prstGeom prst="rect">
            <a:avLst/>
          </a:prstGeom>
          <a:noFill/>
        </p:spPr>
        <p:txBody>
          <a:bodyPr wrap="square" anchor="t">
            <a:spAutoFit/>
          </a:bodyPr>
          <a:lstStyle/>
          <a:p>
            <a:pPr algn="l"/>
            <a:r>
              <a:rPr sz="1200" b="0">
                <a:solidFill>
                  <a:srgbClr val="333333"/>
                </a:solidFill>
              </a:rPr>
              <a:t>Low-trust posts are surfaced with an explanatory chip ("promotional / duplicate / thin-metadata") and can be overridden by an analyst in one click — the override is captured for the learning loop. Every constant in the formula has a stakeholder-arguable English rationale in config/models.yaml.</a:t>
            </a:r>
          </a:p>
        </p:txBody>
      </p:sp>
      <p:sp>
        <p:nvSpPr>
          <p:cNvPr id="21" name="TextBox 2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2" name="TextBox 2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15 / 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Storage  —  SQLite → Cosmos DB Lift-and-Shift</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Same schema, same partition keys, no calling-code change</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457200" y="960120"/>
          <a:ext cx="11247120" cy="3108960"/>
        </p:xfrm>
        <a:graphic>
          <a:graphicData uri="http://schemas.openxmlformats.org/drawingml/2006/table">
            <a:tbl>
              <a:tblPr firstRow="1" bandRow="1">
                <a:tableStyleId>{5C22544A-7EE6-4342-B048-85BDC9FD1C3A}</a:tableStyleId>
              </a:tblPr>
              <a:tblGrid>
                <a:gridCol w="2811780"/>
                <a:gridCol w="2811780"/>
                <a:gridCol w="2811780"/>
                <a:gridCol w="2811780"/>
              </a:tblGrid>
              <a:tr h="444137">
                <a:tc>
                  <a:txBody>
                    <a:bodyPr/>
                    <a:lstStyle/>
                    <a:p>
                      <a:r>
                        <a:rPr sz="1000" b="1">
                          <a:solidFill>
                            <a:srgbClr val="FFFFFF"/>
                          </a:solidFill>
                        </a:rPr>
                        <a:t>Container</a:t>
                      </a:r>
                    </a:p>
                  </a:txBody>
                  <a:tcPr>
                    <a:solidFill>
                      <a:srgbClr val="041E42"/>
                    </a:solidFill>
                  </a:tcPr>
                </a:tc>
                <a:tc>
                  <a:txBody>
                    <a:bodyPr/>
                    <a:lstStyle/>
                    <a:p>
                      <a:r>
                        <a:rPr sz="1000" b="1">
                          <a:solidFill>
                            <a:srgbClr val="FFFFFF"/>
                          </a:solidFill>
                        </a:rPr>
                        <a:t>Partition Key</a:t>
                      </a:r>
                    </a:p>
                  </a:txBody>
                  <a:tcPr>
                    <a:solidFill>
                      <a:srgbClr val="041E42"/>
                    </a:solidFill>
                  </a:tcPr>
                </a:tc>
                <a:tc>
                  <a:txBody>
                    <a:bodyPr/>
                    <a:lstStyle/>
                    <a:p>
                      <a:r>
                        <a:rPr sz="1000" b="1">
                          <a:solidFill>
                            <a:srgbClr val="FFFFFF"/>
                          </a:solidFill>
                        </a:rPr>
                        <a:t>Key Fields</a:t>
                      </a:r>
                    </a:p>
                  </a:txBody>
                  <a:tcPr>
                    <a:solidFill>
                      <a:srgbClr val="041E42"/>
                    </a:solidFill>
                  </a:tcPr>
                </a:tc>
                <a:tc>
                  <a:txBody>
                    <a:bodyPr/>
                    <a:lstStyle/>
                    <a:p>
                      <a:r>
                        <a:rPr sz="1000" b="1">
                          <a:solidFill>
                            <a:srgbClr val="FFFFFF"/>
                          </a:solidFill>
                        </a:rPr>
                        <a:t>Purpose</a:t>
                      </a:r>
                    </a:p>
                  </a:txBody>
                  <a:tcPr>
                    <a:solidFill>
                      <a:srgbClr val="041E42"/>
                    </a:solidFill>
                  </a:tcPr>
                </a:tc>
              </a:tr>
              <a:tr h="444137">
                <a:tc>
                  <a:txBody>
                    <a:bodyPr/>
                    <a:lstStyle/>
                    <a:p>
                      <a:r>
                        <a:rPr sz="1000" b="1">
                          <a:solidFill>
                            <a:srgbClr val="333333"/>
                          </a:solidFill>
                        </a:rPr>
                        <a:t>raw_posts</a:t>
                      </a:r>
                    </a:p>
                  </a:txBody>
                  <a:tcPr>
                    <a:solidFill>
                      <a:srgbClr val="FFFFFF"/>
                    </a:solidFill>
                  </a:tcPr>
                </a:tc>
                <a:tc>
                  <a:txBody>
                    <a:bodyPr/>
                    <a:lstStyle/>
                    <a:p>
                      <a:r>
                        <a:rPr sz="1000">
                          <a:solidFill>
                            <a:srgbClr val="333333"/>
                          </a:solidFill>
                        </a:rPr>
                        <a:t>/subreddit</a:t>
                      </a:r>
                    </a:p>
                  </a:txBody>
                  <a:tcPr>
                    <a:solidFill>
                      <a:srgbClr val="FFFFFF"/>
                    </a:solidFill>
                  </a:tcPr>
                </a:tc>
                <a:tc>
                  <a:txBody>
                    <a:bodyPr/>
                    <a:lstStyle/>
                    <a:p>
                      <a:r>
                        <a:rPr sz="1000">
                          <a:solidFill>
                            <a:srgbClr val="333333"/>
                          </a:solidFill>
                        </a:rPr>
                        <a:t>id, title, body, author_hash, created_utc</a:t>
                      </a:r>
                    </a:p>
                  </a:txBody>
                  <a:tcPr>
                    <a:solidFill>
                      <a:srgbClr val="FFFFFF"/>
                    </a:solidFill>
                  </a:tcPr>
                </a:tc>
                <a:tc>
                  <a:txBody>
                    <a:bodyPr/>
                    <a:lstStyle/>
                    <a:p>
                      <a:r>
                        <a:rPr sz="1000">
                          <a:solidFill>
                            <a:srgbClr val="333333"/>
                          </a:solidFill>
                        </a:rPr>
                        <a:t>Ingested (privacy-safe)</a:t>
                      </a:r>
                    </a:p>
                  </a:txBody>
                  <a:tcPr>
                    <a:solidFill>
                      <a:srgbClr val="FFFFFF"/>
                    </a:solidFill>
                  </a:tcPr>
                </a:tc>
              </a:tr>
              <a:tr h="444137">
                <a:tc>
                  <a:txBody>
                    <a:bodyPr/>
                    <a:lstStyle/>
                    <a:p>
                      <a:r>
                        <a:rPr sz="1000" b="1">
                          <a:solidFill>
                            <a:srgbClr val="333333"/>
                          </a:solidFill>
                        </a:rPr>
                        <a:t>analyses</a:t>
                      </a:r>
                    </a:p>
                  </a:txBody>
                  <a:tcPr>
                    <a:solidFill>
                      <a:srgbClr val="F5F5F5"/>
                    </a:solidFill>
                  </a:tcPr>
                </a:tc>
                <a:tc>
                  <a:txBody>
                    <a:bodyPr/>
                    <a:lstStyle/>
                    <a:p>
                      <a:r>
                        <a:rPr sz="1000">
                          <a:solidFill>
                            <a:srgbClr val="333333"/>
                          </a:solidFill>
                        </a:rPr>
                        <a:t>/subreddit</a:t>
                      </a:r>
                    </a:p>
                  </a:txBody>
                  <a:tcPr>
                    <a:solidFill>
                      <a:srgbClr val="F5F5F5"/>
                    </a:solidFill>
                  </a:tcPr>
                </a:tc>
                <a:tc>
                  <a:txBody>
                    <a:bodyPr/>
                    <a:lstStyle/>
                    <a:p>
                      <a:r>
                        <a:rPr sz="1000">
                          <a:solidFill>
                            <a:srgbClr val="333333"/>
                          </a:solidFill>
                        </a:rPr>
                        <a:t>post_id, sentiment, confidence, aspects, trust</a:t>
                      </a:r>
                    </a:p>
                  </a:txBody>
                  <a:tcPr>
                    <a:solidFill>
                      <a:srgbClr val="F5F5F5"/>
                    </a:solidFill>
                  </a:tcPr>
                </a:tc>
                <a:tc>
                  <a:txBody>
                    <a:bodyPr/>
                    <a:lstStyle/>
                    <a:p>
                      <a:r>
                        <a:rPr sz="1000">
                          <a:solidFill>
                            <a:srgbClr val="333333"/>
                          </a:solidFill>
                        </a:rPr>
                        <a:t>AI analysis results</a:t>
                      </a:r>
                    </a:p>
                  </a:txBody>
                  <a:tcPr>
                    <a:solidFill>
                      <a:srgbClr val="F5F5F5"/>
                    </a:solidFill>
                  </a:tcPr>
                </a:tc>
              </a:tr>
              <a:tr h="444137">
                <a:tc>
                  <a:txBody>
                    <a:bodyPr/>
                    <a:lstStyle/>
                    <a:p>
                      <a:r>
                        <a:rPr sz="1000" b="1">
                          <a:solidFill>
                            <a:srgbClr val="333333"/>
                          </a:solidFill>
                        </a:rPr>
                        <a:t>aggregates</a:t>
                      </a:r>
                    </a:p>
                  </a:txBody>
                  <a:tcPr>
                    <a:solidFill>
                      <a:srgbClr val="FFFFFF"/>
                    </a:solidFill>
                  </a:tcPr>
                </a:tc>
                <a:tc>
                  <a:txBody>
                    <a:bodyPr/>
                    <a:lstStyle/>
                    <a:p>
                      <a:r>
                        <a:rPr sz="1000">
                          <a:solidFill>
                            <a:srgbClr val="333333"/>
                          </a:solidFill>
                        </a:rPr>
                        <a:t>/time_window</a:t>
                      </a:r>
                    </a:p>
                  </a:txBody>
                  <a:tcPr>
                    <a:solidFill>
                      <a:srgbClr val="FFFFFF"/>
                    </a:solidFill>
                  </a:tcPr>
                </a:tc>
                <a:tc>
                  <a:txBody>
                    <a:bodyPr/>
                    <a:lstStyle/>
                    <a:p>
                      <a:r>
                        <a:rPr sz="1000">
                          <a:solidFill>
                            <a:srgbClr val="333333"/>
                          </a:solidFill>
                        </a:rPr>
                        <a:t>subreddit, window, metrics_json</a:t>
                      </a:r>
                    </a:p>
                  </a:txBody>
                  <a:tcPr>
                    <a:solidFill>
                      <a:srgbClr val="FFFFFF"/>
                    </a:solidFill>
                  </a:tcPr>
                </a:tc>
                <a:tc>
                  <a:txBody>
                    <a:bodyPr/>
                    <a:lstStyle/>
                    <a:p>
                      <a:r>
                        <a:rPr sz="1000">
                          <a:solidFill>
                            <a:srgbClr val="333333"/>
                          </a:solidFill>
                        </a:rPr>
                        <a:t>Pre-computed KPIs</a:t>
                      </a:r>
                    </a:p>
                  </a:txBody>
                  <a:tcPr>
                    <a:solidFill>
                      <a:srgbClr val="FFFFFF"/>
                    </a:solidFill>
                  </a:tcPr>
                </a:tc>
              </a:tr>
              <a:tr h="444137">
                <a:tc>
                  <a:txBody>
                    <a:bodyPr/>
                    <a:lstStyle/>
                    <a:p>
                      <a:r>
                        <a:rPr sz="1000" b="1">
                          <a:solidFill>
                            <a:srgbClr val="333333"/>
                          </a:solidFill>
                        </a:rPr>
                        <a:t>alerts</a:t>
                      </a:r>
                    </a:p>
                  </a:txBody>
                  <a:tcPr>
                    <a:solidFill>
                      <a:srgbClr val="F5F5F5"/>
                    </a:solidFill>
                  </a:tcPr>
                </a:tc>
                <a:tc>
                  <a:txBody>
                    <a:bodyPr/>
                    <a:lstStyle/>
                    <a:p>
                      <a:r>
                        <a:rPr sz="1000">
                          <a:solidFill>
                            <a:srgbClr val="333333"/>
                          </a:solidFill>
                        </a:rPr>
                        <a:t>/severity</a:t>
                      </a:r>
                    </a:p>
                  </a:txBody>
                  <a:tcPr>
                    <a:solidFill>
                      <a:srgbClr val="F5F5F5"/>
                    </a:solidFill>
                  </a:tcPr>
                </a:tc>
                <a:tc>
                  <a:txBody>
                    <a:bodyPr/>
                    <a:lstStyle/>
                    <a:p>
                      <a:r>
                        <a:rPr sz="1000">
                          <a:solidFill>
                            <a:srgbClr val="333333"/>
                          </a:solidFill>
                        </a:rPr>
                        <a:t>type, aspect, threshold_breached</a:t>
                      </a:r>
                    </a:p>
                  </a:txBody>
                  <a:tcPr>
                    <a:solidFill>
                      <a:srgbClr val="F5F5F5"/>
                    </a:solidFill>
                  </a:tcPr>
                </a:tc>
                <a:tc>
                  <a:txBody>
                    <a:bodyPr/>
                    <a:lstStyle/>
                    <a:p>
                      <a:r>
                        <a:rPr sz="1000">
                          <a:solidFill>
                            <a:srgbClr val="333333"/>
                          </a:solidFill>
                        </a:rPr>
                        <a:t>Triggered anomalies</a:t>
                      </a:r>
                    </a:p>
                  </a:txBody>
                  <a:tcPr>
                    <a:solidFill>
                      <a:srgbClr val="F5F5F5"/>
                    </a:solidFill>
                  </a:tcPr>
                </a:tc>
              </a:tr>
              <a:tr h="444137">
                <a:tc>
                  <a:txBody>
                    <a:bodyPr/>
                    <a:lstStyle/>
                    <a:p>
                      <a:r>
                        <a:rPr sz="1000" b="1">
                          <a:solidFill>
                            <a:srgbClr val="333333"/>
                          </a:solidFill>
                        </a:rPr>
                        <a:t>feedback</a:t>
                      </a:r>
                    </a:p>
                  </a:txBody>
                  <a:tcPr>
                    <a:solidFill>
                      <a:srgbClr val="FFFFFF"/>
                    </a:solidFill>
                  </a:tcPr>
                </a:tc>
                <a:tc>
                  <a:txBody>
                    <a:bodyPr/>
                    <a:lstStyle/>
                    <a:p>
                      <a:r>
                        <a:rPr sz="1000">
                          <a:solidFill>
                            <a:srgbClr val="333333"/>
                          </a:solidFill>
                        </a:rPr>
                        <a:t>/analyst_id</a:t>
                      </a:r>
                    </a:p>
                  </a:txBody>
                  <a:tcPr>
                    <a:solidFill>
                      <a:srgbClr val="FFFFFF"/>
                    </a:solidFill>
                  </a:tcPr>
                </a:tc>
                <a:tc>
                  <a:txBody>
                    <a:bodyPr/>
                    <a:lstStyle/>
                    <a:p>
                      <a:r>
                        <a:rPr sz="1000">
                          <a:solidFill>
                            <a:srgbClr val="333333"/>
                          </a:solidFill>
                        </a:rPr>
                        <a:t>post_id, correction, reply_text</a:t>
                      </a:r>
                    </a:p>
                  </a:txBody>
                  <a:tcPr>
                    <a:solidFill>
                      <a:srgbClr val="FFFFFF"/>
                    </a:solidFill>
                  </a:tcPr>
                </a:tc>
                <a:tc>
                  <a:txBody>
                    <a:bodyPr/>
                    <a:lstStyle/>
                    <a:p>
                      <a:r>
                        <a:rPr sz="1000">
                          <a:solidFill>
                            <a:srgbClr val="333333"/>
                          </a:solidFill>
                        </a:rPr>
                        <a:t>HITL corrections + replies</a:t>
                      </a:r>
                    </a:p>
                  </a:txBody>
                  <a:tcPr>
                    <a:solidFill>
                      <a:srgbClr val="FFFFFF"/>
                    </a:solidFill>
                  </a:tcPr>
                </a:tc>
              </a:tr>
              <a:tr h="444138">
                <a:tc>
                  <a:txBody>
                    <a:bodyPr/>
                    <a:lstStyle/>
                    <a:p>
                      <a:r>
                        <a:rPr sz="1000" b="1">
                          <a:solidFill>
                            <a:srgbClr val="333333"/>
                          </a:solidFill>
                        </a:rPr>
                        <a:t>notification_log</a:t>
                      </a:r>
                    </a:p>
                  </a:txBody>
                  <a:tcPr>
                    <a:solidFill>
                      <a:srgbClr val="F5F5F5"/>
                    </a:solidFill>
                  </a:tcPr>
                </a:tc>
                <a:tc>
                  <a:txBody>
                    <a:bodyPr/>
                    <a:lstStyle/>
                    <a:p>
                      <a:r>
                        <a:rPr sz="1000">
                          <a:solidFill>
                            <a:srgbClr val="333333"/>
                          </a:solidFill>
                        </a:rPr>
                        <a:t>/group_id</a:t>
                      </a:r>
                    </a:p>
                  </a:txBody>
                  <a:tcPr>
                    <a:solidFill>
                      <a:srgbClr val="F5F5F5"/>
                    </a:solidFill>
                  </a:tcPr>
                </a:tc>
                <a:tc>
                  <a:txBody>
                    <a:bodyPr/>
                    <a:lstStyle/>
                    <a:p>
                      <a:r>
                        <a:rPr sz="1000">
                          <a:solidFill>
                            <a:srgbClr val="333333"/>
                          </a:solidFill>
                        </a:rPr>
                        <a:t>post_id, channel, status, sent_at</a:t>
                      </a:r>
                    </a:p>
                  </a:txBody>
                  <a:tcPr>
                    <a:solidFill>
                      <a:srgbClr val="F5F5F5"/>
                    </a:solidFill>
                  </a:tcPr>
                </a:tc>
                <a:tc>
                  <a:txBody>
                    <a:bodyPr/>
                    <a:lstStyle/>
                    <a:p>
                      <a:r>
                        <a:rPr sz="1000">
                          <a:solidFill>
                            <a:srgbClr val="333333"/>
                          </a:solidFill>
                        </a:rPr>
                        <a:t>Delivery audit trail</a:t>
                      </a:r>
                    </a:p>
                  </a:txBody>
                  <a:tcPr>
                    <a:solidFill>
                      <a:srgbClr val="F5F5F5"/>
                    </a:solidFill>
                  </a:tcPr>
                </a:tc>
              </a:tr>
            </a:tbl>
          </a:graphicData>
        </a:graphic>
      </p:graphicFrame>
      <p:sp>
        <p:nvSpPr>
          <p:cNvPr id="7" name="Rectangle 6"/>
          <p:cNvSpPr/>
          <p:nvPr/>
        </p:nvSpPr>
        <p:spPr>
          <a:xfrm>
            <a:off x="457200" y="4206240"/>
            <a:ext cx="5486400" cy="21031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343400"/>
            <a:ext cx="5120640" cy="320040"/>
          </a:xfrm>
          <a:prstGeom prst="rect">
            <a:avLst/>
          </a:prstGeom>
          <a:noFill/>
        </p:spPr>
        <p:txBody>
          <a:bodyPr wrap="square" anchor="t">
            <a:spAutoFit/>
          </a:bodyPr>
          <a:lstStyle/>
          <a:p>
            <a:pPr algn="l"/>
            <a:r>
              <a:rPr sz="1200" b="1">
                <a:solidFill>
                  <a:srgbClr val="0071DC"/>
                </a:solidFill>
              </a:rPr>
              <a:t>Design choices</a:t>
            </a:r>
          </a:p>
        </p:txBody>
      </p:sp>
      <p:sp>
        <p:nvSpPr>
          <p:cNvPr id="9" name="TextBox 8"/>
          <p:cNvSpPr txBox="1"/>
          <p:nvPr/>
        </p:nvSpPr>
        <p:spPr>
          <a:xfrm>
            <a:off x="640080" y="4663440"/>
            <a:ext cx="5120640" cy="1554480"/>
          </a:xfrm>
          <a:prstGeom prst="rect">
            <a:avLst/>
          </a:prstGeom>
          <a:noFill/>
        </p:spPr>
        <p:txBody>
          <a:bodyPr wrap="square">
            <a:spAutoFit/>
          </a:bodyPr>
          <a:lstStyle/>
          <a:p>
            <a:pPr>
              <a:spcAft>
                <a:spcPts val="400"/>
              </a:spcAft>
            </a:pPr>
            <a:r>
              <a:rPr sz="1100" b="0">
                <a:solidFill>
                  <a:srgbClr val="333333"/>
                </a:solidFill>
              </a:rPr>
              <a:t>•  SQLite in WAL mode for hot dev data</a:t>
            </a:r>
          </a:p>
          <a:p>
            <a:pPr>
              <a:spcAft>
                <a:spcPts val="400"/>
              </a:spcAft>
            </a:pPr>
            <a:r>
              <a:rPr sz="1100" b="0">
                <a:solidFill>
                  <a:srgbClr val="333333"/>
                </a:solidFill>
              </a:rPr>
              <a:t>•  data JSON column mirrors Cosmos doc</a:t>
            </a:r>
          </a:p>
          <a:p>
            <a:pPr>
              <a:spcAft>
                <a:spcPts val="400"/>
              </a:spcAft>
            </a:pPr>
            <a:r>
              <a:rPr sz="1100" b="0">
                <a:solidFill>
                  <a:srgbClr val="333333"/>
                </a:solidFill>
              </a:rPr>
              <a:t>•  Pluggable StorageBackend interface</a:t>
            </a:r>
          </a:p>
          <a:p>
            <a:pPr>
              <a:spcAft>
                <a:spcPts val="400"/>
              </a:spcAft>
            </a:pPr>
            <a:r>
              <a:rPr sz="1100" b="0">
                <a:solidFill>
                  <a:srgbClr val="333333"/>
                </a:solidFill>
              </a:rPr>
              <a:t>•  Nightly backup + JSONL cost ledger</a:t>
            </a:r>
          </a:p>
        </p:txBody>
      </p:sp>
      <p:sp>
        <p:nvSpPr>
          <p:cNvPr id="10" name="Rectangle 9"/>
          <p:cNvSpPr/>
          <p:nvPr/>
        </p:nvSpPr>
        <p:spPr>
          <a:xfrm>
            <a:off x="6172200" y="4206240"/>
            <a:ext cx="5532120" cy="210312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4343400"/>
            <a:ext cx="5212080" cy="320040"/>
          </a:xfrm>
          <a:prstGeom prst="rect">
            <a:avLst/>
          </a:prstGeom>
          <a:noFill/>
        </p:spPr>
        <p:txBody>
          <a:bodyPr wrap="square" anchor="t">
            <a:spAutoFit/>
          </a:bodyPr>
          <a:lstStyle/>
          <a:p>
            <a:pPr algn="l"/>
            <a:r>
              <a:rPr sz="1200" b="1">
                <a:solidFill>
                  <a:srgbClr val="10B981"/>
                </a:solidFill>
              </a:rPr>
              <a:t>Migration story</a:t>
            </a:r>
          </a:p>
        </p:txBody>
      </p:sp>
      <p:sp>
        <p:nvSpPr>
          <p:cNvPr id="12" name="TextBox 11"/>
          <p:cNvSpPr txBox="1"/>
          <p:nvPr/>
        </p:nvSpPr>
        <p:spPr>
          <a:xfrm>
            <a:off x="6355080" y="4663440"/>
            <a:ext cx="5212080" cy="1554480"/>
          </a:xfrm>
          <a:prstGeom prst="rect">
            <a:avLst/>
          </a:prstGeom>
          <a:noFill/>
        </p:spPr>
        <p:txBody>
          <a:bodyPr wrap="square">
            <a:spAutoFit/>
          </a:bodyPr>
          <a:lstStyle/>
          <a:p>
            <a:pPr>
              <a:spcAft>
                <a:spcPts val="400"/>
              </a:spcAft>
            </a:pPr>
            <a:r>
              <a:rPr sz="1100" b="0">
                <a:solidFill>
                  <a:srgbClr val="333333"/>
                </a:solidFill>
              </a:rPr>
              <a:t>•  Swap SQLiteBackend → CosmosBackend</a:t>
            </a:r>
          </a:p>
          <a:p>
            <a:pPr>
              <a:spcAft>
                <a:spcPts val="400"/>
              </a:spcAft>
            </a:pPr>
            <a:r>
              <a:rPr sz="1100" b="0">
                <a:solidFill>
                  <a:srgbClr val="333333"/>
                </a:solidFill>
              </a:rPr>
              <a:t>•  Same CREATE TABLE mapped to container spec</a:t>
            </a:r>
          </a:p>
          <a:p>
            <a:pPr>
              <a:spcAft>
                <a:spcPts val="400"/>
              </a:spcAft>
            </a:pPr>
            <a:r>
              <a:rPr sz="1100" b="0">
                <a:solidFill>
                  <a:srgbClr val="333333"/>
                </a:solidFill>
              </a:rPr>
              <a:t>•  Partition keys already match production</a:t>
            </a:r>
          </a:p>
          <a:p>
            <a:pPr>
              <a:spcAft>
                <a:spcPts val="400"/>
              </a:spcAft>
            </a:pPr>
            <a:r>
              <a:rPr sz="1100" b="0">
                <a:solidFill>
                  <a:srgbClr val="333333"/>
                </a:solidFill>
              </a:rPr>
              <a:t>•  Zero change to pipeline / dashboard code</a:t>
            </a:r>
          </a:p>
        </p:txBody>
      </p:sp>
      <p:sp>
        <p:nvSpPr>
          <p:cNvPr id="13" name="TextBox 12"/>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4" name="TextBox 13"/>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16 / 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Evaluation Summary  —  Post-Midsem Numbers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All results reported against the same 200-post retail-Reddit gold set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457200" y="1005840"/>
          <a:ext cx="11247120" cy="5120640"/>
        </p:xfrm>
        <a:graphic>
          <a:graphicData uri="http://schemas.openxmlformats.org/drawingml/2006/table">
            <a:tbl>
              <a:tblPr firstRow="1" bandRow="1">
                <a:tableStyleId>{5C22544A-7EE6-4342-B048-85BDC9FD1C3A}</a:tableStyleId>
              </a:tblPr>
              <a:tblGrid>
                <a:gridCol w="2811780"/>
                <a:gridCol w="2811780"/>
                <a:gridCol w="2811780"/>
                <a:gridCol w="2811780"/>
              </a:tblGrid>
              <a:tr h="426720">
                <a:tc>
                  <a:txBody>
                    <a:bodyPr/>
                    <a:lstStyle/>
                    <a:p>
                      <a:r>
                        <a:rPr sz="1000" b="1">
                          <a:solidFill>
                            <a:srgbClr val="FFFFFF"/>
                          </a:solidFill>
                        </a:rPr>
                        <a:t>Area</a:t>
                      </a:r>
                    </a:p>
                  </a:txBody>
                  <a:tcPr>
                    <a:solidFill>
                      <a:srgbClr val="041E42"/>
                    </a:solidFill>
                  </a:tcPr>
                </a:tc>
                <a:tc>
                  <a:txBody>
                    <a:bodyPr/>
                    <a:lstStyle/>
                    <a:p>
                      <a:r>
                        <a:rPr sz="1000" b="1">
                          <a:solidFill>
                            <a:srgbClr val="FFFFFF"/>
                          </a:solidFill>
                        </a:rPr>
                        <a:t>Metric</a:t>
                      </a:r>
                    </a:p>
                  </a:txBody>
                  <a:tcPr>
                    <a:solidFill>
                      <a:srgbClr val="041E42"/>
                    </a:solidFill>
                  </a:tcPr>
                </a:tc>
                <a:tc>
                  <a:txBody>
                    <a:bodyPr/>
                    <a:lstStyle/>
                    <a:p>
                      <a:r>
                        <a:rPr sz="1000" b="1">
                          <a:solidFill>
                            <a:srgbClr val="FFFFFF"/>
                          </a:solidFill>
                        </a:rPr>
                        <a:t>Value</a:t>
                      </a:r>
                    </a:p>
                  </a:txBody>
                  <a:tcPr>
                    <a:solidFill>
                      <a:srgbClr val="041E42"/>
                    </a:solidFill>
                  </a:tcPr>
                </a:tc>
                <a:tc>
                  <a:txBody>
                    <a:bodyPr/>
                    <a:lstStyle/>
                    <a:p>
                      <a:r>
                        <a:rPr sz="1000" b="1">
                          <a:solidFill>
                            <a:srgbClr val="FFFFFF"/>
                          </a:solidFill>
                        </a:rPr>
                        <a:t>Notes</a:t>
                      </a:r>
                    </a:p>
                  </a:txBody>
                  <a:tcPr>
                    <a:solidFill>
                      <a:srgbClr val="041E42"/>
                    </a:solidFill>
                  </a:tcPr>
                </a:tc>
              </a:tr>
              <a:tr h="426720">
                <a:tc>
                  <a:txBody>
                    <a:bodyPr/>
                    <a:lstStyle/>
                    <a:p>
                      <a:r>
                        <a:rPr sz="1000" b="1">
                          <a:solidFill>
                            <a:srgbClr val="333333"/>
                          </a:solidFill>
                        </a:rPr>
                        <a:t>Sentiment</a:t>
                      </a:r>
                    </a:p>
                  </a:txBody>
                  <a:tcPr>
                    <a:solidFill>
                      <a:srgbClr val="DCFCE7"/>
                    </a:solidFill>
                  </a:tcPr>
                </a:tc>
                <a:tc>
                  <a:txBody>
                    <a:bodyPr/>
                    <a:lstStyle/>
                    <a:p>
                      <a:r>
                        <a:rPr sz="1000">
                          <a:solidFill>
                            <a:srgbClr val="333333"/>
                          </a:solidFill>
                        </a:rPr>
                        <a:t>Macro-F1 (final)</a:t>
                      </a:r>
                    </a:p>
                  </a:txBody>
                  <a:tcPr>
                    <a:solidFill>
                      <a:srgbClr val="DCFCE7"/>
                    </a:solidFill>
                  </a:tcPr>
                </a:tc>
                <a:tc>
                  <a:txBody>
                    <a:bodyPr/>
                    <a:lstStyle/>
                    <a:p>
                      <a:r>
                        <a:rPr sz="1000">
                          <a:solidFill>
                            <a:srgbClr val="333333"/>
                          </a:solidFill>
                        </a:rPr>
                        <a:t>0.7642</a:t>
                      </a:r>
                    </a:p>
                  </a:txBody>
                  <a:tcPr>
                    <a:solidFill>
                      <a:srgbClr val="DCFCE7"/>
                    </a:solidFill>
                  </a:tcPr>
                </a:tc>
                <a:tc>
                  <a:txBody>
                    <a:bodyPr/>
                    <a:lstStyle/>
                    <a:p>
                      <a:r>
                        <a:rPr sz="1000">
                          <a:solidFill>
                            <a:srgbClr val="333333"/>
                          </a:solidFill>
                        </a:rPr>
                        <a:t>+13.7 pts vs RoBERTa baseline</a:t>
                      </a:r>
                    </a:p>
                  </a:txBody>
                  <a:tcPr>
                    <a:solidFill>
                      <a:srgbClr val="DCFCE7"/>
                    </a:solidFill>
                  </a:tcPr>
                </a:tc>
              </a:tr>
              <a:tr h="426720">
                <a:tc>
                  <a:txBody>
                    <a:bodyPr/>
                    <a:lstStyle/>
                    <a:p>
                      <a:r>
                        <a:rPr sz="1000" b="1">
                          <a:solidFill>
                            <a:srgbClr val="333333"/>
                          </a:solidFill>
                        </a:rPr>
                        <a:t>Sentiment</a:t>
                      </a:r>
                    </a:p>
                  </a:txBody>
                  <a:tcPr>
                    <a:solidFill>
                      <a:srgbClr val="DCFCE7"/>
                    </a:solidFill>
                  </a:tcPr>
                </a:tc>
                <a:tc>
                  <a:txBody>
                    <a:bodyPr/>
                    <a:lstStyle/>
                    <a:p>
                      <a:r>
                        <a:rPr sz="1000">
                          <a:solidFill>
                            <a:srgbClr val="333333"/>
                          </a:solidFill>
                        </a:rPr>
                        <a:t>Long-post F1  (&gt; 256 tokens)</a:t>
                      </a:r>
                    </a:p>
                  </a:txBody>
                  <a:tcPr>
                    <a:solidFill>
                      <a:srgbClr val="DCFCE7"/>
                    </a:solidFill>
                  </a:tcPr>
                </a:tc>
                <a:tc>
                  <a:txBody>
                    <a:bodyPr/>
                    <a:lstStyle/>
                    <a:p>
                      <a:r>
                        <a:rPr sz="1000">
                          <a:solidFill>
                            <a:srgbClr val="333333"/>
                          </a:solidFill>
                        </a:rPr>
                        <a:t>1.0000</a:t>
                      </a:r>
                    </a:p>
                  </a:txBody>
                  <a:tcPr>
                    <a:solidFill>
                      <a:srgbClr val="DCFCE7"/>
                    </a:solidFill>
                  </a:tcPr>
                </a:tc>
                <a:tc>
                  <a:txBody>
                    <a:bodyPr/>
                    <a:lstStyle/>
                    <a:p>
                      <a:r>
                        <a:rPr sz="1000">
                          <a:solidFill>
                            <a:srgbClr val="333333"/>
                          </a:solidFill>
                        </a:rPr>
                        <a:t>From 0.2778 baseline</a:t>
                      </a:r>
                    </a:p>
                  </a:txBody>
                  <a:tcPr>
                    <a:solidFill>
                      <a:srgbClr val="DCFCE7"/>
                    </a:solidFill>
                  </a:tcPr>
                </a:tc>
              </a:tr>
              <a:tr h="426720">
                <a:tc>
                  <a:txBody>
                    <a:bodyPr/>
                    <a:lstStyle/>
                    <a:p>
                      <a:r>
                        <a:rPr sz="1000" b="1">
                          <a:solidFill>
                            <a:srgbClr val="333333"/>
                          </a:solidFill>
                        </a:rPr>
                        <a:t>Sentiment</a:t>
                      </a:r>
                    </a:p>
                  </a:txBody>
                  <a:tcPr>
                    <a:solidFill>
                      <a:srgbClr val="FFFFFF"/>
                    </a:solidFill>
                  </a:tcPr>
                </a:tc>
                <a:tc>
                  <a:txBody>
                    <a:bodyPr/>
                    <a:lstStyle/>
                    <a:p>
                      <a:r>
                        <a:rPr sz="1000">
                          <a:solidFill>
                            <a:srgbClr val="333333"/>
                          </a:solidFill>
                        </a:rPr>
                        <a:t>Cross-validation</a:t>
                      </a:r>
                    </a:p>
                  </a:txBody>
                  <a:tcPr>
                    <a:solidFill>
                      <a:srgbClr val="FFFFFF"/>
                    </a:solidFill>
                  </a:tcPr>
                </a:tc>
                <a:tc>
                  <a:txBody>
                    <a:bodyPr/>
                    <a:lstStyle/>
                    <a:p>
                      <a:r>
                        <a:rPr sz="1000">
                          <a:solidFill>
                            <a:srgbClr val="333333"/>
                          </a:solidFill>
                        </a:rPr>
                        <a:t>5-fold OOF</a:t>
                      </a:r>
                    </a:p>
                  </a:txBody>
                  <a:tcPr>
                    <a:solidFill>
                      <a:srgbClr val="FFFFFF"/>
                    </a:solidFill>
                  </a:tcPr>
                </a:tc>
                <a:tc>
                  <a:txBody>
                    <a:bodyPr/>
                    <a:lstStyle/>
                    <a:p>
                      <a:r>
                        <a:rPr sz="1000">
                          <a:solidFill>
                            <a:srgbClr val="333333"/>
                          </a:solidFill>
                        </a:rPr>
                        <a:t>No test-set leakage</a:t>
                      </a:r>
                    </a:p>
                  </a:txBody>
                  <a:tcPr>
                    <a:solidFill>
                      <a:srgbClr val="FFFFFF"/>
                    </a:solidFill>
                  </a:tcPr>
                </a:tc>
              </a:tr>
              <a:tr h="426720">
                <a:tc>
                  <a:txBody>
                    <a:bodyPr/>
                    <a:lstStyle/>
                    <a:p>
                      <a:r>
                        <a:rPr sz="1000" b="1">
                          <a:solidFill>
                            <a:srgbClr val="333333"/>
                          </a:solidFill>
                        </a:rPr>
                        <a:t>Vision</a:t>
                      </a:r>
                    </a:p>
                  </a:txBody>
                  <a:tcPr>
                    <a:solidFill>
                      <a:srgbClr val="DCFCE7"/>
                    </a:solidFill>
                  </a:tcPr>
                </a:tc>
                <a:tc>
                  <a:txBody>
                    <a:bodyPr/>
                    <a:lstStyle/>
                    <a:p>
                      <a:r>
                        <a:rPr sz="1000">
                          <a:solidFill>
                            <a:srgbClr val="333333"/>
                          </a:solidFill>
                        </a:rPr>
                        <a:t>Hallucination rate</a:t>
                      </a:r>
                    </a:p>
                  </a:txBody>
                  <a:tcPr>
                    <a:solidFill>
                      <a:srgbClr val="DCFCE7"/>
                    </a:solidFill>
                  </a:tcPr>
                </a:tc>
                <a:tc>
                  <a:txBody>
                    <a:bodyPr/>
                    <a:lstStyle/>
                    <a:p>
                      <a:r>
                        <a:rPr sz="1000">
                          <a:solidFill>
                            <a:srgbClr val="333333"/>
                          </a:solidFill>
                        </a:rPr>
                        <a:t>0 %</a:t>
                      </a:r>
                    </a:p>
                  </a:txBody>
                  <a:tcPr>
                    <a:solidFill>
                      <a:srgbClr val="DCFCE7"/>
                    </a:solidFill>
                  </a:tcPr>
                </a:tc>
                <a:tc>
                  <a:txBody>
                    <a:bodyPr/>
                    <a:lstStyle/>
                    <a:p>
                      <a:r>
                        <a:rPr sz="1000">
                          <a:solidFill>
                            <a:srgbClr val="333333"/>
                          </a:solidFill>
                        </a:rPr>
                        <a:t>From 50 % on single-pass</a:t>
                      </a:r>
                    </a:p>
                  </a:txBody>
                  <a:tcPr>
                    <a:solidFill>
                      <a:srgbClr val="DCFCE7"/>
                    </a:solidFill>
                  </a:tcPr>
                </a:tc>
              </a:tr>
              <a:tr h="426720">
                <a:tc>
                  <a:txBody>
                    <a:bodyPr/>
                    <a:lstStyle/>
                    <a:p>
                      <a:r>
                        <a:rPr sz="1000" b="1">
                          <a:solidFill>
                            <a:srgbClr val="333333"/>
                          </a:solidFill>
                        </a:rPr>
                        <a:t>Vision</a:t>
                      </a:r>
                    </a:p>
                  </a:txBody>
                  <a:tcPr>
                    <a:solidFill>
                      <a:srgbClr val="DCFCE7"/>
                    </a:solidFill>
                  </a:tcPr>
                </a:tc>
                <a:tc>
                  <a:txBody>
                    <a:bodyPr/>
                    <a:lstStyle/>
                    <a:p>
                      <a:r>
                        <a:rPr sz="1000">
                          <a:solidFill>
                            <a:srgbClr val="333333"/>
                          </a:solidFill>
                        </a:rPr>
                        <a:t>Text extraction success</a:t>
                      </a:r>
                    </a:p>
                  </a:txBody>
                  <a:tcPr>
                    <a:solidFill>
                      <a:srgbClr val="DCFCE7"/>
                    </a:solidFill>
                  </a:tcPr>
                </a:tc>
                <a:tc>
                  <a:txBody>
                    <a:bodyPr/>
                    <a:lstStyle/>
                    <a:p>
                      <a:r>
                        <a:rPr sz="1000">
                          <a:solidFill>
                            <a:srgbClr val="333333"/>
                          </a:solidFill>
                        </a:rPr>
                        <a:t>75 %</a:t>
                      </a:r>
                    </a:p>
                  </a:txBody>
                  <a:tcPr>
                    <a:solidFill>
                      <a:srgbClr val="DCFCE7"/>
                    </a:solidFill>
                  </a:tcPr>
                </a:tc>
                <a:tc>
                  <a:txBody>
                    <a:bodyPr/>
                    <a:lstStyle/>
                    <a:p>
                      <a:r>
                        <a:rPr sz="1000">
                          <a:solidFill>
                            <a:srgbClr val="333333"/>
                          </a:solidFill>
                        </a:rPr>
                        <a:t>From 25 % on single-pass</a:t>
                      </a:r>
                    </a:p>
                  </a:txBody>
                  <a:tcPr>
                    <a:solidFill>
                      <a:srgbClr val="DCFCE7"/>
                    </a:solidFill>
                  </a:tcPr>
                </a:tc>
              </a:tr>
              <a:tr h="426720">
                <a:tc>
                  <a:txBody>
                    <a:bodyPr/>
                    <a:lstStyle/>
                    <a:p>
                      <a:r>
                        <a:rPr sz="1000" b="1">
                          <a:solidFill>
                            <a:srgbClr val="333333"/>
                          </a:solidFill>
                        </a:rPr>
                        <a:t>Vision</a:t>
                      </a:r>
                    </a:p>
                  </a:txBody>
                  <a:tcPr>
                    <a:solidFill>
                      <a:srgbClr val="F5F5F5"/>
                    </a:solidFill>
                  </a:tcPr>
                </a:tc>
                <a:tc>
                  <a:txBody>
                    <a:bodyPr/>
                    <a:lstStyle/>
                    <a:p>
                      <a:r>
                        <a:rPr sz="1000">
                          <a:solidFill>
                            <a:srgbClr val="333333"/>
                          </a:solidFill>
                        </a:rPr>
                        <a:t>Retail-signal recall</a:t>
                      </a:r>
                    </a:p>
                  </a:txBody>
                  <a:tcPr>
                    <a:solidFill>
                      <a:srgbClr val="F5F5F5"/>
                    </a:solidFill>
                  </a:tcPr>
                </a:tc>
                <a:tc>
                  <a:txBody>
                    <a:bodyPr/>
                    <a:lstStyle/>
                    <a:p>
                      <a:r>
                        <a:rPr sz="1000">
                          <a:solidFill>
                            <a:srgbClr val="333333"/>
                          </a:solidFill>
                        </a:rPr>
                        <a:t>81 %</a:t>
                      </a:r>
                    </a:p>
                  </a:txBody>
                  <a:tcPr>
                    <a:solidFill>
                      <a:srgbClr val="F5F5F5"/>
                    </a:solidFill>
                  </a:tcPr>
                </a:tc>
                <a:tc>
                  <a:txBody>
                    <a:bodyPr/>
                    <a:lstStyle/>
                    <a:p>
                      <a:r>
                        <a:rPr sz="1000">
                          <a:solidFill>
                            <a:srgbClr val="333333"/>
                          </a:solidFill>
                        </a:rPr>
                        <a:t>From 40 % on single-pass</a:t>
                      </a:r>
                    </a:p>
                  </a:txBody>
                  <a:tcPr>
                    <a:solidFill>
                      <a:srgbClr val="F5F5F5"/>
                    </a:solidFill>
                  </a:tcPr>
                </a:tc>
              </a:tr>
              <a:tr h="426720">
                <a:tc>
                  <a:txBody>
                    <a:bodyPr/>
                    <a:lstStyle/>
                    <a:p>
                      <a:r>
                        <a:rPr sz="1000" b="1">
                          <a:solidFill>
                            <a:srgbClr val="333333"/>
                          </a:solidFill>
                        </a:rPr>
                        <a:t>Trust</a:t>
                      </a:r>
                    </a:p>
                  </a:txBody>
                  <a:tcPr>
                    <a:solidFill>
                      <a:srgbClr val="FFFFFF"/>
                    </a:solidFill>
                  </a:tcPr>
                </a:tc>
                <a:tc>
                  <a:txBody>
                    <a:bodyPr/>
                    <a:lstStyle/>
                    <a:p>
                      <a:r>
                        <a:rPr sz="1000">
                          <a:solidFill>
                            <a:srgbClr val="333333"/>
                          </a:solidFill>
                        </a:rPr>
                        <a:t>Low-trust share  (T &lt; 0.4)</a:t>
                      </a:r>
                    </a:p>
                  </a:txBody>
                  <a:tcPr>
                    <a:solidFill>
                      <a:srgbClr val="FFFFFF"/>
                    </a:solidFill>
                  </a:tcPr>
                </a:tc>
                <a:tc>
                  <a:txBody>
                    <a:bodyPr/>
                    <a:lstStyle/>
                    <a:p>
                      <a:r>
                        <a:rPr sz="1000">
                          <a:solidFill>
                            <a:srgbClr val="333333"/>
                          </a:solidFill>
                        </a:rPr>
                        <a:t>15 %</a:t>
                      </a:r>
                    </a:p>
                  </a:txBody>
                  <a:tcPr>
                    <a:solidFill>
                      <a:srgbClr val="FFFFFF"/>
                    </a:solidFill>
                  </a:tcPr>
                </a:tc>
                <a:tc>
                  <a:txBody>
                    <a:bodyPr/>
                    <a:lstStyle/>
                    <a:p>
                      <a:r>
                        <a:rPr sz="1000">
                          <a:solidFill>
                            <a:srgbClr val="333333"/>
                          </a:solidFill>
                        </a:rPr>
                        <a:t>Of the 200-post set</a:t>
                      </a:r>
                    </a:p>
                  </a:txBody>
                  <a:tcPr>
                    <a:solidFill>
                      <a:srgbClr val="FFFFFF"/>
                    </a:solidFill>
                  </a:tcPr>
                </a:tc>
              </a:tr>
              <a:tr h="426720">
                <a:tc>
                  <a:txBody>
                    <a:bodyPr/>
                    <a:lstStyle/>
                    <a:p>
                      <a:r>
                        <a:rPr sz="1000" b="1">
                          <a:solidFill>
                            <a:srgbClr val="333333"/>
                          </a:solidFill>
                        </a:rPr>
                        <a:t>Trust</a:t>
                      </a:r>
                    </a:p>
                  </a:txBody>
                  <a:tcPr>
                    <a:solidFill>
                      <a:srgbClr val="F5F5F5"/>
                    </a:solidFill>
                  </a:tcPr>
                </a:tc>
                <a:tc>
                  <a:txBody>
                    <a:bodyPr/>
                    <a:lstStyle/>
                    <a:p>
                      <a:r>
                        <a:rPr sz="1000">
                          <a:solidFill>
                            <a:srgbClr val="333333"/>
                          </a:solidFill>
                        </a:rPr>
                        <a:t>Annotator agreement on low-trust</a:t>
                      </a:r>
                    </a:p>
                  </a:txBody>
                  <a:tcPr>
                    <a:solidFill>
                      <a:srgbClr val="F5F5F5"/>
                    </a:solidFill>
                  </a:tcPr>
                </a:tc>
                <a:tc>
                  <a:txBody>
                    <a:bodyPr/>
                    <a:lstStyle/>
                    <a:p>
                      <a:r>
                        <a:rPr sz="1000">
                          <a:solidFill>
                            <a:srgbClr val="333333"/>
                          </a:solidFill>
                        </a:rPr>
                        <a:t>12 / 15</a:t>
                      </a:r>
                    </a:p>
                  </a:txBody>
                  <a:tcPr>
                    <a:solidFill>
                      <a:srgbClr val="F5F5F5"/>
                    </a:solidFill>
                  </a:tcPr>
                </a:tc>
                <a:tc>
                  <a:txBody>
                    <a:bodyPr/>
                    <a:lstStyle/>
                    <a:p>
                      <a:r>
                        <a:rPr sz="1000">
                          <a:solidFill>
                            <a:srgbClr val="333333"/>
                          </a:solidFill>
                        </a:rPr>
                        <a:t>80 %</a:t>
                      </a:r>
                    </a:p>
                  </a:txBody>
                  <a:tcPr>
                    <a:solidFill>
                      <a:srgbClr val="F5F5F5"/>
                    </a:solidFill>
                  </a:tcPr>
                </a:tc>
              </a:tr>
              <a:tr h="426720">
                <a:tc>
                  <a:txBody>
                    <a:bodyPr/>
                    <a:lstStyle/>
                    <a:p>
                      <a:r>
                        <a:rPr sz="1000" b="1">
                          <a:solidFill>
                            <a:srgbClr val="333333"/>
                          </a:solidFill>
                        </a:rPr>
                        <a:t>Ops</a:t>
                      </a:r>
                    </a:p>
                  </a:txBody>
                  <a:tcPr>
                    <a:solidFill>
                      <a:srgbClr val="FFFFFF"/>
                    </a:solidFill>
                  </a:tcPr>
                </a:tc>
                <a:tc>
                  <a:txBody>
                    <a:bodyPr/>
                    <a:lstStyle/>
                    <a:p>
                      <a:r>
                        <a:rPr sz="1000">
                          <a:solidFill>
                            <a:srgbClr val="333333"/>
                          </a:solidFill>
                        </a:rPr>
                        <a:t>Subreddits tracked</a:t>
                      </a:r>
                    </a:p>
                  </a:txBody>
                  <a:tcPr>
                    <a:solidFill>
                      <a:srgbClr val="FFFFFF"/>
                    </a:solidFill>
                  </a:tcPr>
                </a:tc>
                <a:tc>
                  <a:txBody>
                    <a:bodyPr/>
                    <a:lstStyle/>
                    <a:p>
                      <a:r>
                        <a:rPr sz="1000">
                          <a:solidFill>
                            <a:srgbClr val="333333"/>
                          </a:solidFill>
                        </a:rPr>
                        <a:t>25</a:t>
                      </a:r>
                    </a:p>
                  </a:txBody>
                  <a:tcPr>
                    <a:solidFill>
                      <a:srgbClr val="FFFFFF"/>
                    </a:solidFill>
                  </a:tcPr>
                </a:tc>
                <a:tc>
                  <a:txBody>
                    <a:bodyPr/>
                    <a:lstStyle/>
                    <a:p>
                      <a:r>
                        <a:rPr sz="1000">
                          <a:solidFill>
                            <a:srgbClr val="333333"/>
                          </a:solidFill>
                        </a:rPr>
                        <a:t>Six community groups</a:t>
                      </a:r>
                    </a:p>
                  </a:txBody>
                  <a:tcPr>
                    <a:solidFill>
                      <a:srgbClr val="FFFFFF"/>
                    </a:solidFill>
                  </a:tcPr>
                </a:tc>
              </a:tr>
              <a:tr h="426720">
                <a:tc>
                  <a:txBody>
                    <a:bodyPr/>
                    <a:lstStyle/>
                    <a:p>
                      <a:r>
                        <a:rPr sz="1000" b="1">
                          <a:solidFill>
                            <a:srgbClr val="333333"/>
                          </a:solidFill>
                        </a:rPr>
                        <a:t>Ops</a:t>
                      </a:r>
                    </a:p>
                  </a:txBody>
                  <a:tcPr>
                    <a:solidFill>
                      <a:srgbClr val="F5F5F5"/>
                    </a:solidFill>
                  </a:tcPr>
                </a:tc>
                <a:tc>
                  <a:txBody>
                    <a:bodyPr/>
                    <a:lstStyle/>
                    <a:p>
                      <a:r>
                        <a:rPr sz="1000">
                          <a:solidFill>
                            <a:srgbClr val="333333"/>
                          </a:solidFill>
                        </a:rPr>
                        <a:t>Scheduler cadence</a:t>
                      </a:r>
                    </a:p>
                  </a:txBody>
                  <a:tcPr>
                    <a:solidFill>
                      <a:srgbClr val="F5F5F5"/>
                    </a:solidFill>
                  </a:tcPr>
                </a:tc>
                <a:tc>
                  <a:txBody>
                    <a:bodyPr/>
                    <a:lstStyle/>
                    <a:p>
                      <a:r>
                        <a:rPr sz="1000">
                          <a:solidFill>
                            <a:srgbClr val="333333"/>
                          </a:solidFill>
                        </a:rPr>
                        <a:t>6 h + manual</a:t>
                      </a:r>
                    </a:p>
                  </a:txBody>
                  <a:tcPr>
                    <a:solidFill>
                      <a:srgbClr val="F5F5F5"/>
                    </a:solidFill>
                  </a:tcPr>
                </a:tc>
                <a:tc>
                  <a:txBody>
                    <a:bodyPr/>
                    <a:lstStyle/>
                    <a:p>
                      <a:r>
                        <a:rPr sz="1000">
                          <a:solidFill>
                            <a:srgbClr val="333333"/>
                          </a:solidFill>
                        </a:rPr>
                        <a:t>asyncio lifespan task</a:t>
                      </a:r>
                    </a:p>
                  </a:txBody>
                  <a:tcPr>
                    <a:solidFill>
                      <a:srgbClr val="F5F5F5"/>
                    </a:solidFill>
                  </a:tcPr>
                </a:tc>
              </a:tr>
              <a:tr h="426720">
                <a:tc>
                  <a:txBody>
                    <a:bodyPr/>
                    <a:lstStyle/>
                    <a:p>
                      <a:r>
                        <a:rPr sz="1000" b="1">
                          <a:solidFill>
                            <a:srgbClr val="333333"/>
                          </a:solidFill>
                        </a:rPr>
                        <a:t>Ops</a:t>
                      </a:r>
                    </a:p>
                  </a:txBody>
                  <a:tcPr>
                    <a:solidFill>
                      <a:srgbClr val="FFFFFF"/>
                    </a:solidFill>
                  </a:tcPr>
                </a:tc>
                <a:tc>
                  <a:txBody>
                    <a:bodyPr/>
                    <a:lstStyle/>
                    <a:p>
                      <a:r>
                        <a:rPr sz="1000">
                          <a:solidFill>
                            <a:srgbClr val="333333"/>
                          </a:solidFill>
                        </a:rPr>
                        <a:t>Dashboard pages shipped</a:t>
                      </a:r>
                    </a:p>
                  </a:txBody>
                  <a:tcPr>
                    <a:solidFill>
                      <a:srgbClr val="FFFFFF"/>
                    </a:solidFill>
                  </a:tcPr>
                </a:tc>
                <a:tc>
                  <a:txBody>
                    <a:bodyPr/>
                    <a:lstStyle/>
                    <a:p>
                      <a:r>
                        <a:rPr sz="1000">
                          <a:solidFill>
                            <a:srgbClr val="333333"/>
                          </a:solidFill>
                        </a:rPr>
                        <a:t>8</a:t>
                      </a:r>
                    </a:p>
                  </a:txBody>
                  <a:tcPr>
                    <a:solidFill>
                      <a:srgbClr val="FFFFFF"/>
                    </a:solidFill>
                  </a:tcPr>
                </a:tc>
                <a:tc>
                  <a:txBody>
                    <a:bodyPr/>
                    <a:lstStyle/>
                    <a:p>
                      <a:r>
                        <a:rPr sz="1000">
                          <a:solidFill>
                            <a:srgbClr val="333333"/>
                          </a:solidFill>
                        </a:rPr>
                        <a:t>Brand Health · Alerts · Explorer · Review · Lifecycle · Insights · Pipeline · Notifications</a:t>
                      </a:r>
                    </a:p>
                  </a:txBody>
                  <a:tcPr>
                    <a:solidFill>
                      <a:srgbClr val="FFFFFF"/>
                    </a:solidFill>
                  </a:tcPr>
                </a:tc>
              </a:tr>
            </a:tbl>
          </a:graphicData>
        </a:graphic>
      </p:graphicFrame>
      <p:sp>
        <p:nvSpPr>
          <p:cNvPr id="7" name="TextBox 6"/>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8" name="TextBox 7"/>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17 / 25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Principal Contributions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What this dissertation delivered — end to end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6012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960120"/>
            <a:ext cx="822960" cy="960120"/>
          </a:xfrm>
          <a:prstGeom prst="rect">
            <a:avLst/>
          </a:prstGeom>
          <a:noFill/>
        </p:spPr>
        <p:txBody>
          <a:bodyPr wrap="square" anchor="ctr">
            <a:spAutoFit/>
          </a:bodyPr>
          <a:lstStyle/>
          <a:p>
            <a:pPr algn="ctr"/>
            <a:r>
              <a:rPr sz="2000" b="1">
                <a:solidFill>
                  <a:srgbClr val="FFFFFF"/>
                </a:solidFill>
              </a:rPr>
              <a:t>C1</a:t>
            </a:r>
          </a:p>
        </p:txBody>
      </p:sp>
      <p:sp>
        <p:nvSpPr>
          <p:cNvPr id="9" name="TextBox 8"/>
          <p:cNvSpPr txBox="1"/>
          <p:nvPr/>
        </p:nvSpPr>
        <p:spPr>
          <a:xfrm>
            <a:off x="1417320" y="1005840"/>
            <a:ext cx="10058400" cy="320040"/>
          </a:xfrm>
          <a:prstGeom prst="rect">
            <a:avLst/>
          </a:prstGeom>
          <a:noFill/>
        </p:spPr>
        <p:txBody>
          <a:bodyPr wrap="square" anchor="t">
            <a:spAutoFit/>
          </a:bodyPr>
          <a:lstStyle/>
          <a:p>
            <a:pPr algn="l"/>
            <a:r>
              <a:rPr sz="1300" b="1">
                <a:solidFill>
                  <a:srgbClr val="041E42"/>
                </a:solidFill>
              </a:rPr>
              <a:t>Offline-first RSI pipeline</a:t>
            </a:r>
          </a:p>
        </p:txBody>
      </p:sp>
      <p:sp>
        <p:nvSpPr>
          <p:cNvPr id="10" name="TextBox 9"/>
          <p:cNvSpPr txBox="1"/>
          <p:nvPr/>
        </p:nvSpPr>
        <p:spPr>
          <a:xfrm>
            <a:off x="1417320" y="1325880"/>
            <a:ext cx="10058400" cy="594360"/>
          </a:xfrm>
          <a:prstGeom prst="rect">
            <a:avLst/>
          </a:prstGeom>
          <a:noFill/>
        </p:spPr>
        <p:txBody>
          <a:bodyPr wrap="square" anchor="t">
            <a:spAutoFit/>
          </a:bodyPr>
          <a:lstStyle/>
          <a:p>
            <a:pPr algn="l"/>
            <a:r>
              <a:rPr sz="1100" b="0">
                <a:solidFill>
                  <a:srgbClr val="333333"/>
                </a:solidFill>
              </a:rPr>
              <a:t>Ingestion → trust → sentiment → aspects → vision → aggregation → alerts → dashboard.  Zero API cost, modular, deployable to Azure.</a:t>
            </a:r>
          </a:p>
        </p:txBody>
      </p:sp>
      <p:sp>
        <p:nvSpPr>
          <p:cNvPr id="11" name="Rectangle 10"/>
          <p:cNvSpPr/>
          <p:nvPr/>
        </p:nvSpPr>
        <p:spPr>
          <a:xfrm>
            <a:off x="457200" y="2002535"/>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2002535"/>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002535"/>
            <a:ext cx="822960" cy="960120"/>
          </a:xfrm>
          <a:prstGeom prst="rect">
            <a:avLst/>
          </a:prstGeom>
          <a:noFill/>
        </p:spPr>
        <p:txBody>
          <a:bodyPr wrap="square" anchor="ctr">
            <a:spAutoFit/>
          </a:bodyPr>
          <a:lstStyle/>
          <a:p>
            <a:pPr algn="ctr"/>
            <a:r>
              <a:rPr sz="2000" b="1">
                <a:solidFill>
                  <a:srgbClr val="FFFFFF"/>
                </a:solidFill>
              </a:rPr>
              <a:t>C2</a:t>
            </a:r>
          </a:p>
        </p:txBody>
      </p:sp>
      <p:sp>
        <p:nvSpPr>
          <p:cNvPr id="14" name="TextBox 13"/>
          <p:cNvSpPr txBox="1"/>
          <p:nvPr/>
        </p:nvSpPr>
        <p:spPr>
          <a:xfrm>
            <a:off x="1417320" y="2048255"/>
            <a:ext cx="10058400" cy="320040"/>
          </a:xfrm>
          <a:prstGeom prst="rect">
            <a:avLst/>
          </a:prstGeom>
          <a:noFill/>
        </p:spPr>
        <p:txBody>
          <a:bodyPr wrap="square" anchor="t">
            <a:spAutoFit/>
          </a:bodyPr>
          <a:lstStyle/>
          <a:p>
            <a:pPr algn="l"/>
            <a:r>
              <a:rPr sz="1300" b="1">
                <a:solidFill>
                  <a:srgbClr val="041E42"/>
                </a:solidFill>
              </a:rPr>
              <a:t>Fine-tuned ModernBERT (3-stage curriculum)</a:t>
            </a:r>
          </a:p>
        </p:txBody>
      </p:sp>
      <p:sp>
        <p:nvSpPr>
          <p:cNvPr id="15" name="TextBox 14"/>
          <p:cNvSpPr txBox="1"/>
          <p:nvPr/>
        </p:nvSpPr>
        <p:spPr>
          <a:xfrm>
            <a:off x="1417320" y="2368295"/>
            <a:ext cx="10058400" cy="594360"/>
          </a:xfrm>
          <a:prstGeom prst="rect">
            <a:avLst/>
          </a:prstGeom>
          <a:noFill/>
        </p:spPr>
        <p:txBody>
          <a:bodyPr wrap="square" anchor="t">
            <a:spAutoFit/>
          </a:bodyPr>
          <a:lstStyle/>
          <a:p>
            <a:pPr algn="l"/>
            <a:r>
              <a:rPr sz="1100" b="0">
                <a:solidFill>
                  <a:srgbClr val="333333"/>
                </a:solidFill>
              </a:rPr>
              <a:t>Macro-F1 0.6272 → 0.7642 overall; 0.28 → 1.00 on long posts.  5-fold OOF cross-validation, offline training.</a:t>
            </a:r>
          </a:p>
        </p:txBody>
      </p:sp>
      <p:sp>
        <p:nvSpPr>
          <p:cNvPr id="16" name="Rectangle 15"/>
          <p:cNvSpPr/>
          <p:nvPr/>
        </p:nvSpPr>
        <p:spPr>
          <a:xfrm>
            <a:off x="457200" y="304495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04495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044950"/>
            <a:ext cx="822960" cy="960120"/>
          </a:xfrm>
          <a:prstGeom prst="rect">
            <a:avLst/>
          </a:prstGeom>
          <a:noFill/>
        </p:spPr>
        <p:txBody>
          <a:bodyPr wrap="square" anchor="ctr">
            <a:spAutoFit/>
          </a:bodyPr>
          <a:lstStyle/>
          <a:p>
            <a:pPr algn="ctr"/>
            <a:r>
              <a:rPr sz="2000" b="1">
                <a:solidFill>
                  <a:srgbClr val="FFFFFF"/>
                </a:solidFill>
              </a:rPr>
              <a:t>C3</a:t>
            </a:r>
          </a:p>
        </p:txBody>
      </p:sp>
      <p:sp>
        <p:nvSpPr>
          <p:cNvPr id="19" name="TextBox 18"/>
          <p:cNvSpPr txBox="1"/>
          <p:nvPr/>
        </p:nvSpPr>
        <p:spPr>
          <a:xfrm>
            <a:off x="1417320" y="3090670"/>
            <a:ext cx="10058400" cy="320040"/>
          </a:xfrm>
          <a:prstGeom prst="rect">
            <a:avLst/>
          </a:prstGeom>
          <a:noFill/>
        </p:spPr>
        <p:txBody>
          <a:bodyPr wrap="square" anchor="t">
            <a:spAutoFit/>
          </a:bodyPr>
          <a:lstStyle/>
          <a:p>
            <a:pPr algn="l"/>
            <a:r>
              <a:rPr sz="1300" b="1">
                <a:solidFill>
                  <a:srgbClr val="041E42"/>
                </a:solidFill>
              </a:rPr>
              <a:t>Multi-pass vision technique on Gemma 3 4B</a:t>
            </a:r>
          </a:p>
        </p:txBody>
      </p:sp>
      <p:sp>
        <p:nvSpPr>
          <p:cNvPr id="20" name="TextBox 19"/>
          <p:cNvSpPr txBox="1"/>
          <p:nvPr/>
        </p:nvSpPr>
        <p:spPr>
          <a:xfrm>
            <a:off x="1417320" y="3410710"/>
            <a:ext cx="10058400" cy="594360"/>
          </a:xfrm>
          <a:prstGeom prst="rect">
            <a:avLst/>
          </a:prstGeom>
          <a:noFill/>
        </p:spPr>
        <p:txBody>
          <a:bodyPr wrap="square" anchor="t">
            <a:spAutoFit/>
          </a:bodyPr>
          <a:lstStyle/>
          <a:p>
            <a:pPr algn="l"/>
            <a:r>
              <a:rPr sz="1100" b="0">
                <a:solidFill>
                  <a:srgbClr val="333333"/>
                </a:solidFill>
              </a:rPr>
              <a:t>Hallucination 50 % → 0 %,  extraction 25 % → 75 %.  Adapts techniques from 5 recent VLM papers without vendor-blocked models.</a:t>
            </a:r>
          </a:p>
        </p:txBody>
      </p:sp>
      <p:sp>
        <p:nvSpPr>
          <p:cNvPr id="21" name="Rectangle 20"/>
          <p:cNvSpPr/>
          <p:nvPr/>
        </p:nvSpPr>
        <p:spPr>
          <a:xfrm>
            <a:off x="457200" y="4087365"/>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4087365"/>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087365"/>
            <a:ext cx="822960" cy="960120"/>
          </a:xfrm>
          <a:prstGeom prst="rect">
            <a:avLst/>
          </a:prstGeom>
          <a:noFill/>
        </p:spPr>
        <p:txBody>
          <a:bodyPr wrap="square" anchor="ctr">
            <a:spAutoFit/>
          </a:bodyPr>
          <a:lstStyle/>
          <a:p>
            <a:pPr algn="ctr"/>
            <a:r>
              <a:rPr sz="2000" b="1">
                <a:solidFill>
                  <a:srgbClr val="FFFFFF"/>
                </a:solidFill>
              </a:rPr>
              <a:t>C4</a:t>
            </a:r>
          </a:p>
        </p:txBody>
      </p:sp>
      <p:sp>
        <p:nvSpPr>
          <p:cNvPr id="24" name="TextBox 23"/>
          <p:cNvSpPr txBox="1"/>
          <p:nvPr/>
        </p:nvSpPr>
        <p:spPr>
          <a:xfrm>
            <a:off x="1417320" y="4133085"/>
            <a:ext cx="10058400" cy="320040"/>
          </a:xfrm>
          <a:prstGeom prst="rect">
            <a:avLst/>
          </a:prstGeom>
          <a:noFill/>
        </p:spPr>
        <p:txBody>
          <a:bodyPr wrap="square" anchor="t">
            <a:spAutoFit/>
          </a:bodyPr>
          <a:lstStyle/>
          <a:p>
            <a:pPr algn="l"/>
            <a:r>
              <a:rPr sz="1300" b="1">
                <a:solidFill>
                  <a:srgbClr val="041E42"/>
                </a:solidFill>
              </a:rPr>
              <a:t>Interpretable trust score + admission gate</a:t>
            </a:r>
          </a:p>
        </p:txBody>
      </p:sp>
      <p:sp>
        <p:nvSpPr>
          <p:cNvPr id="25" name="TextBox 24"/>
          <p:cNvSpPr txBox="1"/>
          <p:nvPr/>
        </p:nvSpPr>
        <p:spPr>
          <a:xfrm>
            <a:off x="1417320" y="4453125"/>
            <a:ext cx="10058400" cy="594360"/>
          </a:xfrm>
          <a:prstGeom prst="rect">
            <a:avLst/>
          </a:prstGeom>
          <a:noFill/>
        </p:spPr>
        <p:txBody>
          <a:bodyPr wrap="square" anchor="t">
            <a:spAutoFit/>
          </a:bodyPr>
          <a:lstStyle/>
          <a:p>
            <a:pPr algn="l"/>
            <a:r>
              <a:rPr sz="1100" b="0">
                <a:solidFill>
                  <a:srgbClr val="333333"/>
                </a:solidFill>
              </a:rPr>
              <a:t>trust × confidence gate flags rather than drops low-credibility posts.  Every constant traceable to English rationale in config.</a:t>
            </a:r>
          </a:p>
        </p:txBody>
      </p:sp>
      <p:sp>
        <p:nvSpPr>
          <p:cNvPr id="26" name="Rectangle 25"/>
          <p:cNvSpPr/>
          <p:nvPr/>
        </p:nvSpPr>
        <p:spPr>
          <a:xfrm>
            <a:off x="457200" y="512978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7200" y="512978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5129780"/>
            <a:ext cx="822960" cy="960120"/>
          </a:xfrm>
          <a:prstGeom prst="rect">
            <a:avLst/>
          </a:prstGeom>
          <a:noFill/>
        </p:spPr>
        <p:txBody>
          <a:bodyPr wrap="square" anchor="ctr">
            <a:spAutoFit/>
          </a:bodyPr>
          <a:lstStyle/>
          <a:p>
            <a:pPr algn="ctr"/>
            <a:r>
              <a:rPr sz="2000" b="1">
                <a:solidFill>
                  <a:srgbClr val="FFFFFF"/>
                </a:solidFill>
              </a:rPr>
              <a:t>C5</a:t>
            </a:r>
          </a:p>
        </p:txBody>
      </p:sp>
      <p:sp>
        <p:nvSpPr>
          <p:cNvPr id="29" name="TextBox 28"/>
          <p:cNvSpPr txBox="1"/>
          <p:nvPr/>
        </p:nvSpPr>
        <p:spPr>
          <a:xfrm>
            <a:off x="1417320" y="5175500"/>
            <a:ext cx="10058400" cy="320040"/>
          </a:xfrm>
          <a:prstGeom prst="rect">
            <a:avLst/>
          </a:prstGeom>
          <a:noFill/>
        </p:spPr>
        <p:txBody>
          <a:bodyPr wrap="square" anchor="t">
            <a:spAutoFit/>
          </a:bodyPr>
          <a:lstStyle/>
          <a:p>
            <a:pPr algn="l"/>
            <a:r>
              <a:rPr sz="1300" b="1">
                <a:solidFill>
                  <a:srgbClr val="041E42"/>
                </a:solidFill>
              </a:rPr>
              <a:t>HITL learning-loop dashboard</a:t>
            </a:r>
          </a:p>
        </p:txBody>
      </p:sp>
      <p:sp>
        <p:nvSpPr>
          <p:cNvPr id="30" name="TextBox 29"/>
          <p:cNvSpPr txBox="1"/>
          <p:nvPr/>
        </p:nvSpPr>
        <p:spPr>
          <a:xfrm>
            <a:off x="1417320" y="5495540"/>
            <a:ext cx="10058400" cy="594360"/>
          </a:xfrm>
          <a:prstGeom prst="rect">
            <a:avLst/>
          </a:prstGeom>
          <a:noFill/>
        </p:spPr>
        <p:txBody>
          <a:bodyPr wrap="square" anchor="t">
            <a:spAutoFit/>
          </a:bodyPr>
          <a:lstStyle/>
          <a:p>
            <a:pPr algn="l"/>
            <a:r>
              <a:rPr sz="1100" b="0">
                <a:solidFill>
                  <a:srgbClr val="333333"/>
                </a:solidFill>
              </a:rPr>
              <a:t>Review &amp; Validate, Lifecycle Kanban, Insights, Notification centre.  Corrections &amp; posted replies feed few-shot reply generation and future retraining.</a:t>
            </a:r>
          </a:p>
        </p:txBody>
      </p:sp>
      <p:sp>
        <p:nvSpPr>
          <p:cNvPr id="31" name="TextBox 3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2" name="TextBox 3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18 / 25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Live Demo  —  Dashboard Walkthrough</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One post → alert → review → reply → lifecycle → resolved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nd_health.png"/>
          <p:cNvPicPr>
            <a:picLocks noChangeAspect="1"/>
          </p:cNvPicPr>
          <p:nvPr/>
        </p:nvPicPr>
        <p:blipFill>
          <a:blip r:embed="rId2"/>
          <a:stretch>
            <a:fillRect/>
          </a:stretch>
        </p:blipFill>
        <p:spPr>
          <a:xfrm>
            <a:off x="320040" y="960120"/>
            <a:ext cx="3794760" cy="2331720"/>
          </a:xfrm>
          <a:prstGeom prst="rect">
            <a:avLst/>
          </a:prstGeom>
        </p:spPr>
      </p:pic>
      <p:sp>
        <p:nvSpPr>
          <p:cNvPr id="7" name="TextBox 6"/>
          <p:cNvSpPr txBox="1"/>
          <p:nvPr/>
        </p:nvSpPr>
        <p:spPr>
          <a:xfrm>
            <a:off x="320040" y="3310128"/>
            <a:ext cx="3794760" cy="228600"/>
          </a:xfrm>
          <a:prstGeom prst="rect">
            <a:avLst/>
          </a:prstGeom>
          <a:noFill/>
        </p:spPr>
        <p:txBody>
          <a:bodyPr wrap="square" anchor="t">
            <a:spAutoFit/>
          </a:bodyPr>
          <a:lstStyle/>
          <a:p>
            <a:pPr algn="ctr"/>
            <a:r>
              <a:rPr sz="1100" b="1">
                <a:solidFill>
                  <a:srgbClr val="041E42"/>
                </a:solidFill>
              </a:rPr>
              <a:t>Brand Health</a:t>
            </a:r>
          </a:p>
        </p:txBody>
      </p:sp>
      <p:pic>
        <p:nvPicPr>
          <p:cNvPr id="8" name="Picture 7" descr="alert_feed.png"/>
          <p:cNvPicPr>
            <a:picLocks noChangeAspect="1"/>
          </p:cNvPicPr>
          <p:nvPr/>
        </p:nvPicPr>
        <p:blipFill>
          <a:blip r:embed="rId3"/>
          <a:stretch>
            <a:fillRect/>
          </a:stretch>
        </p:blipFill>
        <p:spPr>
          <a:xfrm>
            <a:off x="4206240" y="960120"/>
            <a:ext cx="3794760" cy="2331720"/>
          </a:xfrm>
          <a:prstGeom prst="rect">
            <a:avLst/>
          </a:prstGeom>
        </p:spPr>
      </p:pic>
      <p:sp>
        <p:nvSpPr>
          <p:cNvPr id="9" name="TextBox 8"/>
          <p:cNvSpPr txBox="1"/>
          <p:nvPr/>
        </p:nvSpPr>
        <p:spPr>
          <a:xfrm>
            <a:off x="4206240" y="3310128"/>
            <a:ext cx="3794760" cy="228600"/>
          </a:xfrm>
          <a:prstGeom prst="rect">
            <a:avLst/>
          </a:prstGeom>
          <a:noFill/>
        </p:spPr>
        <p:txBody>
          <a:bodyPr wrap="square" anchor="t">
            <a:spAutoFit/>
          </a:bodyPr>
          <a:lstStyle/>
          <a:p>
            <a:pPr algn="ctr"/>
            <a:r>
              <a:rPr sz="1100" b="1">
                <a:solidFill>
                  <a:srgbClr val="041E42"/>
                </a:solidFill>
              </a:rPr>
              <a:t>Alert Feed</a:t>
            </a:r>
          </a:p>
        </p:txBody>
      </p:sp>
      <p:pic>
        <p:nvPicPr>
          <p:cNvPr id="10" name="Picture 9" descr="post_explorer.png"/>
          <p:cNvPicPr>
            <a:picLocks noChangeAspect="1"/>
          </p:cNvPicPr>
          <p:nvPr/>
        </p:nvPicPr>
        <p:blipFill>
          <a:blip r:embed="rId4"/>
          <a:stretch>
            <a:fillRect/>
          </a:stretch>
        </p:blipFill>
        <p:spPr>
          <a:xfrm>
            <a:off x="8092440" y="960120"/>
            <a:ext cx="3794760" cy="2331720"/>
          </a:xfrm>
          <a:prstGeom prst="rect">
            <a:avLst/>
          </a:prstGeom>
        </p:spPr>
      </p:pic>
      <p:sp>
        <p:nvSpPr>
          <p:cNvPr id="11" name="TextBox 10"/>
          <p:cNvSpPr txBox="1"/>
          <p:nvPr/>
        </p:nvSpPr>
        <p:spPr>
          <a:xfrm>
            <a:off x="8092440" y="3310128"/>
            <a:ext cx="3794760" cy="228600"/>
          </a:xfrm>
          <a:prstGeom prst="rect">
            <a:avLst/>
          </a:prstGeom>
          <a:noFill/>
        </p:spPr>
        <p:txBody>
          <a:bodyPr wrap="square" anchor="t">
            <a:spAutoFit/>
          </a:bodyPr>
          <a:lstStyle/>
          <a:p>
            <a:pPr algn="ctr"/>
            <a:r>
              <a:rPr sz="1100" b="1">
                <a:solidFill>
                  <a:srgbClr val="041E42"/>
                </a:solidFill>
              </a:rPr>
              <a:t>Post Explorer</a:t>
            </a:r>
          </a:p>
        </p:txBody>
      </p:sp>
      <p:pic>
        <p:nvPicPr>
          <p:cNvPr id="12" name="Picture 11" descr="review_validate.png"/>
          <p:cNvPicPr>
            <a:picLocks noChangeAspect="1"/>
          </p:cNvPicPr>
          <p:nvPr/>
        </p:nvPicPr>
        <p:blipFill>
          <a:blip r:embed="rId5"/>
          <a:stretch>
            <a:fillRect/>
          </a:stretch>
        </p:blipFill>
        <p:spPr>
          <a:xfrm>
            <a:off x="320040" y="3566160"/>
            <a:ext cx="3794760" cy="2331720"/>
          </a:xfrm>
          <a:prstGeom prst="rect">
            <a:avLst/>
          </a:prstGeom>
        </p:spPr>
      </p:pic>
      <p:sp>
        <p:nvSpPr>
          <p:cNvPr id="13" name="TextBox 12"/>
          <p:cNvSpPr txBox="1"/>
          <p:nvPr/>
        </p:nvSpPr>
        <p:spPr>
          <a:xfrm>
            <a:off x="320040" y="5916168"/>
            <a:ext cx="3794760" cy="228600"/>
          </a:xfrm>
          <a:prstGeom prst="rect">
            <a:avLst/>
          </a:prstGeom>
          <a:noFill/>
        </p:spPr>
        <p:txBody>
          <a:bodyPr wrap="square" anchor="t">
            <a:spAutoFit/>
          </a:bodyPr>
          <a:lstStyle/>
          <a:p>
            <a:pPr algn="ctr"/>
            <a:r>
              <a:rPr sz="1100" b="1">
                <a:solidFill>
                  <a:srgbClr val="041E42"/>
                </a:solidFill>
              </a:rPr>
              <a:t>Review &amp; Validate</a:t>
            </a:r>
          </a:p>
        </p:txBody>
      </p:sp>
      <p:pic>
        <p:nvPicPr>
          <p:cNvPr id="14" name="Picture 13" descr="lifecycle_kanban.png"/>
          <p:cNvPicPr>
            <a:picLocks noChangeAspect="1"/>
          </p:cNvPicPr>
          <p:nvPr/>
        </p:nvPicPr>
        <p:blipFill>
          <a:blip r:embed="rId6"/>
          <a:stretch>
            <a:fillRect/>
          </a:stretch>
        </p:blipFill>
        <p:spPr>
          <a:xfrm>
            <a:off x="4206240" y="3566160"/>
            <a:ext cx="3794760" cy="2331720"/>
          </a:xfrm>
          <a:prstGeom prst="rect">
            <a:avLst/>
          </a:prstGeom>
        </p:spPr>
      </p:pic>
      <p:sp>
        <p:nvSpPr>
          <p:cNvPr id="15" name="TextBox 14"/>
          <p:cNvSpPr txBox="1"/>
          <p:nvPr/>
        </p:nvSpPr>
        <p:spPr>
          <a:xfrm>
            <a:off x="4206240" y="5916168"/>
            <a:ext cx="3794760" cy="228600"/>
          </a:xfrm>
          <a:prstGeom prst="rect">
            <a:avLst/>
          </a:prstGeom>
          <a:noFill/>
        </p:spPr>
        <p:txBody>
          <a:bodyPr wrap="square" anchor="t">
            <a:spAutoFit/>
          </a:bodyPr>
          <a:lstStyle/>
          <a:p>
            <a:pPr algn="ctr"/>
            <a:r>
              <a:rPr sz="1100" b="1">
                <a:solidFill>
                  <a:srgbClr val="041E42"/>
                </a:solidFill>
              </a:rPr>
              <a:t>Lifecycle Kanban</a:t>
            </a:r>
          </a:p>
        </p:txBody>
      </p:sp>
      <p:pic>
        <p:nvPicPr>
          <p:cNvPr id="16" name="Picture 15" descr="insights_competitor.png"/>
          <p:cNvPicPr>
            <a:picLocks noChangeAspect="1"/>
          </p:cNvPicPr>
          <p:nvPr/>
        </p:nvPicPr>
        <p:blipFill>
          <a:blip r:embed="rId7"/>
          <a:stretch>
            <a:fillRect/>
          </a:stretch>
        </p:blipFill>
        <p:spPr>
          <a:xfrm>
            <a:off x="8092440" y="3566160"/>
            <a:ext cx="3794760" cy="2331720"/>
          </a:xfrm>
          <a:prstGeom prst="rect">
            <a:avLst/>
          </a:prstGeom>
        </p:spPr>
      </p:pic>
      <p:sp>
        <p:nvSpPr>
          <p:cNvPr id="17" name="TextBox 16"/>
          <p:cNvSpPr txBox="1"/>
          <p:nvPr/>
        </p:nvSpPr>
        <p:spPr>
          <a:xfrm>
            <a:off x="8092440" y="5916168"/>
            <a:ext cx="3794760" cy="228600"/>
          </a:xfrm>
          <a:prstGeom prst="rect">
            <a:avLst/>
          </a:prstGeom>
          <a:noFill/>
        </p:spPr>
        <p:txBody>
          <a:bodyPr wrap="square" anchor="t">
            <a:spAutoFit/>
          </a:bodyPr>
          <a:lstStyle/>
          <a:p>
            <a:pPr algn="ctr"/>
            <a:r>
              <a:rPr sz="1100" b="1">
                <a:solidFill>
                  <a:srgbClr val="041E42"/>
                </a:solidFill>
              </a:rPr>
              <a:t>Insights</a:t>
            </a:r>
          </a:p>
        </p:txBody>
      </p:sp>
      <p:sp>
        <p:nvSpPr>
          <p:cNvPr id="18" name="TextBox 17"/>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9" name="TextBox 18"/>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19 / 25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Conclusions  —  Research Questions Answered</a:t>
            </a:r>
          </a:p>
        </p:txBody>
      </p:sp>
      <p:sp>
        <p:nvSpPr>
          <p:cNvPr id="4" name="Rectangle 3"/>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960120"/>
            <a:ext cx="11247120" cy="123444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822960" cy="1234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960120"/>
            <a:ext cx="822960" cy="1234440"/>
          </a:xfrm>
          <a:prstGeom prst="rect">
            <a:avLst/>
          </a:prstGeom>
          <a:noFill/>
        </p:spPr>
        <p:txBody>
          <a:bodyPr wrap="square" anchor="ctr">
            <a:spAutoFit/>
          </a:bodyPr>
          <a:lstStyle/>
          <a:p>
            <a:pPr algn="ctr"/>
            <a:r>
              <a:rPr sz="1800" b="1">
                <a:solidFill>
                  <a:srgbClr val="FFFFFF"/>
                </a:solidFill>
              </a:rPr>
              <a:t>RQ1</a:t>
            </a:r>
          </a:p>
        </p:txBody>
      </p:sp>
      <p:sp>
        <p:nvSpPr>
          <p:cNvPr id="8" name="TextBox 7"/>
          <p:cNvSpPr txBox="1"/>
          <p:nvPr/>
        </p:nvSpPr>
        <p:spPr>
          <a:xfrm>
            <a:off x="1417320" y="1033272"/>
            <a:ext cx="10058400" cy="365760"/>
          </a:xfrm>
          <a:prstGeom prst="rect">
            <a:avLst/>
          </a:prstGeom>
          <a:noFill/>
        </p:spPr>
        <p:txBody>
          <a:bodyPr wrap="square" anchor="t">
            <a:spAutoFit/>
          </a:bodyPr>
          <a:lstStyle/>
          <a:p>
            <a:pPr algn="l"/>
            <a:r>
              <a:rPr sz="1200" b="1">
                <a:solidFill>
                  <a:srgbClr val="041E42"/>
                </a:solidFill>
              </a:rPr>
              <a:t>Can a fine-tuned encoder beat baselines on Reddit retail sentiment?</a:t>
            </a:r>
          </a:p>
        </p:txBody>
      </p:sp>
      <p:sp>
        <p:nvSpPr>
          <p:cNvPr id="9" name="TextBox 8"/>
          <p:cNvSpPr txBox="1"/>
          <p:nvPr/>
        </p:nvSpPr>
        <p:spPr>
          <a:xfrm>
            <a:off x="1417320" y="1417320"/>
            <a:ext cx="10058400" cy="777240"/>
          </a:xfrm>
          <a:prstGeom prst="rect">
            <a:avLst/>
          </a:prstGeom>
          <a:noFill/>
        </p:spPr>
        <p:txBody>
          <a:bodyPr wrap="square" anchor="t">
            <a:spAutoFit/>
          </a:bodyPr>
          <a:lstStyle/>
          <a:p>
            <a:pPr algn="l"/>
            <a:r>
              <a:rPr sz="1100" b="0">
                <a:solidFill>
                  <a:srgbClr val="333333"/>
                </a:solidFill>
              </a:rPr>
              <a:t>YES  —  ModernBERT 3-stage curriculum raised Macro-F1 from 0.6272 → 0.7642 overall  and from 0.2778 → 1.0000 on long posts.</a:t>
            </a:r>
          </a:p>
        </p:txBody>
      </p:sp>
      <p:sp>
        <p:nvSpPr>
          <p:cNvPr id="10" name="Rectangle 9"/>
          <p:cNvSpPr/>
          <p:nvPr/>
        </p:nvSpPr>
        <p:spPr>
          <a:xfrm>
            <a:off x="457200" y="2276856"/>
            <a:ext cx="11247120" cy="123444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276856"/>
            <a:ext cx="822960" cy="1234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276856"/>
            <a:ext cx="822960" cy="1234440"/>
          </a:xfrm>
          <a:prstGeom prst="rect">
            <a:avLst/>
          </a:prstGeom>
          <a:noFill/>
        </p:spPr>
        <p:txBody>
          <a:bodyPr wrap="square" anchor="ctr">
            <a:spAutoFit/>
          </a:bodyPr>
          <a:lstStyle/>
          <a:p>
            <a:pPr algn="ctr"/>
            <a:r>
              <a:rPr sz="1800" b="1">
                <a:solidFill>
                  <a:srgbClr val="FFFFFF"/>
                </a:solidFill>
              </a:rPr>
              <a:t>RQ2</a:t>
            </a:r>
          </a:p>
        </p:txBody>
      </p:sp>
      <p:sp>
        <p:nvSpPr>
          <p:cNvPr id="13" name="TextBox 12"/>
          <p:cNvSpPr txBox="1"/>
          <p:nvPr/>
        </p:nvSpPr>
        <p:spPr>
          <a:xfrm>
            <a:off x="1417320" y="2350008"/>
            <a:ext cx="10058400" cy="365760"/>
          </a:xfrm>
          <a:prstGeom prst="rect">
            <a:avLst/>
          </a:prstGeom>
          <a:noFill/>
        </p:spPr>
        <p:txBody>
          <a:bodyPr wrap="square" anchor="t">
            <a:spAutoFit/>
          </a:bodyPr>
          <a:lstStyle/>
          <a:p>
            <a:pPr algn="l"/>
            <a:r>
              <a:rPr sz="1200" b="1">
                <a:solidFill>
                  <a:srgbClr val="041E42"/>
                </a:solidFill>
              </a:rPr>
              <a:t>Can a compliant open-weights VLM extract structured retail signal from screenshots?</a:t>
            </a:r>
          </a:p>
        </p:txBody>
      </p:sp>
      <p:sp>
        <p:nvSpPr>
          <p:cNvPr id="14" name="TextBox 13"/>
          <p:cNvSpPr txBox="1"/>
          <p:nvPr/>
        </p:nvSpPr>
        <p:spPr>
          <a:xfrm>
            <a:off x="1417320" y="2734056"/>
            <a:ext cx="10058400" cy="777240"/>
          </a:xfrm>
          <a:prstGeom prst="rect">
            <a:avLst/>
          </a:prstGeom>
          <a:noFill/>
        </p:spPr>
        <p:txBody>
          <a:bodyPr wrap="square" anchor="t">
            <a:spAutoFit/>
          </a:bodyPr>
          <a:lstStyle/>
          <a:p>
            <a:pPr algn="l"/>
            <a:r>
              <a:rPr sz="1100" b="0">
                <a:solidFill>
                  <a:srgbClr val="333333"/>
                </a:solidFill>
              </a:rPr>
              <a:t>YES  —  Multi-pass pipeline on Gemma 3 4B reduced hallucination from 50 % → 0 %  and lifted text extraction from 25 % → 75 %.</a:t>
            </a:r>
          </a:p>
        </p:txBody>
      </p:sp>
      <p:sp>
        <p:nvSpPr>
          <p:cNvPr id="15" name="Rectangle 14"/>
          <p:cNvSpPr/>
          <p:nvPr/>
        </p:nvSpPr>
        <p:spPr>
          <a:xfrm>
            <a:off x="457200" y="3593592"/>
            <a:ext cx="11247120" cy="123444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3593592"/>
            <a:ext cx="822960" cy="1234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593592"/>
            <a:ext cx="822960" cy="1234440"/>
          </a:xfrm>
          <a:prstGeom prst="rect">
            <a:avLst/>
          </a:prstGeom>
          <a:noFill/>
        </p:spPr>
        <p:txBody>
          <a:bodyPr wrap="square" anchor="ctr">
            <a:spAutoFit/>
          </a:bodyPr>
          <a:lstStyle/>
          <a:p>
            <a:pPr algn="ctr"/>
            <a:r>
              <a:rPr sz="1800" b="1">
                <a:solidFill>
                  <a:srgbClr val="FFFFFF"/>
                </a:solidFill>
              </a:rPr>
              <a:t>RQ3</a:t>
            </a:r>
          </a:p>
        </p:txBody>
      </p:sp>
      <p:sp>
        <p:nvSpPr>
          <p:cNvPr id="18" name="TextBox 17"/>
          <p:cNvSpPr txBox="1"/>
          <p:nvPr/>
        </p:nvSpPr>
        <p:spPr>
          <a:xfrm>
            <a:off x="1417320" y="3666744"/>
            <a:ext cx="10058400" cy="365760"/>
          </a:xfrm>
          <a:prstGeom prst="rect">
            <a:avLst/>
          </a:prstGeom>
          <a:noFill/>
        </p:spPr>
        <p:txBody>
          <a:bodyPr wrap="square" anchor="t">
            <a:spAutoFit/>
          </a:bodyPr>
          <a:lstStyle/>
          <a:p>
            <a:pPr algn="l"/>
            <a:r>
              <a:rPr sz="1200" b="1">
                <a:solidFill>
                  <a:srgbClr val="041E42"/>
                </a:solidFill>
              </a:rPr>
              <a:t>Can a defensible trust score filter low-credibility posts without silent drops?</a:t>
            </a:r>
          </a:p>
        </p:txBody>
      </p:sp>
      <p:sp>
        <p:nvSpPr>
          <p:cNvPr id="19" name="TextBox 18"/>
          <p:cNvSpPr txBox="1"/>
          <p:nvPr/>
        </p:nvSpPr>
        <p:spPr>
          <a:xfrm>
            <a:off x="1417320" y="4050792"/>
            <a:ext cx="10058400" cy="777240"/>
          </a:xfrm>
          <a:prstGeom prst="rect">
            <a:avLst/>
          </a:prstGeom>
          <a:noFill/>
        </p:spPr>
        <p:txBody>
          <a:bodyPr wrap="square" anchor="t">
            <a:spAutoFit/>
          </a:bodyPr>
          <a:lstStyle/>
          <a:p>
            <a:pPr algn="l"/>
            <a:r>
              <a:rPr sz="1100" b="0">
                <a:solidFill>
                  <a:srgbClr val="333333"/>
                </a:solidFill>
              </a:rPr>
              <a:t>YES  —  Interpretable 3-part score flagged 15 % of posts;  12 of 15 confirmed by human annotator.  All low-trust posts remain visible and analyst-overridable.</a:t>
            </a:r>
          </a:p>
        </p:txBody>
      </p:sp>
      <p:sp>
        <p:nvSpPr>
          <p:cNvPr id="20" name="Rectangle 19"/>
          <p:cNvSpPr/>
          <p:nvPr/>
        </p:nvSpPr>
        <p:spPr>
          <a:xfrm>
            <a:off x="457200" y="4910328"/>
            <a:ext cx="11247120" cy="123444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4910328"/>
            <a:ext cx="822960" cy="1234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910328"/>
            <a:ext cx="822960" cy="1234440"/>
          </a:xfrm>
          <a:prstGeom prst="rect">
            <a:avLst/>
          </a:prstGeom>
          <a:noFill/>
        </p:spPr>
        <p:txBody>
          <a:bodyPr wrap="square" anchor="ctr">
            <a:spAutoFit/>
          </a:bodyPr>
          <a:lstStyle/>
          <a:p>
            <a:pPr algn="ctr"/>
            <a:r>
              <a:rPr sz="1800" b="1">
                <a:solidFill>
                  <a:srgbClr val="FFFFFF"/>
                </a:solidFill>
              </a:rPr>
              <a:t>RQ4</a:t>
            </a:r>
          </a:p>
        </p:txBody>
      </p:sp>
      <p:sp>
        <p:nvSpPr>
          <p:cNvPr id="23" name="TextBox 22"/>
          <p:cNvSpPr txBox="1"/>
          <p:nvPr/>
        </p:nvSpPr>
        <p:spPr>
          <a:xfrm>
            <a:off x="1417320" y="4983480"/>
            <a:ext cx="10058400" cy="365760"/>
          </a:xfrm>
          <a:prstGeom prst="rect">
            <a:avLst/>
          </a:prstGeom>
          <a:noFill/>
        </p:spPr>
        <p:txBody>
          <a:bodyPr wrap="square" anchor="t">
            <a:spAutoFit/>
          </a:bodyPr>
          <a:lstStyle/>
          <a:p>
            <a:pPr algn="l"/>
            <a:r>
              <a:rPr sz="1200" b="1">
                <a:solidFill>
                  <a:srgbClr val="041E42"/>
                </a:solidFill>
              </a:rPr>
              <a:t>Can a HITL workflow produce a re-training signal from analyst corrections?</a:t>
            </a:r>
          </a:p>
        </p:txBody>
      </p:sp>
      <p:sp>
        <p:nvSpPr>
          <p:cNvPr id="24" name="TextBox 23"/>
          <p:cNvSpPr txBox="1"/>
          <p:nvPr/>
        </p:nvSpPr>
        <p:spPr>
          <a:xfrm>
            <a:off x="1417320" y="5367528"/>
            <a:ext cx="10058400" cy="777240"/>
          </a:xfrm>
          <a:prstGeom prst="rect">
            <a:avLst/>
          </a:prstGeom>
          <a:noFill/>
        </p:spPr>
        <p:txBody>
          <a:bodyPr wrap="square" anchor="t">
            <a:spAutoFit/>
          </a:bodyPr>
          <a:lstStyle/>
          <a:p>
            <a:pPr algn="l"/>
            <a:r>
              <a:rPr sz="1100" b="0">
                <a:solidFill>
                  <a:srgbClr val="333333"/>
                </a:solidFill>
              </a:rPr>
              <a:t>YES  —  Every correction and posted reply is logged in the  feedback  table  →  feeds ModernBERT Stage-3 augmentation and FLAN-T5 few-shot pool.</a:t>
            </a:r>
          </a:p>
        </p:txBody>
      </p:sp>
      <p:sp>
        <p:nvSpPr>
          <p:cNvPr id="25" name="TextBox 24"/>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6" name="TextBox 25"/>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20 / 25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Recommendations  —  Immediate Follow-Ons</a:t>
            </a:r>
          </a:p>
        </p:txBody>
      </p:sp>
      <p:sp>
        <p:nvSpPr>
          <p:cNvPr id="4" name="Rectangle 3"/>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97280"/>
            <a:ext cx="11247120" cy="15087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097280"/>
            <a:ext cx="182880" cy="150876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234440"/>
            <a:ext cx="10515600" cy="457200"/>
          </a:xfrm>
          <a:prstGeom prst="rect">
            <a:avLst/>
          </a:prstGeom>
          <a:noFill/>
        </p:spPr>
        <p:txBody>
          <a:bodyPr wrap="square" anchor="t">
            <a:spAutoFit/>
          </a:bodyPr>
          <a:lstStyle/>
          <a:p>
            <a:pPr algn="l"/>
            <a:r>
              <a:rPr sz="1500" b="1">
                <a:solidFill>
                  <a:srgbClr val="041E42"/>
                </a:solidFill>
              </a:rPr>
              <a:t>Monthly retraining cadence</a:t>
            </a:r>
          </a:p>
        </p:txBody>
      </p:sp>
      <p:sp>
        <p:nvSpPr>
          <p:cNvPr id="8" name="TextBox 7"/>
          <p:cNvSpPr txBox="1"/>
          <p:nvPr/>
        </p:nvSpPr>
        <p:spPr>
          <a:xfrm>
            <a:off x="822960" y="1737360"/>
            <a:ext cx="10515600" cy="822960"/>
          </a:xfrm>
          <a:prstGeom prst="rect">
            <a:avLst/>
          </a:prstGeom>
          <a:noFill/>
        </p:spPr>
        <p:txBody>
          <a:bodyPr wrap="square" anchor="t">
            <a:spAutoFit/>
          </a:bodyPr>
          <a:lstStyle/>
          <a:p>
            <a:pPr algn="l"/>
            <a:r>
              <a:rPr sz="1200" b="0">
                <a:solidFill>
                  <a:srgbClr val="333333"/>
                </a:solidFill>
              </a:rPr>
              <a:t>Use the HITL feedback store as the incremental labelling stream and re-run the 3-stage curriculum monthly.</a:t>
            </a:r>
          </a:p>
        </p:txBody>
      </p:sp>
      <p:sp>
        <p:nvSpPr>
          <p:cNvPr id="9" name="Rectangle 8"/>
          <p:cNvSpPr/>
          <p:nvPr/>
        </p:nvSpPr>
        <p:spPr>
          <a:xfrm>
            <a:off x="457200" y="2743200"/>
            <a:ext cx="11247120" cy="15087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743200"/>
            <a:ext cx="182880" cy="15087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880360"/>
            <a:ext cx="10515600" cy="457200"/>
          </a:xfrm>
          <a:prstGeom prst="rect">
            <a:avLst/>
          </a:prstGeom>
          <a:noFill/>
        </p:spPr>
        <p:txBody>
          <a:bodyPr wrap="square" anchor="t">
            <a:spAutoFit/>
          </a:bodyPr>
          <a:lstStyle/>
          <a:p>
            <a:pPr algn="l"/>
            <a:r>
              <a:rPr sz="1500" b="1">
                <a:solidFill>
                  <a:srgbClr val="041E42"/>
                </a:solidFill>
              </a:rPr>
              <a:t>Bilingual pass  (Hindi + English)</a:t>
            </a:r>
          </a:p>
        </p:txBody>
      </p:sp>
      <p:sp>
        <p:nvSpPr>
          <p:cNvPr id="12" name="TextBox 11"/>
          <p:cNvSpPr txBox="1"/>
          <p:nvPr/>
        </p:nvSpPr>
        <p:spPr>
          <a:xfrm>
            <a:off x="822960" y="3383280"/>
            <a:ext cx="10515600" cy="822960"/>
          </a:xfrm>
          <a:prstGeom prst="rect">
            <a:avLst/>
          </a:prstGeom>
          <a:noFill/>
        </p:spPr>
        <p:txBody>
          <a:bodyPr wrap="square" anchor="t">
            <a:spAutoFit/>
          </a:bodyPr>
          <a:lstStyle/>
          <a:p>
            <a:pPr algn="l"/>
            <a:r>
              <a:rPr sz="1200" b="0">
                <a:solidFill>
                  <a:srgbClr val="333333"/>
                </a:solidFill>
              </a:rPr>
              <a:t>Validate the retail taxonomy with native-speaker analysts before extending to Indian retail communities.</a:t>
            </a:r>
          </a:p>
        </p:txBody>
      </p:sp>
      <p:sp>
        <p:nvSpPr>
          <p:cNvPr id="13" name="Rectangle 12"/>
          <p:cNvSpPr/>
          <p:nvPr/>
        </p:nvSpPr>
        <p:spPr>
          <a:xfrm>
            <a:off x="457200" y="4389120"/>
            <a:ext cx="11247120" cy="15087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4389120"/>
            <a:ext cx="182880" cy="15087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4526280"/>
            <a:ext cx="10515600" cy="457200"/>
          </a:xfrm>
          <a:prstGeom prst="rect">
            <a:avLst/>
          </a:prstGeom>
          <a:noFill/>
        </p:spPr>
        <p:txBody>
          <a:bodyPr wrap="square" anchor="t">
            <a:spAutoFit/>
          </a:bodyPr>
          <a:lstStyle/>
          <a:p>
            <a:pPr algn="l"/>
            <a:r>
              <a:rPr sz="1500" b="1">
                <a:solidFill>
                  <a:srgbClr val="041E42"/>
                </a:solidFill>
              </a:rPr>
              <a:t>Per-team SLA dashboards</a:t>
            </a:r>
          </a:p>
        </p:txBody>
      </p:sp>
      <p:sp>
        <p:nvSpPr>
          <p:cNvPr id="16" name="TextBox 15"/>
          <p:cNvSpPr txBox="1"/>
          <p:nvPr/>
        </p:nvSpPr>
        <p:spPr>
          <a:xfrm>
            <a:off x="822960" y="5029200"/>
            <a:ext cx="10515600" cy="822960"/>
          </a:xfrm>
          <a:prstGeom prst="rect">
            <a:avLst/>
          </a:prstGeom>
          <a:noFill/>
        </p:spPr>
        <p:txBody>
          <a:bodyPr wrap="square" anchor="t">
            <a:spAutoFit/>
          </a:bodyPr>
          <a:lstStyle/>
          <a:p>
            <a:pPr algn="l"/>
            <a:r>
              <a:rPr sz="1200" b="0">
                <a:solidFill>
                  <a:srgbClr val="333333"/>
                </a:solidFill>
              </a:rPr>
              <a:t>Extend the Post Lifecycle SLA analytics into per-team dashboards once analyst volume passes ~50 posts / day.</a:t>
            </a:r>
          </a:p>
        </p:txBody>
      </p:sp>
      <p:sp>
        <p:nvSpPr>
          <p:cNvPr id="17" name="TextBox 16"/>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8" name="TextBox 17"/>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21 / 25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Future Work  —  Model + Product</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Directions grouped by layer of the stack</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532120" cy="51206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97280"/>
            <a:ext cx="5212080" cy="365760"/>
          </a:xfrm>
          <a:prstGeom prst="rect">
            <a:avLst/>
          </a:prstGeom>
          <a:noFill/>
        </p:spPr>
        <p:txBody>
          <a:bodyPr wrap="square" anchor="t">
            <a:spAutoFit/>
          </a:bodyPr>
          <a:lstStyle/>
          <a:p>
            <a:pPr algn="l"/>
            <a:r>
              <a:rPr sz="1400" b="1">
                <a:solidFill>
                  <a:srgbClr val="0071DC"/>
                </a:solidFill>
              </a:rPr>
              <a:t>Model-level</a:t>
            </a:r>
          </a:p>
        </p:txBody>
      </p:sp>
      <p:sp>
        <p:nvSpPr>
          <p:cNvPr id="8" name="TextBox 7"/>
          <p:cNvSpPr txBox="1"/>
          <p:nvPr/>
        </p:nvSpPr>
        <p:spPr>
          <a:xfrm>
            <a:off x="640080" y="1508760"/>
            <a:ext cx="5212080" cy="4389120"/>
          </a:xfrm>
          <a:prstGeom prst="rect">
            <a:avLst/>
          </a:prstGeom>
          <a:noFill/>
        </p:spPr>
        <p:txBody>
          <a:bodyPr wrap="square">
            <a:spAutoFit/>
          </a:bodyPr>
          <a:lstStyle/>
          <a:p>
            <a:pPr>
              <a:spcAft>
                <a:spcPts val="400"/>
              </a:spcAft>
            </a:pPr>
            <a:r>
              <a:rPr sz="1200" b="0">
                <a:solidFill>
                  <a:srgbClr val="333333"/>
                </a:solidFill>
              </a:rPr>
              <a:t>•  Joint sentiment + aspect head on a shared encoder  (~30 % inference saving)</a:t>
            </a:r>
          </a:p>
          <a:p>
            <a:pPr>
              <a:spcAft>
                <a:spcPts val="400"/>
              </a:spcAft>
            </a:pPr>
            <a:r>
              <a:rPr sz="1200" b="0">
                <a:solidFill>
                  <a:srgbClr val="333333"/>
                </a:solidFill>
              </a:rPr>
              <a:t>•  Distil ModernBERT to ~50 M-parameter student  →  CPU-only edge inference</a:t>
            </a:r>
          </a:p>
          <a:p>
            <a:pPr>
              <a:spcAft>
                <a:spcPts val="400"/>
              </a:spcAft>
            </a:pPr>
            <a:r>
              <a:rPr sz="1200" b="0">
                <a:solidFill>
                  <a:srgbClr val="333333"/>
                </a:solidFill>
              </a:rPr>
              <a:t>•  Reasoning-augmented VLM captioning  (LLaVA-Next 1.6 B or SmolVLM)</a:t>
            </a:r>
          </a:p>
          <a:p>
            <a:pPr>
              <a:spcAft>
                <a:spcPts val="400"/>
              </a:spcAft>
            </a:pPr>
            <a:r>
              <a:rPr sz="1200" b="0">
                <a:solidFill>
                  <a:srgbClr val="333333"/>
                </a:solidFill>
              </a:rPr>
              <a:t>•  3-seed ensemble for tighter F1 variance</a:t>
            </a:r>
          </a:p>
          <a:p>
            <a:pPr>
              <a:spcAft>
                <a:spcPts val="400"/>
              </a:spcAft>
            </a:pPr>
            <a:r>
              <a:rPr sz="1200" b="0">
                <a:solidFill>
                  <a:srgbClr val="333333"/>
                </a:solidFill>
              </a:rPr>
              <a:t>•  Blind 25-post recheck for defensibility</a:t>
            </a:r>
          </a:p>
        </p:txBody>
      </p:sp>
      <p:sp>
        <p:nvSpPr>
          <p:cNvPr id="9" name="Rectangle 8"/>
          <p:cNvSpPr/>
          <p:nvPr/>
        </p:nvSpPr>
        <p:spPr>
          <a:xfrm>
            <a:off x="6172200" y="960120"/>
            <a:ext cx="5532120" cy="5120640"/>
          </a:xfrm>
          <a:prstGeom prst="rect">
            <a:avLst/>
          </a:prstGeom>
          <a:solidFill>
            <a:srgbClr val="EDE9FE"/>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097280"/>
            <a:ext cx="5212080" cy="365760"/>
          </a:xfrm>
          <a:prstGeom prst="rect">
            <a:avLst/>
          </a:prstGeom>
          <a:noFill/>
        </p:spPr>
        <p:txBody>
          <a:bodyPr wrap="square" anchor="t">
            <a:spAutoFit/>
          </a:bodyPr>
          <a:lstStyle/>
          <a:p>
            <a:pPr algn="l"/>
            <a:r>
              <a:rPr sz="1400" b="1">
                <a:solidFill>
                  <a:srgbClr val="7C3AED"/>
                </a:solidFill>
              </a:rPr>
              <a:t>Product-level</a:t>
            </a:r>
          </a:p>
        </p:txBody>
      </p:sp>
      <p:sp>
        <p:nvSpPr>
          <p:cNvPr id="11" name="TextBox 10"/>
          <p:cNvSpPr txBox="1"/>
          <p:nvPr/>
        </p:nvSpPr>
        <p:spPr>
          <a:xfrm>
            <a:off x="6355080" y="1508760"/>
            <a:ext cx="5212080" cy="4389120"/>
          </a:xfrm>
          <a:prstGeom prst="rect">
            <a:avLst/>
          </a:prstGeom>
          <a:noFill/>
        </p:spPr>
        <p:txBody>
          <a:bodyPr wrap="square">
            <a:spAutoFit/>
          </a:bodyPr>
          <a:lstStyle/>
          <a:p>
            <a:pPr>
              <a:spcAft>
                <a:spcPts val="400"/>
              </a:spcAft>
            </a:pPr>
            <a:r>
              <a:rPr sz="1200" b="0">
                <a:solidFill>
                  <a:srgbClr val="333333"/>
                </a:solidFill>
              </a:rPr>
              <a:t>•  Auto-reply confidence gate  —  promote LLM drafts to "queued to send" when analyst edit-distance &lt; threshold</a:t>
            </a:r>
          </a:p>
          <a:p>
            <a:pPr>
              <a:spcAft>
                <a:spcPts val="400"/>
              </a:spcAft>
            </a:pPr>
            <a:r>
              <a:rPr sz="1200" b="0">
                <a:solidFill>
                  <a:srgbClr val="333333"/>
                </a:solidFill>
              </a:rPr>
              <a:t>•  Predictive P1 forecast  —  seasonal decomposition on daily counts (24–48 h ahead)</a:t>
            </a:r>
          </a:p>
          <a:p>
            <a:pPr>
              <a:spcAft>
                <a:spcPts val="400"/>
              </a:spcAft>
            </a:pPr>
            <a:r>
              <a:rPr sz="1200" b="0">
                <a:solidFill>
                  <a:srgbClr val="333333"/>
                </a:solidFill>
              </a:rPr>
              <a:t>•  Bilingual (Hindi + English) taxonomy</a:t>
            </a:r>
          </a:p>
          <a:p>
            <a:pPr>
              <a:spcAft>
                <a:spcPts val="400"/>
              </a:spcAft>
            </a:pPr>
            <a:r>
              <a:rPr sz="1200" b="0">
                <a:solidFill>
                  <a:srgbClr val="333333"/>
                </a:solidFill>
              </a:rPr>
              <a:t>•  Slack-bot inline notification responses</a:t>
            </a:r>
          </a:p>
          <a:p>
            <a:pPr>
              <a:spcAft>
                <a:spcPts val="400"/>
              </a:spcAft>
            </a:pPr>
            <a:r>
              <a:rPr sz="1200" b="0">
                <a:solidFill>
                  <a:srgbClr val="333333"/>
                </a:solidFill>
              </a:rPr>
              <a:t>•  Automated retraining pipeline hook</a:t>
            </a:r>
          </a:p>
        </p:txBody>
      </p:sp>
      <p:sp>
        <p:nvSpPr>
          <p:cNvPr id="12" name="TextBox 11"/>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3" name="TextBox 12"/>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22 / 25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Future Work  —  Operational</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Path from local prototype to Walmart-production service</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051560"/>
            <a:ext cx="11247120" cy="11887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051560"/>
            <a:ext cx="182880" cy="11887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161288"/>
            <a:ext cx="10515600" cy="411480"/>
          </a:xfrm>
          <a:prstGeom prst="rect">
            <a:avLst/>
          </a:prstGeom>
          <a:noFill/>
        </p:spPr>
        <p:txBody>
          <a:bodyPr wrap="square" anchor="t">
            <a:spAutoFit/>
          </a:bodyPr>
          <a:lstStyle/>
          <a:p>
            <a:pPr algn="l"/>
            <a:r>
              <a:rPr sz="1400" b="1">
                <a:solidFill>
                  <a:srgbClr val="041E42"/>
                </a:solidFill>
              </a:rPr>
              <a:t>Kubernetes CronJob</a:t>
            </a:r>
          </a:p>
        </p:txBody>
      </p:sp>
      <p:sp>
        <p:nvSpPr>
          <p:cNvPr id="9" name="TextBox 8"/>
          <p:cNvSpPr txBox="1"/>
          <p:nvPr/>
        </p:nvSpPr>
        <p:spPr>
          <a:xfrm>
            <a:off x="822960" y="1600200"/>
            <a:ext cx="10515600" cy="640080"/>
          </a:xfrm>
          <a:prstGeom prst="rect">
            <a:avLst/>
          </a:prstGeom>
          <a:noFill/>
        </p:spPr>
        <p:txBody>
          <a:bodyPr wrap="square" anchor="t">
            <a:spAutoFit/>
          </a:bodyPr>
          <a:lstStyle/>
          <a:p>
            <a:pPr algn="l"/>
            <a:r>
              <a:rPr sz="1100" b="0">
                <a:solidFill>
                  <a:srgbClr val="333333"/>
                </a:solidFill>
              </a:rPr>
              <a:t>Deploy the pipeline as a scheduled Kubernetes CronJob backed by a managed Postgres instance for multi-analyst concurrency.</a:t>
            </a:r>
          </a:p>
        </p:txBody>
      </p:sp>
      <p:sp>
        <p:nvSpPr>
          <p:cNvPr id="10" name="Rectangle 9"/>
          <p:cNvSpPr/>
          <p:nvPr/>
        </p:nvSpPr>
        <p:spPr>
          <a:xfrm>
            <a:off x="457200" y="2350008"/>
            <a:ext cx="11247120" cy="118872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350008"/>
            <a:ext cx="182880" cy="11887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459736"/>
            <a:ext cx="10515600" cy="411480"/>
          </a:xfrm>
          <a:prstGeom prst="rect">
            <a:avLst/>
          </a:prstGeom>
          <a:noFill/>
        </p:spPr>
        <p:txBody>
          <a:bodyPr wrap="square" anchor="t">
            <a:spAutoFit/>
          </a:bodyPr>
          <a:lstStyle/>
          <a:p>
            <a:pPr algn="l"/>
            <a:r>
              <a:rPr sz="1400" b="1">
                <a:solidFill>
                  <a:srgbClr val="041E42"/>
                </a:solidFill>
              </a:rPr>
              <a:t>Azure Cosmos DB migration</a:t>
            </a:r>
          </a:p>
        </p:txBody>
      </p:sp>
      <p:sp>
        <p:nvSpPr>
          <p:cNvPr id="13" name="TextBox 12"/>
          <p:cNvSpPr txBox="1"/>
          <p:nvPr/>
        </p:nvSpPr>
        <p:spPr>
          <a:xfrm>
            <a:off x="822960" y="2898648"/>
            <a:ext cx="10515600" cy="640080"/>
          </a:xfrm>
          <a:prstGeom prst="rect">
            <a:avLst/>
          </a:prstGeom>
          <a:noFill/>
        </p:spPr>
        <p:txBody>
          <a:bodyPr wrap="square" anchor="t">
            <a:spAutoFit/>
          </a:bodyPr>
          <a:lstStyle/>
          <a:p>
            <a:pPr algn="l"/>
            <a:r>
              <a:rPr sz="1100" b="0">
                <a:solidFill>
                  <a:srgbClr val="333333"/>
                </a:solidFill>
              </a:rPr>
              <a:t>Swap SQLiteBackend for CosmosBackend (schema already mirrors partition design)  —  no calling-code change.</a:t>
            </a:r>
          </a:p>
        </p:txBody>
      </p:sp>
      <p:sp>
        <p:nvSpPr>
          <p:cNvPr id="14" name="Rectangle 13"/>
          <p:cNvSpPr/>
          <p:nvPr/>
        </p:nvSpPr>
        <p:spPr>
          <a:xfrm>
            <a:off x="457200" y="3648456"/>
            <a:ext cx="11247120" cy="118872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3648456"/>
            <a:ext cx="182880" cy="118872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758184"/>
            <a:ext cx="10515600" cy="411480"/>
          </a:xfrm>
          <a:prstGeom prst="rect">
            <a:avLst/>
          </a:prstGeom>
          <a:noFill/>
        </p:spPr>
        <p:txBody>
          <a:bodyPr wrap="square" anchor="t">
            <a:spAutoFit/>
          </a:bodyPr>
          <a:lstStyle/>
          <a:p>
            <a:pPr algn="l"/>
            <a:r>
              <a:rPr sz="1400" b="1">
                <a:solidFill>
                  <a:srgbClr val="041E42"/>
                </a:solidFill>
              </a:rPr>
              <a:t>Walmart ticketing integration</a:t>
            </a:r>
          </a:p>
        </p:txBody>
      </p:sp>
      <p:sp>
        <p:nvSpPr>
          <p:cNvPr id="17" name="TextBox 16"/>
          <p:cNvSpPr txBox="1"/>
          <p:nvPr/>
        </p:nvSpPr>
        <p:spPr>
          <a:xfrm>
            <a:off x="822960" y="4197096"/>
            <a:ext cx="10515600" cy="640080"/>
          </a:xfrm>
          <a:prstGeom prst="rect">
            <a:avLst/>
          </a:prstGeom>
          <a:noFill/>
        </p:spPr>
        <p:txBody>
          <a:bodyPr wrap="square" anchor="t">
            <a:spAutoFit/>
          </a:bodyPr>
          <a:lstStyle/>
          <a:p>
            <a:pPr algn="l"/>
            <a:r>
              <a:rPr sz="1100" b="0">
                <a:solidFill>
                  <a:srgbClr val="333333"/>
                </a:solidFill>
              </a:rPr>
              <a:t>P1 alerts open cases directly in Walmart's internal ticketing so the analyst never leaves the workflow.</a:t>
            </a:r>
          </a:p>
        </p:txBody>
      </p:sp>
      <p:sp>
        <p:nvSpPr>
          <p:cNvPr id="18" name="Rectangle 17"/>
          <p:cNvSpPr/>
          <p:nvPr/>
        </p:nvSpPr>
        <p:spPr>
          <a:xfrm>
            <a:off x="457200" y="4946904"/>
            <a:ext cx="11247120" cy="118872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4946904"/>
            <a:ext cx="182880" cy="11887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5056632"/>
            <a:ext cx="10515600" cy="411480"/>
          </a:xfrm>
          <a:prstGeom prst="rect">
            <a:avLst/>
          </a:prstGeom>
          <a:noFill/>
        </p:spPr>
        <p:txBody>
          <a:bodyPr wrap="square" anchor="t">
            <a:spAutoFit/>
          </a:bodyPr>
          <a:lstStyle/>
          <a:p>
            <a:pPr algn="l"/>
            <a:r>
              <a:rPr sz="1400" b="1">
                <a:solidFill>
                  <a:srgbClr val="041E42"/>
                </a:solidFill>
              </a:rPr>
              <a:t>Broader ingestion</a:t>
            </a:r>
          </a:p>
        </p:txBody>
      </p:sp>
      <p:sp>
        <p:nvSpPr>
          <p:cNvPr id="21" name="TextBox 20"/>
          <p:cNvSpPr txBox="1"/>
          <p:nvPr/>
        </p:nvSpPr>
        <p:spPr>
          <a:xfrm>
            <a:off x="822960" y="5495544"/>
            <a:ext cx="10515600" cy="640080"/>
          </a:xfrm>
          <a:prstGeom prst="rect">
            <a:avLst/>
          </a:prstGeom>
          <a:noFill/>
        </p:spPr>
        <p:txBody>
          <a:bodyPr wrap="square" anchor="t">
            <a:spAutoFit/>
          </a:bodyPr>
          <a:lstStyle/>
          <a:p>
            <a:pPr algn="l"/>
            <a:r>
              <a:rPr sz="1100" b="0">
                <a:solidFill>
                  <a:srgbClr val="333333"/>
                </a:solidFill>
              </a:rPr>
              <a:t>Extend beyond Reddit to Twitter / X, YouTube comments, and app-store reviews on the same trust + sentiment stack.</a:t>
            </a:r>
          </a:p>
        </p:txBody>
      </p:sp>
      <p:sp>
        <p:nvSpPr>
          <p:cNvPr id="22" name="TextBox 21"/>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3" name="TextBox 22"/>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23 / 25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Source Code &amp; Deliverables</a:t>
            </a:r>
          </a:p>
        </p:txBody>
      </p:sp>
      <p:sp>
        <p:nvSpPr>
          <p:cNvPr id="4" name="Rectangle 3"/>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960120"/>
            <a:ext cx="11247120" cy="10058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051560"/>
            <a:ext cx="10972800" cy="320040"/>
          </a:xfrm>
          <a:prstGeom prst="rect">
            <a:avLst/>
          </a:prstGeom>
          <a:noFill/>
        </p:spPr>
        <p:txBody>
          <a:bodyPr wrap="square" anchor="t">
            <a:spAutoFit/>
          </a:bodyPr>
          <a:lstStyle/>
          <a:p>
            <a:pPr algn="l"/>
            <a:r>
              <a:rPr sz="1200" b="1">
                <a:solidFill>
                  <a:srgbClr val="0071DC"/>
                </a:solidFill>
              </a:rPr>
              <a:t>Repository</a:t>
            </a:r>
          </a:p>
        </p:txBody>
      </p:sp>
      <p:sp>
        <p:nvSpPr>
          <p:cNvPr id="7" name="TextBox 6"/>
          <p:cNvSpPr txBox="1"/>
          <p:nvPr/>
        </p:nvSpPr>
        <p:spPr>
          <a:xfrm>
            <a:off x="640080" y="1417320"/>
            <a:ext cx="10972800" cy="502920"/>
          </a:xfrm>
          <a:prstGeom prst="rect">
            <a:avLst/>
          </a:prstGeom>
          <a:noFill/>
        </p:spPr>
        <p:txBody>
          <a:bodyPr wrap="square" anchor="ctr">
            <a:spAutoFit/>
          </a:bodyPr>
          <a:lstStyle/>
          <a:p>
            <a:pPr algn="l"/>
            <a:r>
              <a:rPr sz="1600" b="1">
                <a:solidFill>
                  <a:srgbClr val="041E42"/>
                </a:solidFill>
              </a:rPr>
              <a:t>https://gecgithub01.walmart.com/v0s01jh/Retail_Sentiment_Intelligence</a:t>
            </a:r>
          </a:p>
        </p:txBody>
      </p:sp>
      <p:graphicFrame>
        <p:nvGraphicFramePr>
          <p:cNvPr id="8" name="Table 7"/>
          <p:cNvGraphicFramePr>
            <a:graphicFrameLocks noGrp="1"/>
          </p:cNvGraphicFramePr>
          <p:nvPr/>
        </p:nvGraphicFramePr>
        <p:xfrm>
          <a:off x="457200" y="2148840"/>
          <a:ext cx="11247120" cy="4114800"/>
        </p:xfrm>
        <a:graphic>
          <a:graphicData uri="http://schemas.openxmlformats.org/drawingml/2006/table">
            <a:tbl>
              <a:tblPr firstRow="1" bandRow="1">
                <a:tableStyleId>{5C22544A-7EE6-4342-B048-85BDC9FD1C3A}</a:tableStyleId>
              </a:tblPr>
              <a:tblGrid>
                <a:gridCol w="3749040"/>
                <a:gridCol w="3749040"/>
                <a:gridCol w="3749040"/>
              </a:tblGrid>
              <a:tr h="514350">
                <a:tc>
                  <a:txBody>
                    <a:bodyPr/>
                    <a:lstStyle/>
                    <a:p>
                      <a:r>
                        <a:rPr sz="1000" b="1">
                          <a:solidFill>
                            <a:srgbClr val="FFFFFF"/>
                          </a:solidFill>
                        </a:rPr>
                        <a:t>Deliverable</a:t>
                      </a:r>
                    </a:p>
                  </a:txBody>
                  <a:tcPr>
                    <a:solidFill>
                      <a:srgbClr val="041E42"/>
                    </a:solidFill>
                  </a:tcPr>
                </a:tc>
                <a:tc>
                  <a:txBody>
                    <a:bodyPr/>
                    <a:lstStyle/>
                    <a:p>
                      <a:r>
                        <a:rPr sz="1000" b="1">
                          <a:solidFill>
                            <a:srgbClr val="FFFFFF"/>
                          </a:solidFill>
                        </a:rPr>
                        <a:t>Path in repo</a:t>
                      </a:r>
                    </a:p>
                  </a:txBody>
                  <a:tcPr>
                    <a:solidFill>
                      <a:srgbClr val="041E42"/>
                    </a:solidFill>
                  </a:tcPr>
                </a:tc>
                <a:tc>
                  <a:txBody>
                    <a:bodyPr/>
                    <a:lstStyle/>
                    <a:p>
                      <a:r>
                        <a:rPr sz="1000" b="1">
                          <a:solidFill>
                            <a:srgbClr val="FFFFFF"/>
                          </a:solidFill>
                        </a:rPr>
                        <a:t>Contents</a:t>
                      </a:r>
                    </a:p>
                  </a:txBody>
                  <a:tcPr>
                    <a:solidFill>
                      <a:srgbClr val="041E42"/>
                    </a:solidFill>
                  </a:tcPr>
                </a:tc>
              </a:tr>
              <a:tr h="514350">
                <a:tc>
                  <a:txBody>
                    <a:bodyPr/>
                    <a:lstStyle/>
                    <a:p>
                      <a:r>
                        <a:rPr sz="1000" b="1">
                          <a:solidFill>
                            <a:srgbClr val="333333"/>
                          </a:solidFill>
                        </a:rPr>
                        <a:t>Final Report (PDF)</a:t>
                      </a:r>
                    </a:p>
                  </a:txBody>
                  <a:tcPr>
                    <a:solidFill>
                      <a:srgbClr val="FFFFFF"/>
                    </a:solidFill>
                  </a:tcPr>
                </a:tc>
                <a:tc>
                  <a:txBody>
                    <a:bodyPr/>
                    <a:lstStyle/>
                    <a:p>
                      <a:r>
                        <a:rPr sz="1000">
                          <a:solidFill>
                            <a:srgbClr val="333333"/>
                          </a:solidFill>
                        </a:rPr>
                        <a:t>docs/Sem_4/final/FINAL_REPORT_VishalSingh_2020AA05641.pdf</a:t>
                      </a:r>
                    </a:p>
                  </a:txBody>
                  <a:tcPr>
                    <a:solidFill>
                      <a:srgbClr val="FFFFFF"/>
                    </a:solidFill>
                  </a:tcPr>
                </a:tc>
                <a:tc>
                  <a:txBody>
                    <a:bodyPr/>
                    <a:lstStyle/>
                    <a:p>
                      <a:r>
                        <a:rPr sz="1000">
                          <a:solidFill>
                            <a:srgbClr val="333333"/>
                          </a:solidFill>
                        </a:rPr>
                        <a:t>10 chapters + appendices + refs</a:t>
                      </a:r>
                    </a:p>
                  </a:txBody>
                  <a:tcPr>
                    <a:solidFill>
                      <a:srgbClr val="FFFFFF"/>
                    </a:solidFill>
                  </a:tcPr>
                </a:tc>
              </a:tr>
              <a:tr h="514350">
                <a:tc>
                  <a:txBody>
                    <a:bodyPr/>
                    <a:lstStyle/>
                    <a:p>
                      <a:r>
                        <a:rPr sz="1000" b="1">
                          <a:solidFill>
                            <a:srgbClr val="333333"/>
                          </a:solidFill>
                        </a:rPr>
                        <a:t>Final Report (LaTeX)</a:t>
                      </a:r>
                    </a:p>
                  </a:txBody>
                  <a:tcPr>
                    <a:solidFill>
                      <a:srgbClr val="F5F5F5"/>
                    </a:solidFill>
                  </a:tcPr>
                </a:tc>
                <a:tc>
                  <a:txBody>
                    <a:bodyPr/>
                    <a:lstStyle/>
                    <a:p>
                      <a:r>
                        <a:rPr sz="1000">
                          <a:solidFill>
                            <a:srgbClr val="333333"/>
                          </a:solidFill>
                        </a:rPr>
                        <a:t>docs/Sem_4/final/latex/</a:t>
                      </a:r>
                    </a:p>
                  </a:txBody>
                  <a:tcPr>
                    <a:solidFill>
                      <a:srgbClr val="F5F5F5"/>
                    </a:solidFill>
                  </a:tcPr>
                </a:tc>
                <a:tc>
                  <a:txBody>
                    <a:bodyPr/>
                    <a:lstStyle/>
                    <a:p>
                      <a:r>
                        <a:rPr sz="1000">
                          <a:solidFill>
                            <a:srgbClr val="333333"/>
                          </a:solidFill>
                        </a:rPr>
                        <a:t>Reproducible xelatex source</a:t>
                      </a:r>
                    </a:p>
                  </a:txBody>
                  <a:tcPr>
                    <a:solidFill>
                      <a:srgbClr val="F5F5F5"/>
                    </a:solidFill>
                  </a:tcPr>
                </a:tc>
              </a:tr>
              <a:tr h="514350">
                <a:tc>
                  <a:txBody>
                    <a:bodyPr/>
                    <a:lstStyle/>
                    <a:p>
                      <a:r>
                        <a:rPr sz="1000" b="1">
                          <a:solidFill>
                            <a:srgbClr val="333333"/>
                          </a:solidFill>
                        </a:rPr>
                        <a:t>Pipeline core</a:t>
                      </a:r>
                    </a:p>
                  </a:txBody>
                  <a:tcPr>
                    <a:solidFill>
                      <a:srgbClr val="FFFFFF"/>
                    </a:solidFill>
                  </a:tcPr>
                </a:tc>
                <a:tc>
                  <a:txBody>
                    <a:bodyPr/>
                    <a:lstStyle/>
                    <a:p>
                      <a:r>
                        <a:rPr sz="1000">
                          <a:solidFill>
                            <a:srgbClr val="333333"/>
                          </a:solidFill>
                        </a:rPr>
                        <a:t>src/pipeline.py, src/ingestion/, src/analysis/</a:t>
                      </a:r>
                    </a:p>
                  </a:txBody>
                  <a:tcPr>
                    <a:solidFill>
                      <a:srgbClr val="FFFFFF"/>
                    </a:solidFill>
                  </a:tcPr>
                </a:tc>
                <a:tc>
                  <a:txBody>
                    <a:bodyPr/>
                    <a:lstStyle/>
                    <a:p>
                      <a:r>
                        <a:rPr sz="1000">
                          <a:solidFill>
                            <a:srgbClr val="333333"/>
                          </a:solidFill>
                        </a:rPr>
                        <a:t>6-layer async pipeline</a:t>
                      </a:r>
                    </a:p>
                  </a:txBody>
                  <a:tcPr>
                    <a:solidFill>
                      <a:srgbClr val="FFFFFF"/>
                    </a:solidFill>
                  </a:tcPr>
                </a:tc>
              </a:tr>
              <a:tr h="514350">
                <a:tc>
                  <a:txBody>
                    <a:bodyPr/>
                    <a:lstStyle/>
                    <a:p>
                      <a:r>
                        <a:rPr sz="1000" b="1">
                          <a:solidFill>
                            <a:srgbClr val="333333"/>
                          </a:solidFill>
                        </a:rPr>
                        <a:t>Sentiment training</a:t>
                      </a:r>
                    </a:p>
                  </a:txBody>
                  <a:tcPr>
                    <a:solidFill>
                      <a:srgbClr val="F5F5F5"/>
                    </a:solidFill>
                  </a:tcPr>
                </a:tc>
                <a:tc>
                  <a:txBody>
                    <a:bodyPr/>
                    <a:lstStyle/>
                    <a:p>
                      <a:r>
                        <a:rPr sz="1000">
                          <a:solidFill>
                            <a:srgbClr val="333333"/>
                          </a:solidFill>
                        </a:rPr>
                        <a:t>scripts/train_modernbert_sentiment.py</a:t>
                      </a:r>
                    </a:p>
                  </a:txBody>
                  <a:tcPr>
                    <a:solidFill>
                      <a:srgbClr val="F5F5F5"/>
                    </a:solidFill>
                  </a:tcPr>
                </a:tc>
                <a:tc>
                  <a:txBody>
                    <a:bodyPr/>
                    <a:lstStyle/>
                    <a:p>
                      <a:r>
                        <a:rPr sz="1000">
                          <a:solidFill>
                            <a:srgbClr val="333333"/>
                          </a:solidFill>
                        </a:rPr>
                        <a:t>3-stage curriculum runner</a:t>
                      </a:r>
                    </a:p>
                  </a:txBody>
                  <a:tcPr>
                    <a:solidFill>
                      <a:srgbClr val="F5F5F5"/>
                    </a:solidFill>
                  </a:tcPr>
                </a:tc>
              </a:tr>
              <a:tr h="514350">
                <a:tc>
                  <a:txBody>
                    <a:bodyPr/>
                    <a:lstStyle/>
                    <a:p>
                      <a:r>
                        <a:rPr sz="1000" b="1">
                          <a:solidFill>
                            <a:srgbClr val="333333"/>
                          </a:solidFill>
                        </a:rPr>
                        <a:t>Evaluation notebook</a:t>
                      </a:r>
                    </a:p>
                  </a:txBody>
                  <a:tcPr>
                    <a:solidFill>
                      <a:srgbClr val="FFFFFF"/>
                    </a:solidFill>
                  </a:tcPr>
                </a:tc>
                <a:tc>
                  <a:txBody>
                    <a:bodyPr/>
                    <a:lstStyle/>
                    <a:p>
                      <a:r>
                        <a:rPr sz="1000">
                          <a:solidFill>
                            <a:srgbClr val="333333"/>
                          </a:solidFill>
                        </a:rPr>
                        <a:t>evaluation/trust_score_walmart200.ipynb</a:t>
                      </a:r>
                    </a:p>
                  </a:txBody>
                  <a:tcPr>
                    <a:solidFill>
                      <a:srgbClr val="FFFFFF"/>
                    </a:solidFill>
                  </a:tcPr>
                </a:tc>
                <a:tc>
                  <a:txBody>
                    <a:bodyPr/>
                    <a:lstStyle/>
                    <a:p>
                      <a:r>
                        <a:rPr sz="1000">
                          <a:solidFill>
                            <a:srgbClr val="333333"/>
                          </a:solidFill>
                        </a:rPr>
                        <a:t>Reproducible 5-fold OOF eval</a:t>
                      </a:r>
                    </a:p>
                  </a:txBody>
                  <a:tcPr>
                    <a:solidFill>
                      <a:srgbClr val="FFFFFF"/>
                    </a:solidFill>
                  </a:tcPr>
                </a:tc>
              </a:tr>
              <a:tr h="514350">
                <a:tc>
                  <a:txBody>
                    <a:bodyPr/>
                    <a:lstStyle/>
                    <a:p>
                      <a:r>
                        <a:rPr sz="1000" b="1">
                          <a:solidFill>
                            <a:srgbClr val="333333"/>
                          </a:solidFill>
                        </a:rPr>
                        <a:t>Dashboard</a:t>
                      </a:r>
                    </a:p>
                  </a:txBody>
                  <a:tcPr>
                    <a:solidFill>
                      <a:srgbClr val="F5F5F5"/>
                    </a:solidFill>
                  </a:tcPr>
                </a:tc>
                <a:tc>
                  <a:txBody>
                    <a:bodyPr/>
                    <a:lstStyle/>
                    <a:p>
                      <a:r>
                        <a:rPr sz="1000">
                          <a:solidFill>
                            <a:srgbClr val="333333"/>
                          </a:solidFill>
                        </a:rPr>
                        <a:t>frontend/  (React + Vite + Tailwind)</a:t>
                      </a:r>
                    </a:p>
                  </a:txBody>
                  <a:tcPr>
                    <a:solidFill>
                      <a:srgbClr val="F5F5F5"/>
                    </a:solidFill>
                  </a:tcPr>
                </a:tc>
                <a:tc>
                  <a:txBody>
                    <a:bodyPr/>
                    <a:lstStyle/>
                    <a:p>
                      <a:r>
                        <a:rPr sz="1000">
                          <a:solidFill>
                            <a:srgbClr val="333333"/>
                          </a:solidFill>
                        </a:rPr>
                        <a:t>8 pages, live via WebSocket</a:t>
                      </a:r>
                    </a:p>
                  </a:txBody>
                  <a:tcPr>
                    <a:solidFill>
                      <a:srgbClr val="F5F5F5"/>
                    </a:solidFill>
                  </a:tcPr>
                </a:tc>
              </a:tr>
              <a:tr h="514350">
                <a:tc>
                  <a:txBody>
                    <a:bodyPr/>
                    <a:lstStyle/>
                    <a:p>
                      <a:r>
                        <a:rPr sz="1000" b="1">
                          <a:solidFill>
                            <a:srgbClr val="333333"/>
                          </a:solidFill>
                        </a:rPr>
                        <a:t>Reproduction</a:t>
                      </a:r>
                    </a:p>
                  </a:txBody>
                  <a:tcPr>
                    <a:solidFill>
                      <a:srgbClr val="FFFFFF"/>
                    </a:solidFill>
                  </a:tcPr>
                </a:tc>
                <a:tc>
                  <a:txBody>
                    <a:bodyPr/>
                    <a:lstStyle/>
                    <a:p>
                      <a:r>
                        <a:rPr sz="1000">
                          <a:solidFill>
                            <a:srgbClr val="333333"/>
                          </a:solidFill>
                        </a:rPr>
                        <a:t>Appendix B of the report  ·  start.sh</a:t>
                      </a:r>
                    </a:p>
                  </a:txBody>
                  <a:tcPr>
                    <a:solidFill>
                      <a:srgbClr val="FFFFFF"/>
                    </a:solidFill>
                  </a:tcPr>
                </a:tc>
                <a:tc>
                  <a:txBody>
                    <a:bodyPr/>
                    <a:lstStyle/>
                    <a:p>
                      <a:r>
                        <a:rPr sz="1000">
                          <a:solidFill>
                            <a:srgbClr val="333333"/>
                          </a:solidFill>
                        </a:rPr>
                        <a:t>Clone → conda → start</a:t>
                      </a:r>
                    </a:p>
                  </a:txBody>
                  <a:tcPr>
                    <a:solidFill>
                      <a:srgbClr val="FFFFFF"/>
                    </a:solidFill>
                  </a:tcPr>
                </a:tc>
              </a:tr>
            </a:tbl>
          </a:graphicData>
        </a:graphic>
      </p:graphicFrame>
      <p:sp>
        <p:nvSpPr>
          <p:cNvPr id="9" name="TextBox 8"/>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0" name="TextBox 9"/>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24 / 25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41E42"/>
        </a:solidFill>
        <a:effectLst/>
      </p:bgPr>
    </p:bg>
    <p:spTree>
      <p:nvGrpSpPr>
        <p:cNvPr id="1" name=""/>
        <p:cNvGrpSpPr/>
        <p:nvPr/>
      </p:nvGrpSpPr>
      <p:grpSpPr/>
      <p:sp>
        <p:nvSpPr>
          <p:cNvPr id="2" name="TextBox 1"/>
          <p:cNvSpPr txBox="1"/>
          <p:nvPr/>
        </p:nvSpPr>
        <p:spPr>
          <a:xfrm>
            <a:off x="457200" y="1737360"/>
            <a:ext cx="11247120" cy="1097280"/>
          </a:xfrm>
          <a:prstGeom prst="rect">
            <a:avLst/>
          </a:prstGeom>
          <a:noFill/>
        </p:spPr>
        <p:txBody>
          <a:bodyPr wrap="square" anchor="t">
            <a:spAutoFit/>
          </a:bodyPr>
          <a:lstStyle/>
          <a:p>
            <a:pPr algn="ctr"/>
            <a:r>
              <a:rPr sz="7200" b="1">
                <a:solidFill>
                  <a:srgbClr val="FFFFFF"/>
                </a:solidFill>
              </a:rPr>
              <a:t>Thank You</a:t>
            </a:r>
          </a:p>
        </p:txBody>
      </p:sp>
      <p:sp>
        <p:nvSpPr>
          <p:cNvPr id="3" name="TextBox 2"/>
          <p:cNvSpPr txBox="1"/>
          <p:nvPr/>
        </p:nvSpPr>
        <p:spPr>
          <a:xfrm>
            <a:off x="457200" y="3017520"/>
            <a:ext cx="11247120" cy="457200"/>
          </a:xfrm>
          <a:prstGeom prst="rect">
            <a:avLst/>
          </a:prstGeom>
          <a:noFill/>
        </p:spPr>
        <p:txBody>
          <a:bodyPr wrap="square" anchor="t">
            <a:spAutoFit/>
          </a:bodyPr>
          <a:lstStyle/>
          <a:p>
            <a:pPr algn="ctr"/>
            <a:r>
              <a:rPr sz="1800" b="0">
                <a:solidFill>
                  <a:srgbClr val="FFC220"/>
                </a:solidFill>
              </a:rPr>
              <a:t>Retail Sentiment Intelligence  ·  Post Mid-Semester Presentation</a:t>
            </a:r>
          </a:p>
        </p:txBody>
      </p:sp>
      <p:sp>
        <p:nvSpPr>
          <p:cNvPr id="4" name="TextBox 3"/>
          <p:cNvSpPr txBox="1"/>
          <p:nvPr/>
        </p:nvSpPr>
        <p:spPr>
          <a:xfrm>
            <a:off x="457200" y="3749039"/>
            <a:ext cx="11247120" cy="457200"/>
          </a:xfrm>
          <a:prstGeom prst="rect">
            <a:avLst/>
          </a:prstGeom>
          <a:noFill/>
        </p:spPr>
        <p:txBody>
          <a:bodyPr wrap="square" anchor="t">
            <a:spAutoFit/>
          </a:bodyPr>
          <a:lstStyle/>
          <a:p>
            <a:pPr algn="ctr"/>
            <a:r>
              <a:rPr sz="2800" b="1">
                <a:solidFill>
                  <a:srgbClr val="FFFFFF"/>
                </a:solidFill>
              </a:rPr>
              <a:t>Questions ?</a:t>
            </a:r>
          </a:p>
        </p:txBody>
      </p:sp>
      <p:sp>
        <p:nvSpPr>
          <p:cNvPr id="5" name="Rectangle 4"/>
          <p:cNvSpPr/>
          <p:nvPr/>
        </p:nvSpPr>
        <p:spPr>
          <a:xfrm>
            <a:off x="1828800" y="4617720"/>
            <a:ext cx="8503920" cy="1280160"/>
          </a:xfrm>
          <a:prstGeom prst="rect">
            <a:avLst/>
          </a:prstGeom>
          <a:solidFill>
            <a:srgbClr val="E8F4FD"/>
          </a:solidFill>
          <a:ln>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11680" y="4754880"/>
            <a:ext cx="8138160" cy="320040"/>
          </a:xfrm>
          <a:prstGeom prst="rect">
            <a:avLst/>
          </a:prstGeom>
          <a:noFill/>
        </p:spPr>
        <p:txBody>
          <a:bodyPr wrap="square" anchor="t">
            <a:spAutoFit/>
          </a:bodyPr>
          <a:lstStyle/>
          <a:p>
            <a:pPr algn="ctr"/>
            <a:r>
              <a:rPr sz="1100" b="1">
                <a:solidFill>
                  <a:srgbClr val="0071DC"/>
                </a:solidFill>
              </a:rPr>
              <a:t>Repository</a:t>
            </a:r>
          </a:p>
        </p:txBody>
      </p:sp>
      <p:sp>
        <p:nvSpPr>
          <p:cNvPr id="7" name="TextBox 6"/>
          <p:cNvSpPr txBox="1"/>
          <p:nvPr/>
        </p:nvSpPr>
        <p:spPr>
          <a:xfrm>
            <a:off x="2011680" y="5074920"/>
            <a:ext cx="8138160" cy="457200"/>
          </a:xfrm>
          <a:prstGeom prst="rect">
            <a:avLst/>
          </a:prstGeom>
          <a:noFill/>
        </p:spPr>
        <p:txBody>
          <a:bodyPr wrap="square" anchor="t">
            <a:spAutoFit/>
          </a:bodyPr>
          <a:lstStyle/>
          <a:p>
            <a:pPr algn="ctr"/>
            <a:r>
              <a:rPr sz="1500" b="1">
                <a:solidFill>
                  <a:srgbClr val="041E42"/>
                </a:solidFill>
              </a:rPr>
              <a:t>gecgithub01.walmart.com/v0s01jh/Retail_Sentiment_Intelligence</a:t>
            </a:r>
          </a:p>
        </p:txBody>
      </p:sp>
      <p:sp>
        <p:nvSpPr>
          <p:cNvPr id="8" name="TextBox 7"/>
          <p:cNvSpPr txBox="1"/>
          <p:nvPr/>
        </p:nvSpPr>
        <p:spPr>
          <a:xfrm>
            <a:off x="2011680" y="5532120"/>
            <a:ext cx="8138160" cy="320040"/>
          </a:xfrm>
          <a:prstGeom prst="rect">
            <a:avLst/>
          </a:prstGeom>
          <a:noFill/>
        </p:spPr>
        <p:txBody>
          <a:bodyPr wrap="square" anchor="t">
            <a:spAutoFit/>
          </a:bodyPr>
          <a:lstStyle/>
          <a:p>
            <a:pPr algn="ctr"/>
            <a:r>
              <a:rPr sz="1100" b="0">
                <a:solidFill>
                  <a:srgbClr val="666666"/>
                </a:solidFill>
              </a:rPr>
              <a:t>Report:  docs/Sem_4/final/FINAL_REPORT_VishalSingh_2020AA05641.pdf</a:t>
            </a:r>
          </a:p>
        </p:txBody>
      </p:sp>
      <p:sp>
        <p:nvSpPr>
          <p:cNvPr id="9" name="TextBox 8"/>
          <p:cNvSpPr txBox="1"/>
          <p:nvPr/>
        </p:nvSpPr>
        <p:spPr>
          <a:xfrm>
            <a:off x="457200" y="6172200"/>
            <a:ext cx="11247120" cy="365760"/>
          </a:xfrm>
          <a:prstGeom prst="rect">
            <a:avLst/>
          </a:prstGeom>
          <a:noFill/>
        </p:spPr>
        <p:txBody>
          <a:bodyPr wrap="square" anchor="t">
            <a:spAutoFit/>
          </a:bodyPr>
          <a:lstStyle/>
          <a:p>
            <a:pPr algn="ctr"/>
            <a:r>
              <a:rPr sz="1200" b="0">
                <a:solidFill>
                  <a:srgbClr val="E8F4FD"/>
                </a:solidFill>
              </a:rPr>
              <a:t>Vishal Singh  ·  2020AA05641  ·  BITS Pilani (WILP)  ·  Walmart Global Tech, Bengaluru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