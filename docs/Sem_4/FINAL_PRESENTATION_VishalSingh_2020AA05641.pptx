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365760" cy="246888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Retail Sentiment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C220"/>
                </a:solidFill>
              </a:rPr>
              <a:t>Trust-Aware Sentiment Analysis of Retail Feedback using LLMs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BITS ZG628T  ·  Dissertation  ·  Post Mid-Semester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Vishal Singh   ·   ID No. 2020AA05641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7763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M.Tech (Artificial Intelligence &amp; Machine Learning)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E8F4FD"/>
                </a:solidFill>
              </a:rPr>
              <a:t>Birla Institute of Technology &amp; Science, Pilani  (WILP)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Dissertation work at  Walmart Global Tech, Bengaluru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Supervisor:  Mr. Varunendra Pratap Singh  —  Principal Software Engineer, Walmart Global Tech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Additional Examiner:  Ms. Pradnya Kashikar  —  BITS Pilani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</a:rPr>
              <a:t>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Focus of today — post mid-semester work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960120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941832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Since Mid-Sem — What's 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097280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Post-midsem workstream 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353312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99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380744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Review &amp; Validate  (HITL)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536192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Human-in-the-loop correction workflow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792224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3794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819656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Smart Reply  —  Triple 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1975104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GPT-4o  +  Mistral 7B  +  Smart Composer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31136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276856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258568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Smart Reply  —  Prompt &amp; Few-Shot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414016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Prompt template + past validated replies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670048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715768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697480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Smart Reply  —  Worked 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2852928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One complaint  →  three drafts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108960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54680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136392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Learning Loop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3291840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Corrections + posted replies → retraining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47872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5935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3575304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Post Explorer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730752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Multi-facet search across analysed posts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986784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03250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014216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Post Lifecycle  (Kanban)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169664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Triage → Acknowledged → In-Progress → Resolved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914400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960120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941832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Insights &amp; Competitor Analysis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1097280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Strategic weekly summaries + cross-brand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353312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09360" y="139903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1380744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Notification Centre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1536192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In-app + email + Slack, group-routed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1792224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183794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11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1819656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ModernBERT — Final Results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1975104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Macro-F1  0.6272 → 0.7642  (+13.7 pts)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2231136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309360" y="2276856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12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2258568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Vision — Multi-Pass Payoff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2414016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Hallucination  50% → 0%,  extraction 25% → 75%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670048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9360" y="2715768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2697480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Trust-Score Evaluation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2852928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15% flagged; 12 of 15 confirmed by annotator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217920" y="3108960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9360" y="3154680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14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0" y="3136392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Storage — SQLite → Cosmos DB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3291840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Lift-and-shift ready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217920" y="3547872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309360" y="3593592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15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3575304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Live Demo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3730752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Dashboard walkthrough (screenshots)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3986784"/>
            <a:ext cx="5623560" cy="347472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4032504"/>
            <a:ext cx="502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16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4014216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041E42"/>
                </a:solidFill>
              </a:rPr>
              <a:t>Conclusions &amp; Future Work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0" y="4169664"/>
            <a:ext cx="4892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RQ1–RQ4 outcomes + roadmap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 / 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Since Mid-Sem — What's New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Mid-sem shipped the pipeline; post-midsem made it usable for analysts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</a:rPr>
              <a:t>Delivered at mid-sem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6-layer offline-first pipeline (25 subreddits)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ModernBERT fine-tuning up to Stage 2  (F1 0.7285)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Multi-pass vision with 0% hallucination on pilot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Trust-score design + weighted formula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Brand-Health + Alert Feed dashboard pages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Group-routed email / Slack notifications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9601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Added post-midsem  (this deck)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2801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Review &amp; Validate  —  human-in-the-loop UI + backend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Smart Reply Composer  —  dual-draft (rule + FLAN-T5)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Learning-loop store  —  corrections &amp; posted replies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Post Explorer  —  multi-facet search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Post Lifecycle  —  Kanban with 2-step Resolve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Insights &amp; Competitor Analysis page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In-app Notification Centre mirroring the digest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ModernBERT Stage 3 (final)  —  F1 0.7285 → 0.7642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Trust-score end-to-end evaluation (n = 200)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SQLite schema mirroring Cosmos DB partitioning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1DC"/>
                </a:solidFill>
              </a:rPr>
              <a:t>Framing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Mid-sem answered can the pipeline produce trust-weighted sentiment?    Post-midsem answers can an analyst act on it, correct it, and feed the corrections back into the model?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3 / 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Review &amp; Validate  —  Human-in-the-Loop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Every prediction can be corrected; every correction is logged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Queue sorted by  priority (P1 first)  ·  trust × confidence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Analyst can override sentiment and aspect tags in one click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Corrections written to  feedback table  with analyst + timestamp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Generate Drafts  →  two reply options  (rule + LLM)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Analyst picks A or B, edits, and posts to Reddit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Posted replies also captured  →  future few-shot pool</a:t>
            </a:r>
          </a:p>
        </p:txBody>
      </p:sp>
      <p:pic>
        <p:nvPicPr>
          <p:cNvPr id="7" name="Picture 6" descr="review_valid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960120"/>
            <a:ext cx="5669280" cy="3543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5212080"/>
            <a:ext cx="5486400" cy="1097280"/>
          </a:xfrm>
          <a:prstGeom prst="rect">
            <a:avLst/>
          </a:prstGeom>
          <a:solidFill>
            <a:srgbClr val="DCFCE7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3492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6928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Turns a passive dashboard into a training signal — corrections harvested here drive the ModernBERT re-training loop and reply few-shot pool.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4 / 25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Smart Reply Composer  —  Triple Draft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One prompt, three generators; analyst picks the best draft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794760" cy="306324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3794760" cy="45720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33272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Draft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1E42"/>
                </a:solidFill>
              </a:rPr>
              <a:t>GPT-4o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20240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Walmart LLM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31720"/>
            <a:ext cx="3429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Strong reasoning, safest tone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Guardrails via Walmart proxy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~$0.0002 / reply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Fallback: direct OpenAI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960120"/>
            <a:ext cx="3794760" cy="306324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960120"/>
            <a:ext cx="3794760" cy="457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033272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Draft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508760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1E42"/>
                </a:solidFill>
              </a:rPr>
              <a:t>Mistral 7B-Instruct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20240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Local Ollama  (:11434)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331720"/>
            <a:ext cx="3429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Open-weights, free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Runs fully offline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~15 s warm latency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Strong at retail jargon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960120"/>
            <a:ext cx="3794760" cy="30632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960120"/>
            <a:ext cx="379476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033272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Draft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1508760"/>
            <a:ext cx="3794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041E42"/>
                </a:solidFill>
              </a:rPr>
              <a:t>Smart Composer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920240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Deterministic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331720"/>
            <a:ext cx="342900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No LLM, always available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Zero latency, zero cost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Content-aware phrase pools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Safety-net fallback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06240"/>
            <a:ext cx="11247120" cy="210312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071DC"/>
                </a:solidFill>
              </a:rPr>
              <a:t>Fallback logic  —  no draft is ever missing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GPT-4o unavailable  (no gateway key / consumer-ID / network)  →  Smart Composer draft in slot 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Mistral unavailable  (Ollama not running)  →  Smart Composer draft in slot B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Smart Composer  always  produces slot C  —  guaranteed reply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UI labels each card with the actual model used, plus an offline-fallback badge when applicable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5 / 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Smart Reply  —  Prompt Design &amp; Few-Shot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Same prompt fed to GPT and Mistral; Smart Composer skips the LLM step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Prompt template  (built in  _build_reply_prompt)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11247120" cy="3246120"/>
          </a:xfrm>
          <a:prstGeom prst="rect">
            <a:avLst/>
          </a:prstGeom>
          <a:solidFill>
            <a:srgbClr val="1E293B"/>
          </a:solidFill>
          <a:ln>
            <a:solidFill>
              <a:srgbClr val="041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88136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E6EDF7"/>
                </a:solidFill>
              </a:rPr>
              <a:t>You are a senior Walmart customer-care analyst replying on Reddit.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Write ONE reply to the customer below. Keep it 2-4 sentences,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empathetic, specific to their complaint, no corporate jargon,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no hashtags, no emojis. Do NOT promise refunds you can't verify;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invite them to DM order details if action is needed. Sign off as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a real person, not a brand.</a:t>
            </a:r>
          </a:p>
          <a:p>
            <a:pPr algn="l"/>
          </a:p>
          <a:p>
            <a:pPr algn="l"/>
            <a:r>
              <a:rPr sz="1000" b="0">
                <a:solidFill>
                  <a:srgbClr val="E6EDF7"/>
                </a:solidFill>
              </a:rPr>
              <a:t>Example customer post: {past_post_1}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Example analyst reply: {past_reply_1}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Example customer post: {past_post_2}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Example analyst reply: {past_reply_2}</a:t>
            </a:r>
          </a:p>
          <a:p>
            <a:pPr algn="l"/>
          </a:p>
          <a:p>
            <a:pPr algn="l"/>
            <a:r>
              <a:rPr sz="1000" b="0">
                <a:solidFill>
                  <a:srgbClr val="E6EDF7"/>
                </a:solidFill>
              </a:rPr>
              <a:t>Subreddit: r/{subreddit}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Customer ({author}) complaint about: {aspect_1}, {aspect_2}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Customer post:</a:t>
            </a:r>
          </a:p>
          <a:p>
            <a:pPr algn="l"/>
            <a:r>
              <a:rPr sz="1000" b="0">
                <a:solidFill>
                  <a:srgbClr val="E6EDF7"/>
                </a:solidFill>
              </a:rPr>
              <a:t>{post_title + post_body, ≤ 1200 chars}</a:t>
            </a:r>
          </a:p>
          <a:p>
            <a:pPr algn="l"/>
          </a:p>
          <a:p>
            <a:pPr algn="l"/>
            <a:r>
              <a:rPr sz="1000" b="0">
                <a:solidFill>
                  <a:srgbClr val="E6EDF7"/>
                </a:solidFill>
              </a:rPr>
              <a:t>Reply: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709160"/>
            <a:ext cx="5486400" cy="1600200"/>
          </a:xfrm>
          <a:prstGeom prst="rect">
            <a:avLst/>
          </a:prstGeom>
          <a:solidFill>
            <a:srgbClr val="DCFCE7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800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Few-shot source  —  feedback 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 Top-3 past validated replies for the same aspect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 Written by human analysts, already posted to Reddit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 Refreshed on every  Generate  click  →  adapts over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4709160"/>
            <a:ext cx="5532120" cy="1600200"/>
          </a:xfrm>
          <a:prstGeom prst="rect">
            <a:avLst/>
          </a:prstGeom>
          <a:solidFill>
            <a:srgbClr val="FEF3C7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8006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D97706"/>
                </a:solidFill>
              </a:rPr>
              <a:t>Style guardrails baked into the prompt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5120640"/>
            <a:ext cx="52120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 2 – 4 sentences, empathetic, specific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 No corporate jargon, no hashtags, no emojis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 No unverifiable refund promises  →  DM to continue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333333"/>
                </a:solidFill>
              </a:rPr>
              <a:t>•  Sign off as a person, not a 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6 / 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Smart Reply  —  Worked Example  (real post, real drafts, real 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raw_posts.id = reddit_1u2bgdw  ·  r/samsclub  ·  captured live from data/local.db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1417320"/>
          </a:xfrm>
          <a:prstGeom prst="rect">
            <a:avLst/>
          </a:prstGeom>
          <a:solidFill>
            <a:srgbClr val="FEF3C7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D97706"/>
                </a:solidFill>
              </a:rPr>
              <a:t>Customer complaint  —  r/samsclub  ·  ModernBERT: negative 0.9999997  ·  aspects: customer service, product quality, store experience  ·  trust 0.66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09728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"Why do you guys sell whole pizzas made hours ago to customers?  The very few times I've gotten a whole pie, it'll be stuff premade and left in the hot case for like an hour 30mins before it's in my hand. How can I tell? They put a sticker with the date and the pizza looks and taste hours old. Pizza is meant to be made to order and waited for."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3794760" cy="288036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2514600"/>
            <a:ext cx="3794760" cy="384048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560320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Draft A · GPT-4o  (Walmart Gateway  ✓)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017520"/>
            <a:ext cx="3520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Hi u/there, I'm sorry to hear about your experience with the pizzas — it sounds really disappointing. Our goal is to provide fresh and enjoyable food, and I understand how frustrating it must be to receive something that feels old. If you'd like, feel free to DM me the store location so I can share your feedback directly with the team and look into it further.  — [Your Name]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514600"/>
            <a:ext cx="3794760" cy="2880360"/>
          </a:xfrm>
          <a:prstGeom prst="rect">
            <a:avLst/>
          </a:prstGeom>
          <a:solidFill>
            <a:srgbClr val="EDE9FE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2514600"/>
            <a:ext cx="3794760" cy="3840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560320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Draft B · Mistral 7B  [offline fallback]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17520"/>
            <a:ext cx="3520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Hi u/there — thanks for flagging this. that's not the experience we want anyone to have with your order. DM us the details when you have a moment and we'll start looking into the specifics.  — The Walmart Care team</a:t>
            </a:r>
          </a:p>
          <a:p>
            <a:pPr algn="l"/>
          </a:p>
          <a:p>
            <a:pPr algn="l"/>
            <a:r>
              <a:rPr sz="900" b="0">
                <a:solidFill>
                  <a:srgbClr val="333333"/>
                </a:solidFill>
              </a:rPr>
              <a:t>(Ollama not running on localhost:11434 → system fell back to Smart Composer and badged the slot [offline fallback] in the UI.)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514600"/>
            <a:ext cx="3794760" cy="2880360"/>
          </a:xfrm>
          <a:prstGeom prst="rect">
            <a:avLst/>
          </a:prstGeom>
          <a:solidFill>
            <a:srgbClr val="DCFCE7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514600"/>
            <a:ext cx="3794760" cy="3840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2560320"/>
            <a:ext cx="3794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Draft C · Smart Composer  (deterministic)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017520"/>
            <a:ext cx="35204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</a:rPr>
              <a:t>Hi u/there, Your order like this absolutely shouldn't happen. DM us the details when you have a moment and we'll start looking into the specifics.  — Walmart Care 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</a:rPr>
              <a:t>Live capture — GPT-4o gateway reached (gateway_available=True); Ollama refused connection so slot B fell back to Smart Composer; Smart Composer always produces slot C. Few-shot: 3 real posted replies from feedback (top-3 by created_at DESC).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7 / 25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Learning Loop  —  Feedback → Retraining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Every human action becomes a training signal  —  hot loop (live) + warm loop (monthly)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2788920" cy="105156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2788920" cy="32004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0584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Label / aspect correction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417320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Review &amp; Validate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960120"/>
            <a:ext cx="2788920" cy="105156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960120"/>
            <a:ext cx="278892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00584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Trust-score override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417320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Review &amp; Validate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960120"/>
            <a:ext cx="2788920" cy="105156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960120"/>
            <a:ext cx="2788920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00584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Posted reply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417320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Smart Reply Composer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960120"/>
            <a:ext cx="2788920" cy="105156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960120"/>
            <a:ext cx="2788920" cy="3200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005840"/>
            <a:ext cx="2788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Lifecycle transition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417320"/>
            <a:ext cx="2788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Kanban 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solidFill>
            <a:srgbClr val="041E42"/>
          </a:solidFill>
          <a:ln>
            <a:solidFill>
              <a:srgbClr val="041E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33172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feedback  table  (SQLite / Cosmos DB)  —  one row per human action, JSON payload, partition_key = analyst_id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08960"/>
            <a:ext cx="5532120" cy="2286000"/>
          </a:xfrm>
          <a:prstGeom prst="rect">
            <a:avLst/>
          </a:prstGeom>
          <a:solidFill>
            <a:srgbClr val="DCFCE7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2004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HOT LOOP  ·  in-context, 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661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Every Generate Drafts click queries feedback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SELECT … WHERE kind = 'auto_reply_posted'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ORDER BY created_at DESC LIMIT 5  →  top 3 pairs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Injected into the prompt as few-shot examples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Effect visible on the next reply  —  no 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3108960"/>
            <a:ext cx="5532120" cy="2286000"/>
          </a:xfrm>
          <a:prstGeom prst="rect">
            <a:avLst/>
          </a:prstGeom>
          <a:solidFill>
            <a:srgbClr val="EDE9FE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7C3AED"/>
                </a:solidFill>
              </a:rPr>
              <a:t>WARM LOOP  ·  supervised, monthly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66160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Export corrections since last train date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Append to Walmart-200  →  Walmart-N (augmented)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Rerun ModernBERT Stage-3 with 5-fold OOF CV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New checkpoint wins only if OOF F1 improves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Symlink flipped in config/models.yaml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6235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Two failure modes eliminated by design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9436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(1)  hot loop uses in-context learning  —  no retrain, no catastrophic forgetting.   (2)  warm loop uses 5-fold OOF CV  —  no leakage between train and eval sets.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8 / 25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Post Explorer  —  Multi-Facet 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Find the exact 20 posts an analyst needs to look at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Facets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Sentiment  ·  neg / neu / pos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Confidence slider  (0.50 – 1.00)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Trust-score slider  (0.00 – 1.00)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Subreddit  —  multi-select from 25 tracked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Aspect  —  8-item retail taxonomy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Date range  —  today / week / month / custom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Full-text search  —  title + body</a:t>
            </a:r>
          </a:p>
        </p:txBody>
      </p:sp>
      <p:pic>
        <p:nvPicPr>
          <p:cNvPr id="8" name="Picture 7" descr="post_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960120"/>
            <a:ext cx="5669280" cy="35433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5074920"/>
            <a:ext cx="11247120" cy="123444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41E42"/>
                </a:solidFill>
              </a:rPr>
              <a:t>Per-post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53212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Title + body excerpt · sentiment badge with confidence % · trust tier (H / M / L) · aspect chips · subreddit + timestamp · actions:  Review  ·  Add to Lifecycle  ·  View Details.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9 / 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Post Lifecycle  —  Kanban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Track a complaint from Triage to Resolved with SLA visibility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74320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743200" cy="411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801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TRIAGED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2743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New P1 / P2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posts land here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204972" y="1920240"/>
            <a:ext cx="137160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234440"/>
            <a:ext cx="274320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234440"/>
            <a:ext cx="2743200" cy="41148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2801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ACKNOWLEDGED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737360"/>
            <a:ext cx="2743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Assigned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to analyst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085332" y="1920240"/>
            <a:ext cx="137160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34440"/>
            <a:ext cx="274320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34440"/>
            <a:ext cx="2743200" cy="411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2801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IN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737360"/>
            <a:ext cx="2743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Reply being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drafted / posted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65692" y="1920240"/>
            <a:ext cx="137160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1234440"/>
            <a:ext cx="2743200" cy="173736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98280" y="1234440"/>
            <a:ext cx="274320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98280" y="128016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RESOLVED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1737360"/>
            <a:ext cx="2743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Reply posted or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no-action closed</a:t>
            </a:r>
          </a:p>
        </p:txBody>
      </p:sp>
      <p:pic>
        <p:nvPicPr>
          <p:cNvPr id="25" name="Picture 24" descr="lifecycle_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46120"/>
            <a:ext cx="6858000" cy="428625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7589520" y="3246120"/>
            <a:ext cx="4114800" cy="288036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3383280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Resolve modal  —  2-step 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703320"/>
            <a:ext cx="3840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Step 1 · save action note + optional LLM reply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(a) Save &amp; open Reddit  →  reply copied to clipboard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(b) OR  Resolve (no-reply)  →  close without posting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Step 2 · paste on Reddit → Mark Resolved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All transitions timestamped  →  SLA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10 / 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Insights &amp; Competitor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Strategic view — issue rankings, cross-brand pulse, LLM summaries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486400" cy="214884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5486400" cy="41148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1498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Priority-Negatives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51206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Top issues ranked by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volume × severity × recency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by aspect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960120"/>
            <a:ext cx="5486400" cy="214884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960120"/>
            <a:ext cx="5486400" cy="411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01498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Competitor Pulse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51206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Walmart vs Costco,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Target, Amazon on shared aspects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5486400" cy="21488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548640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0098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Weekly LLM Summaries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749039"/>
            <a:ext cx="51206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Natural-language weekly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digest + action items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+ emerging topics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246120"/>
            <a:ext cx="5486400" cy="214884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3246120"/>
            <a:ext cx="5486400" cy="411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3300984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Aspect Drilldown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49039"/>
            <a:ext cx="512064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333333"/>
                </a:solidFill>
              </a:rPr>
              <a:t>8-aspect taxonomy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per-aspect sentiment trend</a:t>
            </a:r>
          </a:p>
          <a:p>
            <a:pPr algn="ctr"/>
            <a:r>
              <a:rPr sz="1200" b="0">
                <a:solidFill>
                  <a:srgbClr val="333333"/>
                </a:solidFill>
              </a:rPr>
              <a:t>+ representative posts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623560"/>
            <a:ext cx="112471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</a:rPr>
              <a:t>Screenshot on Slide 17 (Live Demo grid) — insights_competitor page.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11 / 25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Notification Centre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In-app mirror of the group-routed email / Slack digest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Every P1 / P2 email or Slack alert is mirrored in the app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Notifications grouped by  subreddit ↔ business team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Read / unread state persisted per analyst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Deep-links open the post directly in Review &amp; Validate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Powered by the same  alerts  rows that drive email/Slack</a:t>
            </a:r>
          </a:p>
        </p:txBody>
      </p:sp>
      <p:pic>
        <p:nvPicPr>
          <p:cNvPr id="7" name="Picture 6" descr="notific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960120"/>
            <a:ext cx="5669280" cy="35433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4617720"/>
            <a:ext cx="5486400" cy="164592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Priority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74920"/>
            <a:ext cx="5120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P1 — trust ≥ 0.70  and  confidence ≥ 0.80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P2 — trust ≥ 0.50  and  confidence ≥ 0.60</a:t>
            </a:r>
          </a:p>
          <a:p>
            <a:pPr algn="l"/>
            <a:r>
              <a:rPr sz="1100" b="0">
                <a:solidFill>
                  <a:srgbClr val="333333"/>
                </a:solidFill>
              </a:rPr>
              <a:t>Source: config/models.yaml + dispatcher.py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12 / 25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ModernBERT  —  Final Training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3-stage curriculum,  5-fold out-of-fold CV,  n = 200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1600200"/>
          </a:xfrm>
          <a:prstGeom prst="rect">
            <a:avLst/>
          </a:prstGeom>
          <a:solidFill>
            <a:srgbClr val="DCFCE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Overall Macro-F1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657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</a:rPr>
              <a:t>0.6272 → 0.7642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960120"/>
            <a:ext cx="3657600" cy="1600200"/>
          </a:xfrm>
          <a:prstGeom prst="rect">
            <a:avLst/>
          </a:prstGeom>
          <a:solidFill>
            <a:srgbClr val="DCFCE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097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Long-post F1  (&gt; 256 tok)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463040"/>
            <a:ext cx="3657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10B981"/>
                </a:solidFill>
              </a:rPr>
              <a:t>0.28 → 1.00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960120"/>
            <a:ext cx="3657600" cy="160020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097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Uplift over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463040"/>
            <a:ext cx="365760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0071DC"/>
                </a:solidFill>
              </a:rPr>
              <a:t>+13.7 pts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3-stage curriculum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3108960"/>
          <a:ext cx="11247120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383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Stage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Macro-F1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Δ vs baseline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Baseline (Twitter-RoBERTa)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off-the-shelf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0.6272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Stage 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TweetEval sentiment (~45 k tweets)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0.6810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+5.4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Stage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GoEmotions-3class Reddit (~54 k, pseudo)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+10.1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Stage 3  (final)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Walmart-200 hand-labelled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0.7642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+13.7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Per-length-bucket F1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57200" y="5303520"/>
          <a:ext cx="112471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2514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Bucket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ModernBERT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Δ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Short  (&lt; 64 tokens)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Medium  (64 – 256 tokens)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0.6500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0.7400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+9.0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Long  (&gt; 256 tokens)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0.2778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+72.2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13 / 25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Vision Pipeline  —  Multi-Pass Payoff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Same model (Gemma 3 4B), same hardware, smarter calling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2743200" cy="196596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2743200" cy="4114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97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PASS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96596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What TYPE of image?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screenshot / photo /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receipt / app / meme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113532" y="1783080"/>
            <a:ext cx="164592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051560"/>
            <a:ext cx="2743200" cy="196596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051560"/>
            <a:ext cx="2743200" cy="41148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097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PASS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554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TILE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196596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Split into 2–4 crops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→ 2–4× effective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resolution, no resize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93892" y="1783080"/>
            <a:ext cx="164592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051560"/>
            <a:ext cx="2743200" cy="196596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097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PASS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554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EXTRACT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96596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Per tile: read ALL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text verbatim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(quotes, prices, UI)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8874252" y="1783080"/>
            <a:ext cx="164592" cy="365760"/>
          </a:xfrm>
          <a:prstGeom prst="rightArrow">
            <a:avLst/>
          </a:prstGeom>
          <a:solidFill>
            <a:srgbClr val="FFC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1051560"/>
            <a:ext cx="2743200" cy="196596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051560"/>
            <a:ext cx="2743200" cy="4114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0972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PASS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1554480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41E42"/>
                </a:solidFill>
              </a:rPr>
              <a:t>MERGE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6840" y="1965960"/>
            <a:ext cx="27432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</a:rPr>
              <a:t>Text-only LLM call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— image REMOVED —</a:t>
            </a:r>
          </a:p>
          <a:p>
            <a:pPr algn="ctr"/>
            <a:r>
              <a:rPr sz="1100" b="0">
                <a:solidFill>
                  <a:srgbClr val="333333"/>
                </a:solidFill>
              </a:rPr>
              <a:t>cannot invent visuals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Evaluation on 32 retail screenshots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3703320"/>
          <a:ext cx="112471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Single-pass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Multi-pass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Change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Hallucination rate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50 %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eliminated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Text-extraction success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25 %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75 %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3× better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Retail-signal recall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40 %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81 %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2× better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Fabricated claims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many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eliminated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33333"/>
                          </a:solidFill>
                        </a:rPr>
                        <a:t>Latency / image (warm)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~5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~15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33333"/>
                          </a:solidFill>
                        </a:rPr>
                        <a:t>3× (accepted)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14 / 25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Trust-Score  —  End-to-End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On the 200-post gold set, does the trust filter catch bad posts?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3657600" cy="1737360"/>
          </a:xfrm>
          <a:prstGeom prst="rect">
            <a:avLst/>
          </a:prstGeom>
          <a:solidFill>
            <a:srgbClr val="FEF3C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Low-trust share  (T &lt; 0.4)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657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D97706"/>
                </a:solidFill>
              </a:rPr>
              <a:t>15 %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960120"/>
            <a:ext cx="3657600" cy="1737360"/>
          </a:xfrm>
          <a:prstGeom prst="rect">
            <a:avLst/>
          </a:prstGeom>
          <a:solidFill>
            <a:srgbClr val="DCFCE7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097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Human-agreed  (annotator cross-check)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463040"/>
            <a:ext cx="3657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10B981"/>
                </a:solidFill>
              </a:rPr>
              <a:t>12 / 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960120"/>
            <a:ext cx="3657600" cy="173736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09728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666666"/>
                </a:solidFill>
              </a:rPr>
              <a:t>Agreement 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463040"/>
            <a:ext cx="36576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800" b="1">
                <a:solidFill>
                  <a:srgbClr val="0071DC"/>
                </a:solidFill>
              </a:rPr>
              <a:t>80 %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8803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Weighted formula  (decomposition shown inline in dashboard)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246120"/>
            <a:ext cx="11247120" cy="77724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041E42"/>
                </a:solidFill>
              </a:rPr>
              <a:t>trust_score  =  0.4 × metadata  +  0.3 × dedup  +  0.3 × llm_credibility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51960"/>
            <a:ext cx="11247120" cy="1965960"/>
          </a:xfrm>
          <a:prstGeom prst="rect">
            <a:avLst/>
          </a:prstGeom>
          <a:solidFill>
            <a:srgbClr val="DCFCE7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38912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0B981"/>
                </a:solidFill>
              </a:rPr>
              <a:t>Design principle — flag, don't drop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0916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Low-trust posts are surfaced with an explanatory chip ("promotional / duplicate / thin-metadata") and can be overridden by an analyst in one click — the override is captured for the learning loop. Every constant in the formula has a stakeholder-arguable English rationale in config/models.yaml.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15 / 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Storage  —  SQLite → Cosmos DB Lift-and-Shift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Same schema, same partition keys, no calling-code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960120"/>
          <a:ext cx="11247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4413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Container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Partition Key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Key Fields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raw_posts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/subreddit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id, title, body, author_hash, created_utc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Ingested (privacy-safe)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analyses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/subreddit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post_id, sentiment, confidence, aspects, trust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AI analysis results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aggregates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/time_window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subreddit, window, metrics_json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Pre-computed KPIs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alerts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/severity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type, aspect, threshold_breached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Triggered anomalies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/analyst_id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post_id, correction, reply_text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HITL corrections + replies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notification_log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/group_id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post_id, channel, status, sent_at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Delivery audit trail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57200" y="4206240"/>
            <a:ext cx="5486400" cy="210312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4340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Design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663440"/>
            <a:ext cx="51206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SQLite in WAL mode for hot dev data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data JSON column mirrors Cosmos doc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Pluggable StorageBackend interface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Nightly backup + JSONL cost ledger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4206240"/>
            <a:ext cx="5532120" cy="2103120"/>
          </a:xfrm>
          <a:prstGeom prst="rect">
            <a:avLst/>
          </a:prstGeom>
          <a:solidFill>
            <a:srgbClr val="DCFCE7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34340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</a:rPr>
              <a:t>Migration 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4663440"/>
            <a:ext cx="5212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Swap SQLiteBackend → CosmosBackend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Same CREATE TABLE mapped to container spec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Partition keys already match production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3333"/>
                </a:solidFill>
              </a:rPr>
              <a:t>•  Zero change to pipeline / dashboard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16 / 25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Evaluation Summary  —  Post-Midsem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All results reported against the same 200-post retail-Reddit gold 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00584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Sentiment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Macro-F1 (final)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0.7642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+13.7 pts vs RoBERTa baseline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Sentiment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Long-post F1  (&gt; 256 tokens)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1.0000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From 0.2778 baseline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Sentiment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Cross-validation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5-fold OOF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No test-set leakage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Vision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Hallucination rate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0 %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From 50 % on single-pass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Vision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Text extraction success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75 %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From 25 % on single-pass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Vision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Retail-signal recall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81 %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From 40 % on single-pass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Trust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Low-trust share  (T &lt; 0.4)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Of the 200-post set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Trust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Annotator agreement on low-trust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12 / 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80 %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Subreddits tracked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Six community groups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Scheduler cadence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6 h + manual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asyncio lifespan task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Dashboard pages shipped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Brand Health · Alerts · Explorer · Review · Lifecycle · Insights · Pipeline ·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17 / 25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Principal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What this dissertation delivered — end to 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47120" cy="96012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60120"/>
            <a:ext cx="822960" cy="96012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60120"/>
            <a:ext cx="822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00584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Offline-first RSI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32588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Ingestion → trust → sentiment → aspects → vision → aggregation → alerts → dashboard.  Zero API cost, modular, deployable to Azure.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02535"/>
            <a:ext cx="11247120" cy="96012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002535"/>
            <a:ext cx="822960" cy="96012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002535"/>
            <a:ext cx="822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048255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Fine-tuned ModernBERT (3-stage curriculum)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368295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Macro-F1 0.6272 → 0.7642 overall; 0.28 → 1.00 on long posts.  5-fold OOF cross-validation, offline training.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044950"/>
            <a:ext cx="11247120" cy="96012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044950"/>
            <a:ext cx="822960" cy="96012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044950"/>
            <a:ext cx="822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309067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Multi-pass vision technique on Gemma 3 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41071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Hallucination 50 % → 0 %,  extraction 25 % → 75 %.  Adapts techniques from 5 recent VLM papers without vendor-blocked models.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87365"/>
            <a:ext cx="11247120" cy="96012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87365"/>
            <a:ext cx="822960" cy="96012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87365"/>
            <a:ext cx="822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133085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Interpretable trust score + admission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453125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trust × confidence gate flags rather than drops low-credibility posts.  Every constant traceable to English rationale in config.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129780"/>
            <a:ext cx="11247120" cy="96012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129780"/>
            <a:ext cx="822960" cy="96012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129780"/>
            <a:ext cx="822960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C5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1755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041E42"/>
                </a:solidFill>
              </a:rPr>
              <a:t>HITL learning-loop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495540"/>
            <a:ext cx="10058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Review &amp; Validate, Lifecycle Kanban, Insights, Notification centre.  Corrections &amp; posted replies feed few-shot reply generation and future retraining.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18 /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Live Demo  —  Dashboard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One post → alert → review → reply → lifecycle → resolved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and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79476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" y="3310128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41E42"/>
                </a:solidFill>
              </a:rPr>
              <a:t>Brand Health</a:t>
            </a:r>
          </a:p>
        </p:txBody>
      </p:sp>
      <p:pic>
        <p:nvPicPr>
          <p:cNvPr id="8" name="Picture 7" descr="alert_f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960120"/>
            <a:ext cx="3794760" cy="23317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206240" y="3310128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41E42"/>
                </a:solidFill>
              </a:rPr>
              <a:t>Alert Feed</a:t>
            </a:r>
          </a:p>
        </p:txBody>
      </p:sp>
      <p:pic>
        <p:nvPicPr>
          <p:cNvPr id="10" name="Picture 9" descr="post_explor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960120"/>
            <a:ext cx="3794760" cy="23317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2440" y="3310128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41E42"/>
                </a:solidFill>
              </a:rPr>
              <a:t>Post Explorer</a:t>
            </a:r>
          </a:p>
        </p:txBody>
      </p:sp>
      <p:pic>
        <p:nvPicPr>
          <p:cNvPr id="12" name="Picture 11" descr="review_valida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566160"/>
            <a:ext cx="3794760" cy="23317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20040" y="5916168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41E42"/>
                </a:solidFill>
              </a:rPr>
              <a:t>Review &amp; Validate</a:t>
            </a:r>
          </a:p>
        </p:txBody>
      </p:sp>
      <p:pic>
        <p:nvPicPr>
          <p:cNvPr id="14" name="Picture 13" descr="lifecycle_kanb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0" y="3566160"/>
            <a:ext cx="3794760" cy="2331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06240" y="5916168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41E42"/>
                </a:solidFill>
              </a:rPr>
              <a:t>Lifecycle Kanban</a:t>
            </a:r>
          </a:p>
        </p:txBody>
      </p:sp>
      <p:pic>
        <p:nvPicPr>
          <p:cNvPr id="16" name="Picture 15" descr="insights_competi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2440" y="3566160"/>
            <a:ext cx="3794760" cy="2331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2440" y="5916168"/>
            <a:ext cx="3794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41E42"/>
                </a:solidFill>
              </a:rPr>
              <a:t>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19 /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Conclusions  —  Research Questions Answered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12344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82296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8229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03327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41E42"/>
                </a:solidFill>
              </a:rPr>
              <a:t>Can a fine-tuned encoder beat baselines on Reddit retail sentiment?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17320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YES  —  ModernBERT 3-stage curriculum raised Macro-F1 from 0.6272 → 0.7642 overall  and from 0.2778 → 1.0000 on long posts.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76856"/>
            <a:ext cx="11247120" cy="12344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76856"/>
            <a:ext cx="82296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276856"/>
            <a:ext cx="8229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3500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41E42"/>
                </a:solidFill>
              </a:rPr>
              <a:t>Can a compliant open-weights VLM extract structured retail signal from screenshots?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34056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YES  —  Multi-pass pipeline on Gemma 3 4B reduced hallucination from 50 % → 0 %  and lifted text extraction from 25 % → 75 %.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593592"/>
            <a:ext cx="11247120" cy="12344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593592"/>
            <a:ext cx="82296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93592"/>
            <a:ext cx="8229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RQ3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666744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41E42"/>
                </a:solidFill>
              </a:rPr>
              <a:t>Can a defensible trust score filter low-credibility posts without silent drops?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050792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YES  —  Interpretable 3-part score flagged 15 % of posts;  12 of 15 confirmed by human annotator.  All low-trust posts remain visible and analyst-overridable.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910328"/>
            <a:ext cx="11247120" cy="123444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910328"/>
            <a:ext cx="822960" cy="1234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10328"/>
            <a:ext cx="82296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RQ4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9834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41E42"/>
                </a:solidFill>
              </a:rPr>
              <a:t>Can a HITL workflow produce a re-training signal from analyst corrections?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367528"/>
            <a:ext cx="10058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YES  —  Every correction and posted reply is logged in the  feedback  table  →  feeds ModernBERT Stage-3 augmentation and FLAN-T5 few-shot pool.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20 / 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Recommendations  —  Immediate Follow-Ons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0876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82880" cy="150876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41E42"/>
                </a:solidFill>
              </a:rPr>
              <a:t>Monthly retraining cadence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Use the HITL feedback store as the incremental labelling stream and re-run the 3-stage curriculum monthly.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1247120" cy="150876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182880" cy="1508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41E42"/>
                </a:solidFill>
              </a:rPr>
              <a:t>Bilingual pass  (Hindi + English)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38328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Validate the retail taxonomy with native-speaker analysts before extending to Indian retail communities.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150876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82880" cy="15087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526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041E42"/>
                </a:solidFill>
              </a:rPr>
              <a:t>Per-team SLA dashboards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Extend the Post Lifecycle SLA analytics into per-team dashboards once analyst volume passes ~50 posts / day.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21 / 25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Future Work  —  Model +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Directions grouped by layer of the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5532120" cy="512064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071DC"/>
                </a:solidFill>
              </a:rPr>
              <a:t>Model-level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Joint sentiment + aspect head on a shared encoder  (~30 % inference saving)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Distil ModernBERT to ~50 M-parameter student  →  CPU-only edge inference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Reasoning-augmented VLM captioning  (LLaVA-Next 1.6 B or SmolVLM)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3-seed ensemble for tighter F1 variance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Blind 25-post recheck for defensibility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6172200" y="960120"/>
            <a:ext cx="5532120" cy="5120640"/>
          </a:xfrm>
          <a:prstGeom prst="rect">
            <a:avLst/>
          </a:prstGeom>
          <a:solidFill>
            <a:srgbClr val="EDE9FE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0972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</a:rPr>
              <a:t>Product-level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50876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Auto-reply confidence gate  —  promote LLM drafts to "queued to send" when analyst edit-distance &lt; threshold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Predictive P1 forecast  —  seasonal decomposition on daily counts (24–48 h ahead)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Bilingual (Hindi + English) taxonomy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Slack-bot inline notification responses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3333"/>
                </a:solidFill>
              </a:rPr>
              <a:t>•  Automated retraining pipeline 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22 / 25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Future Work  —  Operational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11430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E8F4FD"/>
                </a:solidFill>
              </a:rPr>
              <a:t>Path from local prototype to Walmart-production service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124712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182880" cy="1188720"/>
          </a:xfrm>
          <a:prstGeom prst="rect">
            <a:avLst/>
          </a:prstGeom>
          <a:solidFill>
            <a:srgbClr val="0071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161288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Kubernetes CronJob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6002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Deploy the pipeline as a scheduled Kubernetes CronJob backed by a managed Postgres instance for multi-analyst concurrency.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50008"/>
            <a:ext cx="1124712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350008"/>
            <a:ext cx="182880" cy="11887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59736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Azure Cosmos DB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98648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Swap SQLiteBackend for CosmosBackend (schema already mirrors partition design)  —  no calling-code change.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48456"/>
            <a:ext cx="1124712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648456"/>
            <a:ext cx="182880" cy="11887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58184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Walmart ticketing integration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97096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P1 alerts open cases directly in Walmart's internal ticketing so the analyst never leaves the workflow.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46904"/>
            <a:ext cx="11247120" cy="1188720"/>
          </a:xfrm>
          <a:prstGeom prst="rect">
            <a:avLst/>
          </a:prstGeom>
          <a:solidFill>
            <a:srgbClr val="F5F5F5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946904"/>
            <a:ext cx="182880" cy="1188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056632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41E42"/>
                </a:solidFill>
              </a:rPr>
              <a:t>Broader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495544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Extend beyond Reddit to Twitter / X, YouTube comments, and app-store reviews on the same trust + sentiment stack.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23 / 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41E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Source Code &amp;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FFC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1005840"/>
          </a:xfrm>
          <a:prstGeom prst="rect">
            <a:avLst/>
          </a:prstGeom>
          <a:solidFill>
            <a:srgbClr val="E8F4FD"/>
          </a:solidFill>
          <a:ln>
            <a:solidFill>
              <a:srgbClr val="0071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71DC"/>
                </a:solidFill>
              </a:rPr>
              <a:t>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041E42"/>
                </a:solidFill>
              </a:rPr>
              <a:t>https://gecgithub01.walmart.com/v0s01jh/Retail_Sentiment_Intelligence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14884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Path in repo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041E42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Final Report (PDF)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docs/Sem_4/final/FINAL_REPORT_VishalSingh_2020AA05641.pdf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10 chapters + appendices + refs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Final Report (LaTeX)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docs/Sem_4/final/latex/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Reproducible xelatex source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Pipeline 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src/pipeline.py, src/ingestion/, src/analysis/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6-layer async pipeline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Sentiment training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scripts/train_modernbert_sentiment.py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3-stage curriculum runner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Evaluation notebook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evaluation/trust_score_walmart200.ipynb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Reproducible 5-fold OOF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Dashboard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frontend/  (React + Vite + Tailwind)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8 pages, live via WebSocket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33333"/>
                          </a:solidFill>
                        </a:rPr>
                        <a:t>Reproduction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Appendix B of the report  ·  start.sh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33333"/>
                          </a:solidFill>
                        </a:rPr>
                        <a:t>Clone → conda → start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</a:rPr>
              <a:t>Retail Sentiment Intelligence  ·  BITS ZG628T Dissertation  ·  Vishal Singh  ·  Post Mid-Semester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53796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66666"/>
                </a:solidFill>
              </a:rPr>
              <a:t>24 / 25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73736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FC220"/>
                </a:solidFill>
              </a:rPr>
              <a:t>Retail Sentiment Intelligence  ·  Post Mid-Semester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Questions ?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617720"/>
            <a:ext cx="8503920" cy="1280160"/>
          </a:xfrm>
          <a:prstGeom prst="rect">
            <a:avLst/>
          </a:prstGeom>
          <a:solidFill>
            <a:srgbClr val="E8F4FD"/>
          </a:solidFill>
          <a:ln>
            <a:solidFill>
              <a:srgbClr val="FFC2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475488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71DC"/>
                </a:solidFill>
              </a:rPr>
              <a:t>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5074920"/>
            <a:ext cx="8138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041E42"/>
                </a:solidFill>
              </a:rPr>
              <a:t>gecgithub01.walmart.com/v0s01jh/Retail_Sentiment_Intelligence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5532120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</a:rPr>
              <a:t>Report:  docs/Sem_4/final/FINAL_REPORT_VishalSingh_2020AA05641.pdf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E8F4FD"/>
                </a:solidFill>
              </a:rPr>
              <a:t>Vishal Singh  ·  2020AA05641  ·  BITS Pilani (WILP)  ·  Walmart Global Tech,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