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3.png"/><Relationship Id="rId7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65760" cy="246888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Retail Sentiment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C220"/>
                </a:solidFill>
              </a:rPr>
              <a:t>Trust-Aware Sentiment Analysis of Retail Feedback using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BITS ZG628T  ·  Dissertation  ·  Post Mid-Semester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Vishal Singh   ·   ID No. 2020AA05641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M.Tech (Artificial Intelligence &amp; Machine Learning)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Birla Institute of Technology &amp; Science, Pilani  (WILP)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Dissertation work at  Walmart Global Tech, Bengaluru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Supervisor:  Mr. Varunendra Pratap Singh  —  Principal Software Engineer, Walmart Global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Additional Examiner:  Ms. Pradnya Kashikar  —  BITS Pilani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Focus of today — post mid-semester work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78992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Since Mid-Sem — What's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252728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Post-midsem workstream 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17904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63624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45336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Review &amp; Validate  (HITL)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719072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Human-in-the-loop correction workflow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84248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2996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011680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Smart Reply Composer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185416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Dual-draft:  rule-based  +  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50592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49631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478024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Learning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651760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Corrections + posted replies → retraining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916936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62656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944368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Post Explorer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118104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Multi-facet search across analysed posts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83280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42900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410712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Post Lifecycle  (Kanban)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584448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Triage → Acknowledged → In-Progress → Resolved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849624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895344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877056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Insights &amp; Competitor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050792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Strategic weekly summaries + cross-brand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1051560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109728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1078992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Notification Centre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1252728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In-app + email + Slack, group-routed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1517904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1563624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1545336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ModernBERT — Final Results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1719072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Macro-F1  0.6272 → 0.7642  (+13.7 pts)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1984248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202996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2011680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Vision — Multi-Pass Payoff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2185416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Hallucination  50% → 0%,  extraction 25% → 75%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450592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249631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0" y="2478024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Trust-Score Evaluation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2651760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15% flagged; 12 of 15 confirmed by annotator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2916936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2962656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2944368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Storage — SQLite → Cosmos DB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66560" y="3118104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Lift-and-shift ready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3383280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342900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66560" y="3410712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Live Demo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66560" y="3584448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Dashboard walkthrough (screenshots)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3849624"/>
            <a:ext cx="5623560" cy="3657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9360" y="3895344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0" y="3877056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Conclusions &amp; Future Work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4050792"/>
            <a:ext cx="4983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RQ1–RQ4 outcomes + roadmap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Since Mid-Sem — 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Mid-sem shipped the pipeline; post-midsem made it usable for analysts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Delivered at mid-sem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6-layer offline-first pipeline (25 subreddits)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ModernBERT fine-tuning up to Stage 2  (F1 0.7285)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Multi-pass vision with 0% hallucination on pilot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Trust-score design + weighted formula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Brand-Health + Alert Feed dashboard pages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Group-routed email / Slack notifications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Added post-midsem  (this deck)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Review &amp; Validate  —  human-in-the-loop UI + backend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Smart Reply Composer  —  dual-draft (rule + FLAN-T5)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Learning-loop store  —  corrections &amp; posted replies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Post Explorer  —  multi-facet search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Post Lifecycle  —  Kanban with 2-step Resolve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Insights &amp; Competitor Analysis page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In-app Notification Centre mirroring the digest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ModernBERT Stage 3 (final)  —  F1 0.7285 → 0.7642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Trust-score end-to-end evaluation (n = 200)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SQLite schema mirroring Cosmos DB partitioning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1DC"/>
                </a:solidFill>
              </a:rPr>
              <a:t>Framing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Mid-sem answered can the pipeline produce trust-weighted sentiment?    Post-midsem answers can an analyst act on it, correct it, and feed the corrections back into the model?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Review &amp; Validate  — 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Every prediction can be corrected; every correction is logged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Queue sorted by  priority (P1 first)  ·  trust × confidence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Analyst can override sentiment and aspect tags in one click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Corrections written to  feedback table  with analyst + timestamp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Generate Drafts  →  two reply options  (rule + LLM)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Analyst picks A or B, edits, and posts to Reddit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Posted replies also captured  →  future few-shot pool</a:t>
            </a:r>
          </a:p>
        </p:txBody>
      </p:sp>
      <p:pic>
        <p:nvPicPr>
          <p:cNvPr id="7" name="Picture 6" descr="review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212080"/>
            <a:ext cx="5486400" cy="109728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349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Turns a passive dashboard into a training signal — corrections harvested here drive the ModernBERT re-training loop and reply few-shot pool.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Smart Reply Composer  —  Dual-Draft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Deterministic composer + LLM composer, analyst chooses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532120" cy="31089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1DC"/>
                </a:solidFill>
              </a:rPr>
              <a:t>Draft A  ·  Rule / Smart Composer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Keyword &amp; aspect extraction from post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Curated phrase pool  →  templated apology + resolution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Deterministic — same input, same output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Always available, zero latency, zero cost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Strong default tone for common complaints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960120"/>
            <a:ext cx="5532120" cy="3108960"/>
          </a:xfrm>
          <a:prstGeom prst="rect">
            <a:avLst/>
          </a:prstGeom>
          <a:solidFill>
            <a:srgbClr val="EDE9FE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0972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</a:rPr>
              <a:t>Draft B  ·  FLAN-T5-base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Multi-temperature sampling  (T = 0.7, 0.9, 1.1)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Best-of-N scorer over drafts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Higher variety, less templated tone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Learns from posted replies over time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Fallback to Draft A if model unavailable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041E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Composer pipeline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96596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965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post + aspects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615184" y="4956048"/>
            <a:ext cx="164592" cy="329184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88920" y="4800600"/>
            <a:ext cx="196596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8920" y="4846320"/>
            <a:ext cx="1965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Draft A + Draft B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764024" y="4956048"/>
            <a:ext cx="164592" cy="329184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37760" y="4800600"/>
            <a:ext cx="196596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4846320"/>
            <a:ext cx="1965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analyst picks + edits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912864" y="4956048"/>
            <a:ext cx="164592" cy="329184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86600" y="4800600"/>
            <a:ext cx="196596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4846320"/>
            <a:ext cx="1965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posted reply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61704" y="4956048"/>
            <a:ext cx="164592" cy="329184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5440" y="4800600"/>
            <a:ext cx="1965960" cy="640080"/>
          </a:xfrm>
          <a:prstGeom prst="rect">
            <a:avLst/>
          </a:prstGeom>
          <a:solidFill>
            <a:srgbClr val="FFFFFF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4846320"/>
            <a:ext cx="1965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feedback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Learning Loop  —  Feedback → Retraining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HITL corrections + posted replies become the next training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743200" cy="21945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4884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analyst overrides sentiment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and aspect tags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13532" y="205740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234440"/>
            <a:ext cx="2743200" cy="21945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234440"/>
            <a:ext cx="27432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14884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feedback(post_id,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old, new, analyst_id, ts)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93892" y="205740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234440"/>
            <a:ext cx="2743200" cy="21945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234440"/>
            <a:ext cx="27432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CURATE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14884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weekly export of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disagreements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(model ≠ analyst)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74252" y="205740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1234440"/>
            <a:ext cx="2743200" cy="21945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234440"/>
            <a:ext cx="27432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RETRAIN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14884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add to Stage-3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fine-tune set,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rerun 5-fold CV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Two signals feed the loop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57200" y="4160520"/>
          <a:ext cx="112471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6862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Signal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Downstream use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Label corrections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feedback (sentiment / aspect)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ModernBERT Stage-3 augmentation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Posted replies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feedback (reply_text)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FLAN-T5 few-shot pool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Trust-tier overrides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feedback (trust_override)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Trust-score threshold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Post Explorer  —  Multi-Facet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Find the exact 20 posts an analyst needs to look at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Facets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Sentiment  ·  neg / neu / pos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Confidence slider  (0.50 – 1.00)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Trust-score slider  (0.00 – 1.00)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Subreddit  —  multi-select from 25 tracked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Aspect  —  8-item retail taxonomy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Date range  —  today / week / month / custom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Full-text search  —  title + body</a:t>
            </a:r>
          </a:p>
        </p:txBody>
      </p:sp>
      <p:pic>
        <p:nvPicPr>
          <p:cNvPr id="8" name="Picture 7" descr="post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Per-post 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Title + body excerpt · sentiment badge with confidence % · trust tier (H / M / L) · aspect chips · subreddit + timestamp · actions:  Review  ·  Add to Lifecycle  ·  View Details.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Post Lifecycle  —  Kanban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Track a complaint from Triage to Resolved with SLA visibility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TRIAGED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New P1 / P2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posts land here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497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34440"/>
            <a:ext cx="27432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ACKNOWLEDGED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Assigned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to analyst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8533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234440"/>
            <a:ext cx="27432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Reply being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drafted / posted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96569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280" y="1234440"/>
            <a:ext cx="27432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Reply posted or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no-action closed</a:t>
            </a:r>
          </a:p>
        </p:txBody>
      </p:sp>
      <p:pic>
        <p:nvPicPr>
          <p:cNvPr id="25" name="Picture 24" descr="lifecycle_kan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46120"/>
            <a:ext cx="6858000" cy="428625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589520" y="3246120"/>
            <a:ext cx="4114800" cy="2880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3383280"/>
            <a:ext cx="3840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Resolve modal  —  2-step 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70332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Step 1 · save action note + optional LLM reply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(a) Save &amp; open Reddit  →  reply copied to clipboard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(b) OR  Resolve (no-reply)  →  close without posting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Step 2 · paste on Reddit → Mark Resolved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All transitions timestamped  →  SLA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Insights &amp; Competitor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Strategic view — issue rankings, cross-brand pulse, LLM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54864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14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Priority-Negatives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Top issues ranked by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volume × severity × recency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by aspect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960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960120"/>
            <a:ext cx="54864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014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Competitor 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463040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Walmart vs Costco,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Target, Amazon on shared aspects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46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46120"/>
            <a:ext cx="54864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300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Weekly LLM Summaries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49039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Natural-language weekly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digest + action items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+ emerging topics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46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3246120"/>
            <a:ext cx="54864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300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Aspect Drilldown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8-aspect taxonomy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per-aspect sentiment trend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+ representative posts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23560"/>
            <a:ext cx="11247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Screenshot on Slide 17 (Live Demo grid) — insights_competitor page.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Notification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In-app mirror of the group-routed email / Slack digest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Every P1 / P2 email or Slack alert is mirrored in the app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Notifications grouped by  subreddit ↔ business team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Read / unread state persisted per analyst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Deep-links open the post directly in Review &amp; Validate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Powered by the same  alerts  rows that drive email/Slack</a:t>
            </a:r>
          </a:p>
        </p:txBody>
      </p:sp>
      <p:pic>
        <p:nvPicPr>
          <p:cNvPr id="7" name="Picture 6" descr="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4617720"/>
            <a:ext cx="5486400" cy="16459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Priority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P1 — trust ≥ 0.70  and  confidence ≥ 0.80</a:t>
            </a:r>
          </a:p>
          <a:p>
            <a:pPr algn="l"/>
            <a:r>
              <a:rPr sz="1100" b="0">
                <a:solidFill>
                  <a:srgbClr val="333333"/>
                </a:solidFill>
              </a:rPr>
              <a:t>P2 — trust ≥ 0.50  and  confidence ≥ 0.60</a:t>
            </a:r>
          </a:p>
          <a:p>
            <a:pPr algn="l"/>
            <a:r>
              <a:rPr sz="1100" b="0">
                <a:solidFill>
                  <a:srgbClr val="333333"/>
                </a:solidFill>
              </a:rPr>
              <a:t>Source: config/models.yaml + dispatcher.py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ModernBERT  —  Final Training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3-stage curriculum,  5-fold out-of-fold CV,  n = 200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36576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Overall Macro-F1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</a:rPr>
              <a:t>0.6272 → 0.7642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960120"/>
            <a:ext cx="36576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Long-post F1  (&gt; 256 tok)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</a:rPr>
              <a:t>0.28 → 1.00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960120"/>
            <a:ext cx="3657600" cy="160020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Uplift over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0071DC"/>
                </a:solidFill>
              </a:rPr>
              <a:t>+13.7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3-stage curriculum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108960"/>
          <a:ext cx="112471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Baseline (Twitter-RoBERTa)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off-the-shelf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TweetEval sentiment (~45 k tweets)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0.6810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+5.4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GoEmotions-3class Reddit (~54 k, pseudo)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3  (final)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Walmart-200 hand-labelled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0.7642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+13.7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Per-length-bucket F1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530352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Bucket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ModernBERT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Short  (&lt; 64 tokens)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Medium  (64 – 256 tokens)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0.6500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0.7400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+9.0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Long  (&gt; 256 tokens)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0.2778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+72.2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Vision Pipeline  —  Multi-Pass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model (Gemma 3 4B), same hardware, smarter calling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27432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What TYPE of image?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screenshot / photo /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receipt / app / meme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1353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51560"/>
            <a:ext cx="27432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Split into 2–4 crops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→ 2–4× effective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resolution, no resize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9389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05156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EXTRACT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Per tile: read ALL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text verbatim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(quotes, prices, UI)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7425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051560"/>
            <a:ext cx="27432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MERGE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Text-only LLM call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— image REMOVED —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cannot invent visuals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3375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Evaluation on 32 retail screenshots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57200" y="370332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Single-pass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Multi-pass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Hallucination rate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50 %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eliminated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Text-extraction success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25 %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75 %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3× better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Retail-signal recall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40 %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81 %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2× better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Fabricated claims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many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eliminated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Latency / image (warm)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~5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~15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3× (accepted)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Trust-Score  —  End-to-End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 the 200-post gold set, does the trust filter catch bad posts?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3657600" cy="1737360"/>
          </a:xfrm>
          <a:prstGeom prst="rect">
            <a:avLst/>
          </a:prstGeom>
          <a:solidFill>
            <a:srgbClr val="FEF3C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Low-trust share  (T &lt; 0.4)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D97706"/>
                </a:solidFill>
              </a:rPr>
              <a:t>15 %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960120"/>
            <a:ext cx="3657600" cy="173736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Human-agreed  (annotator cross-check)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0B981"/>
                </a:solidFill>
              </a:rPr>
              <a:t>12 / 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960120"/>
            <a:ext cx="3657600" cy="1737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Agreement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0071DC"/>
                </a:solidFill>
              </a:rPr>
              <a:t>80 %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803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Weighted formula  (decomposition shown inline in dashboard)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11247120" cy="7772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41E42"/>
                </a:solidFill>
              </a:rPr>
              <a:t>trust_score  =  0.4 × metadata  +  0.3 × dedup  +  0.3 × llm_credibility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51960"/>
            <a:ext cx="11247120" cy="196596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Design principle — flag, don't drop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Low-trust posts are surfaced with an explanatory chip ("promotional / duplicate / thin-metadata") and can be overridden by an analyst in one click — the override is captured for the learning loop. Every constant in the formula has a stakeholder-arguable English rationale in config/models.yaml.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Storage  —  SQLite → Cosmos DB Lift-and-Shift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schema, same partition keys, no calling-code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Container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Partition Key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Key Fields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raw_posts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/subreddit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id, title, body, author_hash, created_utc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Ingested (privacy-safe)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analyses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/subreddit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sentiment, confidence, aspects, 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AI analysis results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aggregates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/time_window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subreddit, window, metrics_json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Pre-computed KPIs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alerts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/severity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type, aspect, threshold_breached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Triggered anomalies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/analyst_id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correction, reply_text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HITL corrections + replies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notification_log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/group_id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channel, status, sent_at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Delivery audit trail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06240"/>
            <a:ext cx="5486400" cy="21031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Design choices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SQLite in WAL mode for hot dev data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data JSON column mirrors Cosmos doc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Pluggable StorageBackend interface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Nightly backup + JSONL cost ledger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4206240"/>
            <a:ext cx="5532120" cy="210312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3434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Migration 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66344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Swap SQLiteBackend → CosmosBackend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Same CREATE TABLE mapped to container spec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Partition keys already match production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Zero change to pipeline / dashboard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Evaluation Summary  —  Post-Midsem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All results reported against the same 200-post retail-Reddit gold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0584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Macro-F1 (final)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0.7642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+13.7 pts vs RoBERTa baseline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Long-post F1  (&gt; 256 tokens)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0.2778 baseline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Cross-validation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5-fold OOF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No test-set leakage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Hallucination rate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50 % on single-pass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Text extraction success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75 %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25 % on single-pass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Retail-signal recall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81 %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40 % on single-pass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Trust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Low-trust share  (T &lt; 0.4)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Of the 200-post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Annotator agreement on low-trust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12 / 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80 %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Subreddits tracked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Six community groups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Scheduler cadence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6 h + manual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asyncio lifespan task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Dashboard pages shipped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Brand Health · Alerts · Explorer · Review · Lifecycle · Insights · Pipeline · Notifications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Principal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What this dissertation delivered —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0058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Offline-first RSI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Ingestion → trust → sentiment → aspects → vision → aggregation → alerts → dashboard.  Zero API cost, modular, deployable to Azure.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02535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02535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02535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048255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Fine-tuned ModernBERT (3-stage curriculum)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368295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Macro-F1 0.6272 → 0.7642 overall; 0.28 → 1.00 on long posts.  5-fold OOF cross-validation, offline training.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4495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4495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4495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09067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Multi-pass vision technique on Gemma 3 4B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41071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Hallucination 50 % → 0 %,  extraction 25 % → 75 %.  Adapts techniques from 5 recent VLM papers without vendor-blocked models.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87365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87365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087365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133085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Interpretable trust score + admission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453125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trust × confidence gate flags rather than drops low-credibility posts.  Every constant traceable to English rationale in config.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2978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12978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12978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1755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HITL learning-loop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49554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Review &amp; Validate, Lifecycle Kanban, Insights, Notification centre.  Corrections &amp; posted replies feed few-shot reply generation and future retraining.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Live Demo  —  Dashboard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One post → alert → review → reply → lifecycle → resolved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rand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79476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Brand Health</a:t>
            </a:r>
          </a:p>
        </p:txBody>
      </p:sp>
      <p:pic>
        <p:nvPicPr>
          <p:cNvPr id="8" name="Picture 7" descr="alert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960120"/>
            <a:ext cx="3794760" cy="2331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062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Alert Feed</a:t>
            </a:r>
          </a:p>
        </p:txBody>
      </p:sp>
      <p:pic>
        <p:nvPicPr>
          <p:cNvPr id="10" name="Picture 9" descr="post_explor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960120"/>
            <a:ext cx="3794760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924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Post Explorer</a:t>
            </a:r>
          </a:p>
        </p:txBody>
      </p:sp>
      <p:pic>
        <p:nvPicPr>
          <p:cNvPr id="12" name="Picture 11" descr="review_vali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566160"/>
            <a:ext cx="3794760" cy="2331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Review &amp; Validate</a:t>
            </a:r>
          </a:p>
        </p:txBody>
      </p:sp>
      <p:pic>
        <p:nvPicPr>
          <p:cNvPr id="14" name="Picture 13" descr="lifecycle_kanb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3566160"/>
            <a:ext cx="3794760" cy="2331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62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Lifecycle Kanban</a:t>
            </a:r>
          </a:p>
        </p:txBody>
      </p:sp>
      <p:pic>
        <p:nvPicPr>
          <p:cNvPr id="16" name="Picture 15" descr="insights_compet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3566160"/>
            <a:ext cx="3794760" cy="2331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24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Conclusions  —  Research Questions Answered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0332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fine-tuned encoder beat baselines on Reddit retail sentiment?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41732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ModernBERT 3-stage curriculum raised Macro-F1 from 0.6272 → 0.7642 overall  and from 0.2778 → 1.0000 on long posts.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76856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76856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76856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3500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compliant open-weights VLM extract structured retail signal from screenshots?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34056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Multi-pass pipeline on Gemma 3 4B reduced hallucination from 50 % → 0 %  and lifted text extraction from 25 % → 75 %.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93592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93592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6674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defensible trust score filter low-credibility posts without silent drops?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50792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Interpretable 3-part score flagged 15 % of posts;  12 of 15 confirmed by human annotator.  All low-trust posts remain visible and analyst-overridable.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10328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910328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910328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HITL workflow produce a re-training signal from analyst corrections?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67528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Every correction and posted reply is logged in the  feedback  table  →  feeds ModernBERT Stage-3 augmentation and FLAN-T5 few-shot pool.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Recommendations  —  Immediate Follow-Ons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82880" cy="150876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Monthly retraining cadence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Use the HITL feedback store as the incremental labelling stream and re-run the 3-stage curriculum monthly.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43200"/>
            <a:ext cx="182880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Bilingual pass  (Hindi + English)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Validate the retail taxonomy with native-speaker analysts before extending to Indian retail communities.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389120"/>
            <a:ext cx="182880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Per-team SLA dashboards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Extend the Post Lifecycle SLA analytics into per-team dashboards once analyst volume passes ~50 posts / 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Future Work  —  Model +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Directions grouped by layer of the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532120" cy="51206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1DC"/>
                </a:solidFill>
              </a:rPr>
              <a:t>Model-level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Joint sentiment + aspect head on a shared encoder  (~30 % inference saving)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Distil ModernBERT to ~50 M-parameter student  →  CPU-only edge inference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Reasoning-augmented VLM captioning  (LLaVA-Next 1.6 B or SmolVLM)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3-seed ensemble for tighter F1 variance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Blind 25-post recheck for defensibility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960120"/>
            <a:ext cx="5532120" cy="5120640"/>
          </a:xfrm>
          <a:prstGeom prst="rect">
            <a:avLst/>
          </a:prstGeom>
          <a:solidFill>
            <a:srgbClr val="EDE9FE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0972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</a:rPr>
              <a:t>Product-level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Auto-reply confidence gate  —  promote LLM drafts to "queued to send" when analyst edit-distance &lt; threshold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Predictive P1 forecast  —  seasonal decomposition on daily counts (24–48 h ahead)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Bilingual (Hindi + English) taxonomy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Slack-bot inline notification responses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Automated retraining pipeline hook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Future Work  —  Operational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Path from local prototype to Walmart-production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82880" cy="11887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6128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Kubernetes CronJob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Deploy the pipeline as a scheduled Kubernetes CronJob backed by a managed Postgres instance for multi-analyst concurrency.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50008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50008"/>
            <a:ext cx="182880" cy="1188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59736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Azure Cosmos DB migration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9864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Swap SQLiteBackend for CosmosBackend (schema already mirrors partition design)  —  no calling-code change.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48456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48456"/>
            <a:ext cx="182880" cy="1188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58184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Walmart ticketing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97096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P1 alerts open cases directly in Walmart's internal ticketing so the analyst never leaves the workflow.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46904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946904"/>
            <a:ext cx="182880" cy="1188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5663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Broader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Extend beyond Reddit to Twitter / X, YouTube comments, and app-store reviews on the same trust + sentiment stack.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Source Code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10058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41E42"/>
                </a:solidFill>
              </a:rPr>
              <a:t>https://gecgithub01.walmart.com/v0s01jh/Retail_Sentiment_Intelligence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1488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Path in repo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Final Report (PDF)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docs/Sem_4/final/FINAL_REPORT_VishalSingh_2020AA05641.pdf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10 chapters + appendices + refs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Final Report (LaTeX)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docs/Sem_4/final/latex/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Reproducible xelatex source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Pipeline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src/pipeline.py, src/ingestion/, src/analysis/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6-layer async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 training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scripts/train_modernbert_sentiment.py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3-stage curriculum runner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Evaluation notebook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evaluation/trust_score_walmart200.ipynb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Reproducible 5-fold OOF 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Dashboard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frontend/  (React + Vite + Tailwind)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 pages, live via WebSocket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Reproduction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Appendix B of the report  ·  start.sh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Clone → conda →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7373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FC220"/>
                </a:solidFill>
              </a:rPr>
              <a:t>Retail Sentiment Intelligence  ·  Post Mid-Semester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Questions ?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617720"/>
            <a:ext cx="8503920" cy="1280160"/>
          </a:xfrm>
          <a:prstGeom prst="rect">
            <a:avLst/>
          </a:prstGeom>
          <a:solidFill>
            <a:srgbClr val="E8F4FD"/>
          </a:solidFill>
          <a:ln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754880"/>
            <a:ext cx="8138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071DC"/>
                </a:solidFill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07492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41E42"/>
                </a:solidFill>
              </a:rPr>
              <a:t>gecgithub01.walmart.com/v0s01jh/Retail_Sentiment_Intelligence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32120"/>
            <a:ext cx="8138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Report:  docs/Sem_4/final/FINAL_REPORT_VishalSingh_2020AA05641.pdf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E8F4FD"/>
                </a:solidFill>
              </a:rPr>
              <a:t>Vishal Singh  ·  2020AA05641  ·  BITS Pilani (WILP)  ·  Walmart Global Tech, Bengaluru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