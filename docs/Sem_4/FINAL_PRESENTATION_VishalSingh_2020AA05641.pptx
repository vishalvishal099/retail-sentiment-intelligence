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1645920"/>
            <a:ext cx="365760"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822960"/>
          </a:xfrm>
          <a:prstGeom prst="rect">
            <a:avLst/>
          </a:prstGeom>
          <a:noFill/>
        </p:spPr>
        <p:txBody>
          <a:bodyPr wrap="square" anchor="t">
            <a:spAutoFit/>
          </a:bodyPr>
          <a:lstStyle/>
          <a:p>
            <a:pPr algn="l"/>
            <a:r>
              <a:rPr sz="4000" b="1" i="0">
                <a:solidFill>
                  <a:srgbClr val="FFFFFF"/>
                </a:solidFill>
              </a:rPr>
              <a:t>Retail Sentiment Intelligence</a:t>
            </a:r>
          </a:p>
        </p:txBody>
      </p:sp>
      <p:sp>
        <p:nvSpPr>
          <p:cNvPr id="4" name="TextBox 3"/>
          <p:cNvSpPr txBox="1"/>
          <p:nvPr/>
        </p:nvSpPr>
        <p:spPr>
          <a:xfrm>
            <a:off x="822960" y="1463040"/>
            <a:ext cx="10515600" cy="1280160"/>
          </a:xfrm>
          <a:prstGeom prst="rect">
            <a:avLst/>
          </a:prstGeom>
          <a:noFill/>
        </p:spPr>
        <p:txBody>
          <a:bodyPr wrap="square" anchor="t">
            <a:spAutoFit/>
          </a:bodyPr>
          <a:lstStyle/>
          <a:p>
            <a:pPr algn="l"/>
            <a:r>
              <a:rPr sz="1900" b="0" i="0">
                <a:solidFill>
                  <a:srgbClr val="FFC220"/>
                </a:solidFill>
              </a:rPr>
              <a:t>Real-Time Social Media Mining and Trust-Aware Sentiment Analysis</a:t>
            </a:r>
          </a:p>
          <a:p>
            <a:pPr algn="l"/>
            <a:r>
              <a:rPr sz="1900" b="0" i="0">
                <a:solidFill>
                  <a:srgbClr val="FFC220"/>
                </a:solidFill>
              </a:rPr>
              <a:t>Using Large Language Models for Retail Feedback Optimization</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i="0">
                <a:solidFill>
                  <a:srgbClr val="FFFFFF"/>
                </a:solidFill>
              </a:rPr>
              <a:t>BITS ZG628T   ·   Dissertation   ·   Post Mid-Semester Presentation</a:t>
            </a:r>
          </a:p>
        </p:txBody>
      </p:sp>
      <p:sp>
        <p:nvSpPr>
          <p:cNvPr id="6" name="Rectangle 5"/>
          <p:cNvSpPr/>
          <p:nvPr/>
        </p:nvSpPr>
        <p:spPr>
          <a:xfrm>
            <a:off x="822960" y="3246120"/>
            <a:ext cx="3657600" cy="3657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10515600" cy="365760"/>
          </a:xfrm>
          <a:prstGeom prst="rect">
            <a:avLst/>
          </a:prstGeom>
          <a:noFill/>
        </p:spPr>
        <p:txBody>
          <a:bodyPr wrap="square" anchor="t">
            <a:spAutoFit/>
          </a:bodyPr>
          <a:lstStyle/>
          <a:p>
            <a:pPr algn="l"/>
            <a:r>
              <a:rPr sz="1600" b="1" i="0">
                <a:solidFill>
                  <a:srgbClr val="FFFFFF"/>
                </a:solidFill>
              </a:rPr>
              <a:t>Faculty Mentor:   Ms. Pradnya Kashikar</a:t>
            </a:r>
          </a:p>
        </p:txBody>
      </p:sp>
      <p:sp>
        <p:nvSpPr>
          <p:cNvPr id="8" name="TextBox 7"/>
          <p:cNvSpPr txBox="1"/>
          <p:nvPr/>
        </p:nvSpPr>
        <p:spPr>
          <a:xfrm>
            <a:off x="822960" y="3931920"/>
            <a:ext cx="10515600" cy="365760"/>
          </a:xfrm>
          <a:prstGeom prst="rect">
            <a:avLst/>
          </a:prstGeom>
          <a:noFill/>
        </p:spPr>
        <p:txBody>
          <a:bodyPr wrap="square" anchor="t">
            <a:spAutoFit/>
          </a:bodyPr>
          <a:lstStyle/>
          <a:p>
            <a:pPr algn="l"/>
            <a:r>
              <a:rPr sz="1200" b="0" i="0">
                <a:solidFill>
                  <a:srgbClr val="E8F4FD"/>
                </a:solidFill>
              </a:rPr>
              <a:t>BITS Pilani (WILP)</a:t>
            </a:r>
          </a:p>
        </p:txBody>
      </p:sp>
      <p:sp>
        <p:nvSpPr>
          <p:cNvPr id="9" name="TextBox 8"/>
          <p:cNvSpPr txBox="1"/>
          <p:nvPr/>
        </p:nvSpPr>
        <p:spPr>
          <a:xfrm>
            <a:off x="822960" y="4480560"/>
            <a:ext cx="10515600" cy="365760"/>
          </a:xfrm>
          <a:prstGeom prst="rect">
            <a:avLst/>
          </a:prstGeom>
          <a:noFill/>
        </p:spPr>
        <p:txBody>
          <a:bodyPr wrap="square" anchor="t">
            <a:spAutoFit/>
          </a:bodyPr>
          <a:lstStyle/>
          <a:p>
            <a:pPr algn="l"/>
            <a:r>
              <a:rPr sz="1600" b="1" i="0">
                <a:solidFill>
                  <a:srgbClr val="FFFFFF"/>
                </a:solidFill>
              </a:rPr>
              <a:t>Supervisor:   Mr. Varunendra Pratap Singh</a:t>
            </a:r>
          </a:p>
        </p:txBody>
      </p:sp>
      <p:sp>
        <p:nvSpPr>
          <p:cNvPr id="10" name="TextBox 9"/>
          <p:cNvSpPr txBox="1"/>
          <p:nvPr/>
        </p:nvSpPr>
        <p:spPr>
          <a:xfrm>
            <a:off x="822960" y="4892040"/>
            <a:ext cx="10515600" cy="365760"/>
          </a:xfrm>
          <a:prstGeom prst="rect">
            <a:avLst/>
          </a:prstGeom>
          <a:noFill/>
        </p:spPr>
        <p:txBody>
          <a:bodyPr wrap="square" anchor="t">
            <a:spAutoFit/>
          </a:bodyPr>
          <a:lstStyle/>
          <a:p>
            <a:pPr algn="l"/>
            <a:r>
              <a:rPr sz="1200" b="0" i="0">
                <a:solidFill>
                  <a:srgbClr val="E8F4FD"/>
                </a:solidFill>
              </a:rPr>
              <a:t>Principal Software Engineer  ·  Walmart Global Tech, Bengaluru</a:t>
            </a:r>
          </a:p>
        </p:txBody>
      </p:sp>
      <p:sp>
        <p:nvSpPr>
          <p:cNvPr id="11" name="TextBox 10"/>
          <p:cNvSpPr txBox="1"/>
          <p:nvPr/>
        </p:nvSpPr>
        <p:spPr>
          <a:xfrm>
            <a:off x="822960" y="5440680"/>
            <a:ext cx="10515600" cy="365760"/>
          </a:xfrm>
          <a:prstGeom prst="rect">
            <a:avLst/>
          </a:prstGeom>
          <a:noFill/>
        </p:spPr>
        <p:txBody>
          <a:bodyPr wrap="square" anchor="t">
            <a:spAutoFit/>
          </a:bodyPr>
          <a:lstStyle/>
          <a:p>
            <a:pPr algn="l"/>
            <a:r>
              <a:rPr sz="1600" b="1" i="0">
                <a:solidFill>
                  <a:srgbClr val="FFFFFF"/>
                </a:solidFill>
              </a:rPr>
              <a:t>Candidate:   Vishal Singh   ·   2020AA05641</a:t>
            </a:r>
          </a:p>
        </p:txBody>
      </p:sp>
      <p:sp>
        <p:nvSpPr>
          <p:cNvPr id="12" name="TextBox 11"/>
          <p:cNvSpPr txBox="1"/>
          <p:nvPr/>
        </p:nvSpPr>
        <p:spPr>
          <a:xfrm>
            <a:off x="822960" y="5852160"/>
            <a:ext cx="10515600" cy="365760"/>
          </a:xfrm>
          <a:prstGeom prst="rect">
            <a:avLst/>
          </a:prstGeom>
          <a:noFill/>
        </p:spPr>
        <p:txBody>
          <a:bodyPr wrap="square" anchor="t">
            <a:spAutoFit/>
          </a:bodyPr>
          <a:lstStyle/>
          <a:p>
            <a:pPr algn="l"/>
            <a:r>
              <a:rPr sz="1200" b="0" i="0">
                <a:solidFill>
                  <a:srgbClr val="E8F4FD"/>
                </a:solidFill>
              </a:rPr>
              <a:t>M.Tech (AI &amp; ML)  ·  Birla Institute of Technology &amp; Science, Pilani (WILP)</a:t>
            </a:r>
          </a:p>
        </p:txBody>
      </p:sp>
      <p:sp>
        <p:nvSpPr>
          <p:cNvPr id="13" name="TextBox 12"/>
          <p:cNvSpPr txBox="1"/>
          <p:nvPr/>
        </p:nvSpPr>
        <p:spPr>
          <a:xfrm>
            <a:off x="822960" y="6492240"/>
            <a:ext cx="10515600" cy="274320"/>
          </a:xfrm>
          <a:prstGeom prst="rect">
            <a:avLst/>
          </a:prstGeom>
          <a:noFill/>
        </p:spPr>
        <p:txBody>
          <a:bodyPr wrap="square" anchor="t">
            <a:spAutoFit/>
          </a:bodyPr>
          <a:lstStyle/>
          <a:p>
            <a:pPr algn="l"/>
            <a:r>
              <a:rPr sz="1000" b="0" i="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i="0">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i="0">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i="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i="0">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i="0">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i="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i="0">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i="0">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i="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i="0">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i="0">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i="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i="0">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i="0">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i="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i="0">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i="0">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i="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i="0">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i="0">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i="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i="0">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i="0">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i="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i="0">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i="0">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i="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i="0">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i="0">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i="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i="0">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i="0">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i="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i="0">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i="0">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i="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i="0">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i="0">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i="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i="0">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i="0">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i="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i="0">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i="0">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i="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D97706"/>
                </a:solidFill>
              </a:rPr>
              <a:t>DELIVERED AT MID-SEM</a:t>
            </a:r>
          </a:p>
        </p:txBody>
      </p:sp>
      <p:sp>
        <p:nvSpPr>
          <p:cNvPr id="7" name="Rectangle 6"/>
          <p:cNvSpPr/>
          <p:nvPr/>
        </p:nvSpPr>
        <p:spPr>
          <a:xfrm>
            <a:off x="365760" y="1234440"/>
            <a:ext cx="5760720" cy="374903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486400" cy="3520440"/>
          </a:xfrm>
          <a:prstGeom prst="rect">
            <a:avLst/>
          </a:prstGeom>
          <a:noFill/>
        </p:spPr>
        <p:txBody>
          <a:bodyPr wrap="square">
            <a:spAutoFit/>
          </a:bodyPr>
          <a:lstStyle/>
          <a:p>
            <a:pPr>
              <a:spcAft>
                <a:spcPts val="400"/>
              </a:spcAft>
            </a:pPr>
            <a:r>
              <a:rPr sz="1300" b="0">
                <a:solidFill>
                  <a:srgbClr val="333333"/>
                </a:solidFill>
              </a:rPr>
              <a:t>•  6-layer offline-first pipeline (25 subreddits)</a:t>
            </a:r>
          </a:p>
          <a:p>
            <a:pPr>
              <a:spcAft>
                <a:spcPts val="400"/>
              </a:spcAft>
            </a:pPr>
            <a:r>
              <a:rPr sz="1300" b="0">
                <a:solidFill>
                  <a:srgbClr val="333333"/>
                </a:solidFill>
              </a:rPr>
              <a:t>•  ModernBERT fine-tuning up to Stage 2  (F1 0.7285)</a:t>
            </a:r>
          </a:p>
          <a:p>
            <a:pPr>
              <a:spcAft>
                <a:spcPts val="400"/>
              </a:spcAft>
            </a:pPr>
            <a:r>
              <a:rPr sz="1300" b="0">
                <a:solidFill>
                  <a:srgbClr val="333333"/>
                </a:solidFill>
              </a:rPr>
              <a:t>•  Multi-pass vision with 0% hallucination on pilot</a:t>
            </a:r>
          </a:p>
          <a:p>
            <a:pPr>
              <a:spcAft>
                <a:spcPts val="400"/>
              </a:spcAft>
            </a:pPr>
            <a:r>
              <a:rPr sz="1300" b="0">
                <a:solidFill>
                  <a:srgbClr val="333333"/>
                </a:solidFill>
              </a:rPr>
              <a:t>•  Trust-score design + weighted formula</a:t>
            </a:r>
          </a:p>
          <a:p>
            <a:pPr>
              <a:spcAft>
                <a:spcPts val="400"/>
              </a:spcAft>
            </a:pPr>
            <a:r>
              <a:rPr sz="1300" b="0">
                <a:solidFill>
                  <a:srgbClr val="333333"/>
                </a:solidFill>
              </a:rPr>
              <a:t>•  Brand-Health + Alert Feed dashboard pages</a:t>
            </a:r>
          </a:p>
          <a:p>
            <a:pPr>
              <a:spcAft>
                <a:spcPts val="400"/>
              </a:spcAft>
            </a:pPr>
            <a:r>
              <a:rPr sz="1300" b="0">
                <a:solidFill>
                  <a:srgbClr val="333333"/>
                </a:solidFill>
              </a:rPr>
              <a:t>•  Group-routed email / Slack notifications</a:t>
            </a:r>
          </a:p>
        </p:txBody>
      </p:sp>
      <p:sp>
        <p:nvSpPr>
          <p:cNvPr id="9" name="TextBox 8"/>
          <p:cNvSpPr txBox="1"/>
          <p:nvPr/>
        </p:nvSpPr>
        <p:spPr>
          <a:xfrm>
            <a:off x="6263640" y="914400"/>
            <a:ext cx="5486400" cy="320040"/>
          </a:xfrm>
          <a:prstGeom prst="rect">
            <a:avLst/>
          </a:prstGeom>
          <a:noFill/>
        </p:spPr>
        <p:txBody>
          <a:bodyPr wrap="square" anchor="t">
            <a:spAutoFit/>
          </a:bodyPr>
          <a:lstStyle/>
          <a:p>
            <a:pPr algn="l"/>
            <a:r>
              <a:rPr sz="1100" b="1" i="0">
                <a:solidFill>
                  <a:srgbClr val="10B981"/>
                </a:solidFill>
              </a:rPr>
              <a:t>ADDED POST-MIDSEM  (this deck)</a:t>
            </a:r>
          </a:p>
        </p:txBody>
      </p:sp>
      <p:sp>
        <p:nvSpPr>
          <p:cNvPr id="10" name="Rectangle 9"/>
          <p:cNvSpPr/>
          <p:nvPr/>
        </p:nvSpPr>
        <p:spPr>
          <a:xfrm>
            <a:off x="6172200" y="1234440"/>
            <a:ext cx="5623560" cy="3749039"/>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71600"/>
            <a:ext cx="5349240" cy="352044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0.7285 → 0.7642  (5-fold OOF)</a:t>
            </a:r>
          </a:p>
          <a:p>
            <a:pPr>
              <a:spcAft>
                <a:spcPts val="400"/>
              </a:spcAft>
            </a:pPr>
            <a:r>
              <a:rPr sz="1200" b="0">
                <a:solidFill>
                  <a:srgbClr val="333333"/>
                </a:solidFill>
              </a:rPr>
              <a:t>•  Trust-score end-to-end evaluation (n = 200)</a:t>
            </a:r>
          </a:p>
        </p:txBody>
      </p:sp>
      <p:sp>
        <p:nvSpPr>
          <p:cNvPr id="12" name="Rectangle 11"/>
          <p:cNvSpPr/>
          <p:nvPr/>
        </p:nvSpPr>
        <p:spPr>
          <a:xfrm>
            <a:off x="457200" y="521208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57800"/>
            <a:ext cx="548640" cy="1097280"/>
          </a:xfrm>
          <a:prstGeom prst="rect">
            <a:avLst/>
          </a:prstGeom>
          <a:noFill/>
        </p:spPr>
        <p:txBody>
          <a:bodyPr wrap="square" anchor="ctr">
            <a:spAutoFit/>
          </a:bodyPr>
          <a:lstStyle/>
          <a:p>
            <a:pPr algn="l"/>
            <a:r>
              <a:rPr sz="5200" b="1" i="0">
                <a:solidFill>
                  <a:srgbClr val="0071DC"/>
                </a:solidFill>
              </a:rPr>
              <a:t>“</a:t>
            </a:r>
          </a:p>
        </p:txBody>
      </p:sp>
      <p:sp>
        <p:nvSpPr>
          <p:cNvPr id="14" name="TextBox 13"/>
          <p:cNvSpPr txBox="1"/>
          <p:nvPr/>
        </p:nvSpPr>
        <p:spPr>
          <a:xfrm>
            <a:off x="1188720" y="5321808"/>
            <a:ext cx="10424160" cy="320040"/>
          </a:xfrm>
          <a:prstGeom prst="rect">
            <a:avLst/>
          </a:prstGeom>
          <a:noFill/>
        </p:spPr>
        <p:txBody>
          <a:bodyPr wrap="square" anchor="t">
            <a:spAutoFit/>
          </a:bodyPr>
          <a:lstStyle/>
          <a:p>
            <a:pPr algn="l"/>
            <a:r>
              <a:rPr sz="1100" b="1" i="0">
                <a:solidFill>
                  <a:srgbClr val="0071DC"/>
                </a:solidFill>
              </a:rPr>
              <a:t>THE FRAMING QUESTION</a:t>
            </a:r>
          </a:p>
        </p:txBody>
      </p:sp>
      <p:sp>
        <p:nvSpPr>
          <p:cNvPr id="15" name="TextBox 14"/>
          <p:cNvSpPr txBox="1"/>
          <p:nvPr/>
        </p:nvSpPr>
        <p:spPr>
          <a:xfrm>
            <a:off x="1188720" y="5623560"/>
            <a:ext cx="10424160" cy="777240"/>
          </a:xfrm>
          <a:prstGeom prst="rect">
            <a:avLst/>
          </a:prstGeom>
          <a:noFill/>
        </p:spPr>
        <p:txBody>
          <a:bodyPr wrap="square" anchor="t">
            <a:spAutoFit/>
          </a:bodyPr>
          <a:lstStyle/>
          <a:p>
            <a:pPr algn="l"/>
            <a:r>
              <a:rPr sz="1200" b="0" i="0">
                <a:solidFill>
                  <a:srgbClr val="333333"/>
                </a:solidFill>
              </a:rPr>
              <a:t>Mid-sem answered  can the pipeline produce trust-weighted sentiment?    Post-midsem answers  can an analyst act on it, correct it, and feed the corrections back into the model?</a:t>
            </a:r>
          </a:p>
        </p:txBody>
      </p:sp>
      <p:sp>
        <p:nvSpPr>
          <p:cNvPr id="16" name="TextBox 1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7" name="TextBox 1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WORKFLOW</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8" name="Picture 7" descr="review_validate.png"/>
          <p:cNvPicPr>
            <a:picLocks noChangeAspect="1"/>
          </p:cNvPicPr>
          <p:nvPr/>
        </p:nvPicPr>
        <p:blipFill>
          <a:blip r:embed="rId2"/>
          <a:stretch>
            <a:fillRect/>
          </a:stretch>
        </p:blipFill>
        <p:spPr>
          <a:xfrm>
            <a:off x="6172200" y="960120"/>
            <a:ext cx="5669280" cy="11338560"/>
          </a:xfrm>
          <a:prstGeom prst="rect">
            <a:avLst/>
          </a:prstGeom>
        </p:spPr>
      </p:pic>
      <p:sp>
        <p:nvSpPr>
          <p:cNvPr id="9" name="Rectangle 8"/>
          <p:cNvSpPr/>
          <p:nvPr/>
        </p:nvSpPr>
        <p:spPr>
          <a:xfrm>
            <a:off x="457200" y="3794760"/>
            <a:ext cx="5486400" cy="11887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13632"/>
            <a:ext cx="5120640" cy="320040"/>
          </a:xfrm>
          <a:prstGeom prst="rect">
            <a:avLst/>
          </a:prstGeom>
          <a:noFill/>
        </p:spPr>
        <p:txBody>
          <a:bodyPr wrap="square" anchor="t">
            <a:spAutoFit/>
          </a:bodyPr>
          <a:lstStyle/>
          <a:p>
            <a:pPr algn="l"/>
            <a:r>
              <a:rPr sz="1100" b="1" i="0">
                <a:solidFill>
                  <a:srgbClr val="10B981"/>
                </a:solidFill>
              </a:rPr>
              <a:t>WHY IT MATTERS</a:t>
            </a:r>
          </a:p>
        </p:txBody>
      </p:sp>
      <p:sp>
        <p:nvSpPr>
          <p:cNvPr id="11" name="TextBox 10"/>
          <p:cNvSpPr txBox="1"/>
          <p:nvPr/>
        </p:nvSpPr>
        <p:spPr>
          <a:xfrm>
            <a:off x="640080" y="4206240"/>
            <a:ext cx="5120640" cy="777240"/>
          </a:xfrm>
          <a:prstGeom prst="rect">
            <a:avLst/>
          </a:prstGeom>
          <a:noFill/>
        </p:spPr>
        <p:txBody>
          <a:bodyPr wrap="square" anchor="t">
            <a:spAutoFit/>
          </a:bodyPr>
          <a:lstStyle/>
          <a:p>
            <a:pPr algn="l"/>
            <a:r>
              <a:rPr sz="1100" b="0" i="0">
                <a:solidFill>
                  <a:srgbClr val="333333"/>
                </a:solidFill>
              </a:rPr>
              <a:t>Turns a passive dashboard into a training signal — corrections harvested here drive the ModernBERT re-training loop and reply few-shot pool.</a:t>
            </a:r>
          </a:p>
        </p:txBody>
      </p:sp>
      <p:sp>
        <p:nvSpPr>
          <p:cNvPr id="12" name="Rectangle 11"/>
          <p:cNvSpPr/>
          <p:nvPr/>
        </p:nvSpPr>
        <p:spPr>
          <a:xfrm>
            <a:off x="457200" y="5120640"/>
            <a:ext cx="5486400" cy="1280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30368"/>
            <a:ext cx="5120640" cy="320040"/>
          </a:xfrm>
          <a:prstGeom prst="rect">
            <a:avLst/>
          </a:prstGeom>
          <a:noFill/>
        </p:spPr>
        <p:txBody>
          <a:bodyPr wrap="square" anchor="t">
            <a:spAutoFit/>
          </a:bodyPr>
          <a:lstStyle/>
          <a:p>
            <a:pPr algn="l"/>
            <a:r>
              <a:rPr sz="1100" b="1" i="0">
                <a:solidFill>
                  <a:srgbClr val="0071DC"/>
                </a:solidFill>
              </a:rPr>
              <a:t>NUMBERS TODAY  (live capture)</a:t>
            </a:r>
          </a:p>
        </p:txBody>
      </p:sp>
      <p:sp>
        <p:nvSpPr>
          <p:cNvPr id="14" name="TextBox 13"/>
          <p:cNvSpPr txBox="1"/>
          <p:nvPr/>
        </p:nvSpPr>
        <p:spPr>
          <a:xfrm>
            <a:off x="640080" y="5532120"/>
            <a:ext cx="5120640" cy="822960"/>
          </a:xfrm>
          <a:prstGeom prst="rect">
            <a:avLst/>
          </a:prstGeom>
          <a:noFill/>
        </p:spPr>
        <p:txBody>
          <a:bodyPr wrap="square" anchor="t">
            <a:spAutoFit/>
          </a:bodyPr>
          <a:lstStyle/>
          <a:p>
            <a:pPr algn="l"/>
            <a:r>
              <a:rPr sz="1100" b="0" i="0">
                <a:solidFill>
                  <a:srgbClr val="333333"/>
                </a:solidFill>
              </a:rPr>
              <a:t>18 posted replies logged  ·  60 total feedback rows  ·  ≈90 % analyst – model agreement on the last 30 reviews.</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i="0">
                <a:solidFill>
                  <a:srgbClr val="FFFFFF"/>
                </a:solidFill>
              </a:rPr>
              <a:t>Draft A</a:t>
            </a:r>
          </a:p>
        </p:txBody>
      </p:sp>
      <p:sp>
        <p:nvSpPr>
          <p:cNvPr id="9" name="TextBox 8"/>
          <p:cNvSpPr txBox="1"/>
          <p:nvPr/>
        </p:nvSpPr>
        <p:spPr>
          <a:xfrm>
            <a:off x="365760" y="1554480"/>
            <a:ext cx="3794760" cy="365760"/>
          </a:xfrm>
          <a:prstGeom prst="rect">
            <a:avLst/>
          </a:prstGeom>
          <a:noFill/>
        </p:spPr>
        <p:txBody>
          <a:bodyPr wrap="square" anchor="t">
            <a:spAutoFit/>
          </a:bodyPr>
          <a:lstStyle/>
          <a:p>
            <a:pPr algn="ctr"/>
            <a:r>
              <a:rPr sz="1700" b="1" i="0">
                <a:solidFill>
                  <a:srgbClr val="041E42"/>
                </a:solidFill>
              </a:rPr>
              <a:t>GPT-4o</a:t>
            </a:r>
          </a:p>
        </p:txBody>
      </p:sp>
      <p:sp>
        <p:nvSpPr>
          <p:cNvPr id="10" name="TextBox 9"/>
          <p:cNvSpPr txBox="1"/>
          <p:nvPr/>
        </p:nvSpPr>
        <p:spPr>
          <a:xfrm>
            <a:off x="365760" y="1965960"/>
            <a:ext cx="3794760" cy="274320"/>
          </a:xfrm>
          <a:prstGeom prst="rect">
            <a:avLst/>
          </a:prstGeom>
          <a:noFill/>
        </p:spPr>
        <p:txBody>
          <a:bodyPr wrap="square" anchor="t">
            <a:spAutoFit/>
          </a:bodyPr>
          <a:lstStyle/>
          <a:p>
            <a:pPr algn="ctr"/>
            <a:r>
              <a:rPr sz="1000" b="0" i="0">
                <a:solidFill>
                  <a:srgbClr val="666666"/>
                </a:solidFill>
              </a:rPr>
              <a:t>Walmart LLM Gateway</a:t>
            </a:r>
          </a:p>
        </p:txBody>
      </p:sp>
      <p:sp>
        <p:nvSpPr>
          <p:cNvPr id="11" name="Rectangle 10"/>
          <p:cNvSpPr/>
          <p:nvPr/>
        </p:nvSpPr>
        <p:spPr>
          <a:xfrm>
            <a:off x="822960" y="2331720"/>
            <a:ext cx="2880360" cy="1828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68880"/>
            <a:ext cx="3429000" cy="1463040"/>
          </a:xfrm>
          <a:prstGeom prst="rect">
            <a:avLst/>
          </a:prstGeom>
          <a:noFill/>
        </p:spPr>
        <p:txBody>
          <a:bodyPr wrap="square" anchor="t">
            <a:spAutoFit/>
          </a:bodyPr>
          <a:lstStyle/>
          <a:p>
            <a:pPr algn="ctr"/>
            <a:r>
              <a:rPr sz="1200" b="0" i="0">
                <a:solidFill>
                  <a:srgbClr val="333333"/>
                </a:solidFill>
              </a:rPr>
              <a:t>Strong reasoning, safest tone</a:t>
            </a:r>
          </a:p>
          <a:p>
            <a:pPr algn="ctr"/>
            <a:r>
              <a:rPr sz="1200" b="0" i="0">
                <a:solidFill>
                  <a:srgbClr val="333333"/>
                </a:solidFill>
              </a:rPr>
              <a:t>Guardrails via Walmart proxy</a:t>
            </a:r>
          </a:p>
          <a:p>
            <a:pPr algn="ctr"/>
            <a:r>
              <a:rPr sz="1200" b="0" i="0">
                <a:solidFill>
                  <a:srgbClr val="333333"/>
                </a:solidFill>
              </a:rPr>
              <a:t>~$0.0002 / reply</a:t>
            </a:r>
          </a:p>
          <a:p>
            <a:pPr algn="ctr"/>
            <a:r>
              <a:rPr sz="1200" b="0" i="0">
                <a:solidFill>
                  <a:srgbClr val="333333"/>
                </a:solidFill>
              </a:rPr>
              <a:t>Fallback: direct OpenAI</a:t>
            </a:r>
          </a:p>
        </p:txBody>
      </p:sp>
      <p:sp>
        <p:nvSpPr>
          <p:cNvPr id="13" name="Rectangle 12"/>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33272"/>
            <a:ext cx="3794760" cy="320040"/>
          </a:xfrm>
          <a:prstGeom prst="rect">
            <a:avLst/>
          </a:prstGeom>
          <a:noFill/>
        </p:spPr>
        <p:txBody>
          <a:bodyPr wrap="square" anchor="t">
            <a:spAutoFit/>
          </a:bodyPr>
          <a:lstStyle/>
          <a:p>
            <a:pPr algn="ctr"/>
            <a:r>
              <a:rPr sz="1300" b="1" i="0">
                <a:solidFill>
                  <a:srgbClr val="FFFFFF"/>
                </a:solidFill>
              </a:rPr>
              <a:t>Draft B</a:t>
            </a:r>
          </a:p>
        </p:txBody>
      </p:sp>
      <p:sp>
        <p:nvSpPr>
          <p:cNvPr id="16" name="TextBox 15"/>
          <p:cNvSpPr txBox="1"/>
          <p:nvPr/>
        </p:nvSpPr>
        <p:spPr>
          <a:xfrm>
            <a:off x="4297680" y="1554480"/>
            <a:ext cx="3794760" cy="365760"/>
          </a:xfrm>
          <a:prstGeom prst="rect">
            <a:avLst/>
          </a:prstGeom>
          <a:noFill/>
        </p:spPr>
        <p:txBody>
          <a:bodyPr wrap="square" anchor="t">
            <a:spAutoFit/>
          </a:bodyPr>
          <a:lstStyle/>
          <a:p>
            <a:pPr algn="ctr"/>
            <a:r>
              <a:rPr sz="1700" b="1" i="0">
                <a:solidFill>
                  <a:srgbClr val="041E42"/>
                </a:solidFill>
              </a:rPr>
              <a:t>Mistral 7B-Instruct</a:t>
            </a:r>
          </a:p>
        </p:txBody>
      </p:sp>
      <p:sp>
        <p:nvSpPr>
          <p:cNvPr id="17" name="TextBox 16"/>
          <p:cNvSpPr txBox="1"/>
          <p:nvPr/>
        </p:nvSpPr>
        <p:spPr>
          <a:xfrm>
            <a:off x="4297680" y="1965960"/>
            <a:ext cx="3794760" cy="274320"/>
          </a:xfrm>
          <a:prstGeom prst="rect">
            <a:avLst/>
          </a:prstGeom>
          <a:noFill/>
        </p:spPr>
        <p:txBody>
          <a:bodyPr wrap="square" anchor="t">
            <a:spAutoFit/>
          </a:bodyPr>
          <a:lstStyle/>
          <a:p>
            <a:pPr algn="ctr"/>
            <a:r>
              <a:rPr sz="1000" b="0" i="0">
                <a:solidFill>
                  <a:srgbClr val="666666"/>
                </a:solidFill>
              </a:rPr>
              <a:t>Local Ollama  (:11434)</a:t>
            </a:r>
          </a:p>
        </p:txBody>
      </p:sp>
      <p:sp>
        <p:nvSpPr>
          <p:cNvPr id="18" name="Rectangle 17"/>
          <p:cNvSpPr/>
          <p:nvPr/>
        </p:nvSpPr>
        <p:spPr>
          <a:xfrm>
            <a:off x="4754880" y="2331720"/>
            <a:ext cx="2880360" cy="18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2468880"/>
            <a:ext cx="3429000" cy="1463040"/>
          </a:xfrm>
          <a:prstGeom prst="rect">
            <a:avLst/>
          </a:prstGeom>
          <a:noFill/>
        </p:spPr>
        <p:txBody>
          <a:bodyPr wrap="square" anchor="t">
            <a:spAutoFit/>
          </a:bodyPr>
          <a:lstStyle/>
          <a:p>
            <a:pPr algn="ctr"/>
            <a:r>
              <a:rPr sz="1200" b="0" i="0">
                <a:solidFill>
                  <a:srgbClr val="333333"/>
                </a:solidFill>
              </a:rPr>
              <a:t>Open-weights, free</a:t>
            </a:r>
          </a:p>
          <a:p>
            <a:pPr algn="ctr"/>
            <a:r>
              <a:rPr sz="1200" b="0" i="0">
                <a:solidFill>
                  <a:srgbClr val="333333"/>
                </a:solidFill>
              </a:rPr>
              <a:t>Runs fully offline</a:t>
            </a:r>
          </a:p>
          <a:p>
            <a:pPr algn="ctr"/>
            <a:r>
              <a:rPr sz="1200" b="0" i="0">
                <a:solidFill>
                  <a:srgbClr val="333333"/>
                </a:solidFill>
              </a:rPr>
              <a:t>~15 s warm latency</a:t>
            </a:r>
          </a:p>
          <a:p>
            <a:pPr algn="ctr"/>
            <a:r>
              <a:rPr sz="1200" b="0" i="0">
                <a:solidFill>
                  <a:srgbClr val="333333"/>
                </a:solidFill>
              </a:rPr>
              <a:t>Strong at retail jargon</a:t>
            </a:r>
          </a:p>
        </p:txBody>
      </p:sp>
      <p:sp>
        <p:nvSpPr>
          <p:cNvPr id="20" name="Rectangle 19"/>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033272"/>
            <a:ext cx="3794760" cy="320040"/>
          </a:xfrm>
          <a:prstGeom prst="rect">
            <a:avLst/>
          </a:prstGeom>
          <a:noFill/>
        </p:spPr>
        <p:txBody>
          <a:bodyPr wrap="square" anchor="t">
            <a:spAutoFit/>
          </a:bodyPr>
          <a:lstStyle/>
          <a:p>
            <a:pPr algn="ctr"/>
            <a:r>
              <a:rPr sz="1300" b="1" i="0">
                <a:solidFill>
                  <a:srgbClr val="FFFFFF"/>
                </a:solidFill>
              </a:rPr>
              <a:t>Draft C</a:t>
            </a:r>
          </a:p>
        </p:txBody>
      </p:sp>
      <p:sp>
        <p:nvSpPr>
          <p:cNvPr id="23" name="TextBox 22"/>
          <p:cNvSpPr txBox="1"/>
          <p:nvPr/>
        </p:nvSpPr>
        <p:spPr>
          <a:xfrm>
            <a:off x="8229600" y="1554480"/>
            <a:ext cx="3794760" cy="365760"/>
          </a:xfrm>
          <a:prstGeom prst="rect">
            <a:avLst/>
          </a:prstGeom>
          <a:noFill/>
        </p:spPr>
        <p:txBody>
          <a:bodyPr wrap="square" anchor="t">
            <a:spAutoFit/>
          </a:bodyPr>
          <a:lstStyle/>
          <a:p>
            <a:pPr algn="ctr"/>
            <a:r>
              <a:rPr sz="1700" b="1" i="0">
                <a:solidFill>
                  <a:srgbClr val="041E42"/>
                </a:solidFill>
              </a:rPr>
              <a:t>Smart Composer</a:t>
            </a:r>
          </a:p>
        </p:txBody>
      </p:sp>
      <p:sp>
        <p:nvSpPr>
          <p:cNvPr id="24" name="TextBox 23"/>
          <p:cNvSpPr txBox="1"/>
          <p:nvPr/>
        </p:nvSpPr>
        <p:spPr>
          <a:xfrm>
            <a:off x="8229600" y="1965960"/>
            <a:ext cx="3794760" cy="274320"/>
          </a:xfrm>
          <a:prstGeom prst="rect">
            <a:avLst/>
          </a:prstGeom>
          <a:noFill/>
        </p:spPr>
        <p:txBody>
          <a:bodyPr wrap="square" anchor="t">
            <a:spAutoFit/>
          </a:bodyPr>
          <a:lstStyle/>
          <a:p>
            <a:pPr algn="ctr"/>
            <a:r>
              <a:rPr sz="1000" b="0" i="0">
                <a:solidFill>
                  <a:srgbClr val="666666"/>
                </a:solidFill>
              </a:rPr>
              <a:t>Deterministic template</a:t>
            </a:r>
          </a:p>
        </p:txBody>
      </p:sp>
      <p:sp>
        <p:nvSpPr>
          <p:cNvPr id="25" name="Rectangle 24"/>
          <p:cNvSpPr/>
          <p:nvPr/>
        </p:nvSpPr>
        <p:spPr>
          <a:xfrm>
            <a:off x="8686800" y="2331720"/>
            <a:ext cx="2880360" cy="18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468880"/>
            <a:ext cx="3429000" cy="1463040"/>
          </a:xfrm>
          <a:prstGeom prst="rect">
            <a:avLst/>
          </a:prstGeom>
          <a:noFill/>
        </p:spPr>
        <p:txBody>
          <a:bodyPr wrap="square" anchor="t">
            <a:spAutoFit/>
          </a:bodyPr>
          <a:lstStyle/>
          <a:p>
            <a:pPr algn="ctr"/>
            <a:r>
              <a:rPr sz="1200" b="0" i="0">
                <a:solidFill>
                  <a:srgbClr val="333333"/>
                </a:solidFill>
              </a:rPr>
              <a:t>No LLM, always available</a:t>
            </a:r>
          </a:p>
          <a:p>
            <a:pPr algn="ctr"/>
            <a:r>
              <a:rPr sz="1200" b="0" i="0">
                <a:solidFill>
                  <a:srgbClr val="333333"/>
                </a:solidFill>
              </a:rPr>
              <a:t>Zero latency, zero cost</a:t>
            </a:r>
          </a:p>
          <a:p>
            <a:pPr algn="ctr"/>
            <a:r>
              <a:rPr sz="1200" b="0" i="0">
                <a:solidFill>
                  <a:srgbClr val="333333"/>
                </a:solidFill>
              </a:rPr>
              <a:t>Content-aware phrase pools</a:t>
            </a:r>
          </a:p>
          <a:p>
            <a:pPr algn="ctr"/>
            <a:r>
              <a:rPr sz="1200" b="0" i="0">
                <a:solidFill>
                  <a:srgbClr val="333333"/>
                </a:solidFill>
              </a:rPr>
              <a:t>Safety-net fallback</a:t>
            </a:r>
          </a:p>
        </p:txBody>
      </p:sp>
      <p:sp>
        <p:nvSpPr>
          <p:cNvPr id="27" name="Rectangle 26"/>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343400"/>
            <a:ext cx="10972800" cy="320040"/>
          </a:xfrm>
          <a:prstGeom prst="rect">
            <a:avLst/>
          </a:prstGeom>
          <a:noFill/>
        </p:spPr>
        <p:txBody>
          <a:bodyPr wrap="square" anchor="t">
            <a:spAutoFit/>
          </a:bodyPr>
          <a:lstStyle/>
          <a:p>
            <a:pPr algn="l"/>
            <a:r>
              <a:rPr sz="1300" b="1" i="0">
                <a:solidFill>
                  <a:srgbClr val="0071DC"/>
                </a:solidFill>
              </a:rPr>
              <a:t>Fallback logic  —  no draft is ever missing</a:t>
            </a:r>
          </a:p>
        </p:txBody>
      </p:sp>
      <p:sp>
        <p:nvSpPr>
          <p:cNvPr id="29" name="TextBox 28"/>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30" name="TextBox 29"/>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1" name="TextBox 30"/>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i="0">
                <a:solidFill>
                  <a:srgbClr val="041E42"/>
                </a:solidFill>
              </a:rPr>
              <a:t>Prompt template  (built in  _build_reply_prompt)</a:t>
            </a:r>
          </a:p>
        </p:txBody>
      </p:sp>
      <p:sp>
        <p:nvSpPr>
          <p:cNvPr id="7" name="Rectangle 6"/>
          <p:cNvSpPr/>
          <p:nvPr/>
        </p:nvSpPr>
        <p:spPr>
          <a:xfrm>
            <a:off x="457200" y="1280160"/>
            <a:ext cx="7452360" cy="333756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7086600" cy="3063240"/>
          </a:xfrm>
          <a:prstGeom prst="rect">
            <a:avLst/>
          </a:prstGeom>
          <a:noFill/>
        </p:spPr>
        <p:txBody>
          <a:bodyPr wrap="square" anchor="t">
            <a:spAutoFit/>
          </a:bodyPr>
          <a:lstStyle/>
          <a:p>
            <a:pPr algn="l"/>
            <a:r>
              <a:rPr sz="1100" b="0" i="0">
                <a:solidFill>
                  <a:srgbClr val="E6EDF7"/>
                </a:solidFill>
              </a:rPr>
              <a:t>You are a senior Walmart customer-care analyst replying on Reddit.</a:t>
            </a:r>
          </a:p>
          <a:p>
            <a:pPr algn="l"/>
            <a:r>
              <a:rPr sz="1100" b="0" i="0">
                <a:solidFill>
                  <a:srgbClr val="E6EDF7"/>
                </a:solidFill>
              </a:rPr>
              <a:t>Write ONE reply to the customer below. Keep it 2-4 sentences,</a:t>
            </a:r>
          </a:p>
          <a:p>
            <a:pPr algn="l"/>
            <a:r>
              <a:rPr sz="1100" b="0" i="0">
                <a:solidFill>
                  <a:srgbClr val="E6EDF7"/>
                </a:solidFill>
              </a:rPr>
              <a:t>empathetic, specific to their complaint, no corporate jargon,</a:t>
            </a:r>
          </a:p>
          <a:p>
            <a:pPr algn="l"/>
            <a:r>
              <a:rPr sz="1100" b="0" i="0">
                <a:solidFill>
                  <a:srgbClr val="E6EDF7"/>
                </a:solidFill>
              </a:rPr>
              <a:t>no hashtags, no emojis. Do NOT promise refunds you can't verify;</a:t>
            </a:r>
          </a:p>
          <a:p>
            <a:pPr algn="l"/>
            <a:r>
              <a:rPr sz="1100" b="0" i="0">
                <a:solidFill>
                  <a:srgbClr val="E6EDF7"/>
                </a:solidFill>
              </a:rPr>
              <a:t>invite them to DM order details if action is needed.</a:t>
            </a:r>
          </a:p>
          <a:p>
            <a:pPr algn="l"/>
            <a:r>
              <a:rPr sz="1100" b="0" i="0">
                <a:solidFill>
                  <a:srgbClr val="E6EDF7"/>
                </a:solidFill>
              </a:rPr>
              <a:t>Sign off as a real person, not a brand.</a:t>
            </a:r>
          </a:p>
          <a:p>
            <a:pPr algn="l"/>
          </a:p>
          <a:p>
            <a:pPr algn="l"/>
            <a:r>
              <a:rPr sz="1100" b="0" i="0">
                <a:solidFill>
                  <a:srgbClr val="E6EDF7"/>
                </a:solidFill>
              </a:rPr>
              <a:t>Example customer post: {past_post_1}</a:t>
            </a:r>
          </a:p>
          <a:p>
            <a:pPr algn="l"/>
            <a:r>
              <a:rPr sz="1100" b="0" i="0">
                <a:solidFill>
                  <a:srgbClr val="E6EDF7"/>
                </a:solidFill>
              </a:rPr>
              <a:t>Example analyst reply: {past_reply_1}</a:t>
            </a:r>
          </a:p>
          <a:p>
            <a:pPr algn="l"/>
            <a:r>
              <a:rPr sz="1100" b="0" i="0">
                <a:solidFill>
                  <a:srgbClr val="E6EDF7"/>
                </a:solidFill>
              </a:rPr>
              <a:t> …  (three example pairs total)</a:t>
            </a:r>
          </a:p>
          <a:p>
            <a:pPr algn="l"/>
          </a:p>
          <a:p>
            <a:pPr algn="l"/>
            <a:r>
              <a:rPr sz="1100" b="0" i="0">
                <a:solidFill>
                  <a:srgbClr val="E6EDF7"/>
                </a:solidFill>
              </a:rPr>
              <a:t>Subreddit: r/{subreddit}</a:t>
            </a:r>
          </a:p>
          <a:p>
            <a:pPr algn="l"/>
            <a:r>
              <a:rPr sz="1100" b="0" i="0">
                <a:solidFill>
                  <a:srgbClr val="E6EDF7"/>
                </a:solidFill>
              </a:rPr>
              <a:t>Customer ({author}) complaint about: {aspect_1}, {aspect_2}</a:t>
            </a:r>
          </a:p>
          <a:p>
            <a:pPr algn="l"/>
            <a:r>
              <a:rPr sz="1100" b="0" i="0">
                <a:solidFill>
                  <a:srgbClr val="E6EDF7"/>
                </a:solidFill>
              </a:rPr>
              <a:t>Customer post: {post_title + post_body, ≤ 1200 chars}</a:t>
            </a:r>
          </a:p>
          <a:p>
            <a:pPr algn="l"/>
          </a:p>
          <a:p>
            <a:pPr algn="l"/>
            <a:r>
              <a:rPr sz="1100" b="0" i="0">
                <a:solidFill>
                  <a:srgbClr val="E6EDF7"/>
                </a:solidFill>
              </a:rPr>
              <a:t>Reply:</a:t>
            </a:r>
          </a:p>
        </p:txBody>
      </p:sp>
      <p:sp>
        <p:nvSpPr>
          <p:cNvPr id="9" name="Rectangle 8"/>
          <p:cNvSpPr/>
          <p:nvPr/>
        </p:nvSpPr>
        <p:spPr>
          <a:xfrm>
            <a:off x="8138160" y="1280160"/>
            <a:ext cx="356616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389888"/>
            <a:ext cx="3200400" cy="320040"/>
          </a:xfrm>
          <a:prstGeom prst="rect">
            <a:avLst/>
          </a:prstGeom>
          <a:noFill/>
        </p:spPr>
        <p:txBody>
          <a:bodyPr wrap="square" anchor="t">
            <a:spAutoFit/>
          </a:bodyPr>
          <a:lstStyle/>
          <a:p>
            <a:pPr algn="l"/>
            <a:r>
              <a:rPr sz="1100" b="1" i="0">
                <a:solidFill>
                  <a:srgbClr val="0071DC"/>
                </a:solidFill>
              </a:rPr>
              <a:t>PROMPT ANATOMY</a:t>
            </a:r>
          </a:p>
        </p:txBody>
      </p:sp>
      <p:sp>
        <p:nvSpPr>
          <p:cNvPr id="11" name="TextBox 10"/>
          <p:cNvSpPr txBox="1"/>
          <p:nvPr/>
        </p:nvSpPr>
        <p:spPr>
          <a:xfrm>
            <a:off x="8321040" y="1783080"/>
            <a:ext cx="3200400" cy="182880"/>
          </a:xfrm>
          <a:prstGeom prst="rect">
            <a:avLst/>
          </a:prstGeom>
          <a:noFill/>
        </p:spPr>
        <p:txBody>
          <a:bodyPr wrap="square" anchor="t">
            <a:spAutoFit/>
          </a:bodyPr>
          <a:lstStyle/>
          <a:p>
            <a:pPr algn="l"/>
            <a:r>
              <a:rPr sz="1000" b="1" i="0">
                <a:solidFill>
                  <a:srgbClr val="0071DC"/>
                </a:solidFill>
              </a:rPr>
              <a:t>① SYSTEM ROLE</a:t>
            </a:r>
          </a:p>
        </p:txBody>
      </p:sp>
      <p:sp>
        <p:nvSpPr>
          <p:cNvPr id="12" name="TextBox 11"/>
          <p:cNvSpPr txBox="1"/>
          <p:nvPr/>
        </p:nvSpPr>
        <p:spPr>
          <a:xfrm>
            <a:off x="8321040" y="1984248"/>
            <a:ext cx="3200400" cy="320040"/>
          </a:xfrm>
          <a:prstGeom prst="rect">
            <a:avLst/>
          </a:prstGeom>
          <a:noFill/>
        </p:spPr>
        <p:txBody>
          <a:bodyPr wrap="square" anchor="t">
            <a:spAutoFit/>
          </a:bodyPr>
          <a:lstStyle/>
          <a:p>
            <a:pPr algn="l"/>
            <a:r>
              <a:rPr sz="900" b="0" i="0">
                <a:solidFill>
                  <a:srgbClr val="333333"/>
                </a:solidFill>
              </a:rPr>
              <a:t>who the model is + tone rules</a:t>
            </a:r>
          </a:p>
        </p:txBody>
      </p:sp>
      <p:sp>
        <p:nvSpPr>
          <p:cNvPr id="13" name="TextBox 12"/>
          <p:cNvSpPr txBox="1"/>
          <p:nvPr/>
        </p:nvSpPr>
        <p:spPr>
          <a:xfrm>
            <a:off x="8321040" y="2313432"/>
            <a:ext cx="3200400" cy="182880"/>
          </a:xfrm>
          <a:prstGeom prst="rect">
            <a:avLst/>
          </a:prstGeom>
          <a:noFill/>
        </p:spPr>
        <p:txBody>
          <a:bodyPr wrap="square" anchor="t">
            <a:spAutoFit/>
          </a:bodyPr>
          <a:lstStyle/>
          <a:p>
            <a:pPr algn="l"/>
            <a:r>
              <a:rPr sz="1000" b="1" i="0">
                <a:solidFill>
                  <a:srgbClr val="7C3AED"/>
                </a:solidFill>
              </a:rPr>
              <a:t>② FEW-SHOT</a:t>
            </a:r>
          </a:p>
        </p:txBody>
      </p:sp>
      <p:sp>
        <p:nvSpPr>
          <p:cNvPr id="14" name="TextBox 13"/>
          <p:cNvSpPr txBox="1"/>
          <p:nvPr/>
        </p:nvSpPr>
        <p:spPr>
          <a:xfrm>
            <a:off x="8321040" y="2514600"/>
            <a:ext cx="3200400" cy="320040"/>
          </a:xfrm>
          <a:prstGeom prst="rect">
            <a:avLst/>
          </a:prstGeom>
          <a:noFill/>
        </p:spPr>
        <p:txBody>
          <a:bodyPr wrap="square" anchor="t">
            <a:spAutoFit/>
          </a:bodyPr>
          <a:lstStyle/>
          <a:p>
            <a:pPr algn="l"/>
            <a:r>
              <a:rPr sz="900" b="0" i="0">
                <a:solidFill>
                  <a:srgbClr val="333333"/>
                </a:solidFill>
              </a:rPr>
              <a:t>3 past validated reply pairs</a:t>
            </a:r>
          </a:p>
          <a:p>
            <a:pPr algn="l"/>
            <a:r>
              <a:rPr sz="900" b="0" i="0">
                <a:solidFill>
                  <a:srgbClr val="333333"/>
                </a:solidFill>
              </a:rPr>
              <a:t>from the feedback table</a:t>
            </a:r>
          </a:p>
        </p:txBody>
      </p:sp>
      <p:sp>
        <p:nvSpPr>
          <p:cNvPr id="15" name="TextBox 14"/>
          <p:cNvSpPr txBox="1"/>
          <p:nvPr/>
        </p:nvSpPr>
        <p:spPr>
          <a:xfrm>
            <a:off x="8321040" y="2843784"/>
            <a:ext cx="3200400" cy="182880"/>
          </a:xfrm>
          <a:prstGeom prst="rect">
            <a:avLst/>
          </a:prstGeom>
          <a:noFill/>
        </p:spPr>
        <p:txBody>
          <a:bodyPr wrap="square" anchor="t">
            <a:spAutoFit/>
          </a:bodyPr>
          <a:lstStyle/>
          <a:p>
            <a:pPr algn="l"/>
            <a:r>
              <a:rPr sz="1000" b="1" i="0">
                <a:solidFill>
                  <a:srgbClr val="D97706"/>
                </a:solidFill>
              </a:rPr>
              <a:t>③ CONTEXT</a:t>
            </a:r>
          </a:p>
        </p:txBody>
      </p:sp>
      <p:sp>
        <p:nvSpPr>
          <p:cNvPr id="16" name="TextBox 15"/>
          <p:cNvSpPr txBox="1"/>
          <p:nvPr/>
        </p:nvSpPr>
        <p:spPr>
          <a:xfrm>
            <a:off x="8321040" y="3044952"/>
            <a:ext cx="3200400" cy="320040"/>
          </a:xfrm>
          <a:prstGeom prst="rect">
            <a:avLst/>
          </a:prstGeom>
          <a:noFill/>
        </p:spPr>
        <p:txBody>
          <a:bodyPr wrap="square" anchor="t">
            <a:spAutoFit/>
          </a:bodyPr>
          <a:lstStyle/>
          <a:p>
            <a:pPr algn="l"/>
            <a:r>
              <a:rPr sz="900" b="0" i="0">
                <a:solidFill>
                  <a:srgbClr val="333333"/>
                </a:solidFill>
              </a:rPr>
              <a:t>subreddit · author · top-2 aspects</a:t>
            </a:r>
          </a:p>
        </p:txBody>
      </p:sp>
      <p:sp>
        <p:nvSpPr>
          <p:cNvPr id="17" name="TextBox 16"/>
          <p:cNvSpPr txBox="1"/>
          <p:nvPr/>
        </p:nvSpPr>
        <p:spPr>
          <a:xfrm>
            <a:off x="8321040" y="3374136"/>
            <a:ext cx="3200400" cy="182880"/>
          </a:xfrm>
          <a:prstGeom prst="rect">
            <a:avLst/>
          </a:prstGeom>
          <a:noFill/>
        </p:spPr>
        <p:txBody>
          <a:bodyPr wrap="square" anchor="t">
            <a:spAutoFit/>
          </a:bodyPr>
          <a:lstStyle/>
          <a:p>
            <a:pPr algn="l"/>
            <a:r>
              <a:rPr sz="1000" b="1" i="0">
                <a:solidFill>
                  <a:srgbClr val="10B981"/>
                </a:solidFill>
              </a:rPr>
              <a:t>④ POST</a:t>
            </a:r>
          </a:p>
        </p:txBody>
      </p:sp>
      <p:sp>
        <p:nvSpPr>
          <p:cNvPr id="18" name="TextBox 17"/>
          <p:cNvSpPr txBox="1"/>
          <p:nvPr/>
        </p:nvSpPr>
        <p:spPr>
          <a:xfrm>
            <a:off x="8321040" y="3575304"/>
            <a:ext cx="3200400" cy="320040"/>
          </a:xfrm>
          <a:prstGeom prst="rect">
            <a:avLst/>
          </a:prstGeom>
          <a:noFill/>
        </p:spPr>
        <p:txBody>
          <a:bodyPr wrap="square" anchor="t">
            <a:spAutoFit/>
          </a:bodyPr>
          <a:lstStyle/>
          <a:p>
            <a:pPr algn="l"/>
            <a:r>
              <a:rPr sz="900" b="0" i="0">
                <a:solidFill>
                  <a:srgbClr val="333333"/>
                </a:solidFill>
              </a:rPr>
              <a:t>title + body,  truncated to 1 200 chars</a:t>
            </a:r>
          </a:p>
        </p:txBody>
      </p:sp>
      <p:sp>
        <p:nvSpPr>
          <p:cNvPr id="19" name="TextBox 18"/>
          <p:cNvSpPr txBox="1"/>
          <p:nvPr/>
        </p:nvSpPr>
        <p:spPr>
          <a:xfrm>
            <a:off x="8321040" y="3904488"/>
            <a:ext cx="3200400" cy="182880"/>
          </a:xfrm>
          <a:prstGeom prst="rect">
            <a:avLst/>
          </a:prstGeom>
          <a:noFill/>
        </p:spPr>
        <p:txBody>
          <a:bodyPr wrap="square" anchor="t">
            <a:spAutoFit/>
          </a:bodyPr>
          <a:lstStyle/>
          <a:p>
            <a:pPr algn="l"/>
            <a:r>
              <a:rPr sz="1000" b="1" i="0">
                <a:solidFill>
                  <a:srgbClr val="EF4444"/>
                </a:solidFill>
              </a:rPr>
              <a:t>⑤ TRIGGER</a:t>
            </a:r>
          </a:p>
        </p:txBody>
      </p:sp>
      <p:sp>
        <p:nvSpPr>
          <p:cNvPr id="20" name="TextBox 19"/>
          <p:cNvSpPr txBox="1"/>
          <p:nvPr/>
        </p:nvSpPr>
        <p:spPr>
          <a:xfrm>
            <a:off x="8321040" y="4105656"/>
            <a:ext cx="3200400" cy="320040"/>
          </a:xfrm>
          <a:prstGeom prst="rect">
            <a:avLst/>
          </a:prstGeom>
          <a:noFill/>
        </p:spPr>
        <p:txBody>
          <a:bodyPr wrap="square" anchor="t">
            <a:spAutoFit/>
          </a:bodyPr>
          <a:lstStyle/>
          <a:p>
            <a:pPr algn="l"/>
            <a:r>
              <a:rPr sz="900" b="0" i="0">
                <a:solidFill>
                  <a:srgbClr val="333333"/>
                </a:solidFill>
              </a:rPr>
              <a:t>"Reply:"  cues the model to generate</a:t>
            </a:r>
          </a:p>
        </p:txBody>
      </p:sp>
      <p:sp>
        <p:nvSpPr>
          <p:cNvPr id="21" name="Rectangle 20"/>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5212080" cy="320040"/>
          </a:xfrm>
          <a:prstGeom prst="rect">
            <a:avLst/>
          </a:prstGeom>
          <a:noFill/>
        </p:spPr>
        <p:txBody>
          <a:bodyPr wrap="square" anchor="t">
            <a:spAutoFit/>
          </a:bodyPr>
          <a:lstStyle/>
          <a:p>
            <a:pPr algn="l"/>
            <a:r>
              <a:rPr sz="1200" b="1" i="0">
                <a:solidFill>
                  <a:srgbClr val="10B981"/>
                </a:solidFill>
              </a:rPr>
              <a:t>Few-shot source  —  feedback  table</a:t>
            </a:r>
          </a:p>
        </p:txBody>
      </p:sp>
      <p:sp>
        <p:nvSpPr>
          <p:cNvPr id="23" name="TextBox 22"/>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24" name="Rectangle 23"/>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800600"/>
            <a:ext cx="5212080" cy="320040"/>
          </a:xfrm>
          <a:prstGeom prst="rect">
            <a:avLst/>
          </a:prstGeom>
          <a:noFill/>
        </p:spPr>
        <p:txBody>
          <a:bodyPr wrap="square" anchor="t">
            <a:spAutoFit/>
          </a:bodyPr>
          <a:lstStyle/>
          <a:p>
            <a:pPr algn="l"/>
            <a:r>
              <a:rPr sz="1200" b="1" i="0">
                <a:solidFill>
                  <a:srgbClr val="D97706"/>
                </a:solidFill>
              </a:rPr>
              <a:t>Style guardrails baked into the prompt</a:t>
            </a:r>
          </a:p>
        </p:txBody>
      </p:sp>
      <p:sp>
        <p:nvSpPr>
          <p:cNvPr id="26" name="TextBox 25"/>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i="0">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i="0">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i="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i="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423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i="0">
                <a:solidFill>
                  <a:srgbClr val="FFFFFF"/>
                </a:solidFill>
              </a:rPr>
              <a:t>A · GPT-4o  (Walmart Gateway)</a:t>
            </a:r>
          </a:p>
        </p:txBody>
      </p:sp>
      <p:sp>
        <p:nvSpPr>
          <p:cNvPr id="15" name="TextBox 14"/>
          <p:cNvSpPr txBox="1"/>
          <p:nvPr/>
        </p:nvSpPr>
        <p:spPr>
          <a:xfrm>
            <a:off x="502920" y="3264408"/>
            <a:ext cx="3520440" cy="1874520"/>
          </a:xfrm>
          <a:prstGeom prst="rect">
            <a:avLst/>
          </a:prstGeom>
          <a:noFill/>
        </p:spPr>
        <p:txBody>
          <a:bodyPr wrap="square" anchor="t">
            <a:spAutoFit/>
          </a:bodyPr>
          <a:lstStyle/>
          <a:p>
            <a:pPr algn="l"/>
            <a:r>
              <a:rPr sz="1000" b="0" i="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4231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i="0">
                <a:solidFill>
                  <a:srgbClr val="FFFFFF"/>
                </a:solidFill>
              </a:rPr>
              <a:t>B · Mistral 7B  (local Ollama)</a:t>
            </a:r>
          </a:p>
        </p:txBody>
      </p:sp>
      <p:sp>
        <p:nvSpPr>
          <p:cNvPr id="19" name="TextBox 18"/>
          <p:cNvSpPr txBox="1"/>
          <p:nvPr/>
        </p:nvSpPr>
        <p:spPr>
          <a:xfrm>
            <a:off x="4434840" y="3264408"/>
            <a:ext cx="3520440" cy="1874520"/>
          </a:xfrm>
          <a:prstGeom prst="rect">
            <a:avLst/>
          </a:prstGeom>
          <a:noFill/>
        </p:spPr>
        <p:txBody>
          <a:bodyPr wrap="square" anchor="t">
            <a:spAutoFit/>
          </a:bodyPr>
          <a:lstStyle/>
          <a:p>
            <a:pPr algn="l"/>
            <a:r>
              <a:rPr sz="1000" b="0" i="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4231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i="0">
                <a:solidFill>
                  <a:srgbClr val="FFFFFF"/>
                </a:solidFill>
              </a:rPr>
              <a:t>C · Smart Composer  (no-LLM)</a:t>
            </a:r>
          </a:p>
        </p:txBody>
      </p:sp>
      <p:sp>
        <p:nvSpPr>
          <p:cNvPr id="23" name="TextBox 22"/>
          <p:cNvSpPr txBox="1"/>
          <p:nvPr/>
        </p:nvSpPr>
        <p:spPr>
          <a:xfrm>
            <a:off x="8366760" y="3264408"/>
            <a:ext cx="3520440" cy="1874520"/>
          </a:xfrm>
          <a:prstGeom prst="rect">
            <a:avLst/>
          </a:prstGeom>
          <a:noFill/>
        </p:spPr>
        <p:txBody>
          <a:bodyPr wrap="square" anchor="t">
            <a:spAutoFit/>
          </a:bodyPr>
          <a:lstStyle/>
          <a:p>
            <a:pPr algn="l"/>
            <a:r>
              <a:rPr sz="1000" b="0" i="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394960"/>
            <a:ext cx="11247120" cy="960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68112"/>
            <a:ext cx="10972800" cy="320040"/>
          </a:xfrm>
          <a:prstGeom prst="rect">
            <a:avLst/>
          </a:prstGeom>
          <a:noFill/>
        </p:spPr>
        <p:txBody>
          <a:bodyPr wrap="square" anchor="t">
            <a:spAutoFit/>
          </a:bodyPr>
          <a:lstStyle/>
          <a:p>
            <a:pPr algn="l"/>
            <a:r>
              <a:rPr sz="1100" b="1" i="0">
                <a:solidFill>
                  <a:srgbClr val="0071DC"/>
                </a:solidFill>
              </a:rPr>
              <a:t>WHAT HAPPENS NEXT</a:t>
            </a:r>
          </a:p>
        </p:txBody>
      </p:sp>
      <p:sp>
        <p:nvSpPr>
          <p:cNvPr id="26" name="TextBox 25"/>
          <p:cNvSpPr txBox="1"/>
          <p:nvPr/>
        </p:nvSpPr>
        <p:spPr>
          <a:xfrm>
            <a:off x="640080" y="5760720"/>
            <a:ext cx="10972800" cy="548640"/>
          </a:xfrm>
          <a:prstGeom prst="rect">
            <a:avLst/>
          </a:prstGeom>
          <a:noFill/>
        </p:spPr>
        <p:txBody>
          <a:bodyPr wrap="square" anchor="t">
            <a:spAutoFit/>
          </a:bodyPr>
          <a:lstStyle/>
          <a:p>
            <a:pPr algn="l"/>
            <a:r>
              <a:rPr sz="1100" b="0" i="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i="0">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i="0">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i="0">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i="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i="0">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i="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i="0">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i="0">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i="0">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i="0">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i="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FACETS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14400"/>
            <a:ext cx="5669280" cy="11338560"/>
          </a:xfrm>
          <a:prstGeom prst="rect">
            <a:avLst/>
          </a:prstGeom>
        </p:spPr>
      </p:pic>
      <p:sp>
        <p:nvSpPr>
          <p:cNvPr id="9" name="Rectangle 8"/>
          <p:cNvSpPr/>
          <p:nvPr/>
        </p:nvSpPr>
        <p:spPr>
          <a:xfrm>
            <a:off x="457200" y="3840480"/>
            <a:ext cx="5486400" cy="13716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50208"/>
            <a:ext cx="5120640" cy="320040"/>
          </a:xfrm>
          <a:prstGeom prst="rect">
            <a:avLst/>
          </a:prstGeom>
          <a:noFill/>
        </p:spPr>
        <p:txBody>
          <a:bodyPr wrap="square" anchor="t">
            <a:spAutoFit/>
          </a:bodyPr>
          <a:lstStyle/>
          <a:p>
            <a:pPr algn="l"/>
            <a:r>
              <a:rPr sz="1100" b="1" i="0">
                <a:solidFill>
                  <a:srgbClr val="0071DC"/>
                </a:solidFill>
              </a:rPr>
              <a:t>PER-POST CARD</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i="0">
                <a:solidFill>
                  <a:srgbClr val="333333"/>
                </a:solidFill>
              </a:rPr>
              <a:t>Title + body excerpt  ·  sentiment badge with confidence %  ·  trust tier (H / M / L)  ·  aspect chips  ·  subreddit + timestamp  ·  actions:  Review · Add to Lifecycle · View Details.</a:t>
            </a:r>
          </a:p>
        </p:txBody>
      </p:sp>
      <p:sp>
        <p:nvSpPr>
          <p:cNvPr id="12" name="Rectangle 11"/>
          <p:cNvSpPr/>
          <p:nvPr/>
        </p:nvSpPr>
        <p:spPr>
          <a:xfrm>
            <a:off x="457200" y="5349240"/>
            <a:ext cx="5486400" cy="1051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40680"/>
            <a:ext cx="5120640" cy="320040"/>
          </a:xfrm>
          <a:prstGeom prst="rect">
            <a:avLst/>
          </a:prstGeom>
          <a:noFill/>
        </p:spPr>
        <p:txBody>
          <a:bodyPr wrap="square" anchor="t">
            <a:spAutoFit/>
          </a:bodyPr>
          <a:lstStyle/>
          <a:p>
            <a:pPr algn="l"/>
            <a:r>
              <a:rPr sz="1100" b="1" i="0">
                <a:solidFill>
                  <a:srgbClr val="0071DC"/>
                </a:solidFill>
              </a:rPr>
              <a:t>CATALOG TODAY  (live capture)</a:t>
            </a:r>
          </a:p>
        </p:txBody>
      </p:sp>
      <p:sp>
        <p:nvSpPr>
          <p:cNvPr id="14" name="TextBox 13"/>
          <p:cNvSpPr txBox="1"/>
          <p:nvPr/>
        </p:nvSpPr>
        <p:spPr>
          <a:xfrm>
            <a:off x="640080" y="5742432"/>
            <a:ext cx="5120640" cy="640080"/>
          </a:xfrm>
          <a:prstGeom prst="rect">
            <a:avLst/>
          </a:prstGeom>
          <a:noFill/>
        </p:spPr>
        <p:txBody>
          <a:bodyPr wrap="square" anchor="t">
            <a:spAutoFit/>
          </a:bodyPr>
          <a:lstStyle/>
          <a:p>
            <a:pPr algn="l"/>
            <a:r>
              <a:rPr sz="1100" b="0" i="0">
                <a:solidFill>
                  <a:srgbClr val="333333"/>
                </a:solidFill>
              </a:rPr>
              <a:t>83 006 analysed posts  ·  25 subreddits  ·  8 aspects  ·  results paginated at 50 / query.</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i="0">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i="0">
                <a:solidFill>
                  <a:srgbClr val="333333"/>
                </a:solidFill>
              </a:rPr>
              <a:t>New P1 / P2</a:t>
            </a:r>
          </a:p>
          <a:p>
            <a:pPr algn="ctr"/>
            <a:r>
              <a:rPr sz="1200" b="0" i="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i="0">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i="0">
                <a:solidFill>
                  <a:srgbClr val="333333"/>
                </a:solidFill>
              </a:rPr>
              <a:t>Assigned</a:t>
            </a:r>
          </a:p>
          <a:p>
            <a:pPr algn="ctr"/>
            <a:r>
              <a:rPr sz="1200" b="0" i="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i="0">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i="0">
                <a:solidFill>
                  <a:srgbClr val="333333"/>
                </a:solidFill>
              </a:rPr>
              <a:t>Reply being</a:t>
            </a:r>
          </a:p>
          <a:p>
            <a:pPr algn="ctr"/>
            <a:r>
              <a:rPr sz="1200" b="0" i="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i="0">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i="0">
                <a:solidFill>
                  <a:srgbClr val="333333"/>
                </a:solidFill>
              </a:rPr>
              <a:t>Reply posted or</a:t>
            </a:r>
          </a:p>
          <a:p>
            <a:pPr algn="ctr"/>
            <a:r>
              <a:rPr sz="1200" b="0" i="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3017520"/>
          </a:xfrm>
          <a:prstGeom prst="rect">
            <a:avLst/>
          </a:prstGeom>
        </p:spPr>
      </p:pic>
      <p:sp>
        <p:nvSpPr>
          <p:cNvPr id="26" name="Rectangle 25"/>
          <p:cNvSpPr/>
          <p:nvPr/>
        </p:nvSpPr>
        <p:spPr>
          <a:xfrm>
            <a:off x="7589520" y="3246120"/>
            <a:ext cx="4114800" cy="30175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100" b="1" i="0">
                <a:solidFill>
                  <a:srgbClr val="0071DC"/>
                </a:solidFill>
              </a:rPr>
              <a:t>RESOLVE MODAL  —  2-step flow</a:t>
            </a:r>
          </a:p>
        </p:txBody>
      </p:sp>
      <p:sp>
        <p:nvSpPr>
          <p:cNvPr id="28" name="TextBox 27"/>
          <p:cNvSpPr txBox="1"/>
          <p:nvPr/>
        </p:nvSpPr>
        <p:spPr>
          <a:xfrm>
            <a:off x="7772400" y="3703320"/>
            <a:ext cx="3840480" cy="251460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5532120" cy="24231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553212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87552"/>
            <a:ext cx="5532120" cy="365760"/>
          </a:xfrm>
          <a:prstGeom prst="rect">
            <a:avLst/>
          </a:prstGeom>
          <a:noFill/>
        </p:spPr>
        <p:txBody>
          <a:bodyPr wrap="square" anchor="t">
            <a:spAutoFit/>
          </a:bodyPr>
          <a:lstStyle/>
          <a:p>
            <a:pPr algn="ctr"/>
            <a:r>
              <a:rPr sz="1400" b="1" i="0">
                <a:solidFill>
                  <a:srgbClr val="FFFFFF"/>
                </a:solidFill>
              </a:rPr>
              <a:t>Priority-Negatives</a:t>
            </a:r>
          </a:p>
        </p:txBody>
      </p:sp>
      <p:sp>
        <p:nvSpPr>
          <p:cNvPr id="9" name="TextBox 8"/>
          <p:cNvSpPr txBox="1"/>
          <p:nvPr/>
        </p:nvSpPr>
        <p:spPr>
          <a:xfrm>
            <a:off x="640080" y="1508760"/>
            <a:ext cx="5166360" cy="1737360"/>
          </a:xfrm>
          <a:prstGeom prst="rect">
            <a:avLst/>
          </a:prstGeom>
          <a:noFill/>
        </p:spPr>
        <p:txBody>
          <a:bodyPr wrap="square" anchor="ctr">
            <a:spAutoFit/>
          </a:bodyPr>
          <a:lstStyle/>
          <a:p>
            <a:pPr algn="ctr"/>
            <a:r>
              <a:rPr sz="1300" b="0" i="0">
                <a:solidFill>
                  <a:srgbClr val="333333"/>
                </a:solidFill>
              </a:rPr>
              <a:t>Top issues ranked by</a:t>
            </a:r>
          </a:p>
          <a:p>
            <a:pPr algn="ctr"/>
            <a:r>
              <a:rPr sz="1300" b="0" i="0">
                <a:solidFill>
                  <a:srgbClr val="333333"/>
                </a:solidFill>
              </a:rPr>
              <a:t>volume × severity × recency</a:t>
            </a:r>
          </a:p>
          <a:p>
            <a:pPr algn="ctr"/>
            <a:r>
              <a:rPr sz="1300" b="0" i="0">
                <a:solidFill>
                  <a:srgbClr val="333333"/>
                </a:solidFill>
              </a:rPr>
              <a:t>by aspect</a:t>
            </a:r>
          </a:p>
        </p:txBody>
      </p:sp>
      <p:sp>
        <p:nvSpPr>
          <p:cNvPr id="10" name="Rectangle 9"/>
          <p:cNvSpPr/>
          <p:nvPr/>
        </p:nvSpPr>
        <p:spPr>
          <a:xfrm>
            <a:off x="6172200" y="914400"/>
            <a:ext cx="5532120" cy="24231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914400"/>
            <a:ext cx="55321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987552"/>
            <a:ext cx="5532120" cy="365760"/>
          </a:xfrm>
          <a:prstGeom prst="rect">
            <a:avLst/>
          </a:prstGeom>
          <a:noFill/>
        </p:spPr>
        <p:txBody>
          <a:bodyPr wrap="square" anchor="t">
            <a:spAutoFit/>
          </a:bodyPr>
          <a:lstStyle/>
          <a:p>
            <a:pPr algn="ctr"/>
            <a:r>
              <a:rPr sz="1400" b="1" i="0">
                <a:solidFill>
                  <a:srgbClr val="FFFFFF"/>
                </a:solidFill>
              </a:rPr>
              <a:t>Competitor Pulse</a:t>
            </a:r>
          </a:p>
        </p:txBody>
      </p:sp>
      <p:sp>
        <p:nvSpPr>
          <p:cNvPr id="13" name="TextBox 12"/>
          <p:cNvSpPr txBox="1"/>
          <p:nvPr/>
        </p:nvSpPr>
        <p:spPr>
          <a:xfrm>
            <a:off x="6355080" y="1508760"/>
            <a:ext cx="5166360" cy="1737360"/>
          </a:xfrm>
          <a:prstGeom prst="rect">
            <a:avLst/>
          </a:prstGeom>
          <a:noFill/>
        </p:spPr>
        <p:txBody>
          <a:bodyPr wrap="square" anchor="ctr">
            <a:spAutoFit/>
          </a:bodyPr>
          <a:lstStyle/>
          <a:p>
            <a:pPr algn="ctr"/>
            <a:r>
              <a:rPr sz="1300" b="0" i="0">
                <a:solidFill>
                  <a:srgbClr val="333333"/>
                </a:solidFill>
              </a:rPr>
              <a:t>Walmart vs Costco,</a:t>
            </a:r>
          </a:p>
          <a:p>
            <a:pPr algn="ctr"/>
            <a:r>
              <a:rPr sz="1300" b="0" i="0">
                <a:solidFill>
                  <a:srgbClr val="333333"/>
                </a:solidFill>
              </a:rPr>
              <a:t>Target, Amazon on shared aspects</a:t>
            </a:r>
          </a:p>
        </p:txBody>
      </p:sp>
      <p:sp>
        <p:nvSpPr>
          <p:cNvPr id="14" name="Rectangle 13"/>
          <p:cNvSpPr/>
          <p:nvPr/>
        </p:nvSpPr>
        <p:spPr>
          <a:xfrm>
            <a:off x="457200" y="3520440"/>
            <a:ext cx="5532120" cy="24231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520440"/>
            <a:ext cx="55321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593592"/>
            <a:ext cx="5532120" cy="365760"/>
          </a:xfrm>
          <a:prstGeom prst="rect">
            <a:avLst/>
          </a:prstGeom>
          <a:noFill/>
        </p:spPr>
        <p:txBody>
          <a:bodyPr wrap="square" anchor="t">
            <a:spAutoFit/>
          </a:bodyPr>
          <a:lstStyle/>
          <a:p>
            <a:pPr algn="ctr"/>
            <a:r>
              <a:rPr sz="1400" b="1" i="0">
                <a:solidFill>
                  <a:srgbClr val="FFFFFF"/>
                </a:solidFill>
              </a:rPr>
              <a:t>Weekly LLM Summaries</a:t>
            </a:r>
          </a:p>
        </p:txBody>
      </p:sp>
      <p:sp>
        <p:nvSpPr>
          <p:cNvPr id="17" name="TextBox 16"/>
          <p:cNvSpPr txBox="1"/>
          <p:nvPr/>
        </p:nvSpPr>
        <p:spPr>
          <a:xfrm>
            <a:off x="640080" y="4114800"/>
            <a:ext cx="5166360" cy="1737360"/>
          </a:xfrm>
          <a:prstGeom prst="rect">
            <a:avLst/>
          </a:prstGeom>
          <a:noFill/>
        </p:spPr>
        <p:txBody>
          <a:bodyPr wrap="square" anchor="ctr">
            <a:spAutoFit/>
          </a:bodyPr>
          <a:lstStyle/>
          <a:p>
            <a:pPr algn="ctr"/>
            <a:r>
              <a:rPr sz="1300" b="0" i="0">
                <a:solidFill>
                  <a:srgbClr val="333333"/>
                </a:solidFill>
              </a:rPr>
              <a:t>Natural-language weekly</a:t>
            </a:r>
          </a:p>
          <a:p>
            <a:pPr algn="ctr"/>
            <a:r>
              <a:rPr sz="1300" b="0" i="0">
                <a:solidFill>
                  <a:srgbClr val="333333"/>
                </a:solidFill>
              </a:rPr>
              <a:t>digest + action items</a:t>
            </a:r>
          </a:p>
          <a:p>
            <a:pPr algn="ctr"/>
            <a:r>
              <a:rPr sz="1300" b="0" i="0">
                <a:solidFill>
                  <a:srgbClr val="333333"/>
                </a:solidFill>
              </a:rPr>
              <a:t>+ emerging topics</a:t>
            </a:r>
          </a:p>
        </p:txBody>
      </p:sp>
      <p:sp>
        <p:nvSpPr>
          <p:cNvPr id="18" name="Rectangle 17"/>
          <p:cNvSpPr/>
          <p:nvPr/>
        </p:nvSpPr>
        <p:spPr>
          <a:xfrm>
            <a:off x="6172200" y="3520440"/>
            <a:ext cx="5532120" cy="24231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3520440"/>
            <a:ext cx="553212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3593592"/>
            <a:ext cx="5532120" cy="365760"/>
          </a:xfrm>
          <a:prstGeom prst="rect">
            <a:avLst/>
          </a:prstGeom>
          <a:noFill/>
        </p:spPr>
        <p:txBody>
          <a:bodyPr wrap="square" anchor="t">
            <a:spAutoFit/>
          </a:bodyPr>
          <a:lstStyle/>
          <a:p>
            <a:pPr algn="ctr"/>
            <a:r>
              <a:rPr sz="1400" b="1" i="0">
                <a:solidFill>
                  <a:srgbClr val="FFFFFF"/>
                </a:solidFill>
              </a:rPr>
              <a:t>Aspect Drilldown</a:t>
            </a:r>
          </a:p>
        </p:txBody>
      </p:sp>
      <p:sp>
        <p:nvSpPr>
          <p:cNvPr id="21" name="TextBox 20"/>
          <p:cNvSpPr txBox="1"/>
          <p:nvPr/>
        </p:nvSpPr>
        <p:spPr>
          <a:xfrm>
            <a:off x="6355080" y="4114800"/>
            <a:ext cx="5166360" cy="1737360"/>
          </a:xfrm>
          <a:prstGeom prst="rect">
            <a:avLst/>
          </a:prstGeom>
          <a:noFill/>
        </p:spPr>
        <p:txBody>
          <a:bodyPr wrap="square" anchor="ctr">
            <a:spAutoFit/>
          </a:bodyPr>
          <a:lstStyle/>
          <a:p>
            <a:pPr algn="ctr"/>
            <a:r>
              <a:rPr sz="1300" b="0" i="0">
                <a:solidFill>
                  <a:srgbClr val="333333"/>
                </a:solidFill>
              </a:rPr>
              <a:t>8-aspect taxonomy</a:t>
            </a:r>
          </a:p>
          <a:p>
            <a:pPr algn="ctr"/>
            <a:r>
              <a:rPr sz="1300" b="0" i="0">
                <a:solidFill>
                  <a:srgbClr val="333333"/>
                </a:solidFill>
              </a:rPr>
              <a:t>per-aspect sentiment trend</a:t>
            </a:r>
          </a:p>
          <a:p>
            <a:pPr algn="ctr"/>
            <a:r>
              <a:rPr sz="1300" b="0" i="0">
                <a:solidFill>
                  <a:srgbClr val="333333"/>
                </a:solidFill>
              </a:rPr>
              <a:t>+ representative posts</a:t>
            </a:r>
          </a:p>
        </p:txBody>
      </p:sp>
      <p:sp>
        <p:nvSpPr>
          <p:cNvPr id="22" name="Rectangle 21"/>
          <p:cNvSpPr/>
          <p:nvPr/>
        </p:nvSpPr>
        <p:spPr>
          <a:xfrm>
            <a:off x="457200" y="6126480"/>
            <a:ext cx="11247120" cy="3657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144768"/>
            <a:ext cx="10972800" cy="320040"/>
          </a:xfrm>
          <a:prstGeom prst="rect">
            <a:avLst/>
          </a:prstGeom>
          <a:noFill/>
        </p:spPr>
        <p:txBody>
          <a:bodyPr wrap="square" anchor="ctr">
            <a:spAutoFit/>
          </a:bodyPr>
          <a:lstStyle/>
          <a:p>
            <a:pPr algn="ctr"/>
            <a:r>
              <a:rPr sz="1000" b="0" i="0">
                <a:solidFill>
                  <a:srgbClr val="333333"/>
                </a:solidFill>
              </a:rPr>
              <a:t>Weekly summaries powered by GPT-4o via Walmart Gateway  ·  see Live Demo grid on slide 15 for the actual page.</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WHAT IT DOES</a:t>
            </a:r>
          </a:p>
        </p:txBody>
      </p:sp>
      <p:sp>
        <p:nvSpPr>
          <p:cNvPr id="7" name="TextBox 6"/>
          <p:cNvSpPr txBox="1"/>
          <p:nvPr/>
        </p:nvSpPr>
        <p:spPr>
          <a:xfrm>
            <a:off x="457200" y="1234440"/>
            <a:ext cx="5486400" cy="22860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in Review &amp; Validate</a:t>
            </a:r>
          </a:p>
          <a:p>
            <a:pPr>
              <a:spcAft>
                <a:spcPts val="400"/>
              </a:spcAft>
            </a:pPr>
            <a:r>
              <a:rPr sz="1200" b="0">
                <a:solidFill>
                  <a:srgbClr val="333333"/>
                </a:solidFill>
              </a:rPr>
              <a:t>•  Powered by the same  alerts  rows that drive email/Slack</a:t>
            </a:r>
          </a:p>
        </p:txBody>
      </p:sp>
      <p:pic>
        <p:nvPicPr>
          <p:cNvPr id="8" name="Picture 7" descr="notifications.png"/>
          <p:cNvPicPr>
            <a:picLocks noChangeAspect="1"/>
          </p:cNvPicPr>
          <p:nvPr/>
        </p:nvPicPr>
        <p:blipFill>
          <a:blip r:embed="rId2"/>
          <a:stretch>
            <a:fillRect/>
          </a:stretch>
        </p:blipFill>
        <p:spPr>
          <a:xfrm>
            <a:off x="6172200" y="914400"/>
            <a:ext cx="5669280" cy="4265083"/>
          </a:xfrm>
          <a:prstGeom prst="rect">
            <a:avLst/>
          </a:prstGeom>
        </p:spPr>
      </p:pic>
      <p:sp>
        <p:nvSpPr>
          <p:cNvPr id="9" name="Rectangle 8"/>
          <p:cNvSpPr/>
          <p:nvPr/>
        </p:nvSpPr>
        <p:spPr>
          <a:xfrm>
            <a:off x="457200" y="370332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794760"/>
            <a:ext cx="5120640" cy="320040"/>
          </a:xfrm>
          <a:prstGeom prst="rect">
            <a:avLst/>
          </a:prstGeom>
          <a:noFill/>
        </p:spPr>
        <p:txBody>
          <a:bodyPr wrap="square" anchor="t">
            <a:spAutoFit/>
          </a:bodyPr>
          <a:lstStyle/>
          <a:p>
            <a:pPr algn="l"/>
            <a:r>
              <a:rPr sz="1100" b="1" i="0">
                <a:solidFill>
                  <a:srgbClr val="0071DC"/>
                </a:solidFill>
              </a:rPr>
              <a:t>PRIORITY THRESHOLDS</a:t>
            </a:r>
          </a:p>
        </p:txBody>
      </p:sp>
      <p:sp>
        <p:nvSpPr>
          <p:cNvPr id="11" name="TextBox 10"/>
          <p:cNvSpPr txBox="1"/>
          <p:nvPr/>
        </p:nvSpPr>
        <p:spPr>
          <a:xfrm>
            <a:off x="640080" y="4114800"/>
            <a:ext cx="5120640" cy="914400"/>
          </a:xfrm>
          <a:prstGeom prst="rect">
            <a:avLst/>
          </a:prstGeom>
          <a:noFill/>
        </p:spPr>
        <p:txBody>
          <a:bodyPr wrap="square" anchor="t">
            <a:spAutoFit/>
          </a:bodyPr>
          <a:lstStyle/>
          <a:p>
            <a:pPr algn="l"/>
            <a:r>
              <a:rPr sz="1100" b="0" i="0">
                <a:solidFill>
                  <a:srgbClr val="333333"/>
                </a:solidFill>
              </a:rPr>
              <a:t>P1 — trust ≥ 0.70  and  confidence ≥ 0.80</a:t>
            </a:r>
          </a:p>
          <a:p>
            <a:pPr algn="l"/>
            <a:r>
              <a:rPr sz="1100" b="0" i="0">
                <a:solidFill>
                  <a:srgbClr val="333333"/>
                </a:solidFill>
              </a:rPr>
              <a:t>P2 — trust ≥ 0.50  and  confidence ≥ 0.60</a:t>
            </a:r>
          </a:p>
          <a:p>
            <a:pPr algn="l"/>
            <a:r>
              <a:rPr sz="1100" b="0" i="0">
                <a:solidFill>
                  <a:srgbClr val="333333"/>
                </a:solidFill>
              </a:rPr>
              <a:t>Source: config/models.yaml + dispatcher.py</a:t>
            </a:r>
          </a:p>
        </p:txBody>
      </p:sp>
      <p:sp>
        <p:nvSpPr>
          <p:cNvPr id="12" name="Rectangle 11"/>
          <p:cNvSpPr/>
          <p:nvPr/>
        </p:nvSpPr>
        <p:spPr>
          <a:xfrm>
            <a:off x="457200" y="521208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21808"/>
            <a:ext cx="5120640" cy="320040"/>
          </a:xfrm>
          <a:prstGeom prst="rect">
            <a:avLst/>
          </a:prstGeom>
          <a:noFill/>
        </p:spPr>
        <p:txBody>
          <a:bodyPr wrap="square" anchor="t">
            <a:spAutoFit/>
          </a:bodyPr>
          <a:lstStyle/>
          <a:p>
            <a:pPr algn="l"/>
            <a:r>
              <a:rPr sz="1100" b="1" i="0">
                <a:solidFill>
                  <a:srgbClr val="10B981"/>
                </a:solidFill>
              </a:rPr>
              <a:t>GROUPS TODAY  (live capture)</a:t>
            </a:r>
          </a:p>
        </p:txBody>
      </p:sp>
      <p:sp>
        <p:nvSpPr>
          <p:cNvPr id="14" name="TextBox 13"/>
          <p:cNvSpPr txBox="1"/>
          <p:nvPr/>
        </p:nvSpPr>
        <p:spPr>
          <a:xfrm>
            <a:off x="640080" y="5623560"/>
            <a:ext cx="5120640" cy="777240"/>
          </a:xfrm>
          <a:prstGeom prst="rect">
            <a:avLst/>
          </a:prstGeom>
          <a:noFill/>
        </p:spPr>
        <p:txBody>
          <a:bodyPr wrap="square" anchor="t">
            <a:spAutoFit/>
          </a:bodyPr>
          <a:lstStyle/>
          <a:p>
            <a:pPr algn="l"/>
            <a:r>
              <a:rPr sz="1100" b="0" i="0">
                <a:solidFill>
                  <a:srgbClr val="333333"/>
                </a:solidFill>
              </a:rPr>
              <a:t>4 routing groups configured  ·  DriverRelatedPost, GIF_, SAMSClub, W+ Membership  ·  delivery status tracked per row in  notification_log.</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i="0">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i="0">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i="0">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i="0">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i="0">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i="0">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i="0">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ctr">
            <a:spAutoFit/>
          </a:bodyPr>
          <a:lstStyle/>
          <a:p>
            <a:pPr algn="ctr"/>
            <a:r>
              <a:rPr sz="1100" b="0" i="0">
                <a:solidFill>
                  <a:srgbClr val="333333"/>
                </a:solidFill>
              </a:rPr>
              <a:t>What TYPE of image?</a:t>
            </a:r>
          </a:p>
          <a:p>
            <a:pPr algn="ctr"/>
            <a:r>
              <a:rPr sz="1100" b="0" i="0">
                <a:solidFill>
                  <a:srgbClr val="333333"/>
                </a:solidFill>
              </a:rPr>
              <a:t>screenshot / photo /</a:t>
            </a:r>
          </a:p>
          <a:p>
            <a:pPr algn="ctr"/>
            <a:r>
              <a:rPr sz="1100" b="0" i="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i="0">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i="0">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ctr">
            <a:spAutoFit/>
          </a:bodyPr>
          <a:lstStyle/>
          <a:p>
            <a:pPr algn="ctr"/>
            <a:r>
              <a:rPr sz="1100" b="0" i="0">
                <a:solidFill>
                  <a:srgbClr val="333333"/>
                </a:solidFill>
              </a:rPr>
              <a:t>Split into 2–4 crops</a:t>
            </a:r>
          </a:p>
          <a:p>
            <a:pPr algn="ctr"/>
            <a:r>
              <a:rPr sz="1100" b="0" i="0">
                <a:solidFill>
                  <a:srgbClr val="333333"/>
                </a:solidFill>
              </a:rPr>
              <a:t>→ 2–4× effective</a:t>
            </a:r>
          </a:p>
          <a:p>
            <a:pPr algn="ctr"/>
            <a:r>
              <a:rPr sz="1100" b="0" i="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i="0">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i="0">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ctr">
            <a:spAutoFit/>
          </a:bodyPr>
          <a:lstStyle/>
          <a:p>
            <a:pPr algn="ctr"/>
            <a:r>
              <a:rPr sz="1100" b="0" i="0">
                <a:solidFill>
                  <a:srgbClr val="333333"/>
                </a:solidFill>
              </a:rPr>
              <a:t>Per tile: read ALL</a:t>
            </a:r>
          </a:p>
          <a:p>
            <a:pPr algn="ctr"/>
            <a:r>
              <a:rPr sz="1100" b="0" i="0">
                <a:solidFill>
                  <a:srgbClr val="333333"/>
                </a:solidFill>
              </a:rPr>
              <a:t>text verbatim</a:t>
            </a:r>
          </a:p>
          <a:p>
            <a:pPr algn="ctr"/>
            <a:r>
              <a:rPr sz="1100" b="0" i="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i="0">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i="0">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ctr">
            <a:spAutoFit/>
          </a:bodyPr>
          <a:lstStyle/>
          <a:p>
            <a:pPr algn="ctr"/>
            <a:r>
              <a:rPr sz="1100" b="0" i="0">
                <a:solidFill>
                  <a:srgbClr val="333333"/>
                </a:solidFill>
              </a:rPr>
              <a:t>Text-only LLM call</a:t>
            </a:r>
          </a:p>
          <a:p>
            <a:pPr algn="ctr"/>
            <a:r>
              <a:rPr sz="1100" b="0" i="0">
                <a:solidFill>
                  <a:srgbClr val="333333"/>
                </a:solidFill>
              </a:rPr>
              <a:t>— image REMOVED —</a:t>
            </a:r>
          </a:p>
          <a:p>
            <a:pPr algn="ctr"/>
            <a:r>
              <a:rPr sz="1100" b="0" i="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i="0">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i="0">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i="0">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i="0">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i="0">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i="0">
                <a:solidFill>
                  <a:srgbClr val="041E42"/>
                </a:solidFill>
              </a:rPr>
              <a:t>trust_score  =  0.4 × metadata  +  0.3 × dedup  +  0.3 × llm_credibility</a:t>
            </a:r>
          </a:p>
        </p:txBody>
      </p:sp>
      <p:sp>
        <p:nvSpPr>
          <p:cNvPr id="18" name="Rectangle 17"/>
          <p:cNvSpPr/>
          <p:nvPr/>
        </p:nvSpPr>
        <p:spPr>
          <a:xfrm>
            <a:off x="457200" y="425196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70832"/>
            <a:ext cx="5212080" cy="320040"/>
          </a:xfrm>
          <a:prstGeom prst="rect">
            <a:avLst/>
          </a:prstGeom>
          <a:noFill/>
        </p:spPr>
        <p:txBody>
          <a:bodyPr wrap="square" anchor="t">
            <a:spAutoFit/>
          </a:bodyPr>
          <a:lstStyle/>
          <a:p>
            <a:pPr algn="l"/>
            <a:r>
              <a:rPr sz="1200" b="1" i="0">
                <a:solidFill>
                  <a:srgbClr val="10B981"/>
                </a:solidFill>
              </a:rPr>
              <a:t>DESIGN PRINCIPLE  —  flag, don't drop</a:t>
            </a:r>
          </a:p>
        </p:txBody>
      </p:sp>
      <p:sp>
        <p:nvSpPr>
          <p:cNvPr id="20" name="TextBox 19"/>
          <p:cNvSpPr txBox="1"/>
          <p:nvPr/>
        </p:nvSpPr>
        <p:spPr>
          <a:xfrm>
            <a:off x="640080" y="4709160"/>
            <a:ext cx="5212080" cy="1554480"/>
          </a:xfrm>
          <a:prstGeom prst="rect">
            <a:avLst/>
          </a:prstGeom>
          <a:noFill/>
        </p:spPr>
        <p:txBody>
          <a:bodyPr wrap="square" anchor="t">
            <a:spAutoFit/>
          </a:bodyPr>
          <a:lstStyle/>
          <a:p>
            <a:pPr algn="l"/>
            <a:r>
              <a:rPr sz="1100" b="0" i="0">
                <a:solidFill>
                  <a:srgbClr val="333333"/>
                </a:solidFill>
              </a:rPr>
              <a:t>Low-trust posts are surfaced with an explanatory chip (promotional / duplicate / thin-metadata) and can be overridden by an analyst in one click — the override is captured for the learning loop.</a:t>
            </a:r>
          </a:p>
        </p:txBody>
      </p:sp>
      <p:sp>
        <p:nvSpPr>
          <p:cNvPr id="21" name="Rectangle 20"/>
          <p:cNvSpPr/>
          <p:nvPr/>
        </p:nvSpPr>
        <p:spPr>
          <a:xfrm>
            <a:off x="6172200" y="4251960"/>
            <a:ext cx="5532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370832"/>
            <a:ext cx="5212080" cy="320040"/>
          </a:xfrm>
          <a:prstGeom prst="rect">
            <a:avLst/>
          </a:prstGeom>
          <a:noFill/>
        </p:spPr>
        <p:txBody>
          <a:bodyPr wrap="square" anchor="t">
            <a:spAutoFit/>
          </a:bodyPr>
          <a:lstStyle/>
          <a:p>
            <a:pPr algn="l"/>
            <a:r>
              <a:rPr sz="1200" b="1" i="0">
                <a:solidFill>
                  <a:srgbClr val="0071DC"/>
                </a:solidFill>
              </a:rPr>
              <a:t>WHY IT'S DEFENSIBLE</a:t>
            </a:r>
          </a:p>
        </p:txBody>
      </p:sp>
      <p:sp>
        <p:nvSpPr>
          <p:cNvPr id="23" name="TextBox 22"/>
          <p:cNvSpPr txBox="1"/>
          <p:nvPr/>
        </p:nvSpPr>
        <p:spPr>
          <a:xfrm>
            <a:off x="6355080" y="4709160"/>
            <a:ext cx="5212080" cy="1600200"/>
          </a:xfrm>
          <a:prstGeom prst="rect">
            <a:avLst/>
          </a:prstGeom>
          <a:noFill/>
        </p:spPr>
        <p:txBody>
          <a:bodyPr wrap="square">
            <a:spAutoFit/>
          </a:bodyPr>
          <a:lstStyle/>
          <a:p>
            <a:pPr>
              <a:spcAft>
                <a:spcPts val="400"/>
              </a:spcAft>
            </a:pPr>
            <a:r>
              <a:rPr sz="1100" b="0">
                <a:solidFill>
                  <a:srgbClr val="333333"/>
                </a:solidFill>
              </a:rPr>
              <a:t>•  Every constant has a plain-English rationale in config/models.yaml</a:t>
            </a:r>
          </a:p>
          <a:p>
            <a:pPr>
              <a:spcAft>
                <a:spcPts val="400"/>
              </a:spcAft>
            </a:pPr>
            <a:r>
              <a:rPr sz="1100" b="0">
                <a:solidFill>
                  <a:srgbClr val="333333"/>
                </a:solidFill>
              </a:rPr>
              <a:t>•  Three named components  →  analyst can see WHY a post is low-trust</a:t>
            </a:r>
          </a:p>
          <a:p>
            <a:pPr>
              <a:spcAft>
                <a:spcPts val="400"/>
              </a:spcAft>
            </a:pPr>
            <a:r>
              <a:rPr sz="1100" b="0">
                <a:solidFill>
                  <a:srgbClr val="333333"/>
                </a:solidFill>
              </a:rPr>
              <a:t>•  12 / 15 confirmed by human annotator on the cross-check</a:t>
            </a:r>
          </a:p>
          <a:p>
            <a:pPr>
              <a:spcAft>
                <a:spcPts val="400"/>
              </a:spcAft>
            </a:pPr>
            <a:r>
              <a:rPr sz="1100" b="0">
                <a:solidFill>
                  <a:srgbClr val="333333"/>
                </a:solidFill>
              </a:rPr>
              <a:t>•  LLM component only invoked in ambiguous zone (cost-controlled)</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i="0">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i="0">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i="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i="0">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i="0">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i="0">
                <a:solidFill>
                  <a:srgbClr val="333333"/>
                </a:solidFill>
              </a:rPr>
              <a:t>Macro-F1 0.6272 → 0.7642 overall; recovers all long posts (≥ 512 tok, n = 7): RoBERTa 5/7 vs ModernBERT 7/7 correct.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i="0">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i="0">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i="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i="0">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i="0">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i="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i="0">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i="0">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i="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i="0">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i="0">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i="0">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i="0">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i="0">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i="0">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44805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300" b="1" i="0">
                <a:solidFill>
                  <a:srgbClr val="10B981"/>
                </a:solidFill>
              </a:rPr>
              <a:t>WHAT WORKED</a:t>
            </a:r>
          </a:p>
        </p:txBody>
      </p:sp>
      <p:sp>
        <p:nvSpPr>
          <p:cNvPr id="8" name="TextBox 7"/>
          <p:cNvSpPr txBox="1"/>
          <p:nvPr/>
        </p:nvSpPr>
        <p:spPr>
          <a:xfrm>
            <a:off x="640080" y="1508760"/>
            <a:ext cx="5212080" cy="379476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 bucket.</a:t>
            </a:r>
          </a:p>
          <a:p>
            <a:pPr>
              <a:spcAft>
                <a:spcPts val="400"/>
              </a:spcAft>
            </a:pPr>
            <a:r>
              <a:rPr sz="1100" b="0">
                <a:solidFill>
                  <a:srgbClr val="333333"/>
                </a:solidFill>
              </a:rPr>
              <a:t>•  Removing the image on the final vision merge step ended the 50 % hallucination problem — the mechanism, not just the number,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4480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300" b="1" i="0">
                <a:solidFill>
                  <a:srgbClr val="D97706"/>
                </a:solidFill>
              </a:rPr>
              <a:t>WHAT'S STILL OPEN  (honest)</a:t>
            </a:r>
          </a:p>
        </p:txBody>
      </p:sp>
      <p:sp>
        <p:nvSpPr>
          <p:cNvPr id="11" name="TextBox 10"/>
          <p:cNvSpPr txBox="1"/>
          <p:nvPr/>
        </p:nvSpPr>
        <p:spPr>
          <a:xfrm>
            <a:off x="6355080" y="1508760"/>
            <a:ext cx="5212080" cy="379476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in the roadmap on next slide.</a:t>
            </a:r>
          </a:p>
        </p:txBody>
      </p:sp>
      <p:sp>
        <p:nvSpPr>
          <p:cNvPr id="12" name="Rectangle 11"/>
          <p:cNvSpPr/>
          <p:nvPr/>
        </p:nvSpPr>
        <p:spPr>
          <a:xfrm>
            <a:off x="457200" y="5577840"/>
            <a:ext cx="11247120" cy="8229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669280"/>
            <a:ext cx="10972800" cy="320040"/>
          </a:xfrm>
          <a:prstGeom prst="rect">
            <a:avLst/>
          </a:prstGeom>
          <a:noFill/>
        </p:spPr>
        <p:txBody>
          <a:bodyPr wrap="square" anchor="t">
            <a:spAutoFit/>
          </a:bodyPr>
          <a:lstStyle/>
          <a:p>
            <a:pPr algn="l"/>
            <a:r>
              <a:rPr sz="1100" b="1" i="0">
                <a:solidFill>
                  <a:srgbClr val="0071DC"/>
                </a:solidFill>
              </a:rPr>
              <a:t>THE TAKEAWAY</a:t>
            </a:r>
          </a:p>
        </p:txBody>
      </p:sp>
      <p:sp>
        <p:nvSpPr>
          <p:cNvPr id="14" name="TextBox 13"/>
          <p:cNvSpPr txBox="1"/>
          <p:nvPr/>
        </p:nvSpPr>
        <p:spPr>
          <a:xfrm>
            <a:off x="640080" y="5989320"/>
            <a:ext cx="10972800" cy="365760"/>
          </a:xfrm>
          <a:prstGeom prst="rect">
            <a:avLst/>
          </a:prstGeom>
          <a:noFill/>
        </p:spPr>
        <p:txBody>
          <a:bodyPr wrap="square" anchor="t">
            <a:spAutoFit/>
          </a:bodyPr>
          <a:lstStyle/>
          <a:p>
            <a:pPr algn="l"/>
            <a:r>
              <a:rPr sz="1100" b="0" i="0">
                <a:solidFill>
                  <a:srgbClr val="333333"/>
                </a:solidFill>
              </a:rPr>
              <a:t>Mechanism-level wins are what carry the argument; sample-size caveats are what the next horizon of work has to close.</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1  ·  HITL Reduction (4 Horizons)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of three tracks:  Track 1 HITL  ·  Track 2 Bilingual  ·  Track 3 Multi-Platform  (Tracks 2 &amp; 3 on next slide)</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160020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06424"/>
            <a:ext cx="1600200" cy="365760"/>
          </a:xfrm>
          <a:prstGeom prst="rect">
            <a:avLst/>
          </a:prstGeom>
          <a:noFill/>
        </p:spPr>
        <p:txBody>
          <a:bodyPr wrap="square" anchor="t">
            <a:spAutoFit/>
          </a:bodyPr>
          <a:lstStyle/>
          <a:p>
            <a:pPr algn="ctr"/>
            <a:r>
              <a:rPr sz="1100" b="1" i="0">
                <a:solidFill>
                  <a:srgbClr val="FFFFFF"/>
                </a:solidFill>
              </a:rPr>
              <a:t>Now → 1 month</a:t>
            </a:r>
          </a:p>
        </p:txBody>
      </p:sp>
      <p:sp>
        <p:nvSpPr>
          <p:cNvPr id="9" name="TextBox 8"/>
          <p:cNvSpPr txBox="1"/>
          <p:nvPr/>
        </p:nvSpPr>
        <p:spPr>
          <a:xfrm>
            <a:off x="457200" y="1463040"/>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0" name="TextBox 9"/>
          <p:cNvSpPr txBox="1"/>
          <p:nvPr/>
        </p:nvSpPr>
        <p:spPr>
          <a:xfrm>
            <a:off x="2194560" y="1051560"/>
            <a:ext cx="9326880" cy="365760"/>
          </a:xfrm>
          <a:prstGeom prst="rect">
            <a:avLst/>
          </a:prstGeom>
          <a:noFill/>
        </p:spPr>
        <p:txBody>
          <a:bodyPr wrap="square" anchor="t">
            <a:spAutoFit/>
          </a:bodyPr>
          <a:lstStyle/>
          <a:p>
            <a:pPr algn="l"/>
            <a:r>
              <a:rPr sz="1400" b="1" i="0">
                <a:solidFill>
                  <a:srgbClr val="041E42"/>
                </a:solidFill>
              </a:rPr>
              <a:t>Grow the gold set</a:t>
            </a:r>
          </a:p>
        </p:txBody>
      </p:sp>
      <p:sp>
        <p:nvSpPr>
          <p:cNvPr id="11" name="TextBox 10"/>
          <p:cNvSpPr txBox="1"/>
          <p:nvPr/>
        </p:nvSpPr>
        <p:spPr>
          <a:xfrm>
            <a:off x="2194560" y="1417320"/>
            <a:ext cx="9326880" cy="594360"/>
          </a:xfrm>
          <a:prstGeom prst="rect">
            <a:avLst/>
          </a:prstGeom>
          <a:noFill/>
        </p:spPr>
        <p:txBody>
          <a:bodyPr wrap="square" anchor="t">
            <a:spAutoFit/>
          </a:bodyPr>
          <a:lstStyle/>
          <a:p>
            <a:pPr algn="l"/>
            <a:r>
              <a:rPr sz="1050" b="0" i="0">
                <a:solidFill>
                  <a:srgbClr val="333333"/>
                </a:solidFill>
              </a:rPr>
              <a:t>Grow the labelled gold set to ~500 posts using the HITL feedback the team is already producing; rerun 5-fold OOF to check the F1 delta.</a:t>
            </a:r>
          </a:p>
        </p:txBody>
      </p:sp>
      <p:sp>
        <p:nvSpPr>
          <p:cNvPr id="12" name="Rectangle 11"/>
          <p:cNvSpPr/>
          <p:nvPr/>
        </p:nvSpPr>
        <p:spPr>
          <a:xfrm>
            <a:off x="457200" y="2093976"/>
            <a:ext cx="112471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93976"/>
            <a:ext cx="1600200" cy="105156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240280"/>
            <a:ext cx="1600200" cy="365760"/>
          </a:xfrm>
          <a:prstGeom prst="rect">
            <a:avLst/>
          </a:prstGeom>
          <a:noFill/>
        </p:spPr>
        <p:txBody>
          <a:bodyPr wrap="square" anchor="t">
            <a:spAutoFit/>
          </a:bodyPr>
          <a:lstStyle/>
          <a:p>
            <a:pPr algn="ctr"/>
            <a:r>
              <a:rPr sz="1100" b="1" i="0">
                <a:solidFill>
                  <a:srgbClr val="FFFFFF"/>
                </a:solidFill>
              </a:rPr>
              <a:t>1 → 3 months</a:t>
            </a:r>
          </a:p>
        </p:txBody>
      </p:sp>
      <p:sp>
        <p:nvSpPr>
          <p:cNvPr id="15" name="TextBox 14"/>
          <p:cNvSpPr txBox="1"/>
          <p:nvPr/>
        </p:nvSpPr>
        <p:spPr>
          <a:xfrm>
            <a:off x="457200" y="2596896"/>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6" name="TextBox 15"/>
          <p:cNvSpPr txBox="1"/>
          <p:nvPr/>
        </p:nvSpPr>
        <p:spPr>
          <a:xfrm>
            <a:off x="2194560" y="2185416"/>
            <a:ext cx="9326880" cy="365760"/>
          </a:xfrm>
          <a:prstGeom prst="rect">
            <a:avLst/>
          </a:prstGeom>
          <a:noFill/>
        </p:spPr>
        <p:txBody>
          <a:bodyPr wrap="square" anchor="t">
            <a:spAutoFit/>
          </a:bodyPr>
          <a:lstStyle/>
          <a:p>
            <a:pPr algn="l"/>
            <a:r>
              <a:rPr sz="1400" b="1" i="0">
                <a:solidFill>
                  <a:srgbClr val="041E42"/>
                </a:solidFill>
              </a:rPr>
              <a:t>Automate the retrain loop</a:t>
            </a:r>
          </a:p>
        </p:txBody>
      </p:sp>
      <p:sp>
        <p:nvSpPr>
          <p:cNvPr id="17" name="TextBox 16"/>
          <p:cNvSpPr txBox="1"/>
          <p:nvPr/>
        </p:nvSpPr>
        <p:spPr>
          <a:xfrm>
            <a:off x="2194560" y="2551176"/>
            <a:ext cx="9326880" cy="594360"/>
          </a:xfrm>
          <a:prstGeom prst="rect">
            <a:avLst/>
          </a:prstGeom>
          <a:noFill/>
        </p:spPr>
        <p:txBody>
          <a:bodyPr wrap="square" anchor="t">
            <a:spAutoFit/>
          </a:bodyPr>
          <a:lstStyle/>
          <a:p>
            <a:pPr algn="l"/>
            <a:r>
              <a:rPr sz="1050" b="0" i="0">
                <a:solidFill>
                  <a:srgbClr val="333333"/>
                </a:solidFill>
              </a:rPr>
              <a:t>Wire the monthly ModernBERT retrain into a Cron / Airflow job with an OOF-F1 promotion gate — new checkpoints ship only when they beat the current one on held-out folds.</a:t>
            </a:r>
          </a:p>
        </p:txBody>
      </p:sp>
      <p:sp>
        <p:nvSpPr>
          <p:cNvPr id="18" name="Rectangle 17"/>
          <p:cNvSpPr/>
          <p:nvPr/>
        </p:nvSpPr>
        <p:spPr>
          <a:xfrm>
            <a:off x="457200" y="3227832"/>
            <a:ext cx="112471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227832"/>
            <a:ext cx="1600200"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374136"/>
            <a:ext cx="1600200" cy="365760"/>
          </a:xfrm>
          <a:prstGeom prst="rect">
            <a:avLst/>
          </a:prstGeom>
          <a:noFill/>
        </p:spPr>
        <p:txBody>
          <a:bodyPr wrap="square" anchor="t">
            <a:spAutoFit/>
          </a:bodyPr>
          <a:lstStyle/>
          <a:p>
            <a:pPr algn="ctr"/>
            <a:r>
              <a:rPr sz="1100" b="1" i="0">
                <a:solidFill>
                  <a:srgbClr val="FFFFFF"/>
                </a:solidFill>
              </a:rPr>
              <a:t>3 → 6 months</a:t>
            </a:r>
          </a:p>
        </p:txBody>
      </p:sp>
      <p:sp>
        <p:nvSpPr>
          <p:cNvPr id="21" name="TextBox 20"/>
          <p:cNvSpPr txBox="1"/>
          <p:nvPr/>
        </p:nvSpPr>
        <p:spPr>
          <a:xfrm>
            <a:off x="457200" y="3730752"/>
            <a:ext cx="1600200" cy="457200"/>
          </a:xfrm>
          <a:prstGeom prst="rect">
            <a:avLst/>
          </a:prstGeom>
          <a:noFill/>
        </p:spPr>
        <p:txBody>
          <a:bodyPr wrap="square" anchor="t">
            <a:spAutoFit/>
          </a:bodyPr>
          <a:lstStyle/>
          <a:p>
            <a:pPr algn="ctr"/>
            <a:r>
              <a:rPr sz="1000" b="0" i="0">
                <a:solidFill>
                  <a:srgbClr val="FFFFFF"/>
                </a:solidFill>
              </a:rPr>
              <a:t>HITL: ~80 %</a:t>
            </a:r>
          </a:p>
        </p:txBody>
      </p:sp>
      <p:sp>
        <p:nvSpPr>
          <p:cNvPr id="22" name="TextBox 21"/>
          <p:cNvSpPr txBox="1"/>
          <p:nvPr/>
        </p:nvSpPr>
        <p:spPr>
          <a:xfrm>
            <a:off x="2194560" y="3319272"/>
            <a:ext cx="9326880" cy="365760"/>
          </a:xfrm>
          <a:prstGeom prst="rect">
            <a:avLst/>
          </a:prstGeom>
          <a:noFill/>
        </p:spPr>
        <p:txBody>
          <a:bodyPr wrap="square" anchor="t">
            <a:spAutoFit/>
          </a:bodyPr>
          <a:lstStyle/>
          <a:p>
            <a:pPr algn="l"/>
            <a:r>
              <a:rPr sz="1400" b="1" i="0">
                <a:solidFill>
                  <a:srgbClr val="041E42"/>
                </a:solidFill>
              </a:rPr>
              <a:t>Walmart-trained model + shared DB</a:t>
            </a:r>
          </a:p>
        </p:txBody>
      </p:sp>
      <p:sp>
        <p:nvSpPr>
          <p:cNvPr id="23" name="TextBox 22"/>
          <p:cNvSpPr txBox="1"/>
          <p:nvPr/>
        </p:nvSpPr>
        <p:spPr>
          <a:xfrm>
            <a:off x="2194560" y="3685032"/>
            <a:ext cx="9326880" cy="594360"/>
          </a:xfrm>
          <a:prstGeom prst="rect">
            <a:avLst/>
          </a:prstGeom>
          <a:noFill/>
        </p:spPr>
        <p:txBody>
          <a:bodyPr wrap="square" anchor="t">
            <a:spAutoFit/>
          </a:bodyPr>
          <a:lstStyle/>
          <a:p>
            <a:pPr algn="l"/>
            <a:r>
              <a:rPr sz="1050" b="0" i="0">
                <a:solidFill>
                  <a:srgbClr val="333333"/>
                </a:solidFill>
              </a:rPr>
              <a:t>Fine-tune Mistral 7B on our own posted-reply corpus  →  a Walmart-trained replier that drops the paid GPT-4o dependency, runs fully in-house, and can be self-hosted.  Move the feedback table to a shared managed database so multiple analysts can work concurrently.</a:t>
            </a:r>
          </a:p>
        </p:txBody>
      </p:sp>
      <p:sp>
        <p:nvSpPr>
          <p:cNvPr id="24" name="Rectangle 23"/>
          <p:cNvSpPr/>
          <p:nvPr/>
        </p:nvSpPr>
        <p:spPr>
          <a:xfrm>
            <a:off x="457200" y="4361688"/>
            <a:ext cx="112471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61688"/>
            <a:ext cx="1600200" cy="10515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507992"/>
            <a:ext cx="1600200" cy="365760"/>
          </a:xfrm>
          <a:prstGeom prst="rect">
            <a:avLst/>
          </a:prstGeom>
          <a:noFill/>
        </p:spPr>
        <p:txBody>
          <a:bodyPr wrap="square" anchor="t">
            <a:spAutoFit/>
          </a:bodyPr>
          <a:lstStyle/>
          <a:p>
            <a:pPr algn="ctr"/>
            <a:r>
              <a:rPr sz="1100" b="1" i="0">
                <a:solidFill>
                  <a:srgbClr val="FFFFFF"/>
                </a:solidFill>
              </a:rPr>
              <a:t>6 → 12 months</a:t>
            </a:r>
          </a:p>
        </p:txBody>
      </p:sp>
      <p:sp>
        <p:nvSpPr>
          <p:cNvPr id="27" name="TextBox 26"/>
          <p:cNvSpPr txBox="1"/>
          <p:nvPr/>
        </p:nvSpPr>
        <p:spPr>
          <a:xfrm>
            <a:off x="457200" y="4864608"/>
            <a:ext cx="1600200" cy="457200"/>
          </a:xfrm>
          <a:prstGeom prst="rect">
            <a:avLst/>
          </a:prstGeom>
          <a:noFill/>
        </p:spPr>
        <p:txBody>
          <a:bodyPr wrap="square" anchor="t">
            <a:spAutoFit/>
          </a:bodyPr>
          <a:lstStyle/>
          <a:p>
            <a:pPr algn="ctr"/>
            <a:r>
              <a:rPr sz="1000" b="0" i="0">
                <a:solidFill>
                  <a:srgbClr val="FFFFFF"/>
                </a:solidFill>
              </a:rPr>
              <a:t>HITL: ~30 %  →  eventually 0 %</a:t>
            </a:r>
          </a:p>
        </p:txBody>
      </p:sp>
      <p:sp>
        <p:nvSpPr>
          <p:cNvPr id="28" name="TextBox 27"/>
          <p:cNvSpPr txBox="1"/>
          <p:nvPr/>
        </p:nvSpPr>
        <p:spPr>
          <a:xfrm>
            <a:off x="2194560" y="4453128"/>
            <a:ext cx="9326880" cy="365760"/>
          </a:xfrm>
          <a:prstGeom prst="rect">
            <a:avLst/>
          </a:prstGeom>
          <a:noFill/>
        </p:spPr>
        <p:txBody>
          <a:bodyPr wrap="square" anchor="t">
            <a:spAutoFit/>
          </a:bodyPr>
          <a:lstStyle/>
          <a:p>
            <a:pPr algn="l"/>
            <a:r>
              <a:rPr sz="1400" b="1" i="0">
                <a:solidFill>
                  <a:srgbClr val="041E42"/>
                </a:solidFill>
              </a:rPr>
              <a:t>Confidence-gated auto-reply</a:t>
            </a:r>
          </a:p>
        </p:txBody>
      </p:sp>
      <p:sp>
        <p:nvSpPr>
          <p:cNvPr id="29" name="TextBox 28"/>
          <p:cNvSpPr txBox="1"/>
          <p:nvPr/>
        </p:nvSpPr>
        <p:spPr>
          <a:xfrm>
            <a:off x="2194560" y="4818888"/>
            <a:ext cx="9326880" cy="594360"/>
          </a:xfrm>
          <a:prstGeom prst="rect">
            <a:avLst/>
          </a:prstGeom>
          <a:noFill/>
        </p:spPr>
        <p:txBody>
          <a:bodyPr wrap="square" anchor="t">
            <a:spAutoFit/>
          </a:bodyPr>
          <a:lstStyle/>
          <a:p>
            <a:pPr algn="l"/>
            <a:r>
              <a:rPr sz="1050" b="0" i="0">
                <a:solidFill>
                  <a:srgbClr val="333333"/>
                </a:solidFill>
              </a:rPr>
              <a:t>Introduce a confidence gate on the reply generator: top-confidence drafts are queued for auto-send and the analyst only reviews the mid- and low-confidence tail.  As agreement stays high, gradually raise the auto-send threshold — HITL winds down to sampling / audit only.</a:t>
            </a:r>
          </a:p>
        </p:txBody>
      </p:sp>
      <p:sp>
        <p:nvSpPr>
          <p:cNvPr id="30" name="Rectangle 29"/>
          <p:cNvSpPr/>
          <p:nvPr/>
        </p:nvSpPr>
        <p:spPr>
          <a:xfrm>
            <a:off x="457200" y="5440680"/>
            <a:ext cx="11247120" cy="8686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32120"/>
            <a:ext cx="10972800" cy="320040"/>
          </a:xfrm>
          <a:prstGeom prst="rect">
            <a:avLst/>
          </a:prstGeom>
          <a:noFill/>
        </p:spPr>
        <p:txBody>
          <a:bodyPr wrap="square" anchor="t">
            <a:spAutoFit/>
          </a:bodyPr>
          <a:lstStyle/>
          <a:p>
            <a:pPr algn="l"/>
            <a:r>
              <a:rPr sz="1100" b="1" i="0">
                <a:solidFill>
                  <a:srgbClr val="0071DC"/>
                </a:solidFill>
              </a:rPr>
              <a:t>GUIDING PRINCIPLE</a:t>
            </a:r>
          </a:p>
        </p:txBody>
      </p:sp>
      <p:sp>
        <p:nvSpPr>
          <p:cNvPr id="32" name="TextBox 31"/>
          <p:cNvSpPr txBox="1"/>
          <p:nvPr/>
        </p:nvSpPr>
        <p:spPr>
          <a:xfrm>
            <a:off x="640080" y="5852160"/>
            <a:ext cx="10972800" cy="457200"/>
          </a:xfrm>
          <a:prstGeom prst="rect">
            <a:avLst/>
          </a:prstGeom>
          <a:noFill/>
        </p:spPr>
        <p:txBody>
          <a:bodyPr wrap="square" anchor="t">
            <a:spAutoFit/>
          </a:bodyPr>
          <a:lstStyle/>
          <a:p>
            <a:pPr algn="l"/>
            <a:r>
              <a:rPr sz="1100" b="0" i="0">
                <a:solidFill>
                  <a:srgbClr val="333333"/>
                </a:solidFill>
              </a:rPr>
              <a:t>HITL is the ladder, not the ceiling — every stage produces the training signal that lets the next stage automate more.  Each horizon is admissible only when the previous one is measurably successful.</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2  ·  Bilingual   +   Track 3  ·  Multi-Platform</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The other two tracks that widen the pipeline's coverage while Track 1 winds HITL down</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029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05840"/>
            <a:ext cx="5257800" cy="411480"/>
          </a:xfrm>
          <a:prstGeom prst="rect">
            <a:avLst/>
          </a:prstGeom>
          <a:noFill/>
        </p:spPr>
        <p:txBody>
          <a:bodyPr wrap="square" anchor="t">
            <a:spAutoFit/>
          </a:bodyPr>
          <a:lstStyle/>
          <a:p>
            <a:pPr algn="l"/>
            <a:r>
              <a:rPr sz="1400" b="1" i="0">
                <a:solidFill>
                  <a:srgbClr val="FFFFFF"/>
                </a:solidFill>
              </a:rPr>
              <a:t>TRACK 2  ·  BILINGUAL  →  MULTILINGUAL</a:t>
            </a:r>
          </a:p>
        </p:txBody>
      </p:sp>
      <p:sp>
        <p:nvSpPr>
          <p:cNvPr id="8" name="Rectangle 7"/>
          <p:cNvSpPr/>
          <p:nvPr/>
        </p:nvSpPr>
        <p:spPr>
          <a:xfrm>
            <a:off x="457200" y="1463040"/>
            <a:ext cx="5532120" cy="50749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54480"/>
            <a:ext cx="5166360" cy="365760"/>
          </a:xfrm>
          <a:prstGeom prst="rect">
            <a:avLst/>
          </a:prstGeom>
          <a:noFill/>
        </p:spPr>
        <p:txBody>
          <a:bodyPr wrap="square" anchor="t">
            <a:spAutoFit/>
          </a:bodyPr>
          <a:lstStyle/>
          <a:p>
            <a:pPr algn="l"/>
            <a:r>
              <a:rPr sz="1050" b="0" i="0">
                <a:solidFill>
                  <a:srgbClr val="333333"/>
                </a:solidFill>
              </a:rPr>
              <a:t>Why:  Indian retail subreddits are ~30 % of Walmart-family mentions but the current  langdetect  →  English-only  filter silently drops them.</a:t>
            </a:r>
          </a:p>
        </p:txBody>
      </p:sp>
      <p:sp>
        <p:nvSpPr>
          <p:cNvPr id="10" name="TextBox 9"/>
          <p:cNvSpPr txBox="1"/>
          <p:nvPr/>
        </p:nvSpPr>
        <p:spPr>
          <a:xfrm>
            <a:off x="640080" y="1965960"/>
            <a:ext cx="5166360" cy="274320"/>
          </a:xfrm>
          <a:prstGeom prst="rect">
            <a:avLst/>
          </a:prstGeom>
          <a:noFill/>
        </p:spPr>
        <p:txBody>
          <a:bodyPr wrap="square" anchor="t">
            <a:spAutoFit/>
          </a:bodyPr>
          <a:lstStyle/>
          <a:p>
            <a:pPr algn="l"/>
            <a:r>
              <a:rPr sz="1150" b="1" i="0">
                <a:solidFill>
                  <a:srgbClr val="0071DC"/>
                </a:solidFill>
              </a:rPr>
              <a:t>Concrete deliverables</a:t>
            </a:r>
          </a:p>
        </p:txBody>
      </p:sp>
      <p:sp>
        <p:nvSpPr>
          <p:cNvPr id="11" name="TextBox 10"/>
          <p:cNvSpPr txBox="1"/>
          <p:nvPr/>
        </p:nvSpPr>
        <p:spPr>
          <a:xfrm>
            <a:off x="685800" y="2286000"/>
            <a:ext cx="228600" cy="274320"/>
          </a:xfrm>
          <a:prstGeom prst="rect">
            <a:avLst/>
          </a:prstGeom>
          <a:noFill/>
        </p:spPr>
        <p:txBody>
          <a:bodyPr wrap="square" anchor="t">
            <a:spAutoFit/>
          </a:bodyPr>
          <a:lstStyle/>
          <a:p>
            <a:pPr algn="l"/>
            <a:r>
              <a:rPr sz="1100" b="1" i="0">
                <a:solidFill>
                  <a:srgbClr val="0071DC"/>
                </a:solidFill>
              </a:rPr>
              <a:t>•</a:t>
            </a:r>
          </a:p>
        </p:txBody>
      </p:sp>
      <p:sp>
        <p:nvSpPr>
          <p:cNvPr id="12" name="TextBox 11"/>
          <p:cNvSpPr txBox="1"/>
          <p:nvPr/>
        </p:nvSpPr>
        <p:spPr>
          <a:xfrm>
            <a:off x="868680" y="2286000"/>
            <a:ext cx="4983480" cy="777240"/>
          </a:xfrm>
          <a:prstGeom prst="rect">
            <a:avLst/>
          </a:prstGeom>
          <a:noFill/>
        </p:spPr>
        <p:txBody>
          <a:bodyPr wrap="square" anchor="t">
            <a:spAutoFit/>
          </a:bodyPr>
          <a:lstStyle/>
          <a:p>
            <a:pPr algn="l"/>
            <a:r>
              <a:rPr sz="1000" b="0" i="0">
                <a:solidFill>
                  <a:srgbClr val="333333"/>
                </a:solidFill>
              </a:rPr>
              <a:t>Extend  langdetect  to  hi + en  (later  ta / te / bn);  code-mixed 'Hinglish' handled with a mixed-script tokenizer.</a:t>
            </a:r>
          </a:p>
        </p:txBody>
      </p:sp>
      <p:sp>
        <p:nvSpPr>
          <p:cNvPr id="13" name="TextBox 12"/>
          <p:cNvSpPr txBox="1"/>
          <p:nvPr/>
        </p:nvSpPr>
        <p:spPr>
          <a:xfrm>
            <a:off x="685800" y="3108960"/>
            <a:ext cx="228600" cy="274320"/>
          </a:xfrm>
          <a:prstGeom prst="rect">
            <a:avLst/>
          </a:prstGeom>
          <a:noFill/>
        </p:spPr>
        <p:txBody>
          <a:bodyPr wrap="square" anchor="t">
            <a:spAutoFit/>
          </a:bodyPr>
          <a:lstStyle/>
          <a:p>
            <a:pPr algn="l"/>
            <a:r>
              <a:rPr sz="1100" b="1" i="0">
                <a:solidFill>
                  <a:srgbClr val="0071DC"/>
                </a:solidFill>
              </a:rPr>
              <a:t>•</a:t>
            </a:r>
          </a:p>
        </p:txBody>
      </p:sp>
      <p:sp>
        <p:nvSpPr>
          <p:cNvPr id="14" name="TextBox 13"/>
          <p:cNvSpPr txBox="1"/>
          <p:nvPr/>
        </p:nvSpPr>
        <p:spPr>
          <a:xfrm>
            <a:off x="868680" y="3108960"/>
            <a:ext cx="4983480" cy="777240"/>
          </a:xfrm>
          <a:prstGeom prst="rect">
            <a:avLst/>
          </a:prstGeom>
          <a:noFill/>
        </p:spPr>
        <p:txBody>
          <a:bodyPr wrap="square" anchor="t">
            <a:spAutoFit/>
          </a:bodyPr>
          <a:lstStyle/>
          <a:p>
            <a:pPr algn="l"/>
            <a:r>
              <a:rPr sz="1000" b="0" i="0">
                <a:solidFill>
                  <a:srgbClr val="333333"/>
                </a:solidFill>
              </a:rPr>
              <a:t>Ingestion-time translation via NLLB-200 (open-weights, 3.3 B) so downstream models stay English-only —  or —  fine-tune ModernBERT on native scripts.</a:t>
            </a:r>
          </a:p>
        </p:txBody>
      </p:sp>
      <p:sp>
        <p:nvSpPr>
          <p:cNvPr id="15" name="TextBox 14"/>
          <p:cNvSpPr txBox="1"/>
          <p:nvPr/>
        </p:nvSpPr>
        <p:spPr>
          <a:xfrm>
            <a:off x="685800" y="3931920"/>
            <a:ext cx="228600" cy="274320"/>
          </a:xfrm>
          <a:prstGeom prst="rect">
            <a:avLst/>
          </a:prstGeom>
          <a:noFill/>
        </p:spPr>
        <p:txBody>
          <a:bodyPr wrap="square" anchor="t">
            <a:spAutoFit/>
          </a:bodyPr>
          <a:lstStyle/>
          <a:p>
            <a:pPr algn="l"/>
            <a:r>
              <a:rPr sz="1100" b="1" i="0">
                <a:solidFill>
                  <a:srgbClr val="0071DC"/>
                </a:solidFill>
              </a:rPr>
              <a:t>•</a:t>
            </a:r>
          </a:p>
        </p:txBody>
      </p:sp>
      <p:sp>
        <p:nvSpPr>
          <p:cNvPr id="16" name="TextBox 15"/>
          <p:cNvSpPr txBox="1"/>
          <p:nvPr/>
        </p:nvSpPr>
        <p:spPr>
          <a:xfrm>
            <a:off x="868680" y="3931920"/>
            <a:ext cx="4983480" cy="777240"/>
          </a:xfrm>
          <a:prstGeom prst="rect">
            <a:avLst/>
          </a:prstGeom>
          <a:noFill/>
        </p:spPr>
        <p:txBody>
          <a:bodyPr wrap="square" anchor="t">
            <a:spAutoFit/>
          </a:bodyPr>
          <a:lstStyle/>
          <a:p>
            <a:pPr algn="l"/>
            <a:r>
              <a:rPr sz="1000" b="0" i="0">
                <a:solidFill>
                  <a:srgbClr val="333333"/>
                </a:solidFill>
              </a:rPr>
              <a:t>Extend aspect taxonomy for Indic retail idioms (“bill karo” for billing, “delivery kab” for late shipping).</a:t>
            </a:r>
          </a:p>
        </p:txBody>
      </p:sp>
      <p:sp>
        <p:nvSpPr>
          <p:cNvPr id="17" name="TextBox 16"/>
          <p:cNvSpPr txBox="1"/>
          <p:nvPr/>
        </p:nvSpPr>
        <p:spPr>
          <a:xfrm>
            <a:off x="685800" y="4754880"/>
            <a:ext cx="228600" cy="274320"/>
          </a:xfrm>
          <a:prstGeom prst="rect">
            <a:avLst/>
          </a:prstGeom>
          <a:noFill/>
        </p:spPr>
        <p:txBody>
          <a:bodyPr wrap="square" anchor="t">
            <a:spAutoFit/>
          </a:bodyPr>
          <a:lstStyle/>
          <a:p>
            <a:pPr algn="l"/>
            <a:r>
              <a:rPr sz="1100" b="1" i="0">
                <a:solidFill>
                  <a:srgbClr val="0071DC"/>
                </a:solidFill>
              </a:rPr>
              <a:t>•</a:t>
            </a:r>
          </a:p>
        </p:txBody>
      </p:sp>
      <p:sp>
        <p:nvSpPr>
          <p:cNvPr id="18" name="TextBox 17"/>
          <p:cNvSpPr txBox="1"/>
          <p:nvPr/>
        </p:nvSpPr>
        <p:spPr>
          <a:xfrm>
            <a:off x="868680" y="4754880"/>
            <a:ext cx="4983480" cy="777240"/>
          </a:xfrm>
          <a:prstGeom prst="rect">
            <a:avLst/>
          </a:prstGeom>
          <a:noFill/>
        </p:spPr>
        <p:txBody>
          <a:bodyPr wrap="square" anchor="t">
            <a:spAutoFit/>
          </a:bodyPr>
          <a:lstStyle/>
          <a:p>
            <a:pPr algn="l"/>
            <a:r>
              <a:rPr sz="1000" b="0" i="0">
                <a:solidFill>
                  <a:srgbClr val="333333"/>
                </a:solidFill>
              </a:rPr>
              <a:t>Native-speaker analyst validation loop —  same HITL flow, new language pool.</a:t>
            </a:r>
          </a:p>
        </p:txBody>
      </p:sp>
      <p:sp>
        <p:nvSpPr>
          <p:cNvPr id="19" name="Rectangle 18"/>
          <p:cNvSpPr/>
          <p:nvPr/>
        </p:nvSpPr>
        <p:spPr>
          <a:xfrm>
            <a:off x="457200" y="5989320"/>
            <a:ext cx="5532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035040"/>
            <a:ext cx="5166360" cy="457200"/>
          </a:xfrm>
          <a:prstGeom prst="rect">
            <a:avLst/>
          </a:prstGeom>
          <a:noFill/>
        </p:spPr>
        <p:txBody>
          <a:bodyPr wrap="square" anchor="t">
            <a:spAutoFit/>
          </a:bodyPr>
          <a:lstStyle/>
          <a:p>
            <a:pPr algn="l"/>
            <a:r>
              <a:rPr sz="950" b="0" i="1">
                <a:solidFill>
                  <a:srgbClr val="333333"/>
                </a:solidFill>
              </a:rPr>
              <a:t>Ships as part of Track 1 horizon 1 → 3 mo  (bilingual retrain gate) and horizon 3 → 6 mo  (Walmart-trained multilingual replier).</a:t>
            </a:r>
          </a:p>
        </p:txBody>
      </p:sp>
      <p:sp>
        <p:nvSpPr>
          <p:cNvPr id="21" name="Rectangle 20"/>
          <p:cNvSpPr/>
          <p:nvPr/>
        </p:nvSpPr>
        <p:spPr>
          <a:xfrm>
            <a:off x="6217920" y="960120"/>
            <a:ext cx="5532120"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1005840"/>
            <a:ext cx="5257800" cy="411480"/>
          </a:xfrm>
          <a:prstGeom prst="rect">
            <a:avLst/>
          </a:prstGeom>
          <a:noFill/>
        </p:spPr>
        <p:txBody>
          <a:bodyPr wrap="square" anchor="t">
            <a:spAutoFit/>
          </a:bodyPr>
          <a:lstStyle/>
          <a:p>
            <a:pPr algn="l"/>
            <a:r>
              <a:rPr sz="1200" b="1" i="0">
                <a:solidFill>
                  <a:srgbClr val="FFFFFF"/>
                </a:solidFill>
              </a:rPr>
              <a:t>TRACK 3  ·  MULTI-PLATFORM  (Reddit  →  X / Facebook / Instagram / app-stores)</a:t>
            </a:r>
          </a:p>
        </p:txBody>
      </p:sp>
      <p:sp>
        <p:nvSpPr>
          <p:cNvPr id="23" name="Rectangle 22"/>
          <p:cNvSpPr/>
          <p:nvPr/>
        </p:nvSpPr>
        <p:spPr>
          <a:xfrm>
            <a:off x="6217920" y="1463040"/>
            <a:ext cx="5532120" cy="507492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554480"/>
            <a:ext cx="5166360" cy="365760"/>
          </a:xfrm>
          <a:prstGeom prst="rect">
            <a:avLst/>
          </a:prstGeom>
          <a:noFill/>
        </p:spPr>
        <p:txBody>
          <a:bodyPr wrap="square" anchor="t">
            <a:spAutoFit/>
          </a:bodyPr>
          <a:lstStyle/>
          <a:p>
            <a:pPr algn="l"/>
            <a:r>
              <a:rPr sz="1050" b="0" i="0">
                <a:solidFill>
                  <a:srgbClr val="333333"/>
                </a:solidFill>
              </a:rPr>
              <a:t>Why:  Reddit is deliberate + long-form;  X is real-time viral;  Instagram is image-heavy (vision pipeline shines);  app-store reviews carry a star-rating ground-truth signal.</a:t>
            </a:r>
          </a:p>
        </p:txBody>
      </p:sp>
      <p:sp>
        <p:nvSpPr>
          <p:cNvPr id="25" name="TextBox 24"/>
          <p:cNvSpPr txBox="1"/>
          <p:nvPr/>
        </p:nvSpPr>
        <p:spPr>
          <a:xfrm>
            <a:off x="6400800" y="1965960"/>
            <a:ext cx="5166360" cy="274320"/>
          </a:xfrm>
          <a:prstGeom prst="rect">
            <a:avLst/>
          </a:prstGeom>
          <a:noFill/>
        </p:spPr>
        <p:txBody>
          <a:bodyPr wrap="square" anchor="t">
            <a:spAutoFit/>
          </a:bodyPr>
          <a:lstStyle/>
          <a:p>
            <a:pPr algn="l"/>
            <a:r>
              <a:rPr sz="1150" b="1" i="0">
                <a:solidFill>
                  <a:srgbClr val="7C3AED"/>
                </a:solidFill>
              </a:rPr>
              <a:t>Concrete deliverables</a:t>
            </a:r>
          </a:p>
        </p:txBody>
      </p:sp>
      <p:sp>
        <p:nvSpPr>
          <p:cNvPr id="26" name="TextBox 25"/>
          <p:cNvSpPr txBox="1"/>
          <p:nvPr/>
        </p:nvSpPr>
        <p:spPr>
          <a:xfrm>
            <a:off x="6446520" y="2286000"/>
            <a:ext cx="228600" cy="274320"/>
          </a:xfrm>
          <a:prstGeom prst="rect">
            <a:avLst/>
          </a:prstGeom>
          <a:noFill/>
        </p:spPr>
        <p:txBody>
          <a:bodyPr wrap="square" anchor="t">
            <a:spAutoFit/>
          </a:bodyPr>
          <a:lstStyle/>
          <a:p>
            <a:pPr algn="l"/>
            <a:r>
              <a:rPr sz="1100" b="1" i="0">
                <a:solidFill>
                  <a:srgbClr val="7C3AED"/>
                </a:solidFill>
              </a:rPr>
              <a:t>•</a:t>
            </a:r>
          </a:p>
        </p:txBody>
      </p:sp>
      <p:sp>
        <p:nvSpPr>
          <p:cNvPr id="27" name="TextBox 26"/>
          <p:cNvSpPr txBox="1"/>
          <p:nvPr/>
        </p:nvSpPr>
        <p:spPr>
          <a:xfrm>
            <a:off x="6629400" y="2286000"/>
            <a:ext cx="4983480" cy="777240"/>
          </a:xfrm>
          <a:prstGeom prst="rect">
            <a:avLst/>
          </a:prstGeom>
          <a:noFill/>
        </p:spPr>
        <p:txBody>
          <a:bodyPr wrap="square" anchor="t">
            <a:spAutoFit/>
          </a:bodyPr>
          <a:lstStyle/>
          <a:p>
            <a:pPr algn="l"/>
            <a:r>
              <a:rPr sz="1000" b="0" i="0">
                <a:solidFill>
                  <a:srgbClr val="333333"/>
                </a:solidFill>
              </a:rPr>
              <a:t>Ingestion adapters:  X API v2,  Meta Graph API (Facebook + Instagram),  Google Play / App Store review scrapers  —  each behind a common  RawPost  interface.</a:t>
            </a:r>
          </a:p>
        </p:txBody>
      </p:sp>
      <p:sp>
        <p:nvSpPr>
          <p:cNvPr id="28" name="TextBox 27"/>
          <p:cNvSpPr txBox="1"/>
          <p:nvPr/>
        </p:nvSpPr>
        <p:spPr>
          <a:xfrm>
            <a:off x="6446520" y="3108960"/>
            <a:ext cx="228600" cy="274320"/>
          </a:xfrm>
          <a:prstGeom prst="rect">
            <a:avLst/>
          </a:prstGeom>
          <a:noFill/>
        </p:spPr>
        <p:txBody>
          <a:bodyPr wrap="square" anchor="t">
            <a:spAutoFit/>
          </a:bodyPr>
          <a:lstStyle/>
          <a:p>
            <a:pPr algn="l"/>
            <a:r>
              <a:rPr sz="1100" b="1" i="0">
                <a:solidFill>
                  <a:srgbClr val="7C3AED"/>
                </a:solidFill>
              </a:rPr>
              <a:t>•</a:t>
            </a:r>
          </a:p>
        </p:txBody>
      </p:sp>
      <p:sp>
        <p:nvSpPr>
          <p:cNvPr id="29" name="TextBox 28"/>
          <p:cNvSpPr txBox="1"/>
          <p:nvPr/>
        </p:nvSpPr>
        <p:spPr>
          <a:xfrm>
            <a:off x="6629400" y="3108960"/>
            <a:ext cx="4983480" cy="777240"/>
          </a:xfrm>
          <a:prstGeom prst="rect">
            <a:avLst/>
          </a:prstGeom>
          <a:noFill/>
        </p:spPr>
        <p:txBody>
          <a:bodyPr wrap="square" anchor="t">
            <a:spAutoFit/>
          </a:bodyPr>
          <a:lstStyle/>
          <a:p>
            <a:pPr algn="l"/>
            <a:r>
              <a:rPr sz="1000" b="0" i="0">
                <a:solidFill>
                  <a:srgbClr val="333333"/>
                </a:solidFill>
              </a:rPr>
              <a:t>Per-platform pre-processing:  X dedup by retweet lineage;  Instagram routed through the vision pipeline first (caption + image);  app-store reviews carry a native  star_rating  field.</a:t>
            </a:r>
          </a:p>
        </p:txBody>
      </p:sp>
      <p:sp>
        <p:nvSpPr>
          <p:cNvPr id="30" name="TextBox 29"/>
          <p:cNvSpPr txBox="1"/>
          <p:nvPr/>
        </p:nvSpPr>
        <p:spPr>
          <a:xfrm>
            <a:off x="6446520" y="3931920"/>
            <a:ext cx="228600" cy="274320"/>
          </a:xfrm>
          <a:prstGeom prst="rect">
            <a:avLst/>
          </a:prstGeom>
          <a:noFill/>
        </p:spPr>
        <p:txBody>
          <a:bodyPr wrap="square" anchor="t">
            <a:spAutoFit/>
          </a:bodyPr>
          <a:lstStyle/>
          <a:p>
            <a:pPr algn="l"/>
            <a:r>
              <a:rPr sz="1100" b="1" i="0">
                <a:solidFill>
                  <a:srgbClr val="7C3AED"/>
                </a:solidFill>
              </a:rPr>
              <a:t>•</a:t>
            </a:r>
          </a:p>
        </p:txBody>
      </p:sp>
      <p:sp>
        <p:nvSpPr>
          <p:cNvPr id="31" name="TextBox 30"/>
          <p:cNvSpPr txBox="1"/>
          <p:nvPr/>
        </p:nvSpPr>
        <p:spPr>
          <a:xfrm>
            <a:off x="6629400" y="3931920"/>
            <a:ext cx="4983480" cy="777240"/>
          </a:xfrm>
          <a:prstGeom prst="rect">
            <a:avLst/>
          </a:prstGeom>
          <a:noFill/>
        </p:spPr>
        <p:txBody>
          <a:bodyPr wrap="square" anchor="t">
            <a:spAutoFit/>
          </a:bodyPr>
          <a:lstStyle/>
          <a:p>
            <a:pPr algn="l"/>
            <a:r>
              <a:rPr sz="1000" b="0" i="0">
                <a:solidFill>
                  <a:srgbClr val="333333"/>
                </a:solidFill>
              </a:rPr>
              <a:t>Extend priority classifier:  X viral (retweets &gt; 100) → auto P1;  app-store 1-star surge → P1;  Instagram brand-tagged post from &gt; 10 k follower account → P1.</a:t>
            </a:r>
          </a:p>
        </p:txBody>
      </p:sp>
      <p:sp>
        <p:nvSpPr>
          <p:cNvPr id="32" name="TextBox 31"/>
          <p:cNvSpPr txBox="1"/>
          <p:nvPr/>
        </p:nvSpPr>
        <p:spPr>
          <a:xfrm>
            <a:off x="6446520" y="4754880"/>
            <a:ext cx="228600" cy="274320"/>
          </a:xfrm>
          <a:prstGeom prst="rect">
            <a:avLst/>
          </a:prstGeom>
          <a:noFill/>
        </p:spPr>
        <p:txBody>
          <a:bodyPr wrap="square" anchor="t">
            <a:spAutoFit/>
          </a:bodyPr>
          <a:lstStyle/>
          <a:p>
            <a:pPr algn="l"/>
            <a:r>
              <a:rPr sz="1100" b="1" i="0">
                <a:solidFill>
                  <a:srgbClr val="7C3AED"/>
                </a:solidFill>
              </a:rPr>
              <a:t>•</a:t>
            </a:r>
          </a:p>
        </p:txBody>
      </p:sp>
      <p:sp>
        <p:nvSpPr>
          <p:cNvPr id="33" name="TextBox 32"/>
          <p:cNvSpPr txBox="1"/>
          <p:nvPr/>
        </p:nvSpPr>
        <p:spPr>
          <a:xfrm>
            <a:off x="6629400" y="4754880"/>
            <a:ext cx="4983480" cy="777240"/>
          </a:xfrm>
          <a:prstGeom prst="rect">
            <a:avLst/>
          </a:prstGeom>
          <a:noFill/>
        </p:spPr>
        <p:txBody>
          <a:bodyPr wrap="square" anchor="t">
            <a:spAutoFit/>
          </a:bodyPr>
          <a:lstStyle/>
          <a:p>
            <a:pPr algn="l"/>
            <a:r>
              <a:rPr sz="1000" b="0" i="0">
                <a:solidFill>
                  <a:srgbClr val="333333"/>
                </a:solidFill>
              </a:rPr>
              <a:t>Unified  raw_posts.source_platform  column (already stubbed) so Brand Health / Insights aggregate across platforms out of the box.</a:t>
            </a:r>
          </a:p>
        </p:txBody>
      </p:sp>
      <p:sp>
        <p:nvSpPr>
          <p:cNvPr id="34" name="Rectangle 33"/>
          <p:cNvSpPr/>
          <p:nvPr/>
        </p:nvSpPr>
        <p:spPr>
          <a:xfrm>
            <a:off x="6217920" y="5989320"/>
            <a:ext cx="5532120" cy="548640"/>
          </a:xfrm>
          <a:prstGeom prst="rect">
            <a:avLst/>
          </a:prstGeom>
          <a:solidFill>
            <a:srgbClr val="E8F4FD"/>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6035040"/>
            <a:ext cx="5166360" cy="457200"/>
          </a:xfrm>
          <a:prstGeom prst="rect">
            <a:avLst/>
          </a:prstGeom>
          <a:noFill/>
        </p:spPr>
        <p:txBody>
          <a:bodyPr wrap="square" anchor="t">
            <a:spAutoFit/>
          </a:bodyPr>
          <a:lstStyle/>
          <a:p>
            <a:pPr algn="l"/>
            <a:r>
              <a:rPr sz="950" b="0" i="1">
                <a:solidFill>
                  <a:srgbClr val="333333"/>
                </a:solidFill>
              </a:rPr>
              <a:t>Risks:  X API tiers ($100 / mo min);  Meta Graph needs page-level perms;  Instagram image volume needs vision-batching.</a:t>
            </a:r>
          </a:p>
        </p:txBody>
      </p:sp>
      <p:sp>
        <p:nvSpPr>
          <p:cNvPr id="36" name="TextBox 3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7" name="TextBox 3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i="0">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i="0">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38862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38862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38862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38862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38862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38862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38862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38862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Rectangle 8"/>
          <p:cNvSpPr/>
          <p:nvPr/>
        </p:nvSpPr>
        <p:spPr>
          <a:xfrm>
            <a:off x="457200" y="5440680"/>
            <a:ext cx="11247120" cy="960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532120"/>
            <a:ext cx="10972800" cy="320040"/>
          </a:xfrm>
          <a:prstGeom prst="rect">
            <a:avLst/>
          </a:prstGeom>
          <a:noFill/>
        </p:spPr>
        <p:txBody>
          <a:bodyPr wrap="square" anchor="t">
            <a:spAutoFit/>
          </a:bodyPr>
          <a:lstStyle/>
          <a:p>
            <a:pPr algn="l"/>
            <a:r>
              <a:rPr sz="1100" b="1" i="0">
                <a:solidFill>
                  <a:srgbClr val="10B981"/>
                </a:solidFill>
              </a:rPr>
              <a:t>REPRODUCE IN 3 STEPS</a:t>
            </a:r>
          </a:p>
        </p:txBody>
      </p:sp>
      <p:sp>
        <p:nvSpPr>
          <p:cNvPr id="11" name="TextBox 10"/>
          <p:cNvSpPr txBox="1"/>
          <p:nvPr/>
        </p:nvSpPr>
        <p:spPr>
          <a:xfrm>
            <a:off x="640080" y="5852160"/>
            <a:ext cx="10972800" cy="502920"/>
          </a:xfrm>
          <a:prstGeom prst="rect">
            <a:avLst/>
          </a:prstGeom>
          <a:noFill/>
        </p:spPr>
        <p:txBody>
          <a:bodyPr wrap="square" anchor="ctr">
            <a:spAutoFit/>
          </a:bodyPr>
          <a:lstStyle/>
          <a:p>
            <a:pPr algn="l"/>
            <a:r>
              <a:rPr sz="1100" b="0" i="0">
                <a:solidFill>
                  <a:srgbClr val="333333"/>
                </a:solidFill>
              </a:rPr>
              <a:t>git clone &lt;repo&gt;   →   conda create -n rsi python=3.11 &amp;&amp; pip install -r requirements.txt   →   ./start.sh</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i="0">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i="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i="0">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i="0">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i="0">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i="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i="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