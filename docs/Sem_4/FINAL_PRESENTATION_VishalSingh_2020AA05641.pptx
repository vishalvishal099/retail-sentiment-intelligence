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i="0">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i="0">
                <a:solidFill>
                  <a:srgbClr val="FFC220"/>
                </a:solidFill>
              </a:rPr>
              <a:t>Real-Time Social Media Mining and Trust-Aware Sentiment Analysis</a:t>
            </a:r>
          </a:p>
          <a:p>
            <a:pPr algn="l"/>
            <a:r>
              <a:rPr sz="1900" b="0" i="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i="0">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i="0">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i="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i="0">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i="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i="0">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i="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i="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i="0">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i="0">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i="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i="0">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i="0">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i="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i="0">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i="0">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i="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i="0">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i="0">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i="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i="0">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i="0">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i="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i="0">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i="0">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i="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i="0">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i="0">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i="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i="0">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i="0">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i="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i="0">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i="0">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i="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i="0">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i="0">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i="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i="0">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i="0">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i="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i="0">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i="0">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i="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i="0">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i="0">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i="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i="0">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i="0">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i="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i="0">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i="0">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i="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i="0">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i="0">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i="0">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i="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1133856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i="0">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i="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i="0">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i="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i="0">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i="0">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i="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i="0">
                <a:solidFill>
                  <a:srgbClr val="333333"/>
                </a:solidFill>
              </a:rPr>
              <a:t>Strong reasoning, safest tone</a:t>
            </a:r>
          </a:p>
          <a:p>
            <a:pPr algn="ctr"/>
            <a:r>
              <a:rPr sz="1200" b="0" i="0">
                <a:solidFill>
                  <a:srgbClr val="333333"/>
                </a:solidFill>
              </a:rPr>
              <a:t>Guardrails via Walmart proxy</a:t>
            </a:r>
          </a:p>
          <a:p>
            <a:pPr algn="ctr"/>
            <a:r>
              <a:rPr sz="1200" b="0" i="0">
                <a:solidFill>
                  <a:srgbClr val="333333"/>
                </a:solidFill>
              </a:rPr>
              <a:t>~$0.0002 / reply</a:t>
            </a:r>
          </a:p>
          <a:p>
            <a:pPr algn="ctr"/>
            <a:r>
              <a:rPr sz="1200" b="0" i="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i="0">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i="0">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i="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i="0">
                <a:solidFill>
                  <a:srgbClr val="333333"/>
                </a:solidFill>
              </a:rPr>
              <a:t>Open-weights, free</a:t>
            </a:r>
          </a:p>
          <a:p>
            <a:pPr algn="ctr"/>
            <a:r>
              <a:rPr sz="1200" b="0" i="0">
                <a:solidFill>
                  <a:srgbClr val="333333"/>
                </a:solidFill>
              </a:rPr>
              <a:t>Runs fully offline</a:t>
            </a:r>
          </a:p>
          <a:p>
            <a:pPr algn="ctr"/>
            <a:r>
              <a:rPr sz="1200" b="0" i="0">
                <a:solidFill>
                  <a:srgbClr val="333333"/>
                </a:solidFill>
              </a:rPr>
              <a:t>~15 s warm latency</a:t>
            </a:r>
          </a:p>
          <a:p>
            <a:pPr algn="ctr"/>
            <a:r>
              <a:rPr sz="1200" b="0" i="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i="0">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i="0">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i="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i="0">
                <a:solidFill>
                  <a:srgbClr val="333333"/>
                </a:solidFill>
              </a:rPr>
              <a:t>No LLM, always available</a:t>
            </a:r>
          </a:p>
          <a:p>
            <a:pPr algn="ctr"/>
            <a:r>
              <a:rPr sz="1200" b="0" i="0">
                <a:solidFill>
                  <a:srgbClr val="333333"/>
                </a:solidFill>
              </a:rPr>
              <a:t>Zero latency, zero cost</a:t>
            </a:r>
          </a:p>
          <a:p>
            <a:pPr algn="ctr"/>
            <a:r>
              <a:rPr sz="1200" b="0" i="0">
                <a:solidFill>
                  <a:srgbClr val="333333"/>
                </a:solidFill>
              </a:rPr>
              <a:t>Content-aware phrase pools</a:t>
            </a:r>
          </a:p>
          <a:p>
            <a:pPr algn="ctr"/>
            <a:r>
              <a:rPr sz="1200" b="0" i="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i="0">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i="0">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i="0">
                <a:solidFill>
                  <a:srgbClr val="E6EDF7"/>
                </a:solidFill>
              </a:rPr>
              <a:t>You are a senior Walmart customer-care analyst replying on Reddit.</a:t>
            </a:r>
          </a:p>
          <a:p>
            <a:pPr algn="l"/>
            <a:r>
              <a:rPr sz="1100" b="0" i="0">
                <a:solidFill>
                  <a:srgbClr val="E6EDF7"/>
                </a:solidFill>
              </a:rPr>
              <a:t>Write ONE reply to the customer below. Keep it 2-4 sentences,</a:t>
            </a:r>
          </a:p>
          <a:p>
            <a:pPr algn="l"/>
            <a:r>
              <a:rPr sz="1100" b="0" i="0">
                <a:solidFill>
                  <a:srgbClr val="E6EDF7"/>
                </a:solidFill>
              </a:rPr>
              <a:t>empathetic, specific to their complaint, no corporate jargon,</a:t>
            </a:r>
          </a:p>
          <a:p>
            <a:pPr algn="l"/>
            <a:r>
              <a:rPr sz="1100" b="0" i="0">
                <a:solidFill>
                  <a:srgbClr val="E6EDF7"/>
                </a:solidFill>
              </a:rPr>
              <a:t>no hashtags, no emojis. Do NOT promise refunds you can't verify;</a:t>
            </a:r>
          </a:p>
          <a:p>
            <a:pPr algn="l"/>
            <a:r>
              <a:rPr sz="1100" b="0" i="0">
                <a:solidFill>
                  <a:srgbClr val="E6EDF7"/>
                </a:solidFill>
              </a:rPr>
              <a:t>invite them to DM order details if action is needed.</a:t>
            </a:r>
          </a:p>
          <a:p>
            <a:pPr algn="l"/>
            <a:r>
              <a:rPr sz="1100" b="0" i="0">
                <a:solidFill>
                  <a:srgbClr val="E6EDF7"/>
                </a:solidFill>
              </a:rPr>
              <a:t>Sign off as a real person, not a brand.</a:t>
            </a:r>
          </a:p>
          <a:p>
            <a:pPr algn="l"/>
          </a:p>
          <a:p>
            <a:pPr algn="l"/>
            <a:r>
              <a:rPr sz="1100" b="0" i="0">
                <a:solidFill>
                  <a:srgbClr val="E6EDF7"/>
                </a:solidFill>
              </a:rPr>
              <a:t>Example customer post: {past_post_1}</a:t>
            </a:r>
          </a:p>
          <a:p>
            <a:pPr algn="l"/>
            <a:r>
              <a:rPr sz="1100" b="0" i="0">
                <a:solidFill>
                  <a:srgbClr val="E6EDF7"/>
                </a:solidFill>
              </a:rPr>
              <a:t>Example analyst reply: {past_reply_1}</a:t>
            </a:r>
          </a:p>
          <a:p>
            <a:pPr algn="l"/>
            <a:r>
              <a:rPr sz="1100" b="0" i="0">
                <a:solidFill>
                  <a:srgbClr val="E6EDF7"/>
                </a:solidFill>
              </a:rPr>
              <a:t> …  (three example pairs total)</a:t>
            </a:r>
          </a:p>
          <a:p>
            <a:pPr algn="l"/>
          </a:p>
          <a:p>
            <a:pPr algn="l"/>
            <a:r>
              <a:rPr sz="1100" b="0" i="0">
                <a:solidFill>
                  <a:srgbClr val="E6EDF7"/>
                </a:solidFill>
              </a:rPr>
              <a:t>Subreddit: r/{subreddit}</a:t>
            </a:r>
          </a:p>
          <a:p>
            <a:pPr algn="l"/>
            <a:r>
              <a:rPr sz="1100" b="0" i="0">
                <a:solidFill>
                  <a:srgbClr val="E6EDF7"/>
                </a:solidFill>
              </a:rPr>
              <a:t>Customer ({author}) complaint about: {aspect_1}, {aspect_2}</a:t>
            </a:r>
          </a:p>
          <a:p>
            <a:pPr algn="l"/>
            <a:r>
              <a:rPr sz="1100" b="0" i="0">
                <a:solidFill>
                  <a:srgbClr val="E6EDF7"/>
                </a:solidFill>
              </a:rPr>
              <a:t>Customer post: {post_title + post_body, ≤ 1200 chars}</a:t>
            </a:r>
          </a:p>
          <a:p>
            <a:pPr algn="l"/>
          </a:p>
          <a:p>
            <a:pPr algn="l"/>
            <a:r>
              <a:rPr sz="1100" b="0" i="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i="0">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i="0">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i="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i="0">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i="0">
                <a:solidFill>
                  <a:srgbClr val="333333"/>
                </a:solidFill>
              </a:rPr>
              <a:t>3 past validated reply pairs</a:t>
            </a:r>
          </a:p>
          <a:p>
            <a:pPr algn="l"/>
            <a:r>
              <a:rPr sz="900" b="0" i="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i="0">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i="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i="0">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i="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i="0">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i="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i="0">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i="0">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i="0">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i="0">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i="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i="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i="0">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i="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i="0">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i="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i="0">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i="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i="0">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i="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i="0">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i="0">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i="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i="0">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i="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i="0">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i="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i="0">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i="0">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i="0">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i="0">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i="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1133856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i="0">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i="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i="0">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i="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i="0">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i="0">
                <a:solidFill>
                  <a:srgbClr val="333333"/>
                </a:solidFill>
              </a:rPr>
              <a:t>New P1 / P2</a:t>
            </a:r>
          </a:p>
          <a:p>
            <a:pPr algn="ctr"/>
            <a:r>
              <a:rPr sz="1200" b="0" i="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i="0">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i="0">
                <a:solidFill>
                  <a:srgbClr val="333333"/>
                </a:solidFill>
              </a:rPr>
              <a:t>Assigned</a:t>
            </a:r>
          </a:p>
          <a:p>
            <a:pPr algn="ctr"/>
            <a:r>
              <a:rPr sz="1200" b="0" i="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i="0">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i="0">
                <a:solidFill>
                  <a:srgbClr val="333333"/>
                </a:solidFill>
              </a:rPr>
              <a:t>Reply being</a:t>
            </a:r>
          </a:p>
          <a:p>
            <a:pPr algn="ctr"/>
            <a:r>
              <a:rPr sz="1200" b="0" i="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i="0">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i="0">
                <a:solidFill>
                  <a:srgbClr val="333333"/>
                </a:solidFill>
              </a:rPr>
              <a:t>Reply posted or</a:t>
            </a:r>
          </a:p>
          <a:p>
            <a:pPr algn="ctr"/>
            <a:r>
              <a:rPr sz="1200" b="0" i="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i="0">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5532120" cy="24231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553212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87552"/>
            <a:ext cx="5532120" cy="365760"/>
          </a:xfrm>
          <a:prstGeom prst="rect">
            <a:avLst/>
          </a:prstGeom>
          <a:noFill/>
        </p:spPr>
        <p:txBody>
          <a:bodyPr wrap="square" anchor="t">
            <a:spAutoFit/>
          </a:bodyPr>
          <a:lstStyle/>
          <a:p>
            <a:pPr algn="ctr"/>
            <a:r>
              <a:rPr sz="1400" b="1" i="0">
                <a:solidFill>
                  <a:srgbClr val="FFFFFF"/>
                </a:solidFill>
              </a:rPr>
              <a:t>Priority-Negatives</a:t>
            </a:r>
          </a:p>
        </p:txBody>
      </p:sp>
      <p:sp>
        <p:nvSpPr>
          <p:cNvPr id="9" name="TextBox 8"/>
          <p:cNvSpPr txBox="1"/>
          <p:nvPr/>
        </p:nvSpPr>
        <p:spPr>
          <a:xfrm>
            <a:off x="640080" y="1508760"/>
            <a:ext cx="5166360" cy="1737360"/>
          </a:xfrm>
          <a:prstGeom prst="rect">
            <a:avLst/>
          </a:prstGeom>
          <a:noFill/>
        </p:spPr>
        <p:txBody>
          <a:bodyPr wrap="square" anchor="ctr">
            <a:spAutoFit/>
          </a:bodyPr>
          <a:lstStyle/>
          <a:p>
            <a:pPr algn="ctr"/>
            <a:r>
              <a:rPr sz="1300" b="0" i="0">
                <a:solidFill>
                  <a:srgbClr val="333333"/>
                </a:solidFill>
              </a:rPr>
              <a:t>Top issues ranked by</a:t>
            </a:r>
          </a:p>
          <a:p>
            <a:pPr algn="ctr"/>
            <a:r>
              <a:rPr sz="1300" b="0" i="0">
                <a:solidFill>
                  <a:srgbClr val="333333"/>
                </a:solidFill>
              </a:rPr>
              <a:t>volume × severity × recency</a:t>
            </a:r>
          </a:p>
          <a:p>
            <a:pPr algn="ctr"/>
            <a:r>
              <a:rPr sz="1300" b="0" i="0">
                <a:solidFill>
                  <a:srgbClr val="333333"/>
                </a:solidFill>
              </a:rPr>
              <a:t>by aspect</a:t>
            </a:r>
          </a:p>
        </p:txBody>
      </p:sp>
      <p:sp>
        <p:nvSpPr>
          <p:cNvPr id="10" name="Rectangle 9"/>
          <p:cNvSpPr/>
          <p:nvPr/>
        </p:nvSpPr>
        <p:spPr>
          <a:xfrm>
            <a:off x="6172200" y="914400"/>
            <a:ext cx="5532120" cy="24231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914400"/>
            <a:ext cx="55321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987552"/>
            <a:ext cx="5532120" cy="365760"/>
          </a:xfrm>
          <a:prstGeom prst="rect">
            <a:avLst/>
          </a:prstGeom>
          <a:noFill/>
        </p:spPr>
        <p:txBody>
          <a:bodyPr wrap="square" anchor="t">
            <a:spAutoFit/>
          </a:bodyPr>
          <a:lstStyle/>
          <a:p>
            <a:pPr algn="ctr"/>
            <a:r>
              <a:rPr sz="1400" b="1" i="0">
                <a:solidFill>
                  <a:srgbClr val="FFFFFF"/>
                </a:solidFill>
              </a:rPr>
              <a:t>Competitor Pulse</a:t>
            </a:r>
          </a:p>
        </p:txBody>
      </p:sp>
      <p:sp>
        <p:nvSpPr>
          <p:cNvPr id="13" name="TextBox 12"/>
          <p:cNvSpPr txBox="1"/>
          <p:nvPr/>
        </p:nvSpPr>
        <p:spPr>
          <a:xfrm>
            <a:off x="6355080" y="1508760"/>
            <a:ext cx="5166360" cy="1737360"/>
          </a:xfrm>
          <a:prstGeom prst="rect">
            <a:avLst/>
          </a:prstGeom>
          <a:noFill/>
        </p:spPr>
        <p:txBody>
          <a:bodyPr wrap="square" anchor="ctr">
            <a:spAutoFit/>
          </a:bodyPr>
          <a:lstStyle/>
          <a:p>
            <a:pPr algn="ctr"/>
            <a:r>
              <a:rPr sz="1300" b="0" i="0">
                <a:solidFill>
                  <a:srgbClr val="333333"/>
                </a:solidFill>
              </a:rPr>
              <a:t>Walmart vs Costco,</a:t>
            </a:r>
          </a:p>
          <a:p>
            <a:pPr algn="ctr"/>
            <a:r>
              <a:rPr sz="1300" b="0" i="0">
                <a:solidFill>
                  <a:srgbClr val="333333"/>
                </a:solidFill>
              </a:rPr>
              <a:t>Target, Amazon on shared aspects</a:t>
            </a:r>
          </a:p>
        </p:txBody>
      </p:sp>
      <p:sp>
        <p:nvSpPr>
          <p:cNvPr id="14" name="Rectangle 13"/>
          <p:cNvSpPr/>
          <p:nvPr/>
        </p:nvSpPr>
        <p:spPr>
          <a:xfrm>
            <a:off x="457200" y="3520440"/>
            <a:ext cx="5532120" cy="24231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520440"/>
            <a:ext cx="55321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593592"/>
            <a:ext cx="5532120" cy="365760"/>
          </a:xfrm>
          <a:prstGeom prst="rect">
            <a:avLst/>
          </a:prstGeom>
          <a:noFill/>
        </p:spPr>
        <p:txBody>
          <a:bodyPr wrap="square" anchor="t">
            <a:spAutoFit/>
          </a:bodyPr>
          <a:lstStyle/>
          <a:p>
            <a:pPr algn="ctr"/>
            <a:r>
              <a:rPr sz="1400" b="1" i="0">
                <a:solidFill>
                  <a:srgbClr val="FFFFFF"/>
                </a:solidFill>
              </a:rPr>
              <a:t>Weekly LLM Summaries</a:t>
            </a:r>
          </a:p>
        </p:txBody>
      </p:sp>
      <p:sp>
        <p:nvSpPr>
          <p:cNvPr id="17" name="TextBox 16"/>
          <p:cNvSpPr txBox="1"/>
          <p:nvPr/>
        </p:nvSpPr>
        <p:spPr>
          <a:xfrm>
            <a:off x="640080" y="4114800"/>
            <a:ext cx="5166360" cy="1737360"/>
          </a:xfrm>
          <a:prstGeom prst="rect">
            <a:avLst/>
          </a:prstGeom>
          <a:noFill/>
        </p:spPr>
        <p:txBody>
          <a:bodyPr wrap="square" anchor="ctr">
            <a:spAutoFit/>
          </a:bodyPr>
          <a:lstStyle/>
          <a:p>
            <a:pPr algn="ctr"/>
            <a:r>
              <a:rPr sz="1300" b="0" i="0">
                <a:solidFill>
                  <a:srgbClr val="333333"/>
                </a:solidFill>
              </a:rPr>
              <a:t>Natural-language weekly</a:t>
            </a:r>
          </a:p>
          <a:p>
            <a:pPr algn="ctr"/>
            <a:r>
              <a:rPr sz="1300" b="0" i="0">
                <a:solidFill>
                  <a:srgbClr val="333333"/>
                </a:solidFill>
              </a:rPr>
              <a:t>digest + action items</a:t>
            </a:r>
          </a:p>
          <a:p>
            <a:pPr algn="ctr"/>
            <a:r>
              <a:rPr sz="1300" b="0" i="0">
                <a:solidFill>
                  <a:srgbClr val="333333"/>
                </a:solidFill>
              </a:rPr>
              <a:t>+ emerging topics</a:t>
            </a:r>
          </a:p>
        </p:txBody>
      </p:sp>
      <p:sp>
        <p:nvSpPr>
          <p:cNvPr id="18" name="Rectangle 17"/>
          <p:cNvSpPr/>
          <p:nvPr/>
        </p:nvSpPr>
        <p:spPr>
          <a:xfrm>
            <a:off x="6172200" y="3520440"/>
            <a:ext cx="5532120" cy="24231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3520440"/>
            <a:ext cx="553212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593592"/>
            <a:ext cx="5532120" cy="365760"/>
          </a:xfrm>
          <a:prstGeom prst="rect">
            <a:avLst/>
          </a:prstGeom>
          <a:noFill/>
        </p:spPr>
        <p:txBody>
          <a:bodyPr wrap="square" anchor="t">
            <a:spAutoFit/>
          </a:bodyPr>
          <a:lstStyle/>
          <a:p>
            <a:pPr algn="ctr"/>
            <a:r>
              <a:rPr sz="1400" b="1" i="0">
                <a:solidFill>
                  <a:srgbClr val="FFFFFF"/>
                </a:solidFill>
              </a:rPr>
              <a:t>Aspect Drilldown</a:t>
            </a:r>
          </a:p>
        </p:txBody>
      </p:sp>
      <p:sp>
        <p:nvSpPr>
          <p:cNvPr id="21" name="TextBox 20"/>
          <p:cNvSpPr txBox="1"/>
          <p:nvPr/>
        </p:nvSpPr>
        <p:spPr>
          <a:xfrm>
            <a:off x="6355080" y="4114800"/>
            <a:ext cx="5166360" cy="1737360"/>
          </a:xfrm>
          <a:prstGeom prst="rect">
            <a:avLst/>
          </a:prstGeom>
          <a:noFill/>
        </p:spPr>
        <p:txBody>
          <a:bodyPr wrap="square" anchor="ctr">
            <a:spAutoFit/>
          </a:bodyPr>
          <a:lstStyle/>
          <a:p>
            <a:pPr algn="ctr"/>
            <a:r>
              <a:rPr sz="1300" b="0" i="0">
                <a:solidFill>
                  <a:srgbClr val="333333"/>
                </a:solidFill>
              </a:rPr>
              <a:t>8-aspect taxonomy</a:t>
            </a:r>
          </a:p>
          <a:p>
            <a:pPr algn="ctr"/>
            <a:r>
              <a:rPr sz="1300" b="0" i="0">
                <a:solidFill>
                  <a:srgbClr val="333333"/>
                </a:solidFill>
              </a:rPr>
              <a:t>per-aspect sentiment trend</a:t>
            </a:r>
          </a:p>
          <a:p>
            <a:pPr algn="ctr"/>
            <a:r>
              <a:rPr sz="1300" b="0" i="0">
                <a:solidFill>
                  <a:srgbClr val="333333"/>
                </a:solidFill>
              </a:rPr>
              <a:t>+ representative posts</a:t>
            </a:r>
          </a:p>
        </p:txBody>
      </p:sp>
      <p:sp>
        <p:nvSpPr>
          <p:cNvPr id="22" name="Rectangle 21"/>
          <p:cNvSpPr/>
          <p:nvPr/>
        </p:nvSpPr>
        <p:spPr>
          <a:xfrm>
            <a:off x="457200" y="6126480"/>
            <a:ext cx="11247120" cy="3657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144768"/>
            <a:ext cx="10972800" cy="320040"/>
          </a:xfrm>
          <a:prstGeom prst="rect">
            <a:avLst/>
          </a:prstGeom>
          <a:noFill/>
        </p:spPr>
        <p:txBody>
          <a:bodyPr wrap="square" anchor="ctr">
            <a:spAutoFit/>
          </a:bodyPr>
          <a:lstStyle/>
          <a:p>
            <a:pPr algn="ctr"/>
            <a:r>
              <a:rPr sz="1000" b="0" i="0">
                <a:solidFill>
                  <a:srgbClr val="333333"/>
                </a:solidFill>
              </a:rPr>
              <a:t>Weekly summaries powered by GPT-4o via Walmart Gateway  ·  see Live Demo grid on slide 15 for the actual page.</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i="0">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4265083"/>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i="0">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i="0">
                <a:solidFill>
                  <a:srgbClr val="333333"/>
                </a:solidFill>
              </a:rPr>
              <a:t>P1 — trust ≥ 0.70  and  confidence ≥ 0.80</a:t>
            </a:r>
          </a:p>
          <a:p>
            <a:pPr algn="l"/>
            <a:r>
              <a:rPr sz="1100" b="0" i="0">
                <a:solidFill>
                  <a:srgbClr val="333333"/>
                </a:solidFill>
              </a:rPr>
              <a:t>P2 — trust ≥ 0.50  and  confidence ≥ 0.60</a:t>
            </a:r>
          </a:p>
          <a:p>
            <a:pPr algn="l"/>
            <a:r>
              <a:rPr sz="1100" b="0" i="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i="0">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i="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Key Metrics  —  Formulas &amp; Thresholds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Every dashboard number reduces to one of these four families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26060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53212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532120" cy="292608"/>
          </a:xfrm>
          <a:prstGeom prst="rect">
            <a:avLst/>
          </a:prstGeom>
          <a:noFill/>
        </p:spPr>
        <p:txBody>
          <a:bodyPr wrap="square" anchor="t">
            <a:spAutoFit/>
          </a:bodyPr>
          <a:lstStyle/>
          <a:p>
            <a:pPr algn="ctr"/>
            <a:r>
              <a:rPr sz="1100" b="1" i="0">
                <a:solidFill>
                  <a:srgbClr val="FFFFFF"/>
                </a:solidFill>
              </a:rPr>
              <a:t>BRAND HEALTH  ·  SENTIMENT GAUGE</a:t>
            </a:r>
          </a:p>
        </p:txBody>
      </p:sp>
      <p:sp>
        <p:nvSpPr>
          <p:cNvPr id="9" name="TextBox 8"/>
          <p:cNvSpPr txBox="1"/>
          <p:nvPr/>
        </p:nvSpPr>
        <p:spPr>
          <a:xfrm>
            <a:off x="621792" y="1417320"/>
            <a:ext cx="5212080" cy="320040"/>
          </a:xfrm>
          <a:prstGeom prst="rect">
            <a:avLst/>
          </a:prstGeom>
          <a:noFill/>
        </p:spPr>
        <p:txBody>
          <a:bodyPr wrap="square" anchor="t">
            <a:spAutoFit/>
          </a:bodyPr>
          <a:lstStyle/>
          <a:p>
            <a:pPr algn="l"/>
            <a:r>
              <a:rPr sz="1250" b="1" i="0">
                <a:solidFill>
                  <a:srgbClr val="041E42"/>
                </a:solidFill>
              </a:rPr>
              <a:t>Net-sentiment score in –100 … +100</a:t>
            </a:r>
          </a:p>
        </p:txBody>
      </p:sp>
      <p:sp>
        <p:nvSpPr>
          <p:cNvPr id="10" name="Rectangle 9"/>
          <p:cNvSpPr/>
          <p:nvPr/>
        </p:nvSpPr>
        <p:spPr>
          <a:xfrm>
            <a:off x="621792" y="1783080"/>
            <a:ext cx="521208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783080"/>
            <a:ext cx="5212080" cy="566928"/>
          </a:xfrm>
          <a:prstGeom prst="rect">
            <a:avLst/>
          </a:prstGeom>
          <a:noFill/>
        </p:spPr>
        <p:txBody>
          <a:bodyPr wrap="square" anchor="ctr">
            <a:spAutoFit/>
          </a:bodyPr>
          <a:lstStyle/>
          <a:p>
            <a:pPr algn="ctr"/>
            <a:r>
              <a:rPr sz="1200" b="1" i="0">
                <a:solidFill>
                  <a:srgbClr val="041E42"/>
                </a:solidFill>
              </a:rPr>
              <a:t>score  =  (positive – negative) / total  ×  100</a:t>
            </a:r>
          </a:p>
        </p:txBody>
      </p:sp>
      <p:sp>
        <p:nvSpPr>
          <p:cNvPr id="12" name="TextBox 11"/>
          <p:cNvSpPr txBox="1"/>
          <p:nvPr/>
        </p:nvSpPr>
        <p:spPr>
          <a:xfrm>
            <a:off x="621792" y="2423160"/>
            <a:ext cx="5212080" cy="411480"/>
          </a:xfrm>
          <a:prstGeom prst="rect">
            <a:avLst/>
          </a:prstGeom>
          <a:noFill/>
        </p:spPr>
        <p:txBody>
          <a:bodyPr wrap="square" anchor="t">
            <a:spAutoFit/>
          </a:bodyPr>
          <a:lstStyle/>
          <a:p>
            <a:pPr algn="l"/>
            <a:r>
              <a:rPr sz="1050" b="0" i="1">
                <a:solidFill>
                  <a:srgbClr val="333333"/>
                </a:solidFill>
              </a:rPr>
              <a:t>P, N, U = counts of positive / negative / neutral posts in the window (segment-filtered).</a:t>
            </a:r>
          </a:p>
        </p:txBody>
      </p:sp>
      <p:sp>
        <p:nvSpPr>
          <p:cNvPr id="13" name="TextBox 12"/>
          <p:cNvSpPr txBox="1"/>
          <p:nvPr/>
        </p:nvSpPr>
        <p:spPr>
          <a:xfrm>
            <a:off x="621792" y="2834639"/>
            <a:ext cx="5212080" cy="685800"/>
          </a:xfrm>
          <a:prstGeom prst="rect">
            <a:avLst/>
          </a:prstGeom>
          <a:noFill/>
        </p:spPr>
        <p:txBody>
          <a:bodyPr wrap="square">
            <a:spAutoFit/>
          </a:bodyPr>
          <a:lstStyle/>
          <a:p>
            <a:pPr>
              <a:spcAft>
                <a:spcPts val="400"/>
              </a:spcAft>
            </a:pPr>
            <a:r>
              <a:rPr sz="1050" b="0">
                <a:solidFill>
                  <a:srgbClr val="333333"/>
                </a:solidFill>
              </a:rPr>
              <a:t>•  score  &gt;  +20   →   Healthy    (green)</a:t>
            </a:r>
          </a:p>
          <a:p>
            <a:pPr>
              <a:spcAft>
                <a:spcPts val="400"/>
              </a:spcAft>
            </a:pPr>
            <a:r>
              <a:rPr sz="1050" b="0">
                <a:solidFill>
                  <a:srgbClr val="333333"/>
                </a:solidFill>
              </a:rPr>
              <a:t>•  score  &lt;  –20   →   At risk    (red)</a:t>
            </a:r>
          </a:p>
          <a:p>
            <a:pPr>
              <a:spcAft>
                <a:spcPts val="400"/>
              </a:spcAft>
            </a:pPr>
            <a:r>
              <a:rPr sz="1050" b="0">
                <a:solidFill>
                  <a:srgbClr val="333333"/>
                </a:solidFill>
              </a:rPr>
              <a:t>•  otherwise       →   Neutral    (orange)</a:t>
            </a:r>
          </a:p>
        </p:txBody>
      </p:sp>
      <p:sp>
        <p:nvSpPr>
          <p:cNvPr id="14" name="Rectangle 13"/>
          <p:cNvSpPr/>
          <p:nvPr/>
        </p:nvSpPr>
        <p:spPr>
          <a:xfrm>
            <a:off x="6172200" y="960120"/>
            <a:ext cx="5532120" cy="26060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960120"/>
            <a:ext cx="553212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014984"/>
            <a:ext cx="5532120" cy="292608"/>
          </a:xfrm>
          <a:prstGeom prst="rect">
            <a:avLst/>
          </a:prstGeom>
          <a:noFill/>
        </p:spPr>
        <p:txBody>
          <a:bodyPr wrap="square" anchor="t">
            <a:spAutoFit/>
          </a:bodyPr>
          <a:lstStyle/>
          <a:p>
            <a:pPr algn="ctr"/>
            <a:r>
              <a:rPr sz="1100" b="1" i="0">
                <a:solidFill>
                  <a:srgbClr val="FFFFFF"/>
                </a:solidFill>
              </a:rPr>
              <a:t>TRUST SCORE  ·  PER-POST CREDIBILITY</a:t>
            </a:r>
          </a:p>
        </p:txBody>
      </p:sp>
      <p:sp>
        <p:nvSpPr>
          <p:cNvPr id="17" name="TextBox 16"/>
          <p:cNvSpPr txBox="1"/>
          <p:nvPr/>
        </p:nvSpPr>
        <p:spPr>
          <a:xfrm>
            <a:off x="6336792" y="1417320"/>
            <a:ext cx="5212080" cy="320040"/>
          </a:xfrm>
          <a:prstGeom prst="rect">
            <a:avLst/>
          </a:prstGeom>
          <a:noFill/>
        </p:spPr>
        <p:txBody>
          <a:bodyPr wrap="square" anchor="t">
            <a:spAutoFit/>
          </a:bodyPr>
          <a:lstStyle/>
          <a:p>
            <a:pPr algn="l"/>
            <a:r>
              <a:rPr sz="1250" b="1" i="0">
                <a:solidFill>
                  <a:srgbClr val="041E42"/>
                </a:solidFill>
              </a:rPr>
              <a:t>Weighted 3-component credibility signal</a:t>
            </a:r>
          </a:p>
        </p:txBody>
      </p:sp>
      <p:sp>
        <p:nvSpPr>
          <p:cNvPr id="18" name="Rectangle 17"/>
          <p:cNvSpPr/>
          <p:nvPr/>
        </p:nvSpPr>
        <p:spPr>
          <a:xfrm>
            <a:off x="6336792" y="1783080"/>
            <a:ext cx="5212080" cy="566928"/>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6792" y="1783080"/>
            <a:ext cx="5212080" cy="566928"/>
          </a:xfrm>
          <a:prstGeom prst="rect">
            <a:avLst/>
          </a:prstGeom>
          <a:noFill/>
        </p:spPr>
        <p:txBody>
          <a:bodyPr wrap="square" anchor="ctr">
            <a:spAutoFit/>
          </a:bodyPr>
          <a:lstStyle/>
          <a:p>
            <a:pPr algn="ctr"/>
            <a:r>
              <a:rPr sz="1200" b="1" i="0">
                <a:solidFill>
                  <a:srgbClr val="041E42"/>
                </a:solidFill>
              </a:rPr>
              <a:t>trust  =  0.4 · metadata  +  0.3 · dedup  +  0.3 · llm</a:t>
            </a:r>
          </a:p>
        </p:txBody>
      </p:sp>
      <p:sp>
        <p:nvSpPr>
          <p:cNvPr id="20" name="TextBox 19"/>
          <p:cNvSpPr txBox="1"/>
          <p:nvPr/>
        </p:nvSpPr>
        <p:spPr>
          <a:xfrm>
            <a:off x="6336792" y="2423160"/>
            <a:ext cx="5212080" cy="411480"/>
          </a:xfrm>
          <a:prstGeom prst="rect">
            <a:avLst/>
          </a:prstGeom>
          <a:noFill/>
        </p:spPr>
        <p:txBody>
          <a:bodyPr wrap="square" anchor="t">
            <a:spAutoFit/>
          </a:bodyPr>
          <a:lstStyle/>
          <a:p>
            <a:pPr algn="l"/>
            <a:r>
              <a:rPr sz="1050" b="0" i="1">
                <a:solidFill>
                  <a:srgbClr val="333333"/>
                </a:solidFill>
              </a:rPr>
              <a:t>metadata = account age / karma;  dedup = MinHash near-duplicate;  llm = ambiguous-zone check.</a:t>
            </a:r>
          </a:p>
        </p:txBody>
      </p:sp>
      <p:sp>
        <p:nvSpPr>
          <p:cNvPr id="21" name="TextBox 20"/>
          <p:cNvSpPr txBox="1"/>
          <p:nvPr/>
        </p:nvSpPr>
        <p:spPr>
          <a:xfrm>
            <a:off x="6336792" y="2834639"/>
            <a:ext cx="5212080" cy="685800"/>
          </a:xfrm>
          <a:prstGeom prst="rect">
            <a:avLst/>
          </a:prstGeom>
          <a:noFill/>
        </p:spPr>
        <p:txBody>
          <a:bodyPr wrap="square">
            <a:spAutoFit/>
          </a:bodyPr>
          <a:lstStyle/>
          <a:p>
            <a:pPr>
              <a:spcAft>
                <a:spcPts val="400"/>
              </a:spcAft>
            </a:pPr>
            <a:r>
              <a:rPr sz="1050" b="0">
                <a:solidFill>
                  <a:srgbClr val="333333"/>
                </a:solidFill>
              </a:rPr>
              <a:t>•  trust  ≥  0.7   →   trusted, eligible for P1</a:t>
            </a:r>
          </a:p>
          <a:p>
            <a:pPr>
              <a:spcAft>
                <a:spcPts val="400"/>
              </a:spcAft>
            </a:pPr>
            <a:r>
              <a:rPr sz="1050" b="0">
                <a:solidFill>
                  <a:srgbClr val="333333"/>
                </a:solidFill>
              </a:rPr>
              <a:t>•  0.5 ≤ trust &lt; 0.7   →   eligible for P2</a:t>
            </a:r>
          </a:p>
          <a:p>
            <a:pPr>
              <a:spcAft>
                <a:spcPts val="400"/>
              </a:spcAft>
            </a:pPr>
            <a:r>
              <a:rPr sz="1050" b="0">
                <a:solidFill>
                  <a:srgbClr val="333333"/>
                </a:solidFill>
              </a:rPr>
              <a:t>•  trust  &lt;  0.5   →   flagged (never silently dropped)</a:t>
            </a:r>
          </a:p>
        </p:txBody>
      </p:sp>
      <p:sp>
        <p:nvSpPr>
          <p:cNvPr id="22" name="Rectangle 21"/>
          <p:cNvSpPr/>
          <p:nvPr/>
        </p:nvSpPr>
        <p:spPr>
          <a:xfrm>
            <a:off x="457200" y="3703320"/>
            <a:ext cx="5532120" cy="26060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703320"/>
            <a:ext cx="5532120" cy="3840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758183"/>
            <a:ext cx="5532120" cy="292608"/>
          </a:xfrm>
          <a:prstGeom prst="rect">
            <a:avLst/>
          </a:prstGeom>
          <a:noFill/>
        </p:spPr>
        <p:txBody>
          <a:bodyPr wrap="square" anchor="t">
            <a:spAutoFit/>
          </a:bodyPr>
          <a:lstStyle/>
          <a:p>
            <a:pPr algn="ctr"/>
            <a:r>
              <a:rPr sz="1100" b="1" i="0">
                <a:solidFill>
                  <a:srgbClr val="FFFFFF"/>
                </a:solidFill>
              </a:rPr>
              <a:t>PRIORITY TIERS  ·  P1 / P2 URGENCY GATE</a:t>
            </a:r>
          </a:p>
        </p:txBody>
      </p:sp>
      <p:sp>
        <p:nvSpPr>
          <p:cNvPr id="25" name="TextBox 24"/>
          <p:cNvSpPr txBox="1"/>
          <p:nvPr/>
        </p:nvSpPr>
        <p:spPr>
          <a:xfrm>
            <a:off x="621792" y="4160520"/>
            <a:ext cx="5212080" cy="320040"/>
          </a:xfrm>
          <a:prstGeom prst="rect">
            <a:avLst/>
          </a:prstGeom>
          <a:noFill/>
        </p:spPr>
        <p:txBody>
          <a:bodyPr wrap="square" anchor="t">
            <a:spAutoFit/>
          </a:bodyPr>
          <a:lstStyle/>
          <a:p>
            <a:pPr algn="l"/>
            <a:r>
              <a:rPr sz="1250" b="1" i="0">
                <a:solidFill>
                  <a:srgbClr val="041E42"/>
                </a:solidFill>
              </a:rPr>
              <a:t>Two-dimensional gate: credibility × model confidence</a:t>
            </a:r>
          </a:p>
        </p:txBody>
      </p:sp>
      <p:sp>
        <p:nvSpPr>
          <p:cNvPr id="26" name="Rectangle 25"/>
          <p:cNvSpPr/>
          <p:nvPr/>
        </p:nvSpPr>
        <p:spPr>
          <a:xfrm>
            <a:off x="621792" y="4526280"/>
            <a:ext cx="5212080" cy="566928"/>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4526280"/>
            <a:ext cx="5212080" cy="566928"/>
          </a:xfrm>
          <a:prstGeom prst="rect">
            <a:avLst/>
          </a:prstGeom>
          <a:noFill/>
        </p:spPr>
        <p:txBody>
          <a:bodyPr wrap="square" anchor="ctr">
            <a:spAutoFit/>
          </a:bodyPr>
          <a:lstStyle/>
          <a:p>
            <a:pPr algn="ctr"/>
            <a:r>
              <a:rPr sz="1200" b="1" i="0">
                <a:solidFill>
                  <a:srgbClr val="041E42"/>
                </a:solidFill>
              </a:rPr>
              <a:t>P1:  trust ≥ 0.70   ∧   sent_conf ≥ 0.80</a:t>
            </a:r>
          </a:p>
          <a:p>
            <a:pPr algn="ctr"/>
            <a:r>
              <a:rPr sz="1200" b="1" i="0">
                <a:solidFill>
                  <a:srgbClr val="041E42"/>
                </a:solidFill>
              </a:rPr>
              <a:t>P2:  trust ≥ 0.50   ∧   sent_conf ≥ 0.60   (and not P1)</a:t>
            </a:r>
          </a:p>
        </p:txBody>
      </p:sp>
      <p:sp>
        <p:nvSpPr>
          <p:cNvPr id="28" name="TextBox 27"/>
          <p:cNvSpPr txBox="1"/>
          <p:nvPr/>
        </p:nvSpPr>
        <p:spPr>
          <a:xfrm>
            <a:off x="621792" y="5166360"/>
            <a:ext cx="5212080" cy="411480"/>
          </a:xfrm>
          <a:prstGeom prst="rect">
            <a:avLst/>
          </a:prstGeom>
          <a:noFill/>
        </p:spPr>
        <p:txBody>
          <a:bodyPr wrap="square" anchor="t">
            <a:spAutoFit/>
          </a:bodyPr>
          <a:lstStyle/>
          <a:p>
            <a:pPr algn="l"/>
            <a:r>
              <a:rPr sz="1050" b="0" i="1">
                <a:solidFill>
                  <a:srgbClr val="333333"/>
                </a:solidFill>
              </a:rPr>
              <a:t>Ranking within tier uses  priority_score = trust × sent_conf  (SQL ORDER BY).</a:t>
            </a:r>
          </a:p>
        </p:txBody>
      </p:sp>
      <p:sp>
        <p:nvSpPr>
          <p:cNvPr id="29" name="TextBox 28"/>
          <p:cNvSpPr txBox="1"/>
          <p:nvPr/>
        </p:nvSpPr>
        <p:spPr>
          <a:xfrm>
            <a:off x="621792" y="5577840"/>
            <a:ext cx="5212080" cy="685800"/>
          </a:xfrm>
          <a:prstGeom prst="rect">
            <a:avLst/>
          </a:prstGeom>
          <a:noFill/>
        </p:spPr>
        <p:txBody>
          <a:bodyPr wrap="square">
            <a:spAutoFit/>
          </a:bodyPr>
          <a:lstStyle/>
          <a:p>
            <a:pPr>
              <a:spcAft>
                <a:spcPts val="400"/>
              </a:spcAft>
            </a:pPr>
            <a:r>
              <a:rPr sz="1050" b="0">
                <a:solidFill>
                  <a:srgbClr val="333333"/>
                </a:solidFill>
              </a:rPr>
              <a:t>•  Both components must independently clear the gate</a:t>
            </a:r>
          </a:p>
          <a:p>
            <a:pPr>
              <a:spcAft>
                <a:spcPts val="400"/>
              </a:spcAft>
            </a:pPr>
            <a:r>
              <a:rPr sz="1050" b="0">
                <a:solidFill>
                  <a:srgbClr val="333333"/>
                </a:solidFill>
              </a:rPr>
              <a:t>•  P1 = urgent  ·  P2 = review-worthy  ·  else = background</a:t>
            </a:r>
          </a:p>
          <a:p>
            <a:pPr>
              <a:spcAft>
                <a:spcPts val="400"/>
              </a:spcAft>
            </a:pPr>
            <a:r>
              <a:rPr sz="1050" b="0">
                <a:solidFill>
                  <a:srgbClr val="333333"/>
                </a:solidFill>
              </a:rPr>
              <a:t>•  Notification groups filter on  priority_filter  (JSON)</a:t>
            </a:r>
          </a:p>
        </p:txBody>
      </p:sp>
      <p:sp>
        <p:nvSpPr>
          <p:cNvPr id="30" name="Rectangle 29"/>
          <p:cNvSpPr/>
          <p:nvPr/>
        </p:nvSpPr>
        <p:spPr>
          <a:xfrm>
            <a:off x="6172200" y="3703320"/>
            <a:ext cx="5532120" cy="26060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3703320"/>
            <a:ext cx="553212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72200" y="3758183"/>
            <a:ext cx="5532120" cy="292608"/>
          </a:xfrm>
          <a:prstGeom prst="rect">
            <a:avLst/>
          </a:prstGeom>
          <a:noFill/>
        </p:spPr>
        <p:txBody>
          <a:bodyPr wrap="square" anchor="t">
            <a:spAutoFit/>
          </a:bodyPr>
          <a:lstStyle/>
          <a:p>
            <a:pPr algn="ctr"/>
            <a:r>
              <a:rPr sz="1100" b="1" i="0">
                <a:solidFill>
                  <a:srgbClr val="FFFFFF"/>
                </a:solidFill>
              </a:rPr>
              <a:t>COMPETITOR PAIN POINTS  ·  RANKING &amp; ACTION</a:t>
            </a:r>
          </a:p>
        </p:txBody>
      </p:sp>
      <p:sp>
        <p:nvSpPr>
          <p:cNvPr id="33" name="TextBox 32"/>
          <p:cNvSpPr txBox="1"/>
          <p:nvPr/>
        </p:nvSpPr>
        <p:spPr>
          <a:xfrm>
            <a:off x="6336792" y="4160520"/>
            <a:ext cx="5212080" cy="320040"/>
          </a:xfrm>
          <a:prstGeom prst="rect">
            <a:avLst/>
          </a:prstGeom>
          <a:noFill/>
        </p:spPr>
        <p:txBody>
          <a:bodyPr wrap="square" anchor="t">
            <a:spAutoFit/>
          </a:bodyPr>
          <a:lstStyle/>
          <a:p>
            <a:pPr algn="l"/>
            <a:r>
              <a:rPr sz="1250" b="1" i="0">
                <a:solidFill>
                  <a:srgbClr val="041E42"/>
                </a:solidFill>
              </a:rPr>
              <a:t>Per-aspect negative rate on competitor subs, vs Walmart</a:t>
            </a:r>
          </a:p>
        </p:txBody>
      </p:sp>
      <p:sp>
        <p:nvSpPr>
          <p:cNvPr id="34" name="Rectangle 33"/>
          <p:cNvSpPr/>
          <p:nvPr/>
        </p:nvSpPr>
        <p:spPr>
          <a:xfrm>
            <a:off x="6336792" y="4526280"/>
            <a:ext cx="5212080" cy="566928"/>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36792" y="4526280"/>
            <a:ext cx="5212080" cy="566928"/>
          </a:xfrm>
          <a:prstGeom prst="rect">
            <a:avLst/>
          </a:prstGeom>
          <a:noFill/>
        </p:spPr>
        <p:txBody>
          <a:bodyPr wrap="square" anchor="ctr">
            <a:spAutoFit/>
          </a:bodyPr>
          <a:lstStyle/>
          <a:p>
            <a:pPr algn="ctr"/>
            <a:r>
              <a:rPr sz="1200" b="1" i="0">
                <a:solidFill>
                  <a:srgbClr val="041E42"/>
                </a:solidFill>
              </a:rPr>
              <a:t>negative_ratio(a) = neg(a) / total(a)      ·      delta = comp – wmt</a:t>
            </a:r>
          </a:p>
        </p:txBody>
      </p:sp>
      <p:sp>
        <p:nvSpPr>
          <p:cNvPr id="36" name="TextBox 35"/>
          <p:cNvSpPr txBox="1"/>
          <p:nvPr/>
        </p:nvSpPr>
        <p:spPr>
          <a:xfrm>
            <a:off x="6336792" y="5166360"/>
            <a:ext cx="5212080" cy="411480"/>
          </a:xfrm>
          <a:prstGeom prst="rect">
            <a:avLst/>
          </a:prstGeom>
          <a:noFill/>
        </p:spPr>
        <p:txBody>
          <a:bodyPr wrap="square" anchor="t">
            <a:spAutoFit/>
          </a:bodyPr>
          <a:lstStyle/>
          <a:p>
            <a:pPr algn="l"/>
            <a:r>
              <a:rPr sz="1050" b="0" i="1">
                <a:solidFill>
                  <a:srgbClr val="333333"/>
                </a:solidFill>
              </a:rPr>
              <a:t>Signal floor  total ≥ 8  posts per aspect;  top-10 sorted DESC by (ratio, total).</a:t>
            </a:r>
          </a:p>
        </p:txBody>
      </p:sp>
      <p:sp>
        <p:nvSpPr>
          <p:cNvPr id="37" name="TextBox 36"/>
          <p:cNvSpPr txBox="1"/>
          <p:nvPr/>
        </p:nvSpPr>
        <p:spPr>
          <a:xfrm>
            <a:off x="6336792" y="5577840"/>
            <a:ext cx="5212080" cy="685800"/>
          </a:xfrm>
          <a:prstGeom prst="rect">
            <a:avLst/>
          </a:prstGeom>
          <a:noFill/>
        </p:spPr>
        <p:txBody>
          <a:bodyPr wrap="square">
            <a:spAutoFit/>
          </a:bodyPr>
          <a:lstStyle/>
          <a:p>
            <a:pPr>
              <a:spcAft>
                <a:spcPts val="400"/>
              </a:spcAft>
            </a:pPr>
            <a:r>
              <a:rPr sz="1050" b="0">
                <a:solidFill>
                  <a:srgbClr val="333333"/>
                </a:solidFill>
              </a:rPr>
              <a:t>•  ratio  ≥  60 %   →   High priority   ·   ≥ 40 %  →  Medium</a:t>
            </a:r>
          </a:p>
          <a:p>
            <a:pPr>
              <a:spcAft>
                <a:spcPts val="400"/>
              </a:spcAft>
            </a:pPr>
            <a:r>
              <a:rPr sz="1050" b="0">
                <a:solidFill>
                  <a:srgbClr val="333333"/>
                </a:solidFill>
              </a:rPr>
              <a:t>•  delta  &gt;  +5 %   →   'Marketing angle'  (Walmart is better)</a:t>
            </a:r>
          </a:p>
          <a:p>
            <a:pPr>
              <a:spcAft>
                <a:spcPts val="400"/>
              </a:spcAft>
            </a:pPr>
            <a:r>
              <a:rPr sz="1050" b="0">
                <a:solidFill>
                  <a:srgbClr val="333333"/>
                </a:solidFill>
              </a:rPr>
              <a:t>•  delta  &lt;  –5 %   →   'Investigate'     (Walmart is worse)</a:t>
            </a:r>
          </a:p>
        </p:txBody>
      </p:sp>
      <p:sp>
        <p:nvSpPr>
          <p:cNvPr id="38" name="TextBox 37"/>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9" name="TextBox 38"/>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i="0">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i="0">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i="0">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i="0">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i="0">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i="0">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i="0">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i="0">
                <a:solidFill>
                  <a:srgbClr val="333333"/>
                </a:solidFill>
              </a:rPr>
              <a:t>What TYPE of image?</a:t>
            </a:r>
          </a:p>
          <a:p>
            <a:pPr algn="ctr"/>
            <a:r>
              <a:rPr sz="1100" b="0" i="0">
                <a:solidFill>
                  <a:srgbClr val="333333"/>
                </a:solidFill>
              </a:rPr>
              <a:t>screenshot / photo /</a:t>
            </a:r>
          </a:p>
          <a:p>
            <a:pPr algn="ctr"/>
            <a:r>
              <a:rPr sz="1100" b="0" i="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i="0">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i="0">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i="0">
                <a:solidFill>
                  <a:srgbClr val="333333"/>
                </a:solidFill>
              </a:rPr>
              <a:t>Split into 2–4 crops</a:t>
            </a:r>
          </a:p>
          <a:p>
            <a:pPr algn="ctr"/>
            <a:r>
              <a:rPr sz="1100" b="0" i="0">
                <a:solidFill>
                  <a:srgbClr val="333333"/>
                </a:solidFill>
              </a:rPr>
              <a:t>→ 2–4× effective</a:t>
            </a:r>
          </a:p>
          <a:p>
            <a:pPr algn="ctr"/>
            <a:r>
              <a:rPr sz="1100" b="0" i="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i="0">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i="0">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i="0">
                <a:solidFill>
                  <a:srgbClr val="333333"/>
                </a:solidFill>
              </a:rPr>
              <a:t>Per tile: read ALL</a:t>
            </a:r>
          </a:p>
          <a:p>
            <a:pPr algn="ctr"/>
            <a:r>
              <a:rPr sz="1100" b="0" i="0">
                <a:solidFill>
                  <a:srgbClr val="333333"/>
                </a:solidFill>
              </a:rPr>
              <a:t>text verbatim</a:t>
            </a:r>
          </a:p>
          <a:p>
            <a:pPr algn="ctr"/>
            <a:r>
              <a:rPr sz="1100" b="0" i="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i="0">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i="0">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i="0">
                <a:solidFill>
                  <a:srgbClr val="333333"/>
                </a:solidFill>
              </a:rPr>
              <a:t>Text-only LLM call</a:t>
            </a:r>
          </a:p>
          <a:p>
            <a:pPr algn="ctr"/>
            <a:r>
              <a:rPr sz="1100" b="0" i="0">
                <a:solidFill>
                  <a:srgbClr val="333333"/>
                </a:solidFill>
              </a:rPr>
              <a:t>— image REMOVED —</a:t>
            </a:r>
          </a:p>
          <a:p>
            <a:pPr algn="ctr"/>
            <a:r>
              <a:rPr sz="1100" b="0" i="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i="0">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i="0">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i="0">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i="0">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i="0">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i="0">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i="0">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i="0">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i="0">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i="0">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i="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i="0">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i="0">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i="0">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i="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i="0">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i="0">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i="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i="0">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i="0">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i="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i="0">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i="0">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i="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i="0">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i="0">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i="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i="0">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i="0">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i="0">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i="0">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i="0">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i="0">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i="0">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i="0">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i="0">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i="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1  ·  HITL Reduction (4 Horizons)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One of three tracks:  Track 1 HITL  ·  Track 2 Bilingual  ·  Track 3 Multi-Platform  (Tracks 2 &amp; 3 on next slide)</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160020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06424"/>
            <a:ext cx="1600200" cy="365760"/>
          </a:xfrm>
          <a:prstGeom prst="rect">
            <a:avLst/>
          </a:prstGeom>
          <a:noFill/>
        </p:spPr>
        <p:txBody>
          <a:bodyPr wrap="square" anchor="t">
            <a:spAutoFit/>
          </a:bodyPr>
          <a:lstStyle/>
          <a:p>
            <a:pPr algn="ctr"/>
            <a:r>
              <a:rPr sz="1100" b="1" i="0">
                <a:solidFill>
                  <a:srgbClr val="FFFFFF"/>
                </a:solidFill>
              </a:rPr>
              <a:t>Now → 1 month</a:t>
            </a:r>
          </a:p>
        </p:txBody>
      </p:sp>
      <p:sp>
        <p:nvSpPr>
          <p:cNvPr id="9" name="TextBox 8"/>
          <p:cNvSpPr txBox="1"/>
          <p:nvPr/>
        </p:nvSpPr>
        <p:spPr>
          <a:xfrm>
            <a:off x="457200" y="1463040"/>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0" name="TextBox 9"/>
          <p:cNvSpPr txBox="1"/>
          <p:nvPr/>
        </p:nvSpPr>
        <p:spPr>
          <a:xfrm>
            <a:off x="2194560" y="1051560"/>
            <a:ext cx="9326880" cy="365760"/>
          </a:xfrm>
          <a:prstGeom prst="rect">
            <a:avLst/>
          </a:prstGeom>
          <a:noFill/>
        </p:spPr>
        <p:txBody>
          <a:bodyPr wrap="square" anchor="t">
            <a:spAutoFit/>
          </a:bodyPr>
          <a:lstStyle/>
          <a:p>
            <a:pPr algn="l"/>
            <a:r>
              <a:rPr sz="1400" b="1" i="0">
                <a:solidFill>
                  <a:srgbClr val="041E42"/>
                </a:solidFill>
              </a:rPr>
              <a:t>Grow the gold set</a:t>
            </a:r>
          </a:p>
        </p:txBody>
      </p:sp>
      <p:sp>
        <p:nvSpPr>
          <p:cNvPr id="11" name="TextBox 10"/>
          <p:cNvSpPr txBox="1"/>
          <p:nvPr/>
        </p:nvSpPr>
        <p:spPr>
          <a:xfrm>
            <a:off x="2194560" y="1417320"/>
            <a:ext cx="9326880" cy="594360"/>
          </a:xfrm>
          <a:prstGeom prst="rect">
            <a:avLst/>
          </a:prstGeom>
          <a:noFill/>
        </p:spPr>
        <p:txBody>
          <a:bodyPr wrap="square" anchor="t">
            <a:spAutoFit/>
          </a:bodyPr>
          <a:lstStyle/>
          <a:p>
            <a:pPr algn="l"/>
            <a:r>
              <a:rPr sz="1050" b="0" i="0">
                <a:solidFill>
                  <a:srgbClr val="333333"/>
                </a:solidFill>
              </a:rPr>
              <a:t>Grow the labelled gold set to ~500 posts using the HITL feedback the team is already producing; rerun 5-fold OOF to check the F1 delta.</a:t>
            </a:r>
          </a:p>
        </p:txBody>
      </p:sp>
      <p:sp>
        <p:nvSpPr>
          <p:cNvPr id="12" name="Rectangle 11"/>
          <p:cNvSpPr/>
          <p:nvPr/>
        </p:nvSpPr>
        <p:spPr>
          <a:xfrm>
            <a:off x="457200" y="2093976"/>
            <a:ext cx="112471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93976"/>
            <a:ext cx="1600200" cy="10515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240280"/>
            <a:ext cx="1600200" cy="365760"/>
          </a:xfrm>
          <a:prstGeom prst="rect">
            <a:avLst/>
          </a:prstGeom>
          <a:noFill/>
        </p:spPr>
        <p:txBody>
          <a:bodyPr wrap="square" anchor="t">
            <a:spAutoFit/>
          </a:bodyPr>
          <a:lstStyle/>
          <a:p>
            <a:pPr algn="ctr"/>
            <a:r>
              <a:rPr sz="1100" b="1" i="0">
                <a:solidFill>
                  <a:srgbClr val="FFFFFF"/>
                </a:solidFill>
              </a:rPr>
              <a:t>1 → 3 months</a:t>
            </a:r>
          </a:p>
        </p:txBody>
      </p:sp>
      <p:sp>
        <p:nvSpPr>
          <p:cNvPr id="15" name="TextBox 14"/>
          <p:cNvSpPr txBox="1"/>
          <p:nvPr/>
        </p:nvSpPr>
        <p:spPr>
          <a:xfrm>
            <a:off x="457200" y="2596896"/>
            <a:ext cx="1600200" cy="457200"/>
          </a:xfrm>
          <a:prstGeom prst="rect">
            <a:avLst/>
          </a:prstGeom>
          <a:noFill/>
        </p:spPr>
        <p:txBody>
          <a:bodyPr wrap="square" anchor="t">
            <a:spAutoFit/>
          </a:bodyPr>
          <a:lstStyle/>
          <a:p>
            <a:pPr algn="ctr"/>
            <a:r>
              <a:rPr sz="1000" b="0" i="0">
                <a:solidFill>
                  <a:srgbClr val="FFFFFF"/>
                </a:solidFill>
              </a:rPr>
              <a:t>HITL: 100 %</a:t>
            </a:r>
          </a:p>
        </p:txBody>
      </p:sp>
      <p:sp>
        <p:nvSpPr>
          <p:cNvPr id="16" name="TextBox 15"/>
          <p:cNvSpPr txBox="1"/>
          <p:nvPr/>
        </p:nvSpPr>
        <p:spPr>
          <a:xfrm>
            <a:off x="2194560" y="2185416"/>
            <a:ext cx="9326880" cy="365760"/>
          </a:xfrm>
          <a:prstGeom prst="rect">
            <a:avLst/>
          </a:prstGeom>
          <a:noFill/>
        </p:spPr>
        <p:txBody>
          <a:bodyPr wrap="square" anchor="t">
            <a:spAutoFit/>
          </a:bodyPr>
          <a:lstStyle/>
          <a:p>
            <a:pPr algn="l"/>
            <a:r>
              <a:rPr sz="1400" b="1" i="0">
                <a:solidFill>
                  <a:srgbClr val="041E42"/>
                </a:solidFill>
              </a:rPr>
              <a:t>Automate the retrain loop</a:t>
            </a:r>
          </a:p>
        </p:txBody>
      </p:sp>
      <p:sp>
        <p:nvSpPr>
          <p:cNvPr id="17" name="TextBox 16"/>
          <p:cNvSpPr txBox="1"/>
          <p:nvPr/>
        </p:nvSpPr>
        <p:spPr>
          <a:xfrm>
            <a:off x="2194560" y="2551176"/>
            <a:ext cx="9326880" cy="594360"/>
          </a:xfrm>
          <a:prstGeom prst="rect">
            <a:avLst/>
          </a:prstGeom>
          <a:noFill/>
        </p:spPr>
        <p:txBody>
          <a:bodyPr wrap="square" anchor="t">
            <a:spAutoFit/>
          </a:bodyPr>
          <a:lstStyle/>
          <a:p>
            <a:pPr algn="l"/>
            <a:r>
              <a:rPr sz="1050" b="0" i="0">
                <a:solidFill>
                  <a:srgbClr val="333333"/>
                </a:solidFill>
              </a:rPr>
              <a:t>Wire the monthly ModernBERT retrain into a Cron / Airflow job with an OOF-F1 promotion gate — new checkpoints ship only when they beat the current one on held-out folds.</a:t>
            </a:r>
          </a:p>
        </p:txBody>
      </p:sp>
      <p:sp>
        <p:nvSpPr>
          <p:cNvPr id="18" name="Rectangle 17"/>
          <p:cNvSpPr/>
          <p:nvPr/>
        </p:nvSpPr>
        <p:spPr>
          <a:xfrm>
            <a:off x="457200" y="3227832"/>
            <a:ext cx="112471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227832"/>
            <a:ext cx="1600200"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374136"/>
            <a:ext cx="1600200" cy="365760"/>
          </a:xfrm>
          <a:prstGeom prst="rect">
            <a:avLst/>
          </a:prstGeom>
          <a:noFill/>
        </p:spPr>
        <p:txBody>
          <a:bodyPr wrap="square" anchor="t">
            <a:spAutoFit/>
          </a:bodyPr>
          <a:lstStyle/>
          <a:p>
            <a:pPr algn="ctr"/>
            <a:r>
              <a:rPr sz="1100" b="1" i="0">
                <a:solidFill>
                  <a:srgbClr val="FFFFFF"/>
                </a:solidFill>
              </a:rPr>
              <a:t>3 → 6 months</a:t>
            </a:r>
          </a:p>
        </p:txBody>
      </p:sp>
      <p:sp>
        <p:nvSpPr>
          <p:cNvPr id="21" name="TextBox 20"/>
          <p:cNvSpPr txBox="1"/>
          <p:nvPr/>
        </p:nvSpPr>
        <p:spPr>
          <a:xfrm>
            <a:off x="457200" y="3730752"/>
            <a:ext cx="1600200" cy="457200"/>
          </a:xfrm>
          <a:prstGeom prst="rect">
            <a:avLst/>
          </a:prstGeom>
          <a:noFill/>
        </p:spPr>
        <p:txBody>
          <a:bodyPr wrap="square" anchor="t">
            <a:spAutoFit/>
          </a:bodyPr>
          <a:lstStyle/>
          <a:p>
            <a:pPr algn="ctr"/>
            <a:r>
              <a:rPr sz="1000" b="0" i="0">
                <a:solidFill>
                  <a:srgbClr val="FFFFFF"/>
                </a:solidFill>
              </a:rPr>
              <a:t>HITL: ~80 %</a:t>
            </a:r>
          </a:p>
        </p:txBody>
      </p:sp>
      <p:sp>
        <p:nvSpPr>
          <p:cNvPr id="22" name="TextBox 21"/>
          <p:cNvSpPr txBox="1"/>
          <p:nvPr/>
        </p:nvSpPr>
        <p:spPr>
          <a:xfrm>
            <a:off x="2194560" y="3319272"/>
            <a:ext cx="9326880" cy="365760"/>
          </a:xfrm>
          <a:prstGeom prst="rect">
            <a:avLst/>
          </a:prstGeom>
          <a:noFill/>
        </p:spPr>
        <p:txBody>
          <a:bodyPr wrap="square" anchor="t">
            <a:spAutoFit/>
          </a:bodyPr>
          <a:lstStyle/>
          <a:p>
            <a:pPr algn="l"/>
            <a:r>
              <a:rPr sz="1400" b="1" i="0">
                <a:solidFill>
                  <a:srgbClr val="041E42"/>
                </a:solidFill>
              </a:rPr>
              <a:t>Walmart-trained model + shared DB</a:t>
            </a:r>
          </a:p>
        </p:txBody>
      </p:sp>
      <p:sp>
        <p:nvSpPr>
          <p:cNvPr id="23" name="TextBox 22"/>
          <p:cNvSpPr txBox="1"/>
          <p:nvPr/>
        </p:nvSpPr>
        <p:spPr>
          <a:xfrm>
            <a:off x="2194560" y="3685032"/>
            <a:ext cx="9326880" cy="594360"/>
          </a:xfrm>
          <a:prstGeom prst="rect">
            <a:avLst/>
          </a:prstGeom>
          <a:noFill/>
        </p:spPr>
        <p:txBody>
          <a:bodyPr wrap="square" anchor="t">
            <a:spAutoFit/>
          </a:bodyPr>
          <a:lstStyle/>
          <a:p>
            <a:pPr algn="l"/>
            <a:r>
              <a:rPr sz="1050" b="0" i="0">
                <a:solidFill>
                  <a:srgbClr val="333333"/>
                </a:solidFill>
              </a:rPr>
              <a:t>Fine-tune Mistral 7B on our own posted-reply corpus  →  a Walmart-trained replier that drops the paid GPT-4o dependency, runs fully in-house, and can be self-hosted.  Move the feedback table to a shared managed database so multiple analysts can work concurrently.</a:t>
            </a:r>
          </a:p>
        </p:txBody>
      </p:sp>
      <p:sp>
        <p:nvSpPr>
          <p:cNvPr id="24" name="Rectangle 23"/>
          <p:cNvSpPr/>
          <p:nvPr/>
        </p:nvSpPr>
        <p:spPr>
          <a:xfrm>
            <a:off x="457200" y="4361688"/>
            <a:ext cx="112471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61688"/>
            <a:ext cx="1600200" cy="10515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507992"/>
            <a:ext cx="1600200" cy="365760"/>
          </a:xfrm>
          <a:prstGeom prst="rect">
            <a:avLst/>
          </a:prstGeom>
          <a:noFill/>
        </p:spPr>
        <p:txBody>
          <a:bodyPr wrap="square" anchor="t">
            <a:spAutoFit/>
          </a:bodyPr>
          <a:lstStyle/>
          <a:p>
            <a:pPr algn="ctr"/>
            <a:r>
              <a:rPr sz="1100" b="1" i="0">
                <a:solidFill>
                  <a:srgbClr val="FFFFFF"/>
                </a:solidFill>
              </a:rPr>
              <a:t>6 → 12 months</a:t>
            </a:r>
          </a:p>
        </p:txBody>
      </p:sp>
      <p:sp>
        <p:nvSpPr>
          <p:cNvPr id="27" name="TextBox 26"/>
          <p:cNvSpPr txBox="1"/>
          <p:nvPr/>
        </p:nvSpPr>
        <p:spPr>
          <a:xfrm>
            <a:off x="457200" y="4864608"/>
            <a:ext cx="1600200" cy="457200"/>
          </a:xfrm>
          <a:prstGeom prst="rect">
            <a:avLst/>
          </a:prstGeom>
          <a:noFill/>
        </p:spPr>
        <p:txBody>
          <a:bodyPr wrap="square" anchor="t">
            <a:spAutoFit/>
          </a:bodyPr>
          <a:lstStyle/>
          <a:p>
            <a:pPr algn="ctr"/>
            <a:r>
              <a:rPr sz="1000" b="0" i="0">
                <a:solidFill>
                  <a:srgbClr val="FFFFFF"/>
                </a:solidFill>
              </a:rPr>
              <a:t>HITL: ~30 %  →  eventually 0 %</a:t>
            </a:r>
          </a:p>
        </p:txBody>
      </p:sp>
      <p:sp>
        <p:nvSpPr>
          <p:cNvPr id="28" name="TextBox 27"/>
          <p:cNvSpPr txBox="1"/>
          <p:nvPr/>
        </p:nvSpPr>
        <p:spPr>
          <a:xfrm>
            <a:off x="2194560" y="4453128"/>
            <a:ext cx="9326880" cy="365760"/>
          </a:xfrm>
          <a:prstGeom prst="rect">
            <a:avLst/>
          </a:prstGeom>
          <a:noFill/>
        </p:spPr>
        <p:txBody>
          <a:bodyPr wrap="square" anchor="t">
            <a:spAutoFit/>
          </a:bodyPr>
          <a:lstStyle/>
          <a:p>
            <a:pPr algn="l"/>
            <a:r>
              <a:rPr sz="1400" b="1" i="0">
                <a:solidFill>
                  <a:srgbClr val="041E42"/>
                </a:solidFill>
              </a:rPr>
              <a:t>Confidence-gated auto-reply</a:t>
            </a:r>
          </a:p>
        </p:txBody>
      </p:sp>
      <p:sp>
        <p:nvSpPr>
          <p:cNvPr id="29" name="TextBox 28"/>
          <p:cNvSpPr txBox="1"/>
          <p:nvPr/>
        </p:nvSpPr>
        <p:spPr>
          <a:xfrm>
            <a:off x="2194560" y="4818888"/>
            <a:ext cx="9326880" cy="594360"/>
          </a:xfrm>
          <a:prstGeom prst="rect">
            <a:avLst/>
          </a:prstGeom>
          <a:noFill/>
        </p:spPr>
        <p:txBody>
          <a:bodyPr wrap="square" anchor="t">
            <a:spAutoFit/>
          </a:bodyPr>
          <a:lstStyle/>
          <a:p>
            <a:pPr algn="l"/>
            <a:r>
              <a:rPr sz="1050" b="0" i="0">
                <a:solidFill>
                  <a:srgbClr val="333333"/>
                </a:solidFill>
              </a:rPr>
              <a:t>Introduce a confidence gate on the reply generator: top-confidence drafts are queued for auto-send and the analyst only reviews the mid- and low-confidence tail.  As agreement stays high, gradually raise the auto-send threshold — HITL winds down to sampling / audit only.</a:t>
            </a:r>
          </a:p>
        </p:txBody>
      </p:sp>
      <p:sp>
        <p:nvSpPr>
          <p:cNvPr id="30" name="Rectangle 29"/>
          <p:cNvSpPr/>
          <p:nvPr/>
        </p:nvSpPr>
        <p:spPr>
          <a:xfrm>
            <a:off x="457200" y="5440680"/>
            <a:ext cx="11247120" cy="8686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32120"/>
            <a:ext cx="10972800" cy="320040"/>
          </a:xfrm>
          <a:prstGeom prst="rect">
            <a:avLst/>
          </a:prstGeom>
          <a:noFill/>
        </p:spPr>
        <p:txBody>
          <a:bodyPr wrap="square" anchor="t">
            <a:spAutoFit/>
          </a:bodyPr>
          <a:lstStyle/>
          <a:p>
            <a:pPr algn="l"/>
            <a:r>
              <a:rPr sz="1100" b="1" i="0">
                <a:solidFill>
                  <a:srgbClr val="0071DC"/>
                </a:solidFill>
              </a:rPr>
              <a:t>GUIDING PRINCIPLE</a:t>
            </a:r>
          </a:p>
        </p:txBody>
      </p:sp>
      <p:sp>
        <p:nvSpPr>
          <p:cNvPr id="32" name="TextBox 31"/>
          <p:cNvSpPr txBox="1"/>
          <p:nvPr/>
        </p:nvSpPr>
        <p:spPr>
          <a:xfrm>
            <a:off x="640080" y="5852160"/>
            <a:ext cx="10972800" cy="457200"/>
          </a:xfrm>
          <a:prstGeom prst="rect">
            <a:avLst/>
          </a:prstGeom>
          <a:noFill/>
        </p:spPr>
        <p:txBody>
          <a:bodyPr wrap="square" anchor="t">
            <a:spAutoFit/>
          </a:bodyPr>
          <a:lstStyle/>
          <a:p>
            <a:pPr algn="l"/>
            <a:r>
              <a:rPr sz="1100" b="0" i="0">
                <a:solidFill>
                  <a:srgbClr val="333333"/>
                </a:solidFill>
              </a:rPr>
              <a:t>HITL is the ladder, not the ceiling — every stage produces the training signal that lets the next stage automate more.  Each horizon is admissible only when the previous one is measurably successful.</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Future Work  —  Track 2  ·  Bilingual   +   Track 3  ·  Multi-Platform</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i="0">
                <a:solidFill>
                  <a:srgbClr val="E8F4FD"/>
                </a:solidFill>
              </a:rPr>
              <a:t>The other two tracks that widen the pipeline's coverage while Track 1 winds HITL down</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029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005840"/>
            <a:ext cx="5257800" cy="411480"/>
          </a:xfrm>
          <a:prstGeom prst="rect">
            <a:avLst/>
          </a:prstGeom>
          <a:noFill/>
        </p:spPr>
        <p:txBody>
          <a:bodyPr wrap="square" anchor="t">
            <a:spAutoFit/>
          </a:bodyPr>
          <a:lstStyle/>
          <a:p>
            <a:pPr algn="l"/>
            <a:r>
              <a:rPr sz="1400" b="1" i="0">
                <a:solidFill>
                  <a:srgbClr val="FFFFFF"/>
                </a:solidFill>
              </a:rPr>
              <a:t>TRACK 2  ·  BILINGUAL  →  MULTILINGUAL</a:t>
            </a:r>
          </a:p>
        </p:txBody>
      </p:sp>
      <p:sp>
        <p:nvSpPr>
          <p:cNvPr id="8" name="Rectangle 7"/>
          <p:cNvSpPr/>
          <p:nvPr/>
        </p:nvSpPr>
        <p:spPr>
          <a:xfrm>
            <a:off x="457200" y="1463040"/>
            <a:ext cx="5532120" cy="50749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54480"/>
            <a:ext cx="5166360" cy="365760"/>
          </a:xfrm>
          <a:prstGeom prst="rect">
            <a:avLst/>
          </a:prstGeom>
          <a:noFill/>
        </p:spPr>
        <p:txBody>
          <a:bodyPr wrap="square" anchor="t">
            <a:spAutoFit/>
          </a:bodyPr>
          <a:lstStyle/>
          <a:p>
            <a:pPr algn="l"/>
            <a:r>
              <a:rPr sz="1050" b="0" i="0">
                <a:solidFill>
                  <a:srgbClr val="333333"/>
                </a:solidFill>
              </a:rPr>
              <a:t>Why:  Indian retail subreddits are ~30 % of Walmart-family mentions but the current  langdetect  →  English-only  filter silently drops them.</a:t>
            </a:r>
          </a:p>
        </p:txBody>
      </p:sp>
      <p:sp>
        <p:nvSpPr>
          <p:cNvPr id="10" name="TextBox 9"/>
          <p:cNvSpPr txBox="1"/>
          <p:nvPr/>
        </p:nvSpPr>
        <p:spPr>
          <a:xfrm>
            <a:off x="640080" y="1965960"/>
            <a:ext cx="5166360" cy="274320"/>
          </a:xfrm>
          <a:prstGeom prst="rect">
            <a:avLst/>
          </a:prstGeom>
          <a:noFill/>
        </p:spPr>
        <p:txBody>
          <a:bodyPr wrap="square" anchor="t">
            <a:spAutoFit/>
          </a:bodyPr>
          <a:lstStyle/>
          <a:p>
            <a:pPr algn="l"/>
            <a:r>
              <a:rPr sz="1150" b="1" i="0">
                <a:solidFill>
                  <a:srgbClr val="0071DC"/>
                </a:solidFill>
              </a:rPr>
              <a:t>Concrete deliverables</a:t>
            </a:r>
          </a:p>
        </p:txBody>
      </p:sp>
      <p:sp>
        <p:nvSpPr>
          <p:cNvPr id="11" name="TextBox 10"/>
          <p:cNvSpPr txBox="1"/>
          <p:nvPr/>
        </p:nvSpPr>
        <p:spPr>
          <a:xfrm>
            <a:off x="685800" y="2286000"/>
            <a:ext cx="228600" cy="274320"/>
          </a:xfrm>
          <a:prstGeom prst="rect">
            <a:avLst/>
          </a:prstGeom>
          <a:noFill/>
        </p:spPr>
        <p:txBody>
          <a:bodyPr wrap="square" anchor="t">
            <a:spAutoFit/>
          </a:bodyPr>
          <a:lstStyle/>
          <a:p>
            <a:pPr algn="l"/>
            <a:r>
              <a:rPr sz="1100" b="1" i="0">
                <a:solidFill>
                  <a:srgbClr val="0071DC"/>
                </a:solidFill>
              </a:rPr>
              <a:t>•</a:t>
            </a:r>
          </a:p>
        </p:txBody>
      </p:sp>
      <p:sp>
        <p:nvSpPr>
          <p:cNvPr id="12" name="TextBox 11"/>
          <p:cNvSpPr txBox="1"/>
          <p:nvPr/>
        </p:nvSpPr>
        <p:spPr>
          <a:xfrm>
            <a:off x="868680" y="2286000"/>
            <a:ext cx="4983480" cy="777240"/>
          </a:xfrm>
          <a:prstGeom prst="rect">
            <a:avLst/>
          </a:prstGeom>
          <a:noFill/>
        </p:spPr>
        <p:txBody>
          <a:bodyPr wrap="square" anchor="t">
            <a:spAutoFit/>
          </a:bodyPr>
          <a:lstStyle/>
          <a:p>
            <a:pPr algn="l"/>
            <a:r>
              <a:rPr sz="1000" b="0" i="0">
                <a:solidFill>
                  <a:srgbClr val="333333"/>
                </a:solidFill>
              </a:rPr>
              <a:t>Extend  langdetect  to  hi + en  (later  ta / te / bn);  code-mixed 'Hinglish' handled with a mixed-script tokenizer.</a:t>
            </a:r>
          </a:p>
        </p:txBody>
      </p:sp>
      <p:sp>
        <p:nvSpPr>
          <p:cNvPr id="13" name="TextBox 12"/>
          <p:cNvSpPr txBox="1"/>
          <p:nvPr/>
        </p:nvSpPr>
        <p:spPr>
          <a:xfrm>
            <a:off x="685800" y="3108960"/>
            <a:ext cx="228600" cy="274320"/>
          </a:xfrm>
          <a:prstGeom prst="rect">
            <a:avLst/>
          </a:prstGeom>
          <a:noFill/>
        </p:spPr>
        <p:txBody>
          <a:bodyPr wrap="square" anchor="t">
            <a:spAutoFit/>
          </a:bodyPr>
          <a:lstStyle/>
          <a:p>
            <a:pPr algn="l"/>
            <a:r>
              <a:rPr sz="1100" b="1" i="0">
                <a:solidFill>
                  <a:srgbClr val="0071DC"/>
                </a:solidFill>
              </a:rPr>
              <a:t>•</a:t>
            </a:r>
          </a:p>
        </p:txBody>
      </p:sp>
      <p:sp>
        <p:nvSpPr>
          <p:cNvPr id="14" name="TextBox 13"/>
          <p:cNvSpPr txBox="1"/>
          <p:nvPr/>
        </p:nvSpPr>
        <p:spPr>
          <a:xfrm>
            <a:off x="868680" y="3108960"/>
            <a:ext cx="4983480" cy="777240"/>
          </a:xfrm>
          <a:prstGeom prst="rect">
            <a:avLst/>
          </a:prstGeom>
          <a:noFill/>
        </p:spPr>
        <p:txBody>
          <a:bodyPr wrap="square" anchor="t">
            <a:spAutoFit/>
          </a:bodyPr>
          <a:lstStyle/>
          <a:p>
            <a:pPr algn="l"/>
            <a:r>
              <a:rPr sz="1000" b="0" i="0">
                <a:solidFill>
                  <a:srgbClr val="333333"/>
                </a:solidFill>
              </a:rPr>
              <a:t>Ingestion-time translation via NLLB-200 (open-weights, 3.3 B) so downstream models stay English-only —  or —  fine-tune ModernBERT on native scripts.</a:t>
            </a:r>
          </a:p>
        </p:txBody>
      </p:sp>
      <p:sp>
        <p:nvSpPr>
          <p:cNvPr id="15" name="TextBox 14"/>
          <p:cNvSpPr txBox="1"/>
          <p:nvPr/>
        </p:nvSpPr>
        <p:spPr>
          <a:xfrm>
            <a:off x="685800" y="3931920"/>
            <a:ext cx="228600" cy="274320"/>
          </a:xfrm>
          <a:prstGeom prst="rect">
            <a:avLst/>
          </a:prstGeom>
          <a:noFill/>
        </p:spPr>
        <p:txBody>
          <a:bodyPr wrap="square" anchor="t">
            <a:spAutoFit/>
          </a:bodyPr>
          <a:lstStyle/>
          <a:p>
            <a:pPr algn="l"/>
            <a:r>
              <a:rPr sz="1100" b="1" i="0">
                <a:solidFill>
                  <a:srgbClr val="0071DC"/>
                </a:solidFill>
              </a:rPr>
              <a:t>•</a:t>
            </a:r>
          </a:p>
        </p:txBody>
      </p:sp>
      <p:sp>
        <p:nvSpPr>
          <p:cNvPr id="16" name="TextBox 15"/>
          <p:cNvSpPr txBox="1"/>
          <p:nvPr/>
        </p:nvSpPr>
        <p:spPr>
          <a:xfrm>
            <a:off x="868680" y="3931920"/>
            <a:ext cx="4983480" cy="777240"/>
          </a:xfrm>
          <a:prstGeom prst="rect">
            <a:avLst/>
          </a:prstGeom>
          <a:noFill/>
        </p:spPr>
        <p:txBody>
          <a:bodyPr wrap="square" anchor="t">
            <a:spAutoFit/>
          </a:bodyPr>
          <a:lstStyle/>
          <a:p>
            <a:pPr algn="l"/>
            <a:r>
              <a:rPr sz="1000" b="0" i="0">
                <a:solidFill>
                  <a:srgbClr val="333333"/>
                </a:solidFill>
              </a:rPr>
              <a:t>Extend aspect taxonomy for Indic retail idioms (“bill karo” for billing, “delivery kab” for late shipping).</a:t>
            </a:r>
          </a:p>
        </p:txBody>
      </p:sp>
      <p:sp>
        <p:nvSpPr>
          <p:cNvPr id="17" name="TextBox 16"/>
          <p:cNvSpPr txBox="1"/>
          <p:nvPr/>
        </p:nvSpPr>
        <p:spPr>
          <a:xfrm>
            <a:off x="685800" y="4754880"/>
            <a:ext cx="228600" cy="274320"/>
          </a:xfrm>
          <a:prstGeom prst="rect">
            <a:avLst/>
          </a:prstGeom>
          <a:noFill/>
        </p:spPr>
        <p:txBody>
          <a:bodyPr wrap="square" anchor="t">
            <a:spAutoFit/>
          </a:bodyPr>
          <a:lstStyle/>
          <a:p>
            <a:pPr algn="l"/>
            <a:r>
              <a:rPr sz="1100" b="1" i="0">
                <a:solidFill>
                  <a:srgbClr val="0071DC"/>
                </a:solidFill>
              </a:rPr>
              <a:t>•</a:t>
            </a:r>
          </a:p>
        </p:txBody>
      </p:sp>
      <p:sp>
        <p:nvSpPr>
          <p:cNvPr id="18" name="TextBox 17"/>
          <p:cNvSpPr txBox="1"/>
          <p:nvPr/>
        </p:nvSpPr>
        <p:spPr>
          <a:xfrm>
            <a:off x="868680" y="4754880"/>
            <a:ext cx="4983480" cy="777240"/>
          </a:xfrm>
          <a:prstGeom prst="rect">
            <a:avLst/>
          </a:prstGeom>
          <a:noFill/>
        </p:spPr>
        <p:txBody>
          <a:bodyPr wrap="square" anchor="t">
            <a:spAutoFit/>
          </a:bodyPr>
          <a:lstStyle/>
          <a:p>
            <a:pPr algn="l"/>
            <a:r>
              <a:rPr sz="1000" b="0" i="0">
                <a:solidFill>
                  <a:srgbClr val="333333"/>
                </a:solidFill>
              </a:rPr>
              <a:t>Native-speaker analyst validation loop —  same HITL flow, new language pool.</a:t>
            </a:r>
          </a:p>
        </p:txBody>
      </p:sp>
      <p:sp>
        <p:nvSpPr>
          <p:cNvPr id="19" name="Rectangle 18"/>
          <p:cNvSpPr/>
          <p:nvPr/>
        </p:nvSpPr>
        <p:spPr>
          <a:xfrm>
            <a:off x="457200" y="5989320"/>
            <a:ext cx="5532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035040"/>
            <a:ext cx="5166360" cy="457200"/>
          </a:xfrm>
          <a:prstGeom prst="rect">
            <a:avLst/>
          </a:prstGeom>
          <a:noFill/>
        </p:spPr>
        <p:txBody>
          <a:bodyPr wrap="square" anchor="t">
            <a:spAutoFit/>
          </a:bodyPr>
          <a:lstStyle/>
          <a:p>
            <a:pPr algn="l"/>
            <a:r>
              <a:rPr sz="950" b="0" i="1">
                <a:solidFill>
                  <a:srgbClr val="333333"/>
                </a:solidFill>
              </a:rPr>
              <a:t>Ships as part of Track 1 horizon 1 → 3 mo  (bilingual retrain gate) and horizon 3 → 6 mo  (Walmart-trained multilingual replier).</a:t>
            </a:r>
          </a:p>
        </p:txBody>
      </p:sp>
      <p:sp>
        <p:nvSpPr>
          <p:cNvPr id="21" name="Rectangle 20"/>
          <p:cNvSpPr/>
          <p:nvPr/>
        </p:nvSpPr>
        <p:spPr>
          <a:xfrm>
            <a:off x="6217920" y="960120"/>
            <a:ext cx="5532120" cy="502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1005840"/>
            <a:ext cx="5257800" cy="411480"/>
          </a:xfrm>
          <a:prstGeom prst="rect">
            <a:avLst/>
          </a:prstGeom>
          <a:noFill/>
        </p:spPr>
        <p:txBody>
          <a:bodyPr wrap="square" anchor="t">
            <a:spAutoFit/>
          </a:bodyPr>
          <a:lstStyle/>
          <a:p>
            <a:pPr algn="l"/>
            <a:r>
              <a:rPr sz="1200" b="1" i="0">
                <a:solidFill>
                  <a:srgbClr val="FFFFFF"/>
                </a:solidFill>
              </a:rPr>
              <a:t>TRACK 3  ·  MULTI-PLATFORM  (Reddit  →  X / Facebook / Instagram / app-stores)</a:t>
            </a:r>
          </a:p>
        </p:txBody>
      </p:sp>
      <p:sp>
        <p:nvSpPr>
          <p:cNvPr id="23" name="Rectangle 22"/>
          <p:cNvSpPr/>
          <p:nvPr/>
        </p:nvSpPr>
        <p:spPr>
          <a:xfrm>
            <a:off x="6217920" y="1463040"/>
            <a:ext cx="5532120" cy="507492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54480"/>
            <a:ext cx="5166360" cy="365760"/>
          </a:xfrm>
          <a:prstGeom prst="rect">
            <a:avLst/>
          </a:prstGeom>
          <a:noFill/>
        </p:spPr>
        <p:txBody>
          <a:bodyPr wrap="square" anchor="t">
            <a:spAutoFit/>
          </a:bodyPr>
          <a:lstStyle/>
          <a:p>
            <a:pPr algn="l"/>
            <a:r>
              <a:rPr sz="1050" b="0" i="0">
                <a:solidFill>
                  <a:srgbClr val="333333"/>
                </a:solidFill>
              </a:rPr>
              <a:t>Why:  Reddit is deliberate + long-form;  X is real-time viral;  Instagram is image-heavy (vision pipeline shines);  app-store reviews carry a star-rating ground-truth signal.</a:t>
            </a:r>
          </a:p>
        </p:txBody>
      </p:sp>
      <p:sp>
        <p:nvSpPr>
          <p:cNvPr id="25" name="TextBox 24"/>
          <p:cNvSpPr txBox="1"/>
          <p:nvPr/>
        </p:nvSpPr>
        <p:spPr>
          <a:xfrm>
            <a:off x="6400800" y="1965960"/>
            <a:ext cx="5166360" cy="274320"/>
          </a:xfrm>
          <a:prstGeom prst="rect">
            <a:avLst/>
          </a:prstGeom>
          <a:noFill/>
        </p:spPr>
        <p:txBody>
          <a:bodyPr wrap="square" anchor="t">
            <a:spAutoFit/>
          </a:bodyPr>
          <a:lstStyle/>
          <a:p>
            <a:pPr algn="l"/>
            <a:r>
              <a:rPr sz="1150" b="1" i="0">
                <a:solidFill>
                  <a:srgbClr val="7C3AED"/>
                </a:solidFill>
              </a:rPr>
              <a:t>Concrete deliverables</a:t>
            </a:r>
          </a:p>
        </p:txBody>
      </p:sp>
      <p:sp>
        <p:nvSpPr>
          <p:cNvPr id="26" name="TextBox 25"/>
          <p:cNvSpPr txBox="1"/>
          <p:nvPr/>
        </p:nvSpPr>
        <p:spPr>
          <a:xfrm>
            <a:off x="6446520" y="2286000"/>
            <a:ext cx="228600" cy="274320"/>
          </a:xfrm>
          <a:prstGeom prst="rect">
            <a:avLst/>
          </a:prstGeom>
          <a:noFill/>
        </p:spPr>
        <p:txBody>
          <a:bodyPr wrap="square" anchor="t">
            <a:spAutoFit/>
          </a:bodyPr>
          <a:lstStyle/>
          <a:p>
            <a:pPr algn="l"/>
            <a:r>
              <a:rPr sz="1100" b="1" i="0">
                <a:solidFill>
                  <a:srgbClr val="7C3AED"/>
                </a:solidFill>
              </a:rPr>
              <a:t>•</a:t>
            </a:r>
          </a:p>
        </p:txBody>
      </p:sp>
      <p:sp>
        <p:nvSpPr>
          <p:cNvPr id="27" name="TextBox 26"/>
          <p:cNvSpPr txBox="1"/>
          <p:nvPr/>
        </p:nvSpPr>
        <p:spPr>
          <a:xfrm>
            <a:off x="6629400" y="2286000"/>
            <a:ext cx="4983480" cy="777240"/>
          </a:xfrm>
          <a:prstGeom prst="rect">
            <a:avLst/>
          </a:prstGeom>
          <a:noFill/>
        </p:spPr>
        <p:txBody>
          <a:bodyPr wrap="square" anchor="t">
            <a:spAutoFit/>
          </a:bodyPr>
          <a:lstStyle/>
          <a:p>
            <a:pPr algn="l"/>
            <a:r>
              <a:rPr sz="1000" b="0" i="0">
                <a:solidFill>
                  <a:srgbClr val="333333"/>
                </a:solidFill>
              </a:rPr>
              <a:t>Ingestion adapters:  X API v2,  Meta Graph API (Facebook + Instagram),  Google Play / App Store review scrapers  —  each behind a common  RawPost  interface.</a:t>
            </a:r>
          </a:p>
        </p:txBody>
      </p:sp>
      <p:sp>
        <p:nvSpPr>
          <p:cNvPr id="28" name="TextBox 27"/>
          <p:cNvSpPr txBox="1"/>
          <p:nvPr/>
        </p:nvSpPr>
        <p:spPr>
          <a:xfrm>
            <a:off x="6446520" y="3108960"/>
            <a:ext cx="228600" cy="274320"/>
          </a:xfrm>
          <a:prstGeom prst="rect">
            <a:avLst/>
          </a:prstGeom>
          <a:noFill/>
        </p:spPr>
        <p:txBody>
          <a:bodyPr wrap="square" anchor="t">
            <a:spAutoFit/>
          </a:bodyPr>
          <a:lstStyle/>
          <a:p>
            <a:pPr algn="l"/>
            <a:r>
              <a:rPr sz="1100" b="1" i="0">
                <a:solidFill>
                  <a:srgbClr val="7C3AED"/>
                </a:solidFill>
              </a:rPr>
              <a:t>•</a:t>
            </a:r>
          </a:p>
        </p:txBody>
      </p:sp>
      <p:sp>
        <p:nvSpPr>
          <p:cNvPr id="29" name="TextBox 28"/>
          <p:cNvSpPr txBox="1"/>
          <p:nvPr/>
        </p:nvSpPr>
        <p:spPr>
          <a:xfrm>
            <a:off x="6629400" y="3108960"/>
            <a:ext cx="4983480" cy="777240"/>
          </a:xfrm>
          <a:prstGeom prst="rect">
            <a:avLst/>
          </a:prstGeom>
          <a:noFill/>
        </p:spPr>
        <p:txBody>
          <a:bodyPr wrap="square" anchor="t">
            <a:spAutoFit/>
          </a:bodyPr>
          <a:lstStyle/>
          <a:p>
            <a:pPr algn="l"/>
            <a:r>
              <a:rPr sz="1000" b="0" i="0">
                <a:solidFill>
                  <a:srgbClr val="333333"/>
                </a:solidFill>
              </a:rPr>
              <a:t>Per-platform pre-processing:  X dedup by retweet lineage;  Instagram routed through the vision pipeline first (caption + image);  app-store reviews carry a native  star_rating  field.</a:t>
            </a:r>
          </a:p>
        </p:txBody>
      </p:sp>
      <p:sp>
        <p:nvSpPr>
          <p:cNvPr id="30" name="TextBox 29"/>
          <p:cNvSpPr txBox="1"/>
          <p:nvPr/>
        </p:nvSpPr>
        <p:spPr>
          <a:xfrm>
            <a:off x="6446520" y="3931920"/>
            <a:ext cx="228600" cy="274320"/>
          </a:xfrm>
          <a:prstGeom prst="rect">
            <a:avLst/>
          </a:prstGeom>
          <a:noFill/>
        </p:spPr>
        <p:txBody>
          <a:bodyPr wrap="square" anchor="t">
            <a:spAutoFit/>
          </a:bodyPr>
          <a:lstStyle/>
          <a:p>
            <a:pPr algn="l"/>
            <a:r>
              <a:rPr sz="1100" b="1" i="0">
                <a:solidFill>
                  <a:srgbClr val="7C3AED"/>
                </a:solidFill>
              </a:rPr>
              <a:t>•</a:t>
            </a:r>
          </a:p>
        </p:txBody>
      </p:sp>
      <p:sp>
        <p:nvSpPr>
          <p:cNvPr id="31" name="TextBox 30"/>
          <p:cNvSpPr txBox="1"/>
          <p:nvPr/>
        </p:nvSpPr>
        <p:spPr>
          <a:xfrm>
            <a:off x="6629400" y="3931920"/>
            <a:ext cx="4983480" cy="777240"/>
          </a:xfrm>
          <a:prstGeom prst="rect">
            <a:avLst/>
          </a:prstGeom>
          <a:noFill/>
        </p:spPr>
        <p:txBody>
          <a:bodyPr wrap="square" anchor="t">
            <a:spAutoFit/>
          </a:bodyPr>
          <a:lstStyle/>
          <a:p>
            <a:pPr algn="l"/>
            <a:r>
              <a:rPr sz="1000" b="0" i="0">
                <a:solidFill>
                  <a:srgbClr val="333333"/>
                </a:solidFill>
              </a:rPr>
              <a:t>Extend priority classifier:  X viral (retweets &gt; 100) → auto P1;  app-store 1-star surge → P1;  Instagram brand-tagged post from &gt; 10 k follower account → P1.</a:t>
            </a:r>
          </a:p>
        </p:txBody>
      </p:sp>
      <p:sp>
        <p:nvSpPr>
          <p:cNvPr id="32" name="TextBox 31"/>
          <p:cNvSpPr txBox="1"/>
          <p:nvPr/>
        </p:nvSpPr>
        <p:spPr>
          <a:xfrm>
            <a:off x="6446520" y="4754880"/>
            <a:ext cx="228600" cy="274320"/>
          </a:xfrm>
          <a:prstGeom prst="rect">
            <a:avLst/>
          </a:prstGeom>
          <a:noFill/>
        </p:spPr>
        <p:txBody>
          <a:bodyPr wrap="square" anchor="t">
            <a:spAutoFit/>
          </a:bodyPr>
          <a:lstStyle/>
          <a:p>
            <a:pPr algn="l"/>
            <a:r>
              <a:rPr sz="1100" b="1" i="0">
                <a:solidFill>
                  <a:srgbClr val="7C3AED"/>
                </a:solidFill>
              </a:rPr>
              <a:t>•</a:t>
            </a:r>
          </a:p>
        </p:txBody>
      </p:sp>
      <p:sp>
        <p:nvSpPr>
          <p:cNvPr id="33" name="TextBox 32"/>
          <p:cNvSpPr txBox="1"/>
          <p:nvPr/>
        </p:nvSpPr>
        <p:spPr>
          <a:xfrm>
            <a:off x="6629400" y="4754880"/>
            <a:ext cx="4983480" cy="777240"/>
          </a:xfrm>
          <a:prstGeom prst="rect">
            <a:avLst/>
          </a:prstGeom>
          <a:noFill/>
        </p:spPr>
        <p:txBody>
          <a:bodyPr wrap="square" anchor="t">
            <a:spAutoFit/>
          </a:bodyPr>
          <a:lstStyle/>
          <a:p>
            <a:pPr algn="l"/>
            <a:r>
              <a:rPr sz="1000" b="0" i="0">
                <a:solidFill>
                  <a:srgbClr val="333333"/>
                </a:solidFill>
              </a:rPr>
              <a:t>Unified  raw_posts.source_platform  column (already stubbed) so Brand Health / Insights aggregate across platforms out of the box.</a:t>
            </a:r>
          </a:p>
        </p:txBody>
      </p:sp>
      <p:sp>
        <p:nvSpPr>
          <p:cNvPr id="34" name="Rectangle 33"/>
          <p:cNvSpPr/>
          <p:nvPr/>
        </p:nvSpPr>
        <p:spPr>
          <a:xfrm>
            <a:off x="6217920" y="5989320"/>
            <a:ext cx="5532120" cy="548640"/>
          </a:xfrm>
          <a:prstGeom prst="rect">
            <a:avLst/>
          </a:prstGeom>
          <a:solidFill>
            <a:srgbClr val="E8F4FD"/>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6035040"/>
            <a:ext cx="5166360" cy="457200"/>
          </a:xfrm>
          <a:prstGeom prst="rect">
            <a:avLst/>
          </a:prstGeom>
          <a:noFill/>
        </p:spPr>
        <p:txBody>
          <a:bodyPr wrap="square" anchor="t">
            <a:spAutoFit/>
          </a:bodyPr>
          <a:lstStyle/>
          <a:p>
            <a:pPr algn="l"/>
            <a:r>
              <a:rPr sz="950" b="0" i="1">
                <a:solidFill>
                  <a:srgbClr val="333333"/>
                </a:solidFill>
              </a:rPr>
              <a:t>Risks:  X API tiers ($100 / mo min);  Meta Graph needs page-level perms;  Instagram image volume needs vision-batching.</a:t>
            </a:r>
          </a:p>
        </p:txBody>
      </p:sp>
      <p:sp>
        <p:nvSpPr>
          <p:cNvPr id="36" name="TextBox 35"/>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37" name="TextBox 36"/>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i="0">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i="0">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i="0">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i="0">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i="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i="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i="0">
                <a:solidFill>
                  <a:srgbClr val="666666"/>
                </a:solidFil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i="0">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i="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i="0">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i="0">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i="0">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i="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i="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