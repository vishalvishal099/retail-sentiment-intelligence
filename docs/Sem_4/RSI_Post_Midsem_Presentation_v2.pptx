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1E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377440"/>
            <a:ext cx="365760" cy="2286000"/>
          </a:xfrm>
          <a:prstGeom prst="rect">
            <a:avLst/>
          </a:prstGeom>
          <a:solidFill>
            <a:srgbClr val="FFC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600" b="1">
                <a:solidFill>
                  <a:srgbClr val="FFFFFF"/>
                </a:solidFill>
              </a:rPr>
              <a:t>Retail Sentiment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FFC220"/>
                </a:solidFill>
              </a:rPr>
              <a:t>Real-Time Brand Health Monitoring via Reddit NLP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83464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BITS ZG628T  ·  Dissertation  ·  Post Mid-Semester Progress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49039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Vishal Singh   ·   ID No. 2020AA05641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16052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E8F4FD"/>
                </a:solidFill>
              </a:rPr>
              <a:t>M.Tech in Artificial Intelligence &amp; Machine Learning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48056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E8F4FD"/>
                </a:solidFill>
              </a:rPr>
              <a:t>Birla Institute of Technology &amp; Science, Pilani (WILP)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12064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Dissertation work carried out at  Walmart Global Tech, Bengaluru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44068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Supervisor:  Mr. Varunendra Pratap Singh — Principal Software Engineer, Walmart Global Tech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612648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</a:rPr>
              <a:t>July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41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11430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E8F4FD"/>
                </a:solidFill>
              </a:rPr>
              <a:t>Part A recap · Part B is the focus of today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FFC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97280"/>
            <a:ext cx="5669280" cy="5029200"/>
          </a:xfrm>
          <a:prstGeom prst="rect">
            <a:avLst/>
          </a:prstGeom>
          <a:solidFill>
            <a:srgbClr val="F5F5F5"/>
          </a:solidFill>
          <a:ln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D97706"/>
                </a:solidFill>
              </a:rPr>
              <a:t>PART A  ·  MID-SEM RECAP  (already presented)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91640"/>
            <a:ext cx="5394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</a:rPr>
              <a:t>• System Architecture &amp; End-to-End Pipeline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</a:rPr>
              <a:t>• Vision / Image Processing — Challenge &amp; Mitigation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</a:rPr>
              <a:t>• Trust Score &amp; Confidence Calculations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</a:rPr>
              <a:t>• ModernBERT — Domain Fine-Tuning Journey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</a:rPr>
              <a:t>• Dashboard — Data Population &amp; Sections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</a:rPr>
              <a:t>• Notification System — Group-Based Routing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1097280"/>
            <a:ext cx="5577840" cy="5029200"/>
          </a:xfrm>
          <a:prstGeom prst="rect">
            <a:avLst/>
          </a:prstGeom>
          <a:solidFill>
            <a:srgbClr val="E8F4FD"/>
          </a:solidFill>
          <a:ln>
            <a:solidFill>
              <a:srgbClr val="007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234440"/>
            <a:ext cx="5394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071DC"/>
                </a:solidFill>
              </a:rPr>
              <a:t>PART B  ·  POST-MIDSEM WORK  (new — today's focus)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1691640"/>
            <a:ext cx="53492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333333"/>
                </a:solidFill>
              </a:rPr>
              <a:t>• Review &amp; Validate — Human-in-the-Loop</a:t>
            </a:r>
          </a:p>
          <a:p>
            <a:pPr>
              <a:spcAft>
                <a:spcPts val="400"/>
              </a:spcAft>
            </a:pPr>
            <a:r>
              <a:rPr sz="1500" b="1">
                <a:solidFill>
                  <a:srgbClr val="333333"/>
                </a:solidFill>
              </a:rPr>
              <a:t>• Post Explorer &amp; Filtering</a:t>
            </a:r>
          </a:p>
          <a:p>
            <a:pPr>
              <a:spcAft>
                <a:spcPts val="400"/>
              </a:spcAft>
            </a:pPr>
            <a:r>
              <a:rPr sz="1500" b="1">
                <a:solidFill>
                  <a:srgbClr val="333333"/>
                </a:solidFill>
              </a:rPr>
              <a:t>• Post Lifecycle — Kanban Workflow</a:t>
            </a:r>
          </a:p>
          <a:p>
            <a:pPr>
              <a:spcAft>
                <a:spcPts val="400"/>
              </a:spcAft>
            </a:pPr>
            <a:r>
              <a:rPr sz="1500" b="1">
                <a:solidFill>
                  <a:srgbClr val="333333"/>
                </a:solidFill>
              </a:rPr>
              <a:t>• Insights &amp; Competitor Analysis</a:t>
            </a:r>
          </a:p>
          <a:p>
            <a:pPr>
              <a:spcAft>
                <a:spcPts val="400"/>
              </a:spcAft>
            </a:pPr>
            <a:r>
              <a:rPr sz="1500" b="1">
                <a:solidFill>
                  <a:srgbClr val="333333"/>
                </a:solidFill>
              </a:rPr>
              <a:t>• Results &amp; Future Work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</a:rPr>
              <a:t>Retail Sentiment Intelligence  ·  BITS ZG628T Dissertation  ·  Vishal Singh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53796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</a:rPr>
              <a:t>2 / 32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12191695" cy="13716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88036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PART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33756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</a:rPr>
              <a:t>Mid-Semester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297680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333333"/>
                </a:solidFill>
              </a:rPr>
              <a:t>6 topics · ~8 minutes · quick walkthrough of what was built and demoed at mid-sem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</a:rPr>
              <a:t>Retail Sentiment Intelligence  ·  BITS ZG628T Dissertation  ·  Vishal Singh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3796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</a:rPr>
              <a:t>3 / 32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41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Recap 1 · System Architecture (layered view)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11430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E8F4FD"/>
                </a:solidFill>
              </a:rPr>
              <a:t>Sources → Pipeline → AI Runtime → Storage → Serving → Clients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FFC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11247120" cy="777240"/>
          </a:xfrm>
          <a:prstGeom prst="rect">
            <a:avLst/>
          </a:prstGeom>
          <a:solidFill>
            <a:srgbClr val="F5F5F5"/>
          </a:solidFill>
          <a:ln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051560"/>
            <a:ext cx="228600" cy="77724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09728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D97706"/>
                </a:solidFill>
              </a:rPr>
              <a:t>L1  Data Sources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435608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>Arctic Shift API  ·  PRAW (optional)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920240"/>
            <a:ext cx="11247120" cy="777240"/>
          </a:xfrm>
          <a:prstGeom prst="rect">
            <a:avLst/>
          </a:prstGeom>
          <a:solidFill>
            <a:srgbClr val="F5F5F5"/>
          </a:solidFill>
          <a:ln>
            <a:solidFill>
              <a:srgbClr val="007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920240"/>
            <a:ext cx="228600" cy="777240"/>
          </a:xfrm>
          <a:prstGeom prst="rect">
            <a:avLst/>
          </a:prstGeom>
          <a:solidFill>
            <a:srgbClr val="007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96596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071DC"/>
                </a:solidFill>
              </a:rPr>
              <a:t>L2  Pipeline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304288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>Ingest · Preprocess · Trust · Analyze · Aggregate · Alert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788920"/>
            <a:ext cx="11247120" cy="777240"/>
          </a:xfrm>
          <a:prstGeom prst="rect">
            <a:avLst/>
          </a:prstGeom>
          <a:solidFill>
            <a:srgbClr val="F5F5F5"/>
          </a:solidFill>
          <a:ln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2788920"/>
            <a:ext cx="228600" cy="7772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283464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7C3AED"/>
                </a:solidFill>
              </a:rPr>
              <a:t>L3  AI / ML Runtime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172968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>ModernBERT · BART-MNLI · Gemma 3 4B (Ollama) · FLAN-T5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657600"/>
            <a:ext cx="11247120" cy="777240"/>
          </a:xfrm>
          <a:prstGeom prst="rect">
            <a:avLst/>
          </a:prstGeom>
          <a:solidFill>
            <a:srgbClr val="F5F5F5"/>
          </a:solidFill>
          <a:ln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3657600"/>
            <a:ext cx="228600" cy="77724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370332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F4444"/>
                </a:solidFill>
              </a:rPr>
              <a:t>L4  Storage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041648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>SQLite (dev)  /  Azure Cosmos DB (prod)  —  6 containers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526280"/>
            <a:ext cx="11247120" cy="777240"/>
          </a:xfrm>
          <a:prstGeom prst="rect">
            <a:avLst/>
          </a:prstGeom>
          <a:solidFill>
            <a:srgbClr val="F5F5F5"/>
          </a:solidFill>
          <a:ln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4526280"/>
            <a:ext cx="228600" cy="7772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457200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</a:rPr>
              <a:t>L5  Serving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4910328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>FastAPI  ·  REST + WebSocket  ·  port 8001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5394960"/>
            <a:ext cx="11247120" cy="777240"/>
          </a:xfrm>
          <a:prstGeom prst="rect">
            <a:avLst/>
          </a:prstGeom>
          <a:solidFill>
            <a:srgbClr val="F5F5F5"/>
          </a:solidFill>
          <a:ln>
            <a:solidFill>
              <a:srgbClr val="041E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" y="5394960"/>
            <a:ext cx="228600" cy="777240"/>
          </a:xfrm>
          <a:prstGeom prst="rect">
            <a:avLst/>
          </a:prstGeom>
          <a:solidFill>
            <a:srgbClr val="041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544068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41E42"/>
                </a:solidFill>
              </a:rPr>
              <a:t>L6  Clients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5779008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>React Dashboard  ·  Email DL  ·  Slack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</a:rPr>
              <a:t>Retail Sentiment Intelligence  ·  BITS ZG628T Dissertation  ·  Vishal Singh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0" y="653796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</a:rPr>
              <a:t>4 / 32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41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Recap 1 · Component Stack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FFC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97280"/>
          <a:ext cx="112471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51435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Layer</a:t>
                      </a:r>
                    </a:p>
                  </a:txBody>
                  <a:tcPr>
                    <a:solidFill>
                      <a:srgbClr val="041E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Stack</a:t>
                      </a:r>
                    </a:p>
                  </a:txBody>
                  <a:tcPr>
                    <a:solidFill>
                      <a:srgbClr val="041E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Notes</a:t>
                      </a:r>
                    </a:p>
                  </a:txBody>
                  <a:tcPr>
                    <a:solidFill>
                      <a:srgbClr val="041E42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33333"/>
                          </a:solidFill>
                        </a:rPr>
                        <a:t>Data Sources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Arctic Shift API  +  PRAW (optional)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Free, no auth needed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33333"/>
                          </a:solidFill>
                        </a:rPr>
                        <a:t>Pipeline</a:t>
                      </a:r>
                    </a:p>
                  </a:txBody>
                  <a:tcPr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Python 3.13  ·  asyncio scheduler</a:t>
                      </a:r>
                    </a:p>
                  </a:txBody>
                  <a:tcPr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6-hour cadence + on-demand</a:t>
                      </a:r>
                    </a:p>
                  </a:txBody>
                  <a:tcPr>
                    <a:solidFill>
                      <a:srgbClr val="E8F4FD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33333"/>
                          </a:solidFill>
                        </a:rPr>
                        <a:t>AI Runtime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HuggingFace (offline) + Ollama + Azure OpenAI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Local-first, modular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33333"/>
                          </a:solidFill>
                        </a:rPr>
                        <a:t>Storage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SQLite (dev)  /  Azure Cosmos DB (prod)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Pluggable backend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33333"/>
                          </a:solidFill>
                        </a:rPr>
                        <a:t>API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FastAPI  +  WebSocket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Port 8001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33333"/>
                          </a:solidFill>
                        </a:rPr>
                        <a:t>Frontend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React 18  ·  TypeScript  ·  Vite  ·  Tailwind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Port 5173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33333"/>
                          </a:solidFill>
                        </a:rPr>
                        <a:t>Notifications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SMTP  +  Slack Webhook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Group-based routing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4864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D97706"/>
                </a:solidFill>
              </a:rPr>
              <a:t>Highlighted row — corrected from mid-sem deck (was 60 min, is actually every 6 h in production).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</a:rPr>
              <a:t>Retail Sentiment Intelligence  ·  BITS ZG628T Dissertation  ·  Vishal Singh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3796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</a:rPr>
              <a:t>5 / 32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41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Recap 1 · 6-Stage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11430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E8F4FD"/>
                </a:solidFill>
              </a:rPr>
              <a:t>Scheduler tick every 6 h · or manual Run Now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FFC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2103120"/>
            <a:ext cx="1691640" cy="1554480"/>
          </a:xfrm>
          <a:prstGeom prst="rect">
            <a:avLst/>
          </a:prstGeom>
          <a:solidFill>
            <a:srgbClr val="E8F4FD"/>
          </a:solidFill>
          <a:ln>
            <a:solidFill>
              <a:srgbClr val="007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2194560"/>
            <a:ext cx="1691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0071DC"/>
                </a:solidFill>
              </a:rPr>
              <a:t>STAGE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2468880"/>
            <a:ext cx="1691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041E42"/>
                </a:solidFill>
              </a:rPr>
              <a:t>INGEST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2788920"/>
            <a:ext cx="1691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666666"/>
                </a:solidFill>
              </a:rPr>
              <a:t>Arctic Shift</a:t>
            </a:r>
          </a:p>
          <a:p>
            <a:pPr algn="ctr"/>
            <a:r>
              <a:rPr sz="900" b="0">
                <a:solidFill>
                  <a:srgbClr val="666666"/>
                </a:solidFill>
              </a:rPr>
              <a:t>25 subreddits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016252" y="2697480"/>
            <a:ext cx="137160" cy="320040"/>
          </a:xfrm>
          <a:prstGeom prst="rightArrow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148840" y="2103120"/>
            <a:ext cx="1691640" cy="1554480"/>
          </a:xfrm>
          <a:prstGeom prst="rect">
            <a:avLst/>
          </a:prstGeom>
          <a:solidFill>
            <a:srgbClr val="E8F4FD"/>
          </a:solidFill>
          <a:ln>
            <a:solidFill>
              <a:srgbClr val="007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48840" y="2194560"/>
            <a:ext cx="1691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0071DC"/>
                </a:solidFill>
              </a:rPr>
              <a:t>STAGE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48840" y="2468880"/>
            <a:ext cx="1691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041E42"/>
                </a:solidFill>
              </a:rPr>
              <a:t>PREPROCESS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48840" y="2788920"/>
            <a:ext cx="1691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666666"/>
                </a:solidFill>
              </a:rPr>
              <a:t>Clean · langdetect</a:t>
            </a:r>
          </a:p>
          <a:p>
            <a:pPr algn="ctr"/>
            <a:r>
              <a:rPr sz="900" b="0">
                <a:solidFill>
                  <a:srgbClr val="666666"/>
                </a:solidFill>
              </a:rPr>
              <a:t>MiniLM dedup &gt; 0.92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3845052" y="2697480"/>
            <a:ext cx="137160" cy="320040"/>
          </a:xfrm>
          <a:prstGeom prst="rightArrow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977640" y="2103120"/>
            <a:ext cx="1691640" cy="1554480"/>
          </a:xfrm>
          <a:prstGeom prst="rect">
            <a:avLst/>
          </a:prstGeom>
          <a:solidFill>
            <a:srgbClr val="E8F4FD"/>
          </a:solidFill>
          <a:ln>
            <a:solidFill>
              <a:srgbClr val="007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77640" y="2194560"/>
            <a:ext cx="1691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0071DC"/>
                </a:solidFill>
              </a:rPr>
              <a:t>STAGE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77640" y="2468880"/>
            <a:ext cx="1691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041E42"/>
                </a:solidFill>
              </a:rPr>
              <a:t>TRUST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77640" y="2788920"/>
            <a:ext cx="1691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666666"/>
                </a:solidFill>
              </a:rPr>
              <a:t>meta + dedup + LLM</a:t>
            </a:r>
          </a:p>
          <a:p>
            <a:pPr algn="ctr"/>
            <a:r>
              <a:rPr sz="900" b="0">
                <a:solidFill>
                  <a:srgbClr val="666666"/>
                </a:solidFill>
              </a:rPr>
              <a:t>weighted 0.4/0.3/0.3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5673852" y="2697480"/>
            <a:ext cx="137160" cy="320040"/>
          </a:xfrm>
          <a:prstGeom prst="rightArrow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806440" y="2103120"/>
            <a:ext cx="1691640" cy="1554480"/>
          </a:xfrm>
          <a:prstGeom prst="rect">
            <a:avLst/>
          </a:prstGeom>
          <a:solidFill>
            <a:srgbClr val="E8F4FD"/>
          </a:solidFill>
          <a:ln>
            <a:solidFill>
              <a:srgbClr val="007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06440" y="2194560"/>
            <a:ext cx="1691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0071DC"/>
                </a:solidFill>
              </a:rPr>
              <a:t>STAGE 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06440" y="2468880"/>
            <a:ext cx="1691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041E42"/>
                </a:solidFill>
              </a:rPr>
              <a:t>ANALYZE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06440" y="2788920"/>
            <a:ext cx="1691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666666"/>
                </a:solidFill>
              </a:rPr>
              <a:t>ModernBERT · BART-MNLI</a:t>
            </a:r>
          </a:p>
          <a:p>
            <a:pPr algn="ctr"/>
            <a:r>
              <a:rPr sz="900" b="0">
                <a:solidFill>
                  <a:srgbClr val="666666"/>
                </a:solidFill>
              </a:rPr>
              <a:t>Gemma 3 4B (if image)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7502652" y="2697480"/>
            <a:ext cx="137160" cy="320040"/>
          </a:xfrm>
          <a:prstGeom prst="rightArrow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35240" y="2103120"/>
            <a:ext cx="1691640" cy="1554480"/>
          </a:xfrm>
          <a:prstGeom prst="rect">
            <a:avLst/>
          </a:prstGeom>
          <a:solidFill>
            <a:srgbClr val="E8F4FD"/>
          </a:solidFill>
          <a:ln>
            <a:solidFill>
              <a:srgbClr val="007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35240" y="2194560"/>
            <a:ext cx="1691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0071DC"/>
                </a:solidFill>
              </a:rPr>
              <a:t>STAGE 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35240" y="2468880"/>
            <a:ext cx="1691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041E42"/>
                </a:solidFill>
              </a:rPr>
              <a:t>AGGREGATE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35240" y="2788920"/>
            <a:ext cx="1691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666666"/>
                </a:solidFill>
              </a:rPr>
              <a:t>Hourly / daily rollups</a:t>
            </a:r>
          </a:p>
          <a:p>
            <a:pPr algn="ctr"/>
            <a:r>
              <a:rPr sz="900" b="0">
                <a:solidFill>
                  <a:srgbClr val="666666"/>
                </a:solidFill>
              </a:rPr>
              <a:t>per-subreddit · per-aspect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9331452" y="2697480"/>
            <a:ext cx="137160" cy="320040"/>
          </a:xfrm>
          <a:prstGeom prst="rightArrow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464040" y="2103120"/>
            <a:ext cx="1691640" cy="1554480"/>
          </a:xfrm>
          <a:prstGeom prst="rect">
            <a:avLst/>
          </a:prstGeom>
          <a:solidFill>
            <a:srgbClr val="E8F4FD"/>
          </a:solidFill>
          <a:ln>
            <a:solidFill>
              <a:srgbClr val="007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464040" y="2194560"/>
            <a:ext cx="1691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0071DC"/>
                </a:solidFill>
              </a:rPr>
              <a:t>STAGE 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64040" y="2468880"/>
            <a:ext cx="1691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041E42"/>
                </a:solidFill>
              </a:rPr>
              <a:t>ALERT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64040" y="2788920"/>
            <a:ext cx="1691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666666"/>
                </a:solidFill>
              </a:rPr>
              <a:t>Spike + severity</a:t>
            </a:r>
          </a:p>
          <a:p>
            <a:pPr algn="ctr"/>
            <a:r>
              <a:rPr sz="900" b="0">
                <a:solidFill>
                  <a:srgbClr val="666666"/>
                </a:solidFill>
              </a:rPr>
              <a:t>P1/P2 → notify groups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402336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041E42"/>
                </a:solidFill>
              </a:rPr>
              <a:t>Total latency  ~3–5 min for 25 subreddits  ·  cursor-based incremental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448056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666666"/>
                </a:solidFill>
              </a:rPr>
              <a:t>→ live alerts pushed to React dashboard via WebSocket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</a:rPr>
              <a:t>Retail Sentiment Intelligence  ·  BITS ZG628T Dissertation  ·  Vishal Singh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653796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</a:rPr>
              <a:t>6 / 32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41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Recap 1 · Data Flow — Raw Post to Dashboard KPI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FFC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2194560"/>
            <a:ext cx="2148840" cy="1737360"/>
          </a:xfrm>
          <a:prstGeom prst="rect">
            <a:avLst/>
          </a:prstGeom>
          <a:solidFill>
            <a:srgbClr val="F5F5F5"/>
          </a:solidFill>
          <a:ln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2194560"/>
            <a:ext cx="2148840" cy="36576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2240280"/>
            <a:ext cx="2148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RAW POST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743200"/>
            <a:ext cx="21488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</a:rPr>
              <a:t>title · body</a:t>
            </a:r>
          </a:p>
          <a:p>
            <a:pPr algn="ctr"/>
            <a:r>
              <a:rPr sz="1200" b="0">
                <a:solidFill>
                  <a:srgbClr val="333333"/>
                </a:solidFill>
              </a:rPr>
              <a:t>media · author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519172" y="2880360"/>
            <a:ext cx="128016" cy="320040"/>
          </a:xfrm>
          <a:prstGeom prst="rightArrow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651760" y="2194560"/>
            <a:ext cx="2148840" cy="1737360"/>
          </a:xfrm>
          <a:prstGeom prst="rect">
            <a:avLst/>
          </a:prstGeom>
          <a:solidFill>
            <a:srgbClr val="F5F5F5"/>
          </a:solidFill>
          <a:ln>
            <a:solidFill>
              <a:srgbClr val="007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651760" y="2194560"/>
            <a:ext cx="2148840" cy="365760"/>
          </a:xfrm>
          <a:prstGeom prst="rect">
            <a:avLst/>
          </a:prstGeom>
          <a:solidFill>
            <a:srgbClr val="007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51760" y="2240280"/>
            <a:ext cx="2148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CLEAN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2743200"/>
            <a:ext cx="21488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</a:rPr>
              <a:t>strip HTML</a:t>
            </a:r>
          </a:p>
          <a:p>
            <a:pPr algn="ctr"/>
            <a:r>
              <a:rPr sz="1200" b="0">
                <a:solidFill>
                  <a:srgbClr val="333333"/>
                </a:solidFill>
              </a:rPr>
              <a:t>lang · dedup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805172" y="2880360"/>
            <a:ext cx="128016" cy="320040"/>
          </a:xfrm>
          <a:prstGeom prst="rightArrow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937760" y="2194560"/>
            <a:ext cx="2148840" cy="1737360"/>
          </a:xfrm>
          <a:prstGeom prst="rect">
            <a:avLst/>
          </a:prstGeom>
          <a:solidFill>
            <a:srgbClr val="F5F5F5"/>
          </a:solidFill>
          <a:ln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937760" y="2194560"/>
            <a:ext cx="2148840" cy="3657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37760" y="2240280"/>
            <a:ext cx="2148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SCORE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60" y="2743200"/>
            <a:ext cx="21488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</a:rPr>
              <a:t>trust · sentiment</a:t>
            </a:r>
          </a:p>
          <a:p>
            <a:pPr algn="ctr"/>
            <a:r>
              <a:rPr sz="1200" b="0">
                <a:solidFill>
                  <a:srgbClr val="333333"/>
                </a:solidFill>
              </a:rPr>
              <a:t>aspects · vision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7091172" y="2880360"/>
            <a:ext cx="128016" cy="320040"/>
          </a:xfrm>
          <a:prstGeom prst="rightArrow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223760" y="2194560"/>
            <a:ext cx="2148840" cy="1737360"/>
          </a:xfrm>
          <a:prstGeom prst="rect">
            <a:avLst/>
          </a:prstGeom>
          <a:solidFill>
            <a:srgbClr val="F5F5F5"/>
          </a:solidFill>
          <a:ln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223760" y="2194560"/>
            <a:ext cx="2148840" cy="36576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23760" y="2240280"/>
            <a:ext cx="2148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PERSIST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0" y="2743200"/>
            <a:ext cx="21488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</a:rPr>
              <a:t>raw_posts · analyses</a:t>
            </a:r>
          </a:p>
          <a:p>
            <a:pPr algn="ctr"/>
            <a:r>
              <a:rPr sz="1200" b="0">
                <a:solidFill>
                  <a:srgbClr val="333333"/>
                </a:solidFill>
              </a:rPr>
              <a:t>aggregates · alerts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9377172" y="2880360"/>
            <a:ext cx="128016" cy="320040"/>
          </a:xfrm>
          <a:prstGeom prst="rightArrow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509760" y="2194560"/>
            <a:ext cx="2148840" cy="1737360"/>
          </a:xfrm>
          <a:prstGeom prst="rect">
            <a:avLst/>
          </a:prstGeom>
          <a:solidFill>
            <a:srgbClr val="F5F5F5"/>
          </a:solidFill>
          <a:ln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509760" y="2194560"/>
            <a:ext cx="2148840" cy="3657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509760" y="2240280"/>
            <a:ext cx="2148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SURFACE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09760" y="2743200"/>
            <a:ext cx="21488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</a:rPr>
              <a:t>KPIs · aspect drill</a:t>
            </a:r>
          </a:p>
          <a:p>
            <a:pPr algn="ctr"/>
            <a:r>
              <a:rPr sz="1200" b="0">
                <a:solidFill>
                  <a:srgbClr val="333333"/>
                </a:solidFill>
              </a:rPr>
              <a:t>alert feed · explorer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429768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</a:rPr>
              <a:t>Every post is scored, stored, and surfaced — the trust score decides whether an alert fires.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</a:rPr>
              <a:t>Retail Sentiment Intelligence  ·  BITS ZG628T Dissertation  ·  Vishal Singh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0" y="653796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</a:rPr>
              <a:t>7 / 32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41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Recap 1 · Storage Schema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FFC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97280"/>
          <a:ext cx="1124712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5943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Table</a:t>
                      </a:r>
                    </a:p>
                  </a:txBody>
                  <a:tcPr>
                    <a:solidFill>
                      <a:srgbClr val="041E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Partition Key</a:t>
                      </a:r>
                    </a:p>
                  </a:txBody>
                  <a:tcPr>
                    <a:solidFill>
                      <a:srgbClr val="041E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Key Fields</a:t>
                      </a:r>
                    </a:p>
                  </a:txBody>
                  <a:tcPr>
                    <a:solidFill>
                      <a:srgbClr val="041E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Purpose</a:t>
                      </a:r>
                    </a:p>
                  </a:txBody>
                  <a:tcPr>
                    <a:solidFill>
                      <a:srgbClr val="041E42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33333"/>
                          </a:solidFill>
                        </a:rPr>
                        <a:t>raw_posts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/subreddit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id, title, body, author_hash, created_utc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Ingested (privacy-safe)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33333"/>
                          </a:solidFill>
                        </a:rPr>
                        <a:t>analyses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/subreddit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post_id, sentiment, confidence, aspects, trust_score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AI analysis results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33333"/>
                          </a:solidFill>
                        </a:rPr>
                        <a:t>aggregates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/time_window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subreddit, window, metrics_json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Pre-computed KPIs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33333"/>
                          </a:solidFill>
                        </a:rPr>
                        <a:t>feedback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/analyst_id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post_id, correction, reply_text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Human corrections + replies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33333"/>
                          </a:solidFill>
                        </a:rPr>
                        <a:t>alerts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/severity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type, aspect, threshold_breached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Triggered anomalies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33333"/>
                          </a:solidFill>
                        </a:rPr>
                        <a:t>notification_groups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id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subreddits[], email_dl[], priority_filter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Routing config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33333"/>
                          </a:solidFill>
                        </a:rPr>
                        <a:t>notification_log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group_id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post_id, channel, status, sent_at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Delivery audit trail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03504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D97706"/>
                </a:solidFill>
              </a:rPr>
              <a:t>Privacy — Reddit usernames are SHA-hashed before storage · 1-year retention default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</a:rPr>
              <a:t>Retail Sentiment Intelligence  ·  BITS ZG628T Dissertation  ·  Vishal Singh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3796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</a:rPr>
              <a:t>8 / 32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41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Recap 2 · Vision — 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11430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E8F4FD"/>
                </a:solidFill>
              </a:rPr>
              <a:t>The complaint lives inside the image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FFC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2743200" cy="1463040"/>
          </a:xfrm>
          <a:prstGeom prst="rect">
            <a:avLst/>
          </a:prstGeom>
          <a:solidFill>
            <a:srgbClr val="FEF3C7"/>
          </a:solidFill>
          <a:ln>
            <a:solidFill>
              <a:srgbClr val="007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2588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666666"/>
                </a:solidFill>
              </a:rPr>
              <a:t>Empty-body posts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45920"/>
            <a:ext cx="2743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D97706"/>
                </a:solidFill>
              </a:rPr>
              <a:t>3.9%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1188720"/>
            <a:ext cx="2743200" cy="1463040"/>
          </a:xfrm>
          <a:prstGeom prst="rect">
            <a:avLst/>
          </a:prstGeom>
          <a:solidFill>
            <a:srgbClr val="FEE2E2"/>
          </a:solidFill>
          <a:ln>
            <a:solidFill>
              <a:srgbClr val="007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132588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666666"/>
                </a:solidFill>
              </a:rPr>
              <a:t>Missed complaints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1645920"/>
            <a:ext cx="2743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EF4444"/>
                </a:solidFill>
              </a:rPr>
              <a:t>text-only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188720"/>
            <a:ext cx="2743200" cy="1463040"/>
          </a:xfrm>
          <a:prstGeom prst="rect">
            <a:avLst/>
          </a:prstGeom>
          <a:solidFill>
            <a:srgbClr val="E8F4FD"/>
          </a:solidFill>
          <a:ln>
            <a:solidFill>
              <a:srgbClr val="007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132588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666666"/>
                </a:solidFill>
              </a:rPr>
              <a:t>Screenshot share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1645920"/>
            <a:ext cx="2743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0071DC"/>
                </a:solidFill>
              </a:rPr>
              <a:t>~80%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235440" y="1188720"/>
            <a:ext cx="2468880" cy="1463040"/>
          </a:xfrm>
          <a:prstGeom prst="rect">
            <a:avLst/>
          </a:prstGeom>
          <a:solidFill>
            <a:srgbClr val="E8F4FD"/>
          </a:solidFill>
          <a:ln>
            <a:solidFill>
              <a:srgbClr val="007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35440" y="1325880"/>
            <a:ext cx="2468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666666"/>
                </a:solidFill>
              </a:rPr>
              <a:t>Impact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0" y="1645920"/>
            <a:ext cx="24688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041E42"/>
                </a:solidFill>
              </a:rPr>
              <a:t>P0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288036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41E42"/>
                </a:solidFill>
              </a:rPr>
              <a:t>Example — a real Walmart-Reddit post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457200" y="3246120"/>
          <a:ext cx="1124712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3560"/>
                <a:gridCol w="5623560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Field</a:t>
                      </a:r>
                    </a:p>
                  </a:txBody>
                  <a:tcPr>
                    <a:solidFill>
                      <a:srgbClr val="041E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rgbClr val="041E4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33333"/>
                          </a:solidFill>
                        </a:rPr>
                        <a:t>Title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"Can anyone help me? I need this fixed"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33333"/>
                          </a:solidFill>
                        </a:rPr>
                        <a:t>Body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(empty)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33333"/>
                          </a:solidFill>
                        </a:rPr>
                        <a:t>Image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Screenshot of Walmart-app error message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33333"/>
                          </a:solidFill>
                        </a:rPr>
                        <a:t>Text-only pipeline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scored on title alone — useless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33333"/>
                          </a:solidFill>
                        </a:rPr>
                        <a:t>Multimodal pipeline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extracts the error text — understands the complaint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</a:rPr>
              <a:t>Retail Sentiment Intelligence  ·  BITS ZG628T Dissertation  ·  Vishal Singh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53796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</a:rPr>
              <a:t>9 / 32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41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Recap 2 · Vision Model — Why Gemma 3 4B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FFC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97280"/>
          <a:ext cx="1124712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9424"/>
                <a:gridCol w="2249424"/>
                <a:gridCol w="2249424"/>
                <a:gridCol w="2249424"/>
                <a:gridCol w="2249424"/>
              </a:tblGrid>
              <a:tr h="5334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>
                    <a:solidFill>
                      <a:srgbClr val="041E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DocVQA</a:t>
                      </a:r>
                    </a:p>
                  </a:txBody>
                  <a:tcPr>
                    <a:solidFill>
                      <a:srgbClr val="041E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Size</a:t>
                      </a:r>
                    </a:p>
                  </a:txBody>
                  <a:tcPr>
                    <a:solidFill>
                      <a:srgbClr val="041E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Ollama</a:t>
                      </a:r>
                    </a:p>
                  </a:txBody>
                  <a:tcPr>
                    <a:solidFill>
                      <a:srgbClr val="041E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Verdict</a:t>
                      </a:r>
                    </a:p>
                  </a:txBody>
                  <a:tcPr>
                    <a:solidFill>
                      <a:srgbClr val="041E42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33333"/>
                          </a:solidFill>
                        </a:rPr>
                        <a:t>gemma3:4b (Google)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83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3.3 GB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Yes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SELECTED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33333"/>
                          </a:solidFill>
                        </a:rPr>
                        <a:t>LLaVA-1.5 7B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28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4.7 GB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Yes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3× worse OCR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33333"/>
                          </a:solidFill>
                        </a:rPr>
                        <a:t>LLaVA-1.6 8B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5.5 GB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Larger, slower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33333"/>
                          </a:solidFill>
                        </a:rPr>
                        <a:t>BLIP-2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N/A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990 MB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Caption only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33333"/>
                          </a:solidFill>
                        </a:rPr>
                        <a:t>PaliGemma 2 3B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~6 GB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No Ollama runtime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448056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</a:rPr>
              <a:t>• Best DocVQA under 4 GB — reads receipts, screenshots, app screens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</a:rPr>
              <a:t>• Google-maintained (USA) — Walmart vendor-policy compliant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</a:rPr>
              <a:t>• Reuses existing Ollama infrastructure  (localhost:11434)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</a:rPr>
              <a:t>• 4–6 s warm latency per image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</a:rPr>
              <a:t>Retail Sentiment Intelligence  ·  BITS ZG628T Dissertation  ·  Vishal Singh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3796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</a:rPr>
              <a:t>10 / 32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41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Recap 2 · The Villain — 75% Failure Rate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11430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E8F4FD"/>
                </a:solidFill>
              </a:rPr>
              <a:t>First-attempt single-pass captioning was worse than useless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FFC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2743200" cy="1554480"/>
          </a:xfrm>
          <a:prstGeom prst="rect">
            <a:avLst/>
          </a:prstGeom>
          <a:solidFill>
            <a:srgbClr val="FEE2E2"/>
          </a:solidFill>
          <a:ln>
            <a:solidFill>
              <a:srgbClr val="007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2588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666666"/>
                </a:solidFill>
              </a:rPr>
              <a:t>Overall failure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45920"/>
            <a:ext cx="2743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EF4444"/>
                </a:solidFill>
              </a:rPr>
              <a:t>75%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1188720"/>
            <a:ext cx="2743200" cy="1554480"/>
          </a:xfrm>
          <a:prstGeom prst="rect">
            <a:avLst/>
          </a:prstGeom>
          <a:solidFill>
            <a:srgbClr val="FEE2E2"/>
          </a:solidFill>
          <a:ln>
            <a:solidFill>
              <a:srgbClr val="007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132588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666666"/>
                </a:solidFill>
              </a:rPr>
              <a:t>Hallucination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1645920"/>
            <a:ext cx="2743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EF4444"/>
                </a:solidFill>
              </a:rPr>
              <a:t>50%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188720"/>
            <a:ext cx="2743200" cy="1554480"/>
          </a:xfrm>
          <a:prstGeom prst="rect">
            <a:avLst/>
          </a:prstGeom>
          <a:solidFill>
            <a:srgbClr val="FEE2E2"/>
          </a:solidFill>
          <a:ln>
            <a:solidFill>
              <a:srgbClr val="007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132588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666666"/>
                </a:solidFill>
              </a:rPr>
              <a:t>Critical (fake receipts, prices)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1645920"/>
            <a:ext cx="2743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EF4444"/>
                </a:solidFill>
              </a:rPr>
              <a:t>37.5%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235440" y="1188720"/>
            <a:ext cx="2468880" cy="1554480"/>
          </a:xfrm>
          <a:prstGeom prst="rect">
            <a:avLst/>
          </a:prstGeom>
          <a:solidFill>
            <a:srgbClr val="E8F4FD"/>
          </a:solidFill>
          <a:ln>
            <a:solidFill>
              <a:srgbClr val="007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35440" y="1325880"/>
            <a:ext cx="2468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666666"/>
                </a:solidFill>
              </a:rPr>
              <a:t>Correct extraction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0" y="1645920"/>
            <a:ext cx="24688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D97706"/>
                </a:solidFill>
              </a:rPr>
              <a:t>25%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2971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41E42"/>
                </a:solidFill>
              </a:rPr>
              <a:t>What hallucination looked like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337560"/>
            <a:ext cx="112471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</a:rPr>
              <a:t>• "Walmart receipt: $39.99, handwritten 'Damaged Box'" — actually a product page, no price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</a:rPr>
              <a:t>• "Order status PENDING" — no PENDING text anywhere in the image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</a:rPr>
              <a:t>• "12-pack of 12 fl oz Zero-Sugar Dr Pepper" — actually a single 42.3 fl oz regular bottle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</a:rPr>
              <a:t>• 1 in 2 image posts generated fabricated data → corrupted dashboards.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</a:rPr>
              <a:t>Retail Sentiment Intelligence  ·  BITS ZG628T Dissertation  ·  Vishal Singh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53796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</a:rPr>
              <a:t>11 / 32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41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Recap 2 · Root Cause + Academic Research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FFC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41E42"/>
                </a:solidFill>
              </a:rPr>
              <a:t>Root cause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</a:rPr>
              <a:t>• 768-px fixed resize — small text unreadable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</a:rPr>
              <a:t>• 4 B parameters — struggles with multi-element reasoning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</a:rPr>
              <a:t>• No dynamic resolution — one scale for the whole image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</a:rPr>
              <a:t>• Invents plausible details rather than admit uncertainty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</a:rPr>
              <a:t>• No context awareness — screenshot vs physical display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00584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41E42"/>
                </a:solidFill>
              </a:rPr>
              <a:t>5 papers reviewed (2023–2025)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217920" y="1371600"/>
          <a:ext cx="566928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2834640"/>
              </a:tblGrid>
              <a:tr h="48768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Paper</a:t>
                      </a:r>
                    </a:p>
                  </a:txBody>
                  <a:tcPr>
                    <a:solidFill>
                      <a:srgbClr val="041E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Technique</a:t>
                      </a:r>
                    </a:p>
                  </a:txBody>
                  <a:tcPr>
                    <a:solidFill>
                      <a:srgbClr val="041E42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33333"/>
                          </a:solidFill>
                        </a:rPr>
                        <a:t>UReader (Tencent)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Shape-adaptive cropping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33333"/>
                          </a:solidFill>
                        </a:rPr>
                        <a:t>TextMonkey (USTC)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Shifted window attention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33333"/>
                          </a:solidFill>
                        </a:rPr>
                        <a:t>DocOwl 1.5 (Alibaba)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Structure-aware parsing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33333"/>
                          </a:solidFill>
                        </a:rPr>
                        <a:t>InternVL2 (Shanghai AI)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Tile-based processing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33333"/>
                          </a:solidFill>
                        </a:rPr>
                        <a:t>Qwen2.5-VL (Alibaba)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Dynamic resolution + m-RoPE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457200" y="5120640"/>
            <a:ext cx="11430000" cy="1097280"/>
          </a:xfrm>
          <a:prstGeom prst="rect">
            <a:avLst/>
          </a:prstGeom>
          <a:solidFill>
            <a:srgbClr val="FEF3C7"/>
          </a:solidFill>
          <a:ln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5257800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D97706"/>
                </a:solidFill>
              </a:rPr>
              <a:t>Every model that solves our problem is China-origin — blocked by Walmart vendor policy.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66928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</a:rPr>
              <a:t>Our answer: take the TECHNIQUES from the papers and implement them as CODE on Gemma 3 4B.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</a:rPr>
              <a:t>Retail Sentiment Intelligence  ·  BITS ZG628T Dissertation  ·  Vishal Singh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53796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</a:rPr>
              <a:t>12 / 32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41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Recap 2 · The Fix — Multi-Pass Captioning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11430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E8F4FD"/>
                </a:solidFill>
              </a:rPr>
              <a:t>Same model, same hardware, smarter calling strategy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FFC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828800"/>
            <a:ext cx="2743200" cy="2377440"/>
          </a:xfrm>
          <a:prstGeom prst="rect">
            <a:avLst/>
          </a:prstGeom>
          <a:solidFill>
            <a:srgbClr val="F5F5F5"/>
          </a:solidFill>
          <a:ln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828800"/>
            <a:ext cx="2743200" cy="4572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901952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PASS 1  ·  STRUCTURE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468880"/>
            <a:ext cx="27432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</a:rPr>
              <a:t>What TYPE of image?</a:t>
            </a:r>
          </a:p>
          <a:p>
            <a:pPr algn="ctr"/>
            <a:r>
              <a:rPr sz="1200" b="0">
                <a:solidFill>
                  <a:srgbClr val="333333"/>
                </a:solidFill>
              </a:rPr>
              <a:t>(screenshot / photo /</a:t>
            </a:r>
          </a:p>
          <a:p>
            <a:pPr algn="ctr"/>
            <a:r>
              <a:rPr sz="1200" b="0">
                <a:solidFill>
                  <a:srgbClr val="333333"/>
                </a:solidFill>
              </a:rPr>
              <a:t>receipt / app / meme)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113532" y="2834640"/>
            <a:ext cx="128016" cy="365760"/>
          </a:xfrm>
          <a:prstGeom prst="rightArrow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46120" y="1828800"/>
            <a:ext cx="2743200" cy="2377440"/>
          </a:xfrm>
          <a:prstGeom prst="rect">
            <a:avLst/>
          </a:prstGeom>
          <a:solidFill>
            <a:srgbClr val="F5F5F5"/>
          </a:solidFill>
          <a:ln>
            <a:solidFill>
              <a:srgbClr val="007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46120" y="1828800"/>
            <a:ext cx="2743200" cy="457200"/>
          </a:xfrm>
          <a:prstGeom prst="rect">
            <a:avLst/>
          </a:prstGeom>
          <a:solidFill>
            <a:srgbClr val="007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46120" y="1901952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PASS 2  ·  TILE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46120" y="2468880"/>
            <a:ext cx="27432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</a:rPr>
              <a:t>Split into 2–4 crops</a:t>
            </a:r>
          </a:p>
          <a:p>
            <a:pPr algn="ctr"/>
            <a:r>
              <a:rPr sz="1200" b="0">
                <a:solidFill>
                  <a:srgbClr val="333333"/>
                </a:solidFill>
              </a:rPr>
              <a:t>2–4× effective resolution</a:t>
            </a:r>
          </a:p>
          <a:p>
            <a:pPr algn="ctr"/>
            <a:r>
              <a:rPr sz="1200" b="0">
                <a:solidFill>
                  <a:srgbClr val="333333"/>
                </a:solidFill>
              </a:rPr>
              <a:t>no resize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993892" y="2834640"/>
            <a:ext cx="128016" cy="365760"/>
          </a:xfrm>
          <a:prstGeom prst="rightArrow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26480" y="1828800"/>
            <a:ext cx="2743200" cy="2377440"/>
          </a:xfrm>
          <a:prstGeom prst="rect">
            <a:avLst/>
          </a:prstGeom>
          <a:solidFill>
            <a:srgbClr val="F5F5F5"/>
          </a:solidFill>
          <a:ln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26480" y="1828800"/>
            <a:ext cx="2743200" cy="4572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0" y="1901952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PASS 3  ·  EXTRACT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2468880"/>
            <a:ext cx="27432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</a:rPr>
              <a:t>Per tile: read ALL</a:t>
            </a:r>
          </a:p>
          <a:p>
            <a:pPr algn="ctr"/>
            <a:r>
              <a:rPr sz="1200" b="0">
                <a:solidFill>
                  <a:srgbClr val="333333"/>
                </a:solidFill>
              </a:rPr>
              <a:t>text verbatim</a:t>
            </a:r>
          </a:p>
          <a:p>
            <a:pPr algn="ctr"/>
            <a:r>
              <a:rPr sz="1200" b="0">
                <a:solidFill>
                  <a:srgbClr val="333333"/>
                </a:solidFill>
              </a:rPr>
              <a:t>(quotes, prices, buttons)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8874252" y="2834640"/>
            <a:ext cx="128016" cy="365760"/>
          </a:xfrm>
          <a:prstGeom prst="rightArrow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06840" y="1828800"/>
            <a:ext cx="2743200" cy="2377440"/>
          </a:xfrm>
          <a:prstGeom prst="rect">
            <a:avLst/>
          </a:prstGeom>
          <a:solidFill>
            <a:srgbClr val="F5F5F5"/>
          </a:solidFill>
          <a:ln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06840" y="1828800"/>
            <a:ext cx="274320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06840" y="1901952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PASS 4  ·  MERGE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06840" y="2468880"/>
            <a:ext cx="27432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</a:rPr>
              <a:t>Text-only LLM call</a:t>
            </a:r>
          </a:p>
          <a:p>
            <a:pPr algn="ctr"/>
            <a:r>
              <a:rPr sz="1200" b="0">
                <a:solidFill>
                  <a:srgbClr val="333333"/>
                </a:solidFill>
              </a:rPr>
              <a:t>— image is REMOVED —</a:t>
            </a:r>
          </a:p>
          <a:p>
            <a:pPr algn="ctr"/>
            <a:r>
              <a:rPr sz="1200" b="0">
                <a:solidFill>
                  <a:srgbClr val="333333"/>
                </a:solidFill>
              </a:rPr>
              <a:t>model cannot invent visuals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572000"/>
            <a:ext cx="11430000" cy="1463040"/>
          </a:xfrm>
          <a:prstGeom prst="rect">
            <a:avLst/>
          </a:prstGeom>
          <a:solidFill>
            <a:srgbClr val="DCFCE7"/>
          </a:solidFill>
          <a:ln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470916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0B981"/>
                </a:solidFill>
              </a:rPr>
              <a:t>Key insight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074920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</a:rPr>
              <a:t>By removing the image from the final generation step the model physically cannot invent visual details — it can only work with text actually extracted in Pass 3.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</a:rPr>
              <a:t>Retail Sentiment Intelligence  ·  BITS ZG628T Dissertation  ·  Vishal Singh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53796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</a:rPr>
              <a:t>13 / 32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41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Recap 2 · Payoff — Hallucination Eliminated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FFC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97280"/>
          <a:ext cx="1124712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81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Metric</a:t>
                      </a:r>
                    </a:p>
                  </a:txBody>
                  <a:tcPr>
                    <a:solidFill>
                      <a:srgbClr val="041E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Before (single-pass)</a:t>
                      </a:r>
                    </a:p>
                  </a:txBody>
                  <a:tcPr>
                    <a:solidFill>
                      <a:srgbClr val="041E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After (multi-pass)</a:t>
                      </a:r>
                    </a:p>
                  </a:txBody>
                  <a:tcPr>
                    <a:solidFill>
                      <a:srgbClr val="041E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Change</a:t>
                      </a:r>
                    </a:p>
                  </a:txBody>
                  <a:tcPr>
                    <a:solidFill>
                      <a:srgbClr val="041E4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33333"/>
                          </a:solidFill>
                        </a:rPr>
                        <a:t>Hallucination rate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50 % (4/8)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0 % (0/8)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↓ 100 %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33333"/>
                          </a:solidFill>
                        </a:rPr>
                        <a:t>Overall failure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75 % (6/8)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25 % (2/8)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↓ 67 %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33333"/>
                          </a:solidFill>
                        </a:rPr>
                        <a:t>Correct text extraction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25 % (2/8)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75 % (6/8)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3× better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33333"/>
                          </a:solidFill>
                        </a:rPr>
                        <a:t>Fabricated claims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8 total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eliminated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33333"/>
                          </a:solidFill>
                        </a:rPr>
                        <a:t>Latency / image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~5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~15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3× (acceptable)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36576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41E42"/>
                </a:solidFill>
              </a:rPr>
              <a:t>Scaled validation — 25 images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4069080"/>
            <a:ext cx="3566160" cy="1737360"/>
          </a:xfrm>
          <a:prstGeom prst="rect">
            <a:avLst/>
          </a:prstGeom>
          <a:solidFill>
            <a:srgbClr val="DCFCE7"/>
          </a:solidFill>
          <a:ln>
            <a:solidFill>
              <a:srgbClr val="007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420624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666666"/>
                </a:solidFill>
              </a:rPr>
              <a:t>PASS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526280"/>
            <a:ext cx="3566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10B981"/>
                </a:solidFill>
              </a:rPr>
              <a:t>22 / 25 (88%)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4069080"/>
            <a:ext cx="3566160" cy="1737360"/>
          </a:xfrm>
          <a:prstGeom prst="rect">
            <a:avLst/>
          </a:prstGeom>
          <a:solidFill>
            <a:srgbClr val="FEF3C7"/>
          </a:solidFill>
          <a:ln>
            <a:solidFill>
              <a:srgbClr val="007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0" y="420624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666666"/>
                </a:solidFill>
              </a:rPr>
              <a:t>PARTIAL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4526280"/>
            <a:ext cx="3566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D97706"/>
                </a:solidFill>
              </a:rPr>
              <a:t>3 / 25 (12%)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4069080"/>
            <a:ext cx="3566160" cy="1737360"/>
          </a:xfrm>
          <a:prstGeom prst="rect">
            <a:avLst/>
          </a:prstGeom>
          <a:solidFill>
            <a:srgbClr val="DCFCE7"/>
          </a:solidFill>
          <a:ln>
            <a:solidFill>
              <a:srgbClr val="007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0" y="420624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666666"/>
                </a:solidFill>
              </a:rPr>
              <a:t>FAIL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4526280"/>
            <a:ext cx="3566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10B981"/>
                </a:solidFill>
              </a:rPr>
              <a:t>0 / 25 (0%)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</a:rPr>
              <a:t>Retail Sentiment Intelligence  ·  BITS ZG628T Dissertation  ·  Vishal Singh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53796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</a:rPr>
              <a:t>14 / 32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41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Recap 3 · Trust Score — Weighted Formula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FFC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47120" cy="914400"/>
          </a:xfrm>
          <a:prstGeom prst="rect">
            <a:avLst/>
          </a:prstGeom>
          <a:solidFill>
            <a:srgbClr val="E8F4FD"/>
          </a:solidFill>
          <a:ln>
            <a:solidFill>
              <a:srgbClr val="007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41E42"/>
                </a:solidFill>
              </a:rPr>
              <a:t>trust_score  =  0.4 × metadata  +  0.3 × dedup  +  0.3 × llm_credibility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9456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41E42"/>
                </a:solidFill>
              </a:rPr>
              <a:t>Component weights inside metadata score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2606040"/>
          <a:ext cx="1124712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5181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Signal</a:t>
                      </a:r>
                    </a:p>
                  </a:txBody>
                  <a:tcPr>
                    <a:solidFill>
                      <a:srgbClr val="041E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Formula</a:t>
                      </a:r>
                    </a:p>
                  </a:txBody>
                  <a:tcPr>
                    <a:solidFill>
                      <a:srgbClr val="041E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Weight</a:t>
                      </a:r>
                    </a:p>
                  </a:txBody>
                  <a:tcPr>
                    <a:solidFill>
                      <a:srgbClr val="041E42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33333"/>
                          </a:solidFill>
                        </a:rPr>
                        <a:t>Base floor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constant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0.15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33333"/>
                          </a:solidFill>
                        </a:rPr>
                        <a:t>Account age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min(account_age_days / 365, 1.0)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0.20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33333"/>
                          </a:solidFill>
                        </a:rPr>
                        <a:t>Karma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min(total_karma / 5000, 1.0)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0.20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33333"/>
                          </a:solidFill>
                        </a:rPr>
                        <a:t>Content length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min((len(title) + len(body)) / 200, 1.0)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0.30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33333"/>
                          </a:solidFill>
                        </a:rPr>
                        <a:t>Engagement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min(max(reddit_score, 0) / 20, 1.0)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0.15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</a:rPr>
              <a:t>LLM credibility is invoked ONLY in the ambiguous zone  (0.3 &lt; metadata &lt; 0.8)  → cost control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</a:rPr>
              <a:t>Retail Sentiment Intelligence  ·  BITS ZG628T Dissertation  ·  Vishal Singh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53796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</a:rPr>
              <a:t>15 / 32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41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Recap 3 · Confidence &amp; Priority Classification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FFC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41E42"/>
                </a:solidFill>
              </a:rPr>
              <a:t>Confidence = softmax probability of the predicted class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463040"/>
          <a:ext cx="112471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Threshold</a:t>
                      </a:r>
                    </a:p>
                  </a:txBody>
                  <a:tcPr>
                    <a:solidFill>
                      <a:srgbClr val="041E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rgbClr val="041E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Source</a:t>
                      </a:r>
                    </a:p>
                  </a:txBody>
                  <a:tcPr>
                    <a:solidFill>
                      <a:srgbClr val="041E4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33333"/>
                          </a:solidFill>
                        </a:rPr>
                        <a:t>Analysis confidence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≥ 0.70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config/models.yaml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33333"/>
                          </a:solidFill>
                        </a:rPr>
                        <a:t>Notification P1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trust ≥ 0.70  AND  conf ≥ 0.80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dispatcher.py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33333"/>
                          </a:solidFill>
                        </a:rPr>
                        <a:t>Notification P2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trust ≥ 0.50  AND  conf ≥ 0.60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dispatcher.py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3657600"/>
            <a:ext cx="5486400" cy="2377440"/>
          </a:xfrm>
          <a:prstGeom prst="rect">
            <a:avLst/>
          </a:prstGeom>
          <a:solidFill>
            <a:srgbClr val="FEE2E2"/>
          </a:solidFill>
          <a:ln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840480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EF4444"/>
                </a:solidFill>
              </a:rPr>
              <a:t>P1  ·  Immediate 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343400"/>
            <a:ext cx="51206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</a:rPr>
              <a:t>trust ≥ 0.70  ∧  confidence ≥ 0.80</a:t>
            </a:r>
          </a:p>
          <a:p>
            <a:pPr algn="l"/>
            <a:r>
              <a:rPr sz="1300" b="0">
                <a:solidFill>
                  <a:srgbClr val="333333"/>
                </a:solidFill>
              </a:rPr>
              <a:t>High-signal negative posts</a:t>
            </a:r>
          </a:p>
          <a:p>
            <a:pPr algn="l"/>
            <a:r>
              <a:rPr sz="1300" b="0">
                <a:solidFill>
                  <a:srgbClr val="333333"/>
                </a:solidFill>
              </a:rPr>
              <a:t>routed to on-call groups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3657600"/>
            <a:ext cx="5486400" cy="2377440"/>
          </a:xfrm>
          <a:prstGeom prst="rect">
            <a:avLst/>
          </a:prstGeom>
          <a:solidFill>
            <a:srgbClr val="FEF3C7"/>
          </a:solidFill>
          <a:ln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3840480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D97706"/>
                </a:solidFill>
              </a:rPr>
              <a:t>P2  ·  Review-worthy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4343400"/>
            <a:ext cx="51206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</a:rPr>
              <a:t>trust ≥ 0.50  ∧  confidence ≥ 0.60</a:t>
            </a:r>
          </a:p>
          <a:p>
            <a:pPr algn="l"/>
            <a:r>
              <a:rPr sz="1300" b="0">
                <a:solidFill>
                  <a:srgbClr val="333333"/>
                </a:solidFill>
              </a:rPr>
              <a:t>Queue for analyst review</a:t>
            </a:r>
          </a:p>
          <a:p>
            <a:pPr algn="l"/>
            <a:r>
              <a:rPr sz="1300" b="0">
                <a:solidFill>
                  <a:srgbClr val="333333"/>
                </a:solidFill>
              </a:rPr>
              <a:t>lower urgency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</a:rPr>
              <a:t>Retail Sentiment Intelligence  ·  BITS ZG628T Dissertation  ·  Vishal Singh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53796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</a:rPr>
              <a:t>16 / 32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41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Recap 4 · Why ModernBERT — not RoBERTa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11430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E8F4FD"/>
                </a:solidFill>
              </a:rPr>
              <a:t>Long-context, domain-fine-tuned encoders beat Twitter baselines on Reddit complaints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FFC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051560"/>
          <a:ext cx="1124712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54864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Criterion</a:t>
                      </a:r>
                    </a:p>
                  </a:txBody>
                  <a:tcPr>
                    <a:solidFill>
                      <a:srgbClr val="041E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RoBERTa (cardiffnlp/twitter)</a:t>
                      </a:r>
                    </a:p>
                  </a:txBody>
                  <a:tcPr>
                    <a:solidFill>
                      <a:srgbClr val="041E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ModernBERT (answerdotai)</a:t>
                      </a:r>
                    </a:p>
                  </a:txBody>
                  <a:tcPr>
                    <a:solidFill>
                      <a:srgbClr val="041E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Winner</a:t>
                      </a:r>
                    </a:p>
                  </a:txBody>
                  <a:tcPr>
                    <a:solidFill>
                      <a:srgbClr val="041E4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33333"/>
                          </a:solidFill>
                        </a:rPr>
                        <a:t>Context length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512 tokens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8192 tokens  (16×)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ModernBERT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33333"/>
                          </a:solidFill>
                        </a:rPr>
                        <a:t>Training corpus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Twitter (short, casual)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Web + code + long docs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ModernBERT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33333"/>
                          </a:solidFill>
                        </a:rPr>
                        <a:t>Long-post F1 (≥512 tok)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0.2778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1.0000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ModernBERT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33333"/>
                          </a:solidFill>
                        </a:rPr>
                        <a:t>Overall Macro F1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0.6272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0.7642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ModernBERT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33333"/>
                          </a:solidFill>
                        </a:rPr>
                        <a:t>Latency (MPS, ms/post)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6.5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11.9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RoBERTa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33333"/>
                          </a:solidFill>
                        </a:rPr>
                        <a:t>Off-the-shelf quality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Strong baseline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Weak without fine-tuning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RoBERTa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5120640"/>
            <a:ext cx="11247120" cy="1097280"/>
          </a:xfrm>
          <a:prstGeom prst="rect">
            <a:avLst/>
          </a:prstGeom>
          <a:solidFill>
            <a:srgbClr val="E8F4FD"/>
          </a:solidFill>
          <a:ln>
            <a:solidFill>
              <a:srgbClr val="007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2578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071DC"/>
                </a:solidFill>
              </a:rPr>
              <a:t>Decision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62356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>Accept +5 ms latency for +0.137 Macro F1.  RoBERTa is retained as fallback in config/models.yaml if the local checkpoint is missing.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</a:rPr>
              <a:t>Retail Sentiment Intelligence  ·  BITS ZG628T Dissertation  ·  Vishal Singh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53796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</a:rPr>
              <a:t>17 / 32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41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Recap 4 · 3-Stage Curriculum Training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FFC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3657600" cy="2377440"/>
          </a:xfrm>
          <a:prstGeom prst="rect">
            <a:avLst/>
          </a:prstGeom>
          <a:solidFill>
            <a:srgbClr val="F5F5F5"/>
          </a:solidFill>
          <a:ln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3657600" cy="4572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44752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STAGE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65960"/>
            <a:ext cx="3657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041E42"/>
                </a:solidFill>
              </a:rPr>
              <a:t>TweetEval-sentiment</a:t>
            </a:r>
          </a:p>
          <a:p>
            <a:pPr algn="ctr"/>
            <a:r>
              <a:rPr sz="1300" b="1">
                <a:solidFill>
                  <a:srgbClr val="041E42"/>
                </a:solidFill>
              </a:rPr>
              <a:t>45 K tweets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43200"/>
            <a:ext cx="3657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</a:rPr>
              <a:t>2 epochs</a:t>
            </a:r>
          </a:p>
          <a:p>
            <a:pPr algn="ctr"/>
            <a:r>
              <a:rPr sz="1200" b="0">
                <a:solidFill>
                  <a:srgbClr val="333333"/>
                </a:solidFill>
              </a:rPr>
              <a:t>Polarity grounding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210812" y="2377440"/>
            <a:ext cx="128016" cy="365760"/>
          </a:xfrm>
          <a:prstGeom prst="rightArrow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371600"/>
            <a:ext cx="3657600" cy="2377440"/>
          </a:xfrm>
          <a:prstGeom prst="rect">
            <a:avLst/>
          </a:prstGeom>
          <a:solidFill>
            <a:srgbClr val="F5F5F5"/>
          </a:solidFill>
          <a:ln>
            <a:solidFill>
              <a:srgbClr val="007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371600"/>
            <a:ext cx="3657600" cy="457200"/>
          </a:xfrm>
          <a:prstGeom prst="rect">
            <a:avLst/>
          </a:prstGeom>
          <a:solidFill>
            <a:srgbClr val="007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400" y="1444752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STAGE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1965960"/>
            <a:ext cx="3657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041E42"/>
                </a:solidFill>
              </a:rPr>
              <a:t>GoEmotions-3class</a:t>
            </a:r>
          </a:p>
          <a:p>
            <a:pPr algn="ctr"/>
            <a:r>
              <a:rPr sz="1300" b="1">
                <a:solidFill>
                  <a:srgbClr val="041E42"/>
                </a:solidFill>
              </a:rPr>
              <a:t>54 K Reddit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2743200"/>
            <a:ext cx="3657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</a:rPr>
              <a:t>2 epochs</a:t>
            </a:r>
          </a:p>
          <a:p>
            <a:pPr algn="ctr"/>
            <a:r>
              <a:rPr sz="1200" b="0">
                <a:solidFill>
                  <a:srgbClr val="333333"/>
                </a:solidFill>
              </a:rPr>
              <a:t>Reddit register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8005572" y="2377440"/>
            <a:ext cx="128016" cy="365760"/>
          </a:xfrm>
          <a:prstGeom prst="rightArrow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38160" y="1371600"/>
            <a:ext cx="3657600" cy="2377440"/>
          </a:xfrm>
          <a:prstGeom prst="rect">
            <a:avLst/>
          </a:prstGeom>
          <a:solidFill>
            <a:srgbClr val="F5F5F5"/>
          </a:solidFill>
          <a:ln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38160" y="1371600"/>
            <a:ext cx="365760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38160" y="1444752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STAGE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1965960"/>
            <a:ext cx="3657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041E42"/>
                </a:solidFill>
              </a:rPr>
              <a:t>Walmart-200</a:t>
            </a:r>
          </a:p>
          <a:p>
            <a:pPr algn="ctr"/>
            <a:r>
              <a:rPr sz="1300" b="1">
                <a:solidFill>
                  <a:srgbClr val="041E42"/>
                </a:solidFill>
              </a:rPr>
              <a:t>5-fold CV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60" y="2743200"/>
            <a:ext cx="3657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</a:rPr>
              <a:t>up to 15 epochs</a:t>
            </a:r>
          </a:p>
          <a:p>
            <a:pPr algn="ctr"/>
            <a:r>
              <a:rPr sz="1200" b="0">
                <a:solidFill>
                  <a:srgbClr val="333333"/>
                </a:solidFill>
              </a:rPr>
              <a:t>patience=3</a:t>
            </a:r>
          </a:p>
          <a:p>
            <a:pPr algn="ctr"/>
            <a:r>
              <a:rPr sz="1200" b="0">
                <a:solidFill>
                  <a:srgbClr val="333333"/>
                </a:solidFill>
              </a:rPr>
              <a:t>Domain specialization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114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41E42"/>
                </a:solidFill>
              </a:rPr>
              <a:t>Training configuration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48056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</a:rPr>
              <a:t>• max_length = 1024 tokens  (key lever for long-context advantage)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</a:rPr>
              <a:t>• Effective batch size 32  (per-device BS=8 × grad-accum=4)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</a:rPr>
              <a:t>• Class weights  neg=0.52  neu=1.03  pos=8.33  (inverse frequency)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</a:rPr>
              <a:t>• Minority oversampling to ~100/class per training fold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</a:rPr>
              <a:t>• Early stopping on eval_macro_f1 with patience=3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</a:rPr>
              <a:t>• Hardware — Apple M-series (MPS backend)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</a:rPr>
              <a:t>Retail Sentiment Intelligence  ·  BITS ZG628T Dissertation  ·  Vishal Singh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53796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</a:rPr>
              <a:t>18 / 32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41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Recap 4 · Payoff — ModernBERT vs RoBERTa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11430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E8F4FD"/>
                </a:solidFill>
              </a:rPr>
              <a:t>5-fold out-of-fold cross-validation on 200 real Walmart-Reddit posts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FFC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3657600" cy="1645920"/>
          </a:xfrm>
          <a:prstGeom prst="rect">
            <a:avLst/>
          </a:prstGeom>
          <a:solidFill>
            <a:srgbClr val="DCFCE7"/>
          </a:solidFill>
          <a:ln>
            <a:solidFill>
              <a:srgbClr val="007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666666"/>
                </a:solidFill>
              </a:rPr>
              <a:t>Overall Macro F1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54480"/>
            <a:ext cx="3657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10B981"/>
                </a:solidFill>
              </a:rPr>
              <a:t>0.6272 → 0.7642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097280"/>
            <a:ext cx="3657600" cy="1645920"/>
          </a:xfrm>
          <a:prstGeom prst="rect">
            <a:avLst/>
          </a:prstGeom>
          <a:solidFill>
            <a:srgbClr val="DCFCE7"/>
          </a:solidFill>
          <a:ln>
            <a:solidFill>
              <a:srgbClr val="007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0" y="123444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666666"/>
                </a:solidFill>
              </a:rPr>
              <a:t>Long-post F1  (≥ 512 tok)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1554480"/>
            <a:ext cx="3657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10B981"/>
                </a:solidFill>
              </a:rPr>
              <a:t>0.28 → 1.00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38160" y="1097280"/>
            <a:ext cx="3566160" cy="1645920"/>
          </a:xfrm>
          <a:prstGeom prst="rect">
            <a:avLst/>
          </a:prstGeom>
          <a:solidFill>
            <a:srgbClr val="E8F4FD"/>
          </a:solidFill>
          <a:ln>
            <a:solidFill>
              <a:srgbClr val="007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60" y="123444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666666"/>
                </a:solidFill>
              </a:rPr>
              <a:t>Improvement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1554480"/>
            <a:ext cx="3566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0071DC"/>
                </a:solidFill>
              </a:rPr>
              <a:t>+22 %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457200" y="2926080"/>
          <a:ext cx="1124712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41148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Metric</a:t>
                      </a:r>
                    </a:p>
                  </a:txBody>
                  <a:tcPr>
                    <a:solidFill>
                      <a:srgbClr val="041E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RoBERTa</a:t>
                      </a:r>
                    </a:p>
                  </a:txBody>
                  <a:tcPr>
                    <a:solidFill>
                      <a:srgbClr val="041E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ModernBERT v2</a:t>
                      </a:r>
                    </a:p>
                  </a:txBody>
                  <a:tcPr>
                    <a:solidFill>
                      <a:srgbClr val="041E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Δ</a:t>
                      </a:r>
                    </a:p>
                  </a:txBody>
                  <a:tcPr>
                    <a:solidFill>
                      <a:srgbClr val="041E4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33333"/>
                          </a:solidFill>
                        </a:rPr>
                        <a:t>Macro F1 (overall)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0.6272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0.7642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+0.137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33333"/>
                          </a:solidFill>
                        </a:rPr>
                        <a:t>F1 negative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0.7967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0.8779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+0.081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33333"/>
                          </a:solidFill>
                        </a:rPr>
                        <a:t>F1 neutral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0.6087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0.7480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+0.139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33333"/>
                          </a:solidFill>
                        </a:rPr>
                        <a:t>F1 positive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0.4762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0.6667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+0.190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33333"/>
                          </a:solidFill>
                        </a:rPr>
                        <a:t>Long-post F1 (≥ 512 tokens)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0.2778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1.0000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+0.722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33333"/>
                          </a:solidFill>
                        </a:rPr>
                        <a:t>Short-post F1 (n = 193)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0.6360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0.7619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+0.126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33333"/>
                          </a:solidFill>
                        </a:rPr>
                        <a:t>Latency (ms/post, MPS)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6.5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11.9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+5.4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</a:rPr>
              <a:t>Retail Sentiment Intelligence  ·  BITS ZG628T Dissertation  ·  Vishal Singh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53796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</a:rPr>
              <a:t>19 / 32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41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Recap 4 · Training Evidence — Artifacts on Disk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11430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E8F4FD"/>
                </a:solidFill>
              </a:rPr>
              <a:t>Proof ModernBERT was actually fine-tuned in-house (not a downloaded checkpoint)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FFC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5669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41E42"/>
                </a:solidFill>
              </a:rPr>
              <a:t>Training pipeline (scripts → outputs)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371600"/>
          <a:ext cx="576072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0360"/>
                <a:gridCol w="2880360"/>
              </a:tblGrid>
              <a:tr h="6553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Stage</a:t>
                      </a:r>
                    </a:p>
                  </a:txBody>
                  <a:tcPr>
                    <a:solidFill>
                      <a:srgbClr val="041E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Script</a:t>
                      </a:r>
                    </a:p>
                  </a:txBody>
                  <a:tcPr>
                    <a:solidFill>
                      <a:srgbClr val="041E42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333333"/>
                          </a:solidFill>
                        </a:rPr>
                        <a:t>Data collection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fetch_real_benchmark.py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333333"/>
                          </a:solidFill>
                        </a:rPr>
                        <a:t>Human labeling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label_benchmark.py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333333"/>
                          </a:solidFill>
                        </a:rPr>
                        <a:t>Curriculum train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train_modernbert_sentiment.py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333333"/>
                          </a:solidFill>
                        </a:rPr>
                        <a:t>Honest eval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eval_sentiment_models.py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333333"/>
                          </a:solidFill>
                        </a:rPr>
                        <a:t>Thesis chapter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docs/MODEL_COMPARISON.md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0" y="1005840"/>
            <a:ext cx="5303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41E42"/>
                </a:solidFill>
              </a:rPr>
              <a:t>Checkpoints produced (on disk today)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371600"/>
            <a:ext cx="5394960" cy="3017520"/>
          </a:xfrm>
          <a:prstGeom prst="rect">
            <a:avLst/>
          </a:prstGeom>
          <a:solidFill>
            <a:srgbClr val="041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1463040"/>
            <a:ext cx="5212080" cy="2834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models/modernbert_walmart/</a:t>
            </a:r>
          </a:p>
          <a:p>
            <a:pPr algn="l"/>
            <a:r>
              <a:rPr sz="1100" b="0">
                <a:solidFill>
                  <a:srgbClr val="FFFFFF"/>
                </a:solidFill>
              </a:rPr>
              <a:t>├─ stage1_tweeteval/     macro F1 = 0.7267</a:t>
            </a:r>
          </a:p>
          <a:p>
            <a:pPr algn="l"/>
            <a:r>
              <a:rPr sz="1100" b="0">
                <a:solidFill>
                  <a:srgbClr val="FFFFFF"/>
                </a:solidFill>
              </a:rPr>
              <a:t>├─ stage2_goemotions/    macro F1 = 0.7028</a:t>
            </a:r>
          </a:p>
          <a:p>
            <a:pPr algn="l"/>
            <a:r>
              <a:rPr sz="1100" b="0">
                <a:solidFill>
                  <a:srgbClr val="FFFFFF"/>
                </a:solidFill>
              </a:rPr>
              <a:t>├─ stage3_walmart/       5-fold CV artefacts</a:t>
            </a:r>
          </a:p>
          <a:p>
            <a:pPr algn="l"/>
            <a:r>
              <a:rPr sz="1100" b="0">
                <a:solidFill>
                  <a:srgbClr val="FFFFFF"/>
                </a:solidFill>
              </a:rPr>
              <a:t>├─ final/                production checkpoint</a:t>
            </a:r>
          </a:p>
          <a:p>
            <a:pPr algn="l"/>
            <a:r>
              <a:rPr sz="1100" b="0">
                <a:solidFill>
                  <a:srgbClr val="FFFFFF"/>
                </a:solidFill>
              </a:rPr>
              <a:t>├─ final_max512/         v1 ablation</a:t>
            </a:r>
          </a:p>
          <a:p>
            <a:pPr algn="l"/>
            <a:r>
              <a:rPr sz="1100" b="0">
                <a:solidFill>
                  <a:srgbClr val="FFFFFF"/>
                </a:solidFill>
              </a:rPr>
              <a:t>└─ eval_results.json     aggregated CV metrics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5486400"/>
            <a:ext cx="11247120" cy="91440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553212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FC220"/>
                </a:solidFill>
              </a:rPr>
              <a:t>Reproduction (offline)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85216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HF_HUB_OFFLINE=1 TRANSFORMERS_OFFLINE=1 HF_DATASETS_OFFLINE=1  python scripts/train_modernbert_sentiment.py  --stages 1,2,3 --folds 5 --max-length 1024 --batch-size 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394960"/>
            <a:ext cx="5760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</a:rPr>
              <a:t>Integration smoke test — 5/5 correct on first 5 real benchmark posts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</a:rPr>
              <a:t>Retail Sentiment Intelligence  ·  BITS ZG628T Dissertation  ·  Vishal Singh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53796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</a:rPr>
              <a:t>20 / 32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41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Recap 5 · Dashboard Pages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FFC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97280"/>
          <a:ext cx="1124712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52578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Page</a:t>
                      </a:r>
                    </a:p>
                  </a:txBody>
                  <a:tcPr>
                    <a:solidFill>
                      <a:srgbClr val="041E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Priority</a:t>
                      </a:r>
                    </a:p>
                  </a:txBody>
                  <a:tcPr>
                    <a:solidFill>
                      <a:srgbClr val="041E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Purpose</a:t>
                      </a:r>
                    </a:p>
                  </a:txBody>
                  <a:tcPr>
                    <a:solidFill>
                      <a:srgbClr val="041E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Key metric</a:t>
                      </a:r>
                    </a:p>
                  </a:txBody>
                  <a:tcPr>
                    <a:solidFill>
                      <a:srgbClr val="041E42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33333"/>
                          </a:solidFill>
                        </a:rPr>
                        <a:t>Brand Health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P0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At-a-glance KPIs &amp; trends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Overall sentiment score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33333"/>
                          </a:solidFill>
                        </a:rPr>
                        <a:t>Post Explorer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P1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Search / filter all posts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Volume + sentiment distribution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33333"/>
                          </a:solidFill>
                        </a:rPr>
                        <a:t>Review &amp; Validate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P0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Correct labels + draft replies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Accuracy improvement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33333"/>
                          </a:solidFill>
                        </a:rPr>
                        <a:t>Post Lifecycle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P0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Kanban (triaged → resolved)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Resolution rate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33333"/>
                          </a:solidFill>
                        </a:rPr>
                        <a:t>Insights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P1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AI-generated competitor analysis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Issue rankings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33333"/>
                          </a:solidFill>
                        </a:rPr>
                        <a:t>Pipeline Control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P1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Monitor &amp; trigger runs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Jobs, cursors, health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33333"/>
                          </a:solidFill>
                        </a:rPr>
                        <a:t>Notifications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P1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Group-based alert routing config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Delivery log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57784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071DC"/>
                </a:solidFill>
              </a:rPr>
              <a:t>WebSocket push for real-time alerts — no polling needed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</a:rPr>
              <a:t>Retail Sentiment Intelligence  ·  BITS ZG628T Dissertation  ·  Vishal Singh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3796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</a:rPr>
              <a:t>21 / 32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41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Recap 6 · Notification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11430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E8F4FD"/>
                </a:solidFill>
              </a:rPr>
              <a:t>Group-based routing for P1 / P2 posts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FFC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463040"/>
            <a:ext cx="2194560" cy="1463040"/>
          </a:xfrm>
          <a:prstGeom prst="rect">
            <a:avLst/>
          </a:prstGeom>
          <a:solidFill>
            <a:srgbClr val="F5F5F5"/>
          </a:solidFill>
          <a:ln>
            <a:solidFill>
              <a:srgbClr val="007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463040"/>
            <a:ext cx="2194560" cy="137160"/>
          </a:xfrm>
          <a:prstGeom prst="rect">
            <a:avLst/>
          </a:prstGeom>
          <a:solidFill>
            <a:srgbClr val="007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783080"/>
            <a:ext cx="21945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41E42"/>
                </a:solidFill>
              </a:rPr>
              <a:t>Pipeline</a:t>
            </a:r>
          </a:p>
          <a:p>
            <a:pPr algn="ctr"/>
            <a:r>
              <a:rPr sz="1300" b="1">
                <a:solidFill>
                  <a:srgbClr val="041E42"/>
                </a:solidFill>
              </a:rPr>
              <a:t>analyses post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564892" y="2057400"/>
            <a:ext cx="128016" cy="320040"/>
          </a:xfrm>
          <a:prstGeom prst="rightArrow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697480" y="1463040"/>
            <a:ext cx="2194560" cy="1463040"/>
          </a:xfrm>
          <a:prstGeom prst="rect">
            <a:avLst/>
          </a:prstGeom>
          <a:solidFill>
            <a:srgbClr val="F5F5F5"/>
          </a:solidFill>
          <a:ln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697480" y="1463040"/>
            <a:ext cx="2194560" cy="1371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97480" y="1783080"/>
            <a:ext cx="21945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41E42"/>
                </a:solidFill>
              </a:rPr>
              <a:t>classify_priority</a:t>
            </a:r>
          </a:p>
          <a:p>
            <a:pPr algn="ctr"/>
            <a:r>
              <a:rPr sz="1300" b="1">
                <a:solidFill>
                  <a:srgbClr val="041E42"/>
                </a:solidFill>
              </a:rPr>
              <a:t>(trust, conf)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896612" y="2057400"/>
            <a:ext cx="128016" cy="320040"/>
          </a:xfrm>
          <a:prstGeom prst="rightArrow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0" y="1463040"/>
            <a:ext cx="2194560" cy="1463040"/>
          </a:xfrm>
          <a:prstGeom prst="rect">
            <a:avLst/>
          </a:prstGeom>
          <a:solidFill>
            <a:srgbClr val="F5F5F5"/>
          </a:solidFill>
          <a:ln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0" y="1463040"/>
            <a:ext cx="2194560" cy="13716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0" y="1783080"/>
            <a:ext cx="21945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41E42"/>
                </a:solidFill>
              </a:rPr>
              <a:t>Match subreddit</a:t>
            </a:r>
          </a:p>
          <a:p>
            <a:pPr algn="ctr"/>
            <a:r>
              <a:rPr sz="1300" b="1">
                <a:solidFill>
                  <a:srgbClr val="041E42"/>
                </a:solidFill>
              </a:rPr>
              <a:t>+ priority filter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228332" y="2057400"/>
            <a:ext cx="128016" cy="320040"/>
          </a:xfrm>
          <a:prstGeom prst="rightArrow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60920" y="1463040"/>
            <a:ext cx="2194560" cy="1463040"/>
          </a:xfrm>
          <a:prstGeom prst="rect">
            <a:avLst/>
          </a:prstGeom>
          <a:solidFill>
            <a:srgbClr val="F5F5F5"/>
          </a:solidFill>
          <a:ln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60920" y="1463040"/>
            <a:ext cx="2194560" cy="1371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60920" y="1783080"/>
            <a:ext cx="21945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41E42"/>
                </a:solidFill>
              </a:rPr>
              <a:t>Send email +</a:t>
            </a:r>
          </a:p>
          <a:p>
            <a:pPr algn="ctr"/>
            <a:r>
              <a:rPr sz="1300" b="1">
                <a:solidFill>
                  <a:srgbClr val="041E42"/>
                </a:solidFill>
              </a:rPr>
              <a:t>Slack per group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9560052" y="2057400"/>
            <a:ext cx="128016" cy="320040"/>
          </a:xfrm>
          <a:prstGeom prst="rightArrow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692640" y="1463040"/>
            <a:ext cx="2194560" cy="1463040"/>
          </a:xfrm>
          <a:prstGeom prst="rect">
            <a:avLst/>
          </a:prstGeom>
          <a:solidFill>
            <a:srgbClr val="F5F5F5"/>
          </a:solidFill>
          <a:ln>
            <a:solidFill>
              <a:srgbClr val="041E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692640" y="1463040"/>
            <a:ext cx="2194560" cy="137160"/>
          </a:xfrm>
          <a:prstGeom prst="rect">
            <a:avLst/>
          </a:prstGeom>
          <a:solidFill>
            <a:srgbClr val="041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92640" y="1783080"/>
            <a:ext cx="21945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41E42"/>
                </a:solidFill>
              </a:rPr>
              <a:t>Log to</a:t>
            </a:r>
          </a:p>
          <a:p>
            <a:pPr algn="ctr"/>
            <a:r>
              <a:rPr sz="1300" b="1">
                <a:solidFill>
                  <a:srgbClr val="041E42"/>
                </a:solidFill>
              </a:rPr>
              <a:t>notification_log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324612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41E42"/>
                </a:solidFill>
              </a:rPr>
              <a:t>Configuration page (/notifications)  ·  8 REST endpoints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3657600"/>
            <a:ext cx="112471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</a:rPr>
              <a:t>• Create groups — name, subreddits, email DL, Slack channel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</a:rPr>
              <a:t>• Quick-add subreddits by category (Walmart core, Spark, Pharmacy, International, Sam's Club, Competitors)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</a:rPr>
              <a:t>• Priority filter — choose P1, P2, or both per group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</a:rPr>
              <a:t>• Enable / disable toggle + Test (dry-run) simulator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</a:rPr>
              <a:t>• Delivery log — audit trail of all sent notifications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</a:rPr>
              <a:t>Retail Sentiment Intelligence  ·  BITS ZG628T Dissertation  ·  Vishal Singh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53796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</a:rPr>
              <a:t>22 / 32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4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12191695" cy="1371600"/>
          </a:xfrm>
          <a:prstGeom prst="rect">
            <a:avLst/>
          </a:prstGeom>
          <a:solidFill>
            <a:srgbClr val="007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88036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PART 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33756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</a:rPr>
              <a:t>Post Mid-Semester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297680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333333"/>
                </a:solidFill>
              </a:rPr>
              <a:t>5 new capabilities · analyst workflows · lifecycle · competitor insights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</a:rPr>
              <a:t>Retail Sentiment Intelligence  ·  BITS ZG628T Dissertation  ·  Vishal Singh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3796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</a:rPr>
              <a:t>23 / 32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41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Post-Midsem 1 · Review &amp; Validate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11430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E8F4FD"/>
                </a:solidFill>
              </a:rPr>
              <a:t>Human-in-the-loop correction and reply generation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FFC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41E42"/>
                </a:solidFill>
              </a:rPr>
              <a:t>Workflow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17320"/>
            <a:ext cx="11247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</a:rPr>
              <a:t>• Queue shows posts sorted by priority (P1 first)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</a:rPr>
              <a:t>• Analyst reviews sentiment + aspects (correct if wrong)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</a:rPr>
              <a:t>• Click "Generate Drafts" → two reply options generated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</a:rPr>
              <a:t>• Analyst picks A or B, edits, and posts to Reddit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108960"/>
            <a:ext cx="5486400" cy="2560320"/>
          </a:xfrm>
          <a:prstGeom prst="rect">
            <a:avLst/>
          </a:prstGeom>
          <a:solidFill>
            <a:srgbClr val="E8F4FD"/>
          </a:solidFill>
          <a:ln>
            <a:solidFill>
              <a:srgbClr val="007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24612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071DC"/>
                </a:solidFill>
              </a:rPr>
              <a:t>Draft A · Smart Composer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611880"/>
            <a:ext cx="521208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>Keyword extraction  +  curated phrase pools</a:t>
            </a:r>
          </a:p>
          <a:p>
            <a:pPr algn="l"/>
            <a:r>
              <a:rPr sz="1200" b="0">
                <a:solidFill>
                  <a:srgbClr val="333333"/>
                </a:solidFill>
              </a:rPr>
              <a:t>Deterministic, always available</a:t>
            </a:r>
          </a:p>
          <a:p>
            <a:pPr algn="l"/>
            <a:r>
              <a:rPr sz="1200" b="0">
                <a:solidFill>
                  <a:srgbClr val="333333"/>
                </a:solidFill>
              </a:rPr>
              <a:t>Good default tone for retail complaints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3108960"/>
            <a:ext cx="5486400" cy="2560320"/>
          </a:xfrm>
          <a:prstGeom prst="rect">
            <a:avLst/>
          </a:prstGeom>
          <a:solidFill>
            <a:srgbClr val="EDE9FE"/>
          </a:solidFill>
          <a:ln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324612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7C3AED"/>
                </a:solidFill>
              </a:rPr>
              <a:t>Draft B · FLAN-T5-base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611880"/>
            <a:ext cx="521208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>Multi-temperature sampling  +  scorer</a:t>
            </a:r>
          </a:p>
          <a:p>
            <a:pPr algn="l"/>
            <a:r>
              <a:rPr sz="1200" b="0">
                <a:solidFill>
                  <a:srgbClr val="333333"/>
                </a:solidFill>
              </a:rPr>
              <a:t>Best-of-N selection</a:t>
            </a:r>
          </a:p>
          <a:p>
            <a:pPr algn="l"/>
            <a:r>
              <a:rPr sz="1200" b="0">
                <a:solidFill>
                  <a:srgbClr val="333333"/>
                </a:solidFill>
              </a:rPr>
              <a:t>Higher variety, less templated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85216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</a:rPr>
              <a:t>Learning loop — posted replies saved to feedback table → future few-shot examples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</a:rPr>
              <a:t>Retail Sentiment Intelligence  ·  BITS ZG628T Dissertation  ·  Vishal Singh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53796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</a:rPr>
              <a:t>24 / 32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41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Post-Midsem 2 · Post Explorer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11430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E8F4FD"/>
                </a:solidFill>
              </a:rPr>
              <a:t>Search, filter, and deep-dive into analyzed posts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FFC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5156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41E42"/>
                </a:solidFill>
              </a:rPr>
              <a:t>Filters available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1732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</a:rPr>
              <a:t>• Sentiment · negative / neutral / positive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</a:rPr>
              <a:t>• Confidence threshold slider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</a:rPr>
              <a:t>• Trust-score threshold slider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</a:rPr>
              <a:t>• Subreddit — multi-select from 25 tracked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</a:rPr>
              <a:t>• Aspect — delivery, product, returns, support, price, app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</a:rPr>
              <a:t>• Date range — today / week / month / custom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</a:rPr>
              <a:t>• Full-text search across titles &amp; bodies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05156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41E42"/>
                </a:solidFill>
              </a:rPr>
              <a:t>Per-post card shows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41732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</a:rPr>
              <a:t>• Title + body excerpt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</a:rPr>
              <a:t>• Sentiment badge (color-coded) + confidence 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</a:rPr>
              <a:t>• Trust-score indicator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</a:rPr>
              <a:t>• Aspect tags (multi-aspect supported)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</a:rPr>
              <a:t>• Subreddit + post time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</a:rPr>
              <a:t>• Actions — Review · Add to Lifecycle · View Details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</a:rPr>
              <a:t>Retail Sentiment Intelligence  ·  BITS ZG628T Dissertation  ·  Vishal Singh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53796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</a:rPr>
              <a:t>25 / 32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41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Post-Midsem 3 · Post Lifecycle — Kanban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11430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E8F4FD"/>
                </a:solidFill>
              </a:rPr>
              <a:t>Track a complaint from New → Resolved with SLA visibility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FFC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554480"/>
            <a:ext cx="2743200" cy="2194560"/>
          </a:xfrm>
          <a:prstGeom prst="rect">
            <a:avLst/>
          </a:prstGeom>
          <a:solidFill>
            <a:srgbClr val="F5F5F5"/>
          </a:solidFill>
          <a:ln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2743200" cy="4572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64592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TRIAGED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77440"/>
            <a:ext cx="27432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</a:rPr>
              <a:t>New P1/P2</a:t>
            </a:r>
          </a:p>
          <a:p>
            <a:pPr algn="ctr"/>
            <a:r>
              <a:rPr sz="1200" b="0">
                <a:solidFill>
                  <a:srgbClr val="333333"/>
                </a:solidFill>
              </a:rPr>
              <a:t>posts land here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204972" y="2468880"/>
            <a:ext cx="91440" cy="365760"/>
          </a:xfrm>
          <a:prstGeom prst="rightArrow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91840" y="1554480"/>
            <a:ext cx="2743200" cy="2194560"/>
          </a:xfrm>
          <a:prstGeom prst="rect">
            <a:avLst/>
          </a:prstGeom>
          <a:solidFill>
            <a:srgbClr val="F5F5F5"/>
          </a:solidFill>
          <a:ln>
            <a:solidFill>
              <a:srgbClr val="007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91840" y="1554480"/>
            <a:ext cx="2743200" cy="457200"/>
          </a:xfrm>
          <a:prstGeom prst="rect">
            <a:avLst/>
          </a:prstGeom>
          <a:solidFill>
            <a:srgbClr val="007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91840" y="164592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ACKNOWLEDGED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2377440"/>
            <a:ext cx="27432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</a:rPr>
              <a:t>Assigned</a:t>
            </a:r>
          </a:p>
          <a:p>
            <a:pPr algn="ctr"/>
            <a:r>
              <a:rPr sz="1200" b="0">
                <a:solidFill>
                  <a:srgbClr val="333333"/>
                </a:solidFill>
              </a:rPr>
              <a:t>to analyst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6039612" y="2468880"/>
            <a:ext cx="91440" cy="365760"/>
          </a:xfrm>
          <a:prstGeom prst="rightArrow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26480" y="1554480"/>
            <a:ext cx="2743200" cy="2194560"/>
          </a:xfrm>
          <a:prstGeom prst="rect">
            <a:avLst/>
          </a:prstGeom>
          <a:solidFill>
            <a:srgbClr val="F5F5F5"/>
          </a:solidFill>
          <a:ln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26480" y="1554480"/>
            <a:ext cx="2743200" cy="4572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0" y="164592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IN PROGRESS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2377440"/>
            <a:ext cx="27432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</a:rPr>
              <a:t>Reply being</a:t>
            </a:r>
          </a:p>
          <a:p>
            <a:pPr algn="ctr"/>
            <a:r>
              <a:rPr sz="1200" b="0">
                <a:solidFill>
                  <a:srgbClr val="333333"/>
                </a:solidFill>
              </a:rPr>
              <a:t>drafted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8874252" y="2468880"/>
            <a:ext cx="91440" cy="365760"/>
          </a:xfrm>
          <a:prstGeom prst="rightArrow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61120" y="1554480"/>
            <a:ext cx="2743200" cy="2194560"/>
          </a:xfrm>
          <a:prstGeom prst="rect">
            <a:avLst/>
          </a:prstGeom>
          <a:solidFill>
            <a:srgbClr val="F5F5F5"/>
          </a:solidFill>
          <a:ln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961120" y="1554480"/>
            <a:ext cx="274320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61120" y="164592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RESOLVED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0" y="2377440"/>
            <a:ext cx="27432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</a:rPr>
              <a:t>Reply posted</a:t>
            </a:r>
          </a:p>
          <a:p>
            <a:pPr algn="ctr"/>
            <a:r>
              <a:rPr sz="1200" b="0">
                <a:solidFill>
                  <a:srgbClr val="333333"/>
                </a:solidFill>
              </a:rPr>
              <a:t>SLA closed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02336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41E42"/>
                </a:solidFill>
              </a:rPr>
              <a:t>Resolve modal — 2-step flow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43484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</a:rPr>
              <a:t>• Step 1  —  Save action note + optional LLM-drafted reply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</a:rPr>
              <a:t>•          a) Save reply &amp; open Reddit  (copies to clipboard)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</a:rPr>
              <a:t>•          b) OR  Resolve (no reply needed)  — close without posting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</a:rPr>
              <a:t>• Step 2  —  Paste reply on Reddit → return to dashboard → "Mark Resolved"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</a:rPr>
              <a:t>• All state transitions are logged with timestamps for SLA tracking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</a:rPr>
              <a:t>Retail Sentiment Intelligence  ·  BITS ZG628T Dissertation  ·  Vishal Singh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53796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</a:rPr>
              <a:t>26 / 32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41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Post-Midsem 4 · Insights &amp; Competitor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11430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E8F4FD"/>
                </a:solidFill>
              </a:rPr>
              <a:t>AI-generated strategic intelligence from raw data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FFC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5486400" cy="2286000"/>
          </a:xfrm>
          <a:prstGeom prst="rect">
            <a:avLst/>
          </a:prstGeom>
          <a:solidFill>
            <a:srgbClr val="F5F5F5"/>
          </a:solidFill>
          <a:ln>
            <a:solidFill>
              <a:srgbClr val="007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5486400" cy="457200"/>
          </a:xfrm>
          <a:prstGeom prst="rect">
            <a:avLst/>
          </a:prstGeom>
          <a:solidFill>
            <a:srgbClr val="007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Issue Rankings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28800"/>
            <a:ext cx="512064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</a:rPr>
              <a:t>Top negative issues ranked by</a:t>
            </a:r>
          </a:p>
          <a:p>
            <a:pPr algn="ctr"/>
            <a:r>
              <a:rPr sz="1200" b="0">
                <a:solidFill>
                  <a:srgbClr val="333333"/>
                </a:solidFill>
              </a:rPr>
              <a:t>volume × severity × recency</a:t>
            </a:r>
          </a:p>
          <a:p>
            <a:pPr algn="ctr"/>
            <a:r>
              <a:rPr sz="1200" b="0">
                <a:solidFill>
                  <a:srgbClr val="333333"/>
                </a:solidFill>
              </a:rPr>
              <a:t>grouped by aspect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188720"/>
            <a:ext cx="5486400" cy="2286000"/>
          </a:xfrm>
          <a:prstGeom prst="rect">
            <a:avLst/>
          </a:prstGeom>
          <a:solidFill>
            <a:srgbClr val="F5F5F5"/>
          </a:solidFill>
          <a:ln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188720"/>
            <a:ext cx="5486400" cy="4572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128016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Competitor Pulse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1828800"/>
            <a:ext cx="512064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</a:rPr>
              <a:t>Walmart vs Costco, Target,</a:t>
            </a:r>
          </a:p>
          <a:p>
            <a:pPr algn="ctr"/>
            <a:r>
              <a:rPr sz="1200" b="0">
                <a:solidFill>
                  <a:srgbClr val="333333"/>
                </a:solidFill>
              </a:rPr>
              <a:t>Amazon on shared aspects</a:t>
            </a:r>
          </a:p>
          <a:p>
            <a:pPr algn="ctr"/>
            <a:r>
              <a:rPr sz="1200" b="0">
                <a:solidFill>
                  <a:srgbClr val="333333"/>
                </a:solidFill>
              </a:rPr>
              <a:t>cross-mentioned posts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657600"/>
            <a:ext cx="5486400" cy="2286000"/>
          </a:xfrm>
          <a:prstGeom prst="rect">
            <a:avLst/>
          </a:prstGeom>
          <a:solidFill>
            <a:srgbClr val="F5F5F5"/>
          </a:solidFill>
          <a:ln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3657600"/>
            <a:ext cx="548640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749039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LLM Summarization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297680"/>
            <a:ext cx="512064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</a:rPr>
              <a:t>Natural-language weekly summaries</a:t>
            </a:r>
          </a:p>
          <a:p>
            <a:pPr algn="ctr"/>
            <a:r>
              <a:rPr sz="1200" b="0">
                <a:solidFill>
                  <a:srgbClr val="333333"/>
                </a:solidFill>
              </a:rPr>
              <a:t>suggested action items</a:t>
            </a:r>
          </a:p>
          <a:p>
            <a:pPr algn="ctr"/>
            <a:r>
              <a:rPr sz="1200" b="0">
                <a:solidFill>
                  <a:srgbClr val="333333"/>
                </a:solidFill>
              </a:rPr>
              <a:t>emerging-topic detection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3657600"/>
            <a:ext cx="5486400" cy="2286000"/>
          </a:xfrm>
          <a:prstGeom prst="rect">
            <a:avLst/>
          </a:prstGeom>
          <a:solidFill>
            <a:srgbClr val="F5F5F5"/>
          </a:solidFill>
          <a:ln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60" y="3657600"/>
            <a:ext cx="5486400" cy="4572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3749039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Aspect Drilldown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4297680"/>
            <a:ext cx="512064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</a:rPr>
              <a:t>6-category taxonomy</a:t>
            </a:r>
          </a:p>
          <a:p>
            <a:pPr algn="ctr"/>
            <a:r>
              <a:rPr sz="1200" b="0">
                <a:solidFill>
                  <a:srgbClr val="333333"/>
                </a:solidFill>
              </a:rPr>
              <a:t>per-aspect sentiment trend + volume</a:t>
            </a:r>
          </a:p>
          <a:p>
            <a:pPr algn="ctr"/>
            <a:r>
              <a:rPr sz="1200" b="0">
                <a:solidFill>
                  <a:srgbClr val="333333"/>
                </a:solidFill>
              </a:rPr>
              <a:t>representative posts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</a:rPr>
              <a:t>Retail Sentiment Intelligence  ·  BITS ZG628T Dissertation  ·  Vishal Singh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53796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</a:rPr>
              <a:t>27 / 32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1E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11247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6000" b="1">
                <a:solidFill>
                  <a:srgbClr val="FFC220"/>
                </a:solidFill>
              </a:rPr>
              <a:t>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108960"/>
            <a:ext cx="11247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0">
                <a:solidFill>
                  <a:srgbClr val="FFFFFF"/>
                </a:solidFill>
              </a:rPr>
              <a:t>Run one pipeline cycle · watch an alert fire in the dashboard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4114800"/>
            <a:ext cx="9418320" cy="1828800"/>
          </a:xfrm>
          <a:prstGeom prst="rect">
            <a:avLst/>
          </a:prstGeom>
          <a:solidFill>
            <a:srgbClr val="E8F4FD"/>
          </a:solidFill>
          <a:ln>
            <a:solidFill>
              <a:srgbClr val="FFC2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54480" y="429768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41E42"/>
                </a:solidFill>
              </a:rPr>
              <a:t>Demo checklist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470916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</a:rPr>
              <a:t>• Trigger "Run Now" from Pipeline page  ·  show scheduler ticker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</a:rPr>
              <a:t>• Open Brand Health → new tile counts update after run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</a:rPr>
              <a:t>• Open Alerts → new P1 alert lands via WebSocket (no refresh)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</a:rPr>
              <a:t>• Open the alerted post in Review &amp; Validate → generate + edit reply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</a:rPr>
              <a:t>Retail Sentiment Intelligence  ·  BITS ZG628T Dissertation  ·  Vishal Singh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3796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</a:rPr>
              <a:t>28 / 32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41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Post-Midsem 5 · 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11430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E8F4FD"/>
                </a:solidFill>
              </a:rPr>
              <a:t>Consolidated numbers across all subsystems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FFC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097280"/>
          <a:ext cx="1124712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52832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Area</a:t>
                      </a:r>
                    </a:p>
                  </a:txBody>
                  <a:tcPr>
                    <a:solidFill>
                      <a:srgbClr val="041E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Achievement</a:t>
                      </a:r>
                    </a:p>
                  </a:txBody>
                  <a:tcPr>
                    <a:solidFill>
                      <a:srgbClr val="041E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Evidence</a:t>
                      </a:r>
                    </a:p>
                  </a:txBody>
                  <a:tcPr>
                    <a:solidFill>
                      <a:srgbClr val="041E42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33333"/>
                          </a:solidFill>
                        </a:rPr>
                        <a:t>ModernBERT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Macro F1  0.6272 → 0.7642  (+22 %)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5-fold OOF CV, n=200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33333"/>
                          </a:solidFill>
                        </a:rPr>
                        <a:t>Long-context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Long-post F1  0.28 → 1.00  (+722 %)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7 posts ≥ 512 tokens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33333"/>
                          </a:solidFill>
                        </a:rPr>
                        <a:t>Vision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Hallucination  50 % → 0 %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8 + 25 image validation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33333"/>
                          </a:solidFill>
                        </a:rPr>
                        <a:t>Vision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Text extraction  25 % → 75 %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Multi-pass pipeline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33333"/>
                          </a:solidFill>
                        </a:rPr>
                        <a:t>Pipeline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25 subreddits, every 6 h (automated)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Arctic Shift API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33333"/>
                          </a:solidFill>
                        </a:rPr>
                        <a:t>Dashboard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7 pages, real-time WebSocket alerts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React + FastAPI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33333"/>
                          </a:solidFill>
                        </a:rPr>
                        <a:t>Notifications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Group-based P1 / P2 routing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Email + Slack channels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33333"/>
                          </a:solidFill>
                        </a:rPr>
                        <a:t>Lifecycle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Full Kanban with 2-step resolve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Triage → Resolved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</a:rPr>
              <a:t>Retail Sentiment Intelligence  ·  BITS ZG628T Dissertation  ·  Vishal Singh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3796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</a:rPr>
              <a:t>29 / 32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41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Technical Stack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FFC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97280"/>
          <a:ext cx="1124712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47548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Layer</a:t>
                      </a:r>
                    </a:p>
                  </a:txBody>
                  <a:tcPr>
                    <a:solidFill>
                      <a:srgbClr val="041E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Technology</a:t>
                      </a:r>
                    </a:p>
                  </a:txBody>
                  <a:tcPr>
                    <a:solidFill>
                      <a:srgbClr val="041E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Key decision</a:t>
                      </a:r>
                    </a:p>
                  </a:txBody>
                  <a:tcPr>
                    <a:solidFill>
                      <a:srgbClr val="041E4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333333"/>
                          </a:solidFill>
                        </a:rPr>
                        <a:t>Backend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Python 3.13 · FastAPI · SQLite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Free, local-first, modular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333333"/>
                          </a:solidFill>
                        </a:rPr>
                        <a:t>Frontend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React 18 · TypeScript · Vite · Tailwind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Modern SPA, responsive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333333"/>
                          </a:solidFill>
                        </a:rPr>
                        <a:t>Sentiment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ModernBERT (fine-tuned, 1024 tokens)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Domain-specialized, offline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333333"/>
                          </a:solidFill>
                        </a:rPr>
                        <a:t>Aspects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BART-MNLI  (zero-shot)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No training needed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333333"/>
                          </a:solidFill>
                        </a:rPr>
                        <a:t>Vision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Gemma 3 4B via Ollama (multi-pass)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Policy compliant, 0 % hallucination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333333"/>
                          </a:solidFill>
                        </a:rPr>
                        <a:t>Reply Gen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FLAN-T5  +  Smart Composer  (dual draft)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Learning loop via feedback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333333"/>
                          </a:solidFill>
                        </a:rPr>
                        <a:t>Trust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metadata + dedup + LLM (weighted)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Flag, don't drop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333333"/>
                          </a:solidFill>
                        </a:rPr>
                        <a:t>Scheduling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asyncio lifespan (6 h)  +  manual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Cursor-based incremental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333333"/>
                          </a:solidFill>
                        </a:rPr>
                        <a:t>Observability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structlog  +  cost ledger (JSONL)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Per-call LLM cost tracking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</a:rPr>
              <a:t>Retail Sentiment Intelligence  ·  BITS ZG628T Dissertation  ·  Vishal Singh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3796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</a:rPr>
              <a:t>30 / 32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41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Future Work — Semester 5 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FFC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</a:rPr>
              <a:t>• Azure Cosmos DB migration — production-grade storage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</a:rPr>
              <a:t>• Twitter / X integration as second data source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</a:rPr>
              <a:t>• 3-seed ensemble for ModernBERT  (+0.01–0.03 F1, tighter variance)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</a:rPr>
              <a:t>• Gemma 3 12B upgrade for remaining edge-case images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</a:rPr>
              <a:t>• Spanish language support (bilingual retail communities)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</a:rPr>
              <a:t>• Azure AD authentication for multi-user access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</a:rPr>
              <a:t>• Automated retraining pipeline — feedback loop → model updates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</a:rPr>
              <a:t>• Slack bot integration for inline notification responses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</a:rPr>
              <a:t>• Blind 25-post recheck for ModernBERT defensibility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</a:rPr>
              <a:t>Retail Sentiment Intelligence  ·  BITS ZG628T Dissertation  ·  Vishal Singh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3796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</a:rPr>
              <a:t>31 / 32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1E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471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566160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0">
                <a:solidFill>
                  <a:srgbClr val="FFC220"/>
                </a:solidFill>
              </a:rPr>
              <a:t>Retail Sentiment Intelligence  ·  Post Mid-Semester Progress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297680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Questions 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E8F4FD"/>
                </a:solidFill>
              </a:rPr>
              <a:t>Vishal Singh  ·  2020AA05641  ·  BITS Pilani (WILP)  ·  Walmart Global Tech, Bengaluru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