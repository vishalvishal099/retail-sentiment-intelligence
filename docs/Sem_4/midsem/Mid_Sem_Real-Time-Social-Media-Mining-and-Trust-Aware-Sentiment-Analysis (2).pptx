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75" r:id="rId10"/>
    <p:sldId id="264" r:id="rId11"/>
    <p:sldId id="278" r:id="rId12"/>
    <p:sldId id="279" r:id="rId13"/>
    <p:sldId id="280" r:id="rId14"/>
    <p:sldId id="281" r:id="rId15"/>
    <p:sldId id="269" r:id="rId16"/>
    <p:sldId id="270" r:id="rId17"/>
    <p:sldId id="274" r:id="rId18"/>
    <p:sldId id="272" r:id="rId19"/>
    <p:sldId id="276" r:id="rId20"/>
    <p:sldId id="277" r:id="rId21"/>
    <p:sldId id="282" r:id="rId22"/>
    <p:sldId id="267" r:id="rId23"/>
    <p:sldId id="268" r:id="rId24"/>
    <p:sldId id="283" r:id="rId25"/>
    <p:sldId id="271" r:id="rId26"/>
  </p:sldIdLst>
  <p:sldSz cx="9144000" cy="5143500" type="screen16x9"/>
  <p:notesSz cx="5143500" cy="9144000"/>
  <p:embeddedFontLst>
    <p:embeddedFont>
      <p:font typeface="Consolas" panose="020B0609020204030204" pitchFamily="49"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Roboto Bold" panose="02000000000000000000" pitchFamily="2" charset="0"/>
      <p:regular r:id="rId36"/>
      <p:bold r:id="rId37"/>
    </p:embeddedFont>
    <p:embeddedFont>
      <p:font typeface="Roboto Slab" pitchFamily="2" charset="0"/>
      <p:regular r:id="rId38"/>
      <p:bold r:id="rId39"/>
    </p:embeddedFont>
    <p:embeddedFont>
      <p:font typeface="Roboto Slab Light" pitchFamily="2" charset="0"/>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62"/>
    <p:restoredTop sz="94610"/>
  </p:normalViewPr>
  <p:slideViewPr>
    <p:cSldViewPr snapToGrid="0" snapToObjects="1">
      <p:cViewPr varScale="1">
        <p:scale>
          <a:sx n="170" d="100"/>
          <a:sy n="170" d="100"/>
        </p:scale>
        <p:origin x="6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1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02771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548159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235997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DE2BA-2196-A4FA-41A4-45F66E910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81855-3630-C562-C7F2-317739D72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F9511-1EF7-43D7-4747-7FCA7A6E9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066771-F158-B9B8-F146-50351BB7B218}"/>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0826867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US"/>
          </a:p>
        </p:txBody>
      </p:sp>
      <p:sp>
        <p:nvSpPr>
          <p:cNvPr id="3" name="Shape 1"/>
          <p:cNvSpPr/>
          <p:nvPr/>
        </p:nvSpPr>
        <p:spPr>
          <a:xfrm>
            <a:off x="0" y="0"/>
            <a:ext cx="9144000" cy="5143500"/>
          </a:xfrm>
          <a:prstGeom prst="rect">
            <a:avLst/>
          </a:prstGeom>
          <a:solidFill>
            <a:srgbClr val="FBFCF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ddit.com/r/samsclub/comments/1uacdy7/accidental_membership_upgrad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vscode-file://vscode-app/Applications/Visual%20Studio%20Code.app/Contents/Resources/app/out/vs/code/electron-browser/workbench/workbench.ht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53492"/>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Real-Time Social Media Mining and Trust-Aware Sentiment Analysis</a:t>
            </a:r>
            <a:endParaRPr lang="en-US" sz="2750" dirty="0"/>
          </a:p>
        </p:txBody>
      </p:sp>
      <p:sp>
        <p:nvSpPr>
          <p:cNvPr id="4" name="Text 1"/>
          <p:cNvSpPr/>
          <p:nvPr/>
        </p:nvSpPr>
        <p:spPr>
          <a:xfrm>
            <a:off x="496119" y="1939156"/>
            <a:ext cx="4722763" cy="531614"/>
          </a:xfrm>
          <a:prstGeom prst="rect">
            <a:avLst/>
          </a:prstGeom>
          <a:noFill/>
          <a:ln/>
        </p:spPr>
        <p:txBody>
          <a:bodyPr wrap="square" lIns="0" tIns="0" rIns="0" bIns="0" rtlCol="0" anchor="t">
            <a:normAutofit/>
          </a:bodyPr>
          <a:lstStyle/>
          <a:p>
            <a:pPr marL="0" indent="0" algn="l">
              <a:lnSpc>
                <a:spcPct val="104000"/>
              </a:lnSpc>
              <a:buNone/>
            </a:pPr>
            <a:r>
              <a:rPr lang="en-US" sz="1650" dirty="0">
                <a:solidFill>
                  <a:srgbClr val="3257B8"/>
                </a:solidFill>
                <a:latin typeface="Roboto Slab" pitchFamily="34" charset="0"/>
                <a:ea typeface="Roboto Slab" pitchFamily="34" charset="-122"/>
                <a:cs typeface="Roboto Slab" pitchFamily="34" charset="-120"/>
              </a:rPr>
              <a:t>Using Large Language Models for Retail Feedback Optimization</a:t>
            </a:r>
            <a:endParaRPr lang="en-US" sz="1650" dirty="0"/>
          </a:p>
        </p:txBody>
      </p:sp>
      <p:sp>
        <p:nvSpPr>
          <p:cNvPr id="5" name="Text 2"/>
          <p:cNvSpPr/>
          <p:nvPr/>
        </p:nvSpPr>
        <p:spPr>
          <a:xfrm>
            <a:off x="496119" y="2683371"/>
            <a:ext cx="4722763" cy="1906637"/>
          </a:xfrm>
          <a:prstGeom prst="rect">
            <a:avLst/>
          </a:prstGeom>
          <a:noFill/>
          <a:ln/>
        </p:spPr>
        <p:txBody>
          <a:bodyPr wrap="square" lIns="0" tIns="0" rIns="0" bIns="0" rtlCol="0" anchor="t"/>
          <a:lstStyle/>
          <a:p>
            <a:pPr marL="0" indent="0" algn="l">
              <a:lnSpc>
                <a:spcPct val="133000"/>
              </a:lnSpc>
              <a:spcAft>
                <a:spcPts val="1250"/>
              </a:spcAft>
              <a:buNone/>
            </a:pPr>
            <a:r>
              <a:rPr lang="en-US" sz="1100" b="1" dirty="0">
                <a:solidFill>
                  <a:srgbClr val="15213F"/>
                </a:solidFill>
                <a:latin typeface="Roboto Bold" pitchFamily="34" charset="0"/>
                <a:ea typeface="Roboto Bold" pitchFamily="34" charset="-122"/>
                <a:cs typeface="Roboto Bold" pitchFamily="34" charset="-120"/>
              </a:rPr>
              <a:t>BITS ZG628T · Dissertation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Faculty Mentor:</a:t>
            </a:r>
            <a:r>
              <a:rPr lang="en-US" sz="1100" dirty="0">
                <a:solidFill>
                  <a:srgbClr val="15213F"/>
                </a:solidFill>
                <a:latin typeface="Roboto" pitchFamily="34" charset="0"/>
                <a:ea typeface="Roboto" pitchFamily="34" charset="-122"/>
                <a:cs typeface="Roboto" pitchFamily="34" charset="-120"/>
              </a:rPr>
              <a:t> Pradnya Kashikar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Supervisor:</a:t>
            </a:r>
            <a:r>
              <a:rPr lang="en-US" sz="1100" dirty="0">
                <a:solidFill>
                  <a:srgbClr val="15213F"/>
                </a:solidFill>
                <a:latin typeface="Roboto" pitchFamily="34" charset="0"/>
                <a:ea typeface="Roboto" pitchFamily="34" charset="-122"/>
                <a:cs typeface="Roboto" pitchFamily="34" charset="-120"/>
              </a:rPr>
              <a:t> Varunendra Pratap Singh (Principal Software Engineer)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Candidate:</a:t>
            </a:r>
            <a:r>
              <a:rPr lang="en-US" sz="1100" dirty="0">
                <a:solidFill>
                  <a:srgbClr val="15213F"/>
                </a:solidFill>
                <a:latin typeface="Roboto" pitchFamily="34" charset="0"/>
                <a:ea typeface="Roboto" pitchFamily="34" charset="-122"/>
                <a:cs typeface="Roboto" pitchFamily="34" charset="-120"/>
              </a:rPr>
              <a:t> Vishal Singh · 2024AA05641 · BITS Pilani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Program:</a:t>
            </a:r>
            <a:r>
              <a:rPr lang="en-US" sz="1100" dirty="0">
                <a:solidFill>
                  <a:srgbClr val="15213F"/>
                </a:solidFill>
                <a:latin typeface="Roboto" pitchFamily="34" charset="0"/>
                <a:ea typeface="Roboto" pitchFamily="34" charset="-122"/>
                <a:cs typeface="Roboto" pitchFamily="34" charset="-120"/>
              </a:rPr>
              <a:t> MTech · AI &amp; Machine Learning </a:t>
            </a:r>
            <a:endParaRPr lang="en-US" sz="1100" dirty="0"/>
          </a:p>
          <a:p>
            <a:pPr marL="0" indent="0" algn="l">
              <a:lnSpc>
                <a:spcPct val="133000"/>
              </a:lnSpc>
              <a:buNone/>
            </a:pPr>
            <a:r>
              <a:rPr lang="en-US" sz="1100" b="1" dirty="0">
                <a:solidFill>
                  <a:srgbClr val="15213F"/>
                </a:solidFill>
                <a:latin typeface="Roboto Bold" pitchFamily="34" charset="0"/>
                <a:ea typeface="Roboto Bold" pitchFamily="34" charset="-122"/>
                <a:cs typeface="Roboto Bold" pitchFamily="34" charset="-120"/>
              </a:rPr>
              <a:t>Organization:</a:t>
            </a:r>
            <a:r>
              <a:rPr lang="en-US" sz="1100" dirty="0">
                <a:solidFill>
                  <a:srgbClr val="15213F"/>
                </a:solidFill>
                <a:latin typeface="Roboto" pitchFamily="34" charset="0"/>
                <a:ea typeface="Roboto" pitchFamily="34" charset="-122"/>
                <a:cs typeface="Roboto" pitchFamily="34" charset="-120"/>
              </a:rPr>
              <a:t> Walmart Global Tech · GIF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89855"/>
            <a:ext cx="3592264"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What We're Building &amp; Where We Are</a:t>
            </a:r>
            <a:endParaRPr lang="en-US" sz="1350" dirty="0"/>
          </a:p>
        </p:txBody>
      </p:sp>
      <p:sp>
        <p:nvSpPr>
          <p:cNvPr id="3" name="Text 1"/>
          <p:cNvSpPr/>
          <p:nvPr/>
        </p:nvSpPr>
        <p:spPr>
          <a:xfrm>
            <a:off x="496119" y="606476"/>
            <a:ext cx="8151763" cy="370656"/>
          </a:xfrm>
          <a:prstGeom prst="rect">
            <a:avLst/>
          </a:prstGeom>
          <a:noFill/>
          <a:ln/>
        </p:spPr>
        <p:txBody>
          <a:bodyPr wrap="square" lIns="0" tIns="0" rIns="0" bIns="0" rtlCol="0" anchor="t"/>
          <a:lstStyle/>
          <a:p>
            <a:pPr marL="0" indent="0" algn="l">
              <a:lnSpc>
                <a:spcPct val="100000"/>
              </a:lnSpc>
              <a:spcAft>
                <a:spcPts val="950"/>
              </a:spcAft>
              <a:buNone/>
            </a:pP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An </a:t>
            </a:r>
            <a:r>
              <a:rPr lang="en-US" sz="550" b="1" dirty="0">
                <a:solidFill>
                  <a:srgbClr val="15213F"/>
                </a:solidFill>
                <a:latin typeface="Roboto Bold" pitchFamily="34" charset="0"/>
                <a:ea typeface="Roboto Bold" pitchFamily="34" charset="-122"/>
                <a:cs typeface="Roboto Bold" pitchFamily="34" charset="-120"/>
              </a:rPr>
              <a:t>automated, trust-aware pipeline</a:t>
            </a:r>
            <a:r>
              <a:rPr lang="en-US" sz="550" dirty="0">
                <a:solidFill>
                  <a:srgbClr val="15213F"/>
                </a:solidFill>
                <a:latin typeface="Roboto" pitchFamily="34" charset="0"/>
                <a:ea typeface="Roboto" pitchFamily="34" charset="-122"/>
                <a:cs typeface="Roboto" pitchFamily="34" charset="-120"/>
              </a:rPr>
              <a:t> that tracks Walmart-related conversations on Reddit, uses </a:t>
            </a:r>
            <a:r>
              <a:rPr lang="en-US" sz="550" b="1" dirty="0">
                <a:solidFill>
                  <a:srgbClr val="15213F"/>
                </a:solidFill>
                <a:latin typeface="Roboto Bold" pitchFamily="34" charset="0"/>
                <a:ea typeface="Roboto Bold" pitchFamily="34" charset="-122"/>
                <a:cs typeface="Roboto Bold" pitchFamily="34" charset="-120"/>
              </a:rPr>
              <a:t>LLMs</a:t>
            </a:r>
            <a:r>
              <a:rPr lang="en-US" sz="550" dirty="0">
                <a:solidFill>
                  <a:srgbClr val="15213F"/>
                </a:solidFill>
                <a:latin typeface="Roboto" pitchFamily="34" charset="0"/>
                <a:ea typeface="Roboto" pitchFamily="34" charset="-122"/>
                <a:cs typeface="Roboto" pitchFamily="34" charset="-120"/>
              </a:rPr>
              <a:t> to extract sentiment, aspects &amp; emerging themes, and surfaces them in a </a:t>
            </a:r>
            <a:r>
              <a:rPr lang="en-US" sz="550" b="1" dirty="0">
                <a:solidFill>
                  <a:srgbClr val="15213F"/>
                </a:solidFill>
                <a:latin typeface="Roboto Bold" pitchFamily="34" charset="0"/>
                <a:ea typeface="Roboto Bold" pitchFamily="34" charset="-122"/>
                <a:cs typeface="Roboto Bold" pitchFamily="34" charset="-120"/>
              </a:rPr>
              <a:t>human-reviewed dashboard</a:t>
            </a:r>
            <a:r>
              <a:rPr lang="en-US" sz="550" dirty="0">
                <a:solidFill>
                  <a:srgbClr val="15213F"/>
                </a:solidFill>
                <a:latin typeface="Roboto" pitchFamily="34" charset="0"/>
                <a:ea typeface="Roboto" pitchFamily="34" charset="-122"/>
                <a:cs typeface="Roboto" pitchFamily="34" charset="-120"/>
              </a:rPr>
              <a:t> so Ops · PR · Product teams can respond at social speed.</a:t>
            </a:r>
            <a:endParaRPr lang="en-US" sz="550" dirty="0"/>
          </a:p>
        </p:txBody>
      </p:sp>
      <p:sp>
        <p:nvSpPr>
          <p:cNvPr id="4" name="Shape 2"/>
          <p:cNvSpPr/>
          <p:nvPr/>
        </p:nvSpPr>
        <p:spPr>
          <a:xfrm>
            <a:off x="496119" y="1016943"/>
            <a:ext cx="4058171" cy="363438"/>
          </a:xfrm>
          <a:prstGeom prst="roundRect">
            <a:avLst>
              <a:gd name="adj" fmla="val 2926"/>
            </a:avLst>
          </a:prstGeom>
          <a:solidFill>
            <a:srgbClr val="E9ECF2"/>
          </a:solidFill>
          <a:ln/>
        </p:spPr>
        <p:txBody>
          <a:bodyPr/>
          <a:lstStyle/>
          <a:p>
            <a:endParaRPr lang="en-US"/>
          </a:p>
        </p:txBody>
      </p:sp>
      <p:sp>
        <p:nvSpPr>
          <p:cNvPr id="5" name="Text 3"/>
          <p:cNvSpPr/>
          <p:nvPr/>
        </p:nvSpPr>
        <p:spPr>
          <a:xfrm>
            <a:off x="566961" y="1087785"/>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01 · Listen</a:t>
            </a:r>
            <a:endParaRPr lang="en-US" sz="650" dirty="0"/>
          </a:p>
        </p:txBody>
      </p:sp>
      <p:sp>
        <p:nvSpPr>
          <p:cNvPr id="6" name="Text 4"/>
          <p:cNvSpPr/>
          <p:nvPr/>
        </p:nvSpPr>
        <p:spPr>
          <a:xfrm>
            <a:off x="566961" y="122448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25 Walmart / retail subreddits · hourly · Arctic Shift API.</a:t>
            </a:r>
            <a:endParaRPr lang="en-US" sz="550" dirty="0"/>
          </a:p>
        </p:txBody>
      </p:sp>
      <p:sp>
        <p:nvSpPr>
          <p:cNvPr id="7" name="Shape 5"/>
          <p:cNvSpPr/>
          <p:nvPr/>
        </p:nvSpPr>
        <p:spPr>
          <a:xfrm>
            <a:off x="4589711" y="1016943"/>
            <a:ext cx="4058171" cy="363438"/>
          </a:xfrm>
          <a:prstGeom prst="roundRect">
            <a:avLst>
              <a:gd name="adj" fmla="val 2926"/>
            </a:avLst>
          </a:prstGeom>
          <a:solidFill>
            <a:srgbClr val="E9ECF2"/>
          </a:solidFill>
          <a:ln/>
        </p:spPr>
        <p:txBody>
          <a:bodyPr/>
          <a:lstStyle/>
          <a:p>
            <a:endParaRPr lang="en-US"/>
          </a:p>
        </p:txBody>
      </p:sp>
      <p:sp>
        <p:nvSpPr>
          <p:cNvPr id="8" name="Text 6"/>
          <p:cNvSpPr/>
          <p:nvPr/>
        </p:nvSpPr>
        <p:spPr>
          <a:xfrm>
            <a:off x="4660553" y="1087785"/>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02 · Analyze</a:t>
            </a:r>
            <a:endParaRPr lang="en-US" sz="650" dirty="0"/>
          </a:p>
        </p:txBody>
      </p:sp>
      <p:sp>
        <p:nvSpPr>
          <p:cNvPr id="9" name="Text 7"/>
          <p:cNvSpPr/>
          <p:nvPr/>
        </p:nvSpPr>
        <p:spPr>
          <a:xfrm>
            <a:off x="4660553" y="122448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ModernBERT · DeBERTa-v3 · Gemma 3 vision · Trust score.</a:t>
            </a:r>
            <a:endParaRPr lang="en-US" sz="550" dirty="0"/>
          </a:p>
        </p:txBody>
      </p:sp>
      <p:sp>
        <p:nvSpPr>
          <p:cNvPr id="10" name="Shape 8"/>
          <p:cNvSpPr/>
          <p:nvPr/>
        </p:nvSpPr>
        <p:spPr>
          <a:xfrm>
            <a:off x="496119" y="1415802"/>
            <a:ext cx="4058171" cy="363438"/>
          </a:xfrm>
          <a:prstGeom prst="roundRect">
            <a:avLst>
              <a:gd name="adj" fmla="val 2926"/>
            </a:avLst>
          </a:prstGeom>
          <a:solidFill>
            <a:srgbClr val="E9ECF2"/>
          </a:solidFill>
          <a:ln/>
        </p:spPr>
        <p:txBody>
          <a:bodyPr/>
          <a:lstStyle/>
          <a:p>
            <a:endParaRPr lang="en-US"/>
          </a:p>
        </p:txBody>
      </p:sp>
      <p:sp>
        <p:nvSpPr>
          <p:cNvPr id="11" name="Text 9"/>
          <p:cNvSpPr/>
          <p:nvPr/>
        </p:nvSpPr>
        <p:spPr>
          <a:xfrm>
            <a:off x="566961" y="1486644"/>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03 · Review</a:t>
            </a:r>
            <a:endParaRPr lang="en-US" sz="650" dirty="0"/>
          </a:p>
        </p:txBody>
      </p:sp>
      <p:sp>
        <p:nvSpPr>
          <p:cNvPr id="12" name="Text 10"/>
          <p:cNvSpPr/>
          <p:nvPr/>
        </p:nvSpPr>
        <p:spPr>
          <a:xfrm>
            <a:off x="566961" y="162334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Analysts validate, correct &amp; prioritize in a Kanban board.</a:t>
            </a:r>
            <a:endParaRPr lang="en-US" sz="550" dirty="0"/>
          </a:p>
        </p:txBody>
      </p:sp>
      <p:sp>
        <p:nvSpPr>
          <p:cNvPr id="13" name="Shape 11"/>
          <p:cNvSpPr/>
          <p:nvPr/>
        </p:nvSpPr>
        <p:spPr>
          <a:xfrm>
            <a:off x="4589711" y="1415802"/>
            <a:ext cx="4058171" cy="363438"/>
          </a:xfrm>
          <a:prstGeom prst="roundRect">
            <a:avLst>
              <a:gd name="adj" fmla="val 2926"/>
            </a:avLst>
          </a:prstGeom>
          <a:solidFill>
            <a:srgbClr val="E9ECF2"/>
          </a:solidFill>
          <a:ln/>
        </p:spPr>
        <p:txBody>
          <a:bodyPr/>
          <a:lstStyle/>
          <a:p>
            <a:endParaRPr lang="en-US"/>
          </a:p>
        </p:txBody>
      </p:sp>
      <p:sp>
        <p:nvSpPr>
          <p:cNvPr id="14" name="Text 12"/>
          <p:cNvSpPr/>
          <p:nvPr/>
        </p:nvSpPr>
        <p:spPr>
          <a:xfrm>
            <a:off x="4660553" y="1486644"/>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04 · Act</a:t>
            </a:r>
            <a:endParaRPr lang="en-US" sz="650" dirty="0"/>
          </a:p>
        </p:txBody>
      </p:sp>
      <p:sp>
        <p:nvSpPr>
          <p:cNvPr id="15" name="Text 13"/>
          <p:cNvSpPr/>
          <p:nvPr/>
        </p:nvSpPr>
        <p:spPr>
          <a:xfrm>
            <a:off x="4660553" y="1623343"/>
            <a:ext cx="391648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Route to  PR · Product via P1 / P2 / P3 with SLAs, Post life cycle , inference for Walmart , review , replay </a:t>
            </a:r>
            <a:r>
              <a:rPr lang="en-US" sz="550" dirty="0" err="1">
                <a:solidFill>
                  <a:srgbClr val="15213F"/>
                </a:solidFill>
                <a:latin typeface="Roboto" pitchFamily="34" charset="0"/>
                <a:ea typeface="Roboto" pitchFamily="34" charset="-122"/>
                <a:cs typeface="Roboto" pitchFamily="34" charset="-120"/>
              </a:rPr>
              <a:t>etc</a:t>
            </a:r>
            <a:r>
              <a:rPr lang="en-US" sz="550" dirty="0">
                <a:solidFill>
                  <a:srgbClr val="15213F"/>
                </a:solidFill>
                <a:latin typeface="Roboto" pitchFamily="34" charset="0"/>
                <a:ea typeface="Roboto" pitchFamily="34" charset="-122"/>
                <a:cs typeface="Roboto" pitchFamily="34" charset="-120"/>
              </a:rPr>
              <a:t> .</a:t>
            </a:r>
            <a:endParaRPr lang="en-US" sz="550" dirty="0"/>
          </a:p>
        </p:txBody>
      </p:sp>
      <p:sp>
        <p:nvSpPr>
          <p:cNvPr id="16" name="Shape 14"/>
          <p:cNvSpPr/>
          <p:nvPr/>
        </p:nvSpPr>
        <p:spPr>
          <a:xfrm>
            <a:off x="445071" y="1819052"/>
            <a:ext cx="4091508" cy="887685"/>
          </a:xfrm>
          <a:prstGeom prst="roundRect">
            <a:avLst>
              <a:gd name="adj" fmla="val 1198"/>
            </a:avLst>
          </a:prstGeom>
          <a:solidFill>
            <a:srgbClr val="3257B8"/>
          </a:solidFill>
          <a:ln/>
        </p:spPr>
        <p:txBody>
          <a:bodyPr/>
          <a:lstStyle/>
          <a:p>
            <a:endParaRPr lang="en-US" dirty="0"/>
          </a:p>
        </p:txBody>
      </p:sp>
      <p:sp>
        <p:nvSpPr>
          <p:cNvPr id="17" name="Text 15"/>
          <p:cNvSpPr/>
          <p:nvPr/>
        </p:nvSpPr>
        <p:spPr>
          <a:xfrm>
            <a:off x="515913" y="1854473"/>
            <a:ext cx="1505992"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FFFFFF"/>
                </a:solidFill>
                <a:latin typeface="Roboto Slab" pitchFamily="34" charset="0"/>
                <a:ea typeface="Roboto Slab" pitchFamily="34" charset="-122"/>
                <a:cs typeface="Roboto Slab" pitchFamily="34" charset="-120"/>
              </a:rPr>
              <a:t> Part A · Mid-Semester</a:t>
            </a:r>
            <a:endParaRPr lang="en-US" sz="650" dirty="0"/>
          </a:p>
        </p:txBody>
      </p:sp>
      <p:sp>
        <p:nvSpPr>
          <p:cNvPr id="18" name="Text 16"/>
          <p:cNvSpPr/>
          <p:nvPr/>
        </p:nvSpPr>
        <p:spPr>
          <a:xfrm>
            <a:off x="515913" y="2005385"/>
            <a:ext cx="4407024"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19" name="Text 17"/>
          <p:cNvSpPr/>
          <p:nvPr/>
        </p:nvSpPr>
        <p:spPr>
          <a:xfrm>
            <a:off x="515913" y="2122289"/>
            <a:ext cx="3949824" cy="572095"/>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End-to-end </a:t>
            </a:r>
            <a:r>
              <a:rPr lang="en-US" sz="550" b="1" dirty="0">
                <a:solidFill>
                  <a:srgbClr val="FFFFFF"/>
                </a:solidFill>
                <a:latin typeface="Roboto Bold" pitchFamily="34" charset="0"/>
                <a:ea typeface="Roboto Bold" pitchFamily="34" charset="-122"/>
                <a:cs typeface="Roboto Bold" pitchFamily="34" charset="-120"/>
              </a:rPr>
              <a:t>6-stage pipeline</a:t>
            </a:r>
            <a:r>
              <a:rPr lang="en-US" sz="550" dirty="0">
                <a:solidFill>
                  <a:srgbClr val="FFFFFF"/>
                </a:solidFill>
                <a:latin typeface="Roboto" pitchFamily="34" charset="0"/>
                <a:ea typeface="Roboto" pitchFamily="34" charset="-122"/>
                <a:cs typeface="Roboto" pitchFamily="34" charset="-120"/>
              </a:rPr>
              <a:t> (Ingest → Alert)</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Vision pipeline</a:t>
            </a:r>
            <a:r>
              <a:rPr lang="en-US" sz="550" dirty="0">
                <a:solidFill>
                  <a:srgbClr val="FFFFFF"/>
                </a:solidFill>
                <a:latin typeface="Roboto" pitchFamily="34" charset="0"/>
                <a:ea typeface="Roboto" pitchFamily="34" charset="-122"/>
                <a:cs typeface="Roboto" pitchFamily="34" charset="-120"/>
              </a:rPr>
              <a:t> — Gemma 3 4B on image-only posts</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Trust score</a:t>
            </a:r>
            <a:r>
              <a:rPr lang="en-US" sz="550" dirty="0">
                <a:solidFill>
                  <a:srgbClr val="FFFFFF"/>
                </a:solidFill>
                <a:latin typeface="Roboto" pitchFamily="34" charset="0"/>
                <a:ea typeface="Roboto" pitchFamily="34" charset="-122"/>
                <a:cs typeface="Roboto" pitchFamily="34" charset="-120"/>
              </a:rPr>
              <a:t> — Metadata · Dedup · LLM credibility</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ModernBERT</a:t>
            </a:r>
            <a:r>
              <a:rPr lang="en-US" sz="550" dirty="0">
                <a:solidFill>
                  <a:srgbClr val="FFFFFF"/>
                </a:solidFill>
                <a:latin typeface="Roboto" pitchFamily="34" charset="0"/>
                <a:ea typeface="Roboto" pitchFamily="34" charset="-122"/>
                <a:cs typeface="Roboto" pitchFamily="34" charset="-120"/>
              </a:rPr>
              <a:t> fine-tune — Macro F1 </a:t>
            </a:r>
            <a:r>
              <a:rPr lang="en-US" sz="550" b="1" dirty="0">
                <a:solidFill>
                  <a:srgbClr val="FFFFFF"/>
                </a:solidFill>
                <a:latin typeface="Roboto Bold" pitchFamily="34" charset="0"/>
                <a:ea typeface="Roboto Bold" pitchFamily="34" charset="-122"/>
                <a:cs typeface="Roboto Bold" pitchFamily="34" charset="-120"/>
              </a:rPr>
              <a:t>0.76</a:t>
            </a:r>
            <a:r>
              <a:rPr lang="en-US" sz="550" dirty="0">
                <a:solidFill>
                  <a:srgbClr val="FFFFFF"/>
                </a:solidFill>
                <a:latin typeface="Roboto" pitchFamily="34" charset="0"/>
                <a:ea typeface="Roboto" pitchFamily="34" charset="-122"/>
                <a:cs typeface="Roboto" pitchFamily="34" charset="-120"/>
              </a:rPr>
              <a:t> (vs RoBERTa 0.63)</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Real-time dashboard</a:t>
            </a:r>
            <a:r>
              <a:rPr lang="en-US" sz="550" dirty="0">
                <a:solidFill>
                  <a:srgbClr val="FFFFFF"/>
                </a:solidFill>
                <a:latin typeface="Roboto" pitchFamily="34" charset="0"/>
                <a:ea typeface="Roboto" pitchFamily="34" charset="-122"/>
                <a:cs typeface="Roboto" pitchFamily="34" charset="-120"/>
              </a:rPr>
              <a:t> — 22 API endpoints + WebSocket</a:t>
            </a:r>
            <a:endParaRPr lang="en-US" sz="550" dirty="0"/>
          </a:p>
          <a:p>
            <a:pPr marL="111760" indent="-111760" algn="l">
              <a:lnSpc>
                <a:spcPct val="100000"/>
              </a:lnSpc>
              <a:buSzPct val="100000"/>
              <a:buChar char="•"/>
            </a:pPr>
            <a:r>
              <a:rPr lang="en-US" sz="550" dirty="0">
                <a:solidFill>
                  <a:srgbClr val="FFFFFF"/>
                </a:solidFill>
                <a:latin typeface="Roboto" pitchFamily="34" charset="0"/>
                <a:ea typeface="Roboto" pitchFamily="34" charset="-122"/>
                <a:cs typeface="Roboto" pitchFamily="34" charset="-120"/>
              </a:rPr>
              <a:t>✓ </a:t>
            </a:r>
            <a:r>
              <a:rPr lang="en-US" sz="550" b="1" dirty="0">
                <a:solidFill>
                  <a:srgbClr val="FFFFFF"/>
                </a:solidFill>
                <a:latin typeface="Roboto Bold" pitchFamily="34" charset="0"/>
                <a:ea typeface="Roboto Bold" pitchFamily="34" charset="-122"/>
                <a:cs typeface="Roboto Bold" pitchFamily="34" charset="-120"/>
              </a:rPr>
              <a:t>Notification system</a:t>
            </a:r>
            <a:r>
              <a:rPr lang="en-US" sz="550" dirty="0">
                <a:solidFill>
                  <a:srgbClr val="FFFFFF"/>
                </a:solidFill>
                <a:latin typeface="Roboto" pitchFamily="34" charset="0"/>
                <a:ea typeface="Roboto" pitchFamily="34" charset="-122"/>
                <a:cs typeface="Roboto" pitchFamily="34" charset="-120"/>
              </a:rPr>
              <a:t> — P1/P2/P3 (Email · Slack · Teams) –SMTP &amp; webhook   finding out </a:t>
            </a:r>
            <a:endParaRPr lang="en-US" sz="550" dirty="0"/>
          </a:p>
        </p:txBody>
      </p:sp>
      <p:sp>
        <p:nvSpPr>
          <p:cNvPr id="20" name="Text 18"/>
          <p:cNvSpPr/>
          <p:nvPr/>
        </p:nvSpPr>
        <p:spPr>
          <a:xfrm>
            <a:off x="4663232" y="1854473"/>
            <a:ext cx="1698427"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3257B8"/>
                </a:solidFill>
                <a:latin typeface="Roboto Slab" pitchFamily="34" charset="0"/>
                <a:ea typeface="Roboto Slab" pitchFamily="34" charset="-122"/>
                <a:cs typeface="Roboto Slab" pitchFamily="34" charset="-120"/>
              </a:rPr>
              <a:t> Part B · Post Mid-Semester</a:t>
            </a:r>
            <a:endParaRPr lang="en-US" sz="650" dirty="0"/>
          </a:p>
        </p:txBody>
      </p:sp>
      <p:sp>
        <p:nvSpPr>
          <p:cNvPr id="21" name="Text 19"/>
          <p:cNvSpPr/>
          <p:nvPr/>
        </p:nvSpPr>
        <p:spPr>
          <a:xfrm>
            <a:off x="4663232" y="2005385"/>
            <a:ext cx="444661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In progress </a:t>
            </a:r>
            <a:endParaRPr lang="en-US" sz="550" dirty="0"/>
          </a:p>
        </p:txBody>
      </p:sp>
      <p:sp>
        <p:nvSpPr>
          <p:cNvPr id="22" name="Text 20"/>
          <p:cNvSpPr/>
          <p:nvPr/>
        </p:nvSpPr>
        <p:spPr>
          <a:xfrm>
            <a:off x="4663232" y="2122289"/>
            <a:ext cx="3989412" cy="572095"/>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Review &amp; Validate</a:t>
            </a:r>
            <a:r>
              <a:rPr lang="en-US" sz="550" dirty="0">
                <a:solidFill>
                  <a:srgbClr val="15213F"/>
                </a:solidFill>
                <a:latin typeface="Roboto" pitchFamily="34" charset="0"/>
                <a:ea typeface="Roboto" pitchFamily="34" charset="-122"/>
                <a:cs typeface="Roboto" pitchFamily="34" charset="-120"/>
              </a:rPr>
              <a:t> — Human-in-the-Loop workflow</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Post Explorer</a:t>
            </a:r>
            <a:r>
              <a:rPr lang="en-US" sz="550" dirty="0">
                <a:solidFill>
                  <a:srgbClr val="15213F"/>
                </a:solidFill>
                <a:latin typeface="Roboto" pitchFamily="34" charset="0"/>
                <a:ea typeface="Roboto" pitchFamily="34" charset="-122"/>
                <a:cs typeface="Roboto" pitchFamily="34" charset="-120"/>
              </a:rPr>
              <a:t> — Multi-facet filtering &amp; search</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Kanban Lifecycle</a:t>
            </a:r>
            <a:r>
              <a:rPr lang="en-US" sz="550" dirty="0">
                <a:solidFill>
                  <a:srgbClr val="15213F"/>
                </a:solidFill>
                <a:latin typeface="Roboto" pitchFamily="34" charset="0"/>
                <a:ea typeface="Roboto" pitchFamily="34" charset="-122"/>
                <a:cs typeface="Roboto" pitchFamily="34" charset="-120"/>
              </a:rPr>
              <a:t> — Triaged → In-Review → Resolved</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Insights &amp; Competitor</a:t>
            </a:r>
            <a:r>
              <a:rPr lang="en-US" sz="550" dirty="0">
                <a:solidFill>
                  <a:srgbClr val="15213F"/>
                </a:solidFill>
                <a:latin typeface="Roboto" pitchFamily="34" charset="0"/>
                <a:ea typeface="Roboto" pitchFamily="34" charset="-122"/>
                <a:cs typeface="Roboto" pitchFamily="34" charset="-120"/>
              </a:rPr>
              <a:t> — Cross-brand comparison</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Smart Reply Composer</a:t>
            </a:r>
            <a:r>
              <a:rPr lang="en-US" sz="550" dirty="0">
                <a:solidFill>
                  <a:srgbClr val="15213F"/>
                </a:solidFill>
                <a:latin typeface="Roboto" pitchFamily="34" charset="0"/>
                <a:ea typeface="Roboto" pitchFamily="34" charset="-122"/>
                <a:cs typeface="Roboto" pitchFamily="34" charset="-120"/>
              </a:rPr>
              <a:t> — Dual-draft (Rule + LLM)</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Learning loop</a:t>
            </a:r>
            <a:r>
              <a:rPr lang="en-US" sz="550" dirty="0">
                <a:solidFill>
                  <a:srgbClr val="15213F"/>
                </a:solidFill>
                <a:latin typeface="Roboto" pitchFamily="34" charset="0"/>
                <a:ea typeface="Roboto" pitchFamily="34" charset="-122"/>
                <a:cs typeface="Roboto" pitchFamily="34" charset="-120"/>
              </a:rPr>
              <a:t> — Feedback → future retraining</a:t>
            </a:r>
            <a:endParaRPr lang="en-US" sz="550" dirty="0"/>
          </a:p>
        </p:txBody>
      </p:sp>
      <p:sp>
        <p:nvSpPr>
          <p:cNvPr id="23" name="Text 21"/>
          <p:cNvSpPr/>
          <p:nvPr/>
        </p:nvSpPr>
        <p:spPr>
          <a:xfrm>
            <a:off x="496119" y="2746549"/>
            <a:ext cx="8608963"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Overall Dissertation Progress</a:t>
            </a:r>
            <a:r>
              <a:rPr lang="en-US" sz="550" dirty="0">
                <a:solidFill>
                  <a:srgbClr val="15213F"/>
                </a:solidFill>
                <a:latin typeface="Roboto" pitchFamily="34" charset="0"/>
                <a:ea typeface="Roboto" pitchFamily="34" charset="-122"/>
                <a:cs typeface="Roboto" pitchFamily="34" charset="-120"/>
              </a:rPr>
              <a:t> Phase 1 of 2 · </a:t>
            </a:r>
            <a:r>
              <a:rPr lang="en-US" sz="550" b="1" dirty="0">
                <a:solidFill>
                  <a:srgbClr val="15213F"/>
                </a:solidFill>
                <a:latin typeface="Roboto Bold" pitchFamily="34" charset="0"/>
                <a:ea typeface="Roboto Bold" pitchFamily="34" charset="-122"/>
                <a:cs typeface="Roboto Bold" pitchFamily="34" charset="-120"/>
              </a:rPr>
              <a:t>~55% complete</a:t>
            </a:r>
            <a:endParaRPr lang="en-US" sz="550" dirty="0"/>
          </a:p>
        </p:txBody>
      </p:sp>
      <p:pic>
        <p:nvPicPr>
          <p:cNvPr id="24" name="Image 0" descr="preencoded.png"/>
          <p:cNvPicPr>
            <a:picLocks noChangeAspect="1"/>
          </p:cNvPicPr>
          <p:nvPr/>
        </p:nvPicPr>
        <p:blipFill>
          <a:blip r:embed="rId3"/>
          <a:stretch>
            <a:fillRect/>
          </a:stretch>
        </p:blipFill>
        <p:spPr>
          <a:xfrm>
            <a:off x="389855" y="2571750"/>
            <a:ext cx="8151763" cy="2636209"/>
          </a:xfrm>
          <a:prstGeom prst="rect">
            <a:avLst/>
          </a:prstGeom>
        </p:spPr>
      </p:pic>
      <p:sp>
        <p:nvSpPr>
          <p:cNvPr id="25" name="Text 22"/>
          <p:cNvSpPr/>
          <p:nvPr/>
        </p:nvSpPr>
        <p:spPr>
          <a:xfrm>
            <a:off x="2053268" y="3067858"/>
            <a:ext cx="1426538" cy="220447"/>
          </a:xfrm>
          <a:prstGeom prst="rect">
            <a:avLst/>
          </a:prstGeom>
          <a:noFill/>
          <a:ln/>
        </p:spPr>
        <p:txBody>
          <a:bodyPr wrap="none" lIns="0" tIns="0" rIns="0" bIns="0" rtlCol="0" anchor="t"/>
          <a:lstStyle/>
          <a:p>
            <a:pPr marL="0" indent="0" algn="ctr">
              <a:lnSpc>
                <a:spcPct val="104000"/>
              </a:lnSpc>
              <a:buNone/>
            </a:pPr>
            <a:r>
              <a:rPr lang="en-US" sz="1350" dirty="0">
                <a:solidFill>
                  <a:srgbClr val="15213F"/>
                </a:solidFill>
                <a:latin typeface="Roboto Slab" pitchFamily="34" charset="0"/>
                <a:ea typeface="Roboto Slab" pitchFamily="34" charset="-122"/>
                <a:cs typeface="Roboto Slab" pitchFamily="34" charset="-120"/>
              </a:rPr>
              <a:t>Start</a:t>
            </a:r>
            <a:endParaRPr lang="en-US" sz="1350" dirty="0"/>
          </a:p>
        </p:txBody>
      </p:sp>
      <p:sp>
        <p:nvSpPr>
          <p:cNvPr id="26" name="Text 23"/>
          <p:cNvSpPr/>
          <p:nvPr/>
        </p:nvSpPr>
        <p:spPr>
          <a:xfrm>
            <a:off x="865713" y="3231956"/>
            <a:ext cx="1426538" cy="264537"/>
          </a:xfrm>
          <a:prstGeom prst="rect">
            <a:avLst/>
          </a:prstGeom>
          <a:noFill/>
          <a:ln/>
        </p:spPr>
        <p:txBody>
          <a:bodyPr wrap="square" lIns="0" tIns="0" rIns="0" bIns="0" rtlCol="0" anchor="t">
            <a:normAutofit lnSpcReduction="10000"/>
          </a:bodyPr>
          <a:lstStyle/>
          <a:p>
            <a:pPr marL="0" indent="0" algn="ctr">
              <a:lnSpc>
                <a:spcPct val="78000"/>
              </a:lnSpc>
              <a:buNone/>
            </a:pPr>
            <a:r>
              <a:rPr lang="en-US" sz="1100" dirty="0">
                <a:solidFill>
                  <a:srgbClr val="15213F"/>
                </a:solidFill>
                <a:latin typeface="Roboto" pitchFamily="34" charset="0"/>
                <a:ea typeface="Roboto" pitchFamily="34" charset="-122"/>
                <a:cs typeface="Roboto" pitchFamily="34" charset="-120"/>
              </a:rPr>
              <a:t>Project init, objectives defined</a:t>
            </a:r>
            <a:endParaRPr lang="en-US" sz="1100" dirty="0"/>
          </a:p>
        </p:txBody>
      </p:sp>
      <p:sp>
        <p:nvSpPr>
          <p:cNvPr id="27" name="Text 24"/>
          <p:cNvSpPr/>
          <p:nvPr/>
        </p:nvSpPr>
        <p:spPr>
          <a:xfrm>
            <a:off x="3748547" y="4616258"/>
            <a:ext cx="1434377" cy="440895"/>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15213F"/>
                </a:solidFill>
                <a:latin typeface="Roboto Slab" pitchFamily="34" charset="0"/>
                <a:ea typeface="Roboto Slab" pitchFamily="34" charset="-122"/>
                <a:cs typeface="Roboto Slab" pitchFamily="34" charset="-120"/>
              </a:rPr>
              <a:t>Mid-sem Checkpoint</a:t>
            </a:r>
            <a:endParaRPr lang="en-US" sz="1350" dirty="0"/>
          </a:p>
        </p:txBody>
      </p:sp>
      <p:sp>
        <p:nvSpPr>
          <p:cNvPr id="28" name="Text 25"/>
          <p:cNvSpPr/>
          <p:nvPr/>
        </p:nvSpPr>
        <p:spPr>
          <a:xfrm>
            <a:off x="5184419" y="4548778"/>
            <a:ext cx="1434377" cy="264537"/>
          </a:xfrm>
          <a:prstGeom prst="rect">
            <a:avLst/>
          </a:prstGeom>
          <a:noFill/>
          <a:ln/>
        </p:spPr>
        <p:txBody>
          <a:bodyPr wrap="square" lIns="0" tIns="0" rIns="0" bIns="0" rtlCol="0" anchor="t">
            <a:normAutofit lnSpcReduction="10000"/>
          </a:bodyPr>
          <a:lstStyle/>
          <a:p>
            <a:pPr marL="0" indent="0" algn="ctr">
              <a:lnSpc>
                <a:spcPct val="78000"/>
              </a:lnSpc>
              <a:buNone/>
            </a:pPr>
            <a:r>
              <a:rPr lang="en-US" sz="1100" dirty="0">
                <a:solidFill>
                  <a:srgbClr val="15213F"/>
                </a:solidFill>
                <a:latin typeface="Roboto" pitchFamily="34" charset="0"/>
                <a:ea typeface="Roboto" pitchFamily="34" charset="-122"/>
                <a:cs typeface="Roboto" pitchFamily="34" charset="-120"/>
              </a:rPr>
              <a:t>Part A delivered — 55% complete</a:t>
            </a:r>
            <a:endParaRPr lang="en-US" sz="1100" dirty="0"/>
          </a:p>
        </p:txBody>
      </p:sp>
      <p:sp>
        <p:nvSpPr>
          <p:cNvPr id="29" name="Text 26"/>
          <p:cNvSpPr/>
          <p:nvPr/>
        </p:nvSpPr>
        <p:spPr>
          <a:xfrm>
            <a:off x="5603938" y="3040425"/>
            <a:ext cx="1426539" cy="220447"/>
          </a:xfrm>
          <a:prstGeom prst="rect">
            <a:avLst/>
          </a:prstGeom>
          <a:noFill/>
          <a:ln/>
        </p:spPr>
        <p:txBody>
          <a:bodyPr wrap="none" lIns="0" tIns="0" rIns="0" bIns="0" rtlCol="0" anchor="t"/>
          <a:lstStyle/>
          <a:p>
            <a:pPr marL="0" indent="0" algn="ctr">
              <a:lnSpc>
                <a:spcPct val="104000"/>
              </a:lnSpc>
              <a:buNone/>
            </a:pPr>
            <a:r>
              <a:rPr lang="en-US" sz="1350" dirty="0">
                <a:solidFill>
                  <a:srgbClr val="15213F"/>
                </a:solidFill>
                <a:latin typeface="Roboto Slab" pitchFamily="34" charset="0"/>
                <a:ea typeface="Roboto Slab" pitchFamily="34" charset="-122"/>
                <a:cs typeface="Roboto Slab" pitchFamily="34" charset="-120"/>
              </a:rPr>
              <a:t>Final Defence</a:t>
            </a:r>
            <a:endParaRPr lang="en-US" sz="1350" dirty="0"/>
          </a:p>
        </p:txBody>
      </p:sp>
      <p:sp>
        <p:nvSpPr>
          <p:cNvPr id="30" name="Text 27"/>
          <p:cNvSpPr/>
          <p:nvPr/>
        </p:nvSpPr>
        <p:spPr>
          <a:xfrm>
            <a:off x="7090732" y="3156165"/>
            <a:ext cx="1426539" cy="264537"/>
          </a:xfrm>
          <a:prstGeom prst="rect">
            <a:avLst/>
          </a:prstGeom>
          <a:noFill/>
          <a:ln/>
        </p:spPr>
        <p:txBody>
          <a:bodyPr wrap="square" lIns="0" tIns="0" rIns="0" bIns="0" rtlCol="0" anchor="t">
            <a:normAutofit lnSpcReduction="10000"/>
          </a:bodyPr>
          <a:lstStyle/>
          <a:p>
            <a:pPr marL="0" indent="0" algn="ctr">
              <a:lnSpc>
                <a:spcPct val="78000"/>
              </a:lnSpc>
              <a:buNone/>
            </a:pPr>
            <a:r>
              <a:rPr lang="en-US" sz="1100" dirty="0">
                <a:solidFill>
                  <a:srgbClr val="15213F"/>
                </a:solidFill>
                <a:latin typeface="Roboto" pitchFamily="34" charset="0"/>
                <a:ea typeface="Roboto" pitchFamily="34" charset="-122"/>
                <a:cs typeface="Roboto" pitchFamily="34" charset="-120"/>
              </a:rPr>
              <a:t>Complete pipeline and present findings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89855"/>
            <a:ext cx="3135288"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High-Level System Architecture</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Layered view — external sources → pipeline core → AI runtime → storage → serving → clients</a:t>
            </a:r>
            <a:endParaRPr lang="en-US" sz="550" dirty="0"/>
          </a:p>
        </p:txBody>
      </p:sp>
      <p:pic>
        <p:nvPicPr>
          <p:cNvPr id="4" name="Image 0" descr="preencoded.png"/>
          <p:cNvPicPr>
            <a:picLocks noChangeAspect="1"/>
          </p:cNvPicPr>
          <p:nvPr/>
        </p:nvPicPr>
        <p:blipFill>
          <a:blip r:embed="rId3"/>
          <a:stretch>
            <a:fillRect/>
          </a:stretch>
        </p:blipFill>
        <p:spPr>
          <a:xfrm>
            <a:off x="496119" y="807021"/>
            <a:ext cx="7315200" cy="38474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89855"/>
            <a:ext cx="3179638"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6-Stage Pipeline — Detailed Flow</a:t>
            </a:r>
            <a:endParaRPr lang="en-US" sz="1350" dirty="0"/>
          </a:p>
        </p:txBody>
      </p:sp>
      <p:pic>
        <p:nvPicPr>
          <p:cNvPr id="3" name="Image 0" descr="preencoded.png"/>
          <p:cNvPicPr>
            <a:picLocks noChangeAspect="1"/>
          </p:cNvPicPr>
          <p:nvPr/>
        </p:nvPicPr>
        <p:blipFill>
          <a:blip r:embed="rId3"/>
          <a:stretch>
            <a:fillRect/>
          </a:stretch>
        </p:blipFill>
        <p:spPr>
          <a:xfrm>
            <a:off x="496119" y="682154"/>
            <a:ext cx="7315200" cy="4114800"/>
          </a:xfrm>
          <a:prstGeom prst="rect">
            <a:avLst/>
          </a:prstGeom>
        </p:spPr>
      </p:pic>
      <p:sp>
        <p:nvSpPr>
          <p:cNvPr id="4" name="Text 1"/>
          <p:cNvSpPr/>
          <p:nvPr/>
        </p:nvSpPr>
        <p:spPr>
          <a:xfrm>
            <a:off x="496119" y="4836765"/>
            <a:ext cx="8608963" cy="85055"/>
          </a:xfrm>
          <a:prstGeom prst="rect">
            <a:avLst/>
          </a:prstGeom>
          <a:noFill/>
          <a:ln/>
        </p:spPr>
        <p:txBody>
          <a:bodyPr wrap="none" lIns="0" tIns="0" rIns="0" bIns="0" rtlCol="0" anchor="t"/>
          <a:lstStyle/>
          <a:p>
            <a:pPr marL="0" indent="0" algn="l">
              <a:lnSpc>
                <a:spcPct val="100000"/>
              </a:lnSpc>
              <a:buNone/>
            </a:pP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3155156"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Request Sequence — End-to-End</a:t>
            </a:r>
            <a:endParaRPr lang="en-US" sz="1350" dirty="0"/>
          </a:p>
        </p:txBody>
      </p:sp>
      <p:pic>
        <p:nvPicPr>
          <p:cNvPr id="3" name="Image 0" descr="preencoded.png"/>
          <p:cNvPicPr>
            <a:picLocks noChangeAspect="1"/>
          </p:cNvPicPr>
          <p:nvPr/>
        </p:nvPicPr>
        <p:blipFill>
          <a:blip r:embed="rId3"/>
          <a:stretch>
            <a:fillRect/>
          </a:stretch>
        </p:blipFill>
        <p:spPr>
          <a:xfrm>
            <a:off x="496119" y="682154"/>
            <a:ext cx="7315200" cy="411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42168"/>
            <a:ext cx="5235327" cy="283741"/>
          </a:xfrm>
          <a:prstGeom prst="rect">
            <a:avLst/>
          </a:prstGeom>
          <a:noFill/>
          <a:ln/>
        </p:spPr>
        <p:txBody>
          <a:bodyPr wrap="none" lIns="0" tIns="0" rIns="0" bIns="0" rtlCol="0" anchor="t"/>
          <a:lstStyle/>
          <a:p>
            <a:pPr marL="0" indent="0" algn="l">
              <a:lnSpc>
                <a:spcPct val="104000"/>
              </a:lnSpc>
              <a:buNone/>
            </a:pPr>
            <a:r>
              <a:rPr lang="en-US" sz="1750" dirty="0">
                <a:solidFill>
                  <a:srgbClr val="3257B8"/>
                </a:solidFill>
                <a:latin typeface="Roboto Slab" pitchFamily="34" charset="0"/>
                <a:ea typeface="Roboto Slab" pitchFamily="34" charset="-122"/>
                <a:cs typeface="Roboto Slab" pitchFamily="34" charset="-120"/>
              </a:rPr>
              <a:t>Data Ingestion — Where the Plan Met Reality</a:t>
            </a:r>
            <a:endParaRPr lang="en-US" sz="1750" dirty="0"/>
          </a:p>
        </p:txBody>
      </p:sp>
      <p:sp>
        <p:nvSpPr>
          <p:cNvPr id="3" name="Text 1"/>
          <p:cNvSpPr/>
          <p:nvPr/>
        </p:nvSpPr>
        <p:spPr>
          <a:xfrm>
            <a:off x="496119" y="842218"/>
            <a:ext cx="8608963"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How we replaced PRAW with the Arctic Shift API and turned a broken plan into a stable 60-minute ingestion loop</a:t>
            </a:r>
            <a:endParaRPr lang="en-US" sz="700" dirty="0"/>
          </a:p>
        </p:txBody>
      </p:sp>
      <p:sp>
        <p:nvSpPr>
          <p:cNvPr id="4" name="Text 2"/>
          <p:cNvSpPr/>
          <p:nvPr/>
        </p:nvSpPr>
        <p:spPr>
          <a:xfrm>
            <a:off x="496119" y="1084883"/>
            <a:ext cx="1592387" cy="141908"/>
          </a:xfrm>
          <a:prstGeom prst="rect">
            <a:avLst/>
          </a:prstGeom>
          <a:noFill/>
          <a:ln/>
        </p:spPr>
        <p:txBody>
          <a:bodyPr wrap="none" lIns="0" tIns="0" rIns="0" bIns="0" rtlCol="0" anchor="t"/>
          <a:lstStyle/>
          <a:p>
            <a:pPr marL="0" indent="0" algn="l">
              <a:lnSpc>
                <a:spcPct val="104000"/>
              </a:lnSpc>
              <a:buNone/>
            </a:pPr>
            <a:r>
              <a:rPr lang="en-US" sz="850" dirty="0">
                <a:solidFill>
                  <a:srgbClr val="3257B8"/>
                </a:solidFill>
                <a:latin typeface="Roboto Slab" pitchFamily="34" charset="0"/>
                <a:ea typeface="Roboto Slab" pitchFamily="34" charset="-122"/>
                <a:cs typeface="Roboto Slab" pitchFamily="34" charset="-120"/>
              </a:rPr>
              <a:t>Initially Planned</a:t>
            </a:r>
            <a:endParaRPr lang="en-US" sz="850" dirty="0"/>
          </a:p>
        </p:txBody>
      </p:sp>
      <p:sp>
        <p:nvSpPr>
          <p:cNvPr id="5" name="Text 3"/>
          <p:cNvSpPr/>
          <p:nvPr/>
        </p:nvSpPr>
        <p:spPr>
          <a:xfrm>
            <a:off x="496119" y="1250007"/>
            <a:ext cx="1851124" cy="151433"/>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Roboto Slab" pitchFamily="34" charset="0"/>
                <a:ea typeface="Roboto Slab" pitchFamily="34" charset="-122"/>
                <a:cs typeface="Roboto Slab" pitchFamily="34" charset="-120"/>
              </a:rPr>
              <a:t>🐍</a:t>
            </a:r>
            <a:r>
              <a:rPr lang="en-US" sz="850" dirty="0">
                <a:solidFill>
                  <a:srgbClr val="3257B8"/>
                </a:solidFill>
                <a:latin typeface="Roboto Slab" pitchFamily="34" charset="0"/>
                <a:ea typeface="Roboto Slab" pitchFamily="34" charset="-122"/>
                <a:cs typeface="Roboto Slab" pitchFamily="34" charset="-120"/>
              </a:rPr>
              <a:t> PRAW · Reddit Dev API</a:t>
            </a:r>
            <a:endParaRPr lang="en-US" sz="850" dirty="0"/>
          </a:p>
        </p:txBody>
      </p:sp>
      <p:sp>
        <p:nvSpPr>
          <p:cNvPr id="6" name="Text 4"/>
          <p:cNvSpPr/>
          <p:nvPr/>
        </p:nvSpPr>
        <p:spPr>
          <a:xfrm>
            <a:off x="496119" y="1459557"/>
            <a:ext cx="3965153" cy="398041"/>
          </a:xfrm>
          <a:prstGeom prst="rect">
            <a:avLst/>
          </a:prstGeom>
          <a:noFill/>
          <a:ln/>
        </p:spPr>
        <p:txBody>
          <a:bodyPr wrap="square" lIns="0" tIns="0" rIns="0" bIns="0" rtlCol="0" anchor="t">
            <a:normAutofit/>
          </a:bodyPr>
          <a:lstStyle/>
          <a:p>
            <a:pPr marL="142240" indent="-142240" algn="l">
              <a:lnSpc>
                <a:spcPct val="109000"/>
              </a:lnSpc>
              <a:buSzPct val="100000"/>
              <a:buChar char="•"/>
            </a:pPr>
            <a:r>
              <a:rPr lang="en-US" sz="700" dirty="0">
                <a:solidFill>
                  <a:srgbClr val="15213F"/>
                </a:solidFill>
                <a:latin typeface="Roboto" pitchFamily="34" charset="0"/>
                <a:ea typeface="Roboto" pitchFamily="34" charset="-122"/>
                <a:cs typeface="Roboto" pitchFamily="34" charset="-120"/>
              </a:rPr>
              <a:t>Official Python client for Reddit</a:t>
            </a:r>
            <a:endParaRPr lang="en-US" sz="700" dirty="0"/>
          </a:p>
          <a:p>
            <a:pPr marL="142240" indent="-142240" algn="l">
              <a:lnSpc>
                <a:spcPct val="109000"/>
              </a:lnSpc>
              <a:buSzPct val="100000"/>
              <a:buChar char="•"/>
            </a:pPr>
            <a:r>
              <a:rPr lang="en-US" sz="700" dirty="0">
                <a:solidFill>
                  <a:srgbClr val="15213F"/>
                </a:solidFill>
                <a:latin typeface="Roboto" pitchFamily="34" charset="0"/>
                <a:ea typeface="Roboto" pitchFamily="34" charset="-122"/>
                <a:cs typeface="Roboto" pitchFamily="34" charset="-120"/>
              </a:rPr>
              <a:t>OAuth-based, real-time listing &amp; stream</a:t>
            </a:r>
            <a:endParaRPr lang="en-US" sz="700" dirty="0"/>
          </a:p>
          <a:p>
            <a:pPr marL="142240" indent="-142240" algn="l">
              <a:lnSpc>
                <a:spcPct val="109000"/>
              </a:lnSpc>
              <a:buSzPct val="100000"/>
              <a:buChar char="•"/>
            </a:pPr>
            <a:r>
              <a:rPr lang="en-US" sz="700" dirty="0">
                <a:solidFill>
                  <a:srgbClr val="15213F"/>
                </a:solidFill>
                <a:latin typeface="Roboto" pitchFamily="34" charset="0"/>
                <a:ea typeface="Roboto" pitchFamily="34" charset="-122"/>
                <a:cs typeface="Roboto" pitchFamily="34" charset="-120"/>
              </a:rPr>
              <a:t>Canonical "correct" ingestion path</a:t>
            </a:r>
            <a:endParaRPr lang="en-US" sz="700" dirty="0"/>
          </a:p>
        </p:txBody>
      </p:sp>
      <p:sp>
        <p:nvSpPr>
          <p:cNvPr id="7" name="Text 5"/>
          <p:cNvSpPr/>
          <p:nvPr/>
        </p:nvSpPr>
        <p:spPr>
          <a:xfrm>
            <a:off x="496119" y="1909911"/>
            <a:ext cx="3965153" cy="238274"/>
          </a:xfrm>
          <a:prstGeom prst="rect">
            <a:avLst/>
          </a:prstGeom>
          <a:noFill/>
          <a:ln/>
        </p:spPr>
        <p:txBody>
          <a:bodyPr wrap="square" lIns="0" tIns="0" rIns="0" bIns="0" rtlCol="0" anchor="t">
            <a:normAutofit/>
          </a:bodyPr>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dirty="0">
                <a:solidFill>
                  <a:srgbClr val="15213F"/>
                </a:solidFill>
                <a:latin typeface="Roboto" pitchFamily="34" charset="0"/>
                <a:ea typeface="Roboto" pitchFamily="34" charset="-122"/>
                <a:cs typeface="Roboto" pitchFamily="34" charset="-120"/>
              </a:rPr>
              <a:t> </a:t>
            </a:r>
            <a:r>
              <a:rPr lang="en-US" sz="700" b="1" dirty="0">
                <a:solidFill>
                  <a:srgbClr val="15213F"/>
                </a:solidFill>
                <a:latin typeface="Roboto Bold" pitchFamily="34" charset="0"/>
                <a:ea typeface="Roboto Bold" pitchFamily="34" charset="-122"/>
                <a:cs typeface="Roboto Bold" pitchFamily="34" charset="-120"/>
              </a:rPr>
              <a:t>Blocker</a:t>
            </a:r>
            <a:r>
              <a:rPr lang="en-US" sz="700" dirty="0">
                <a:solidFill>
                  <a:srgbClr val="15213F"/>
                </a:solidFill>
                <a:latin typeface="Roboto" pitchFamily="34" charset="0"/>
                <a:ea typeface="Roboto" pitchFamily="34" charset="-122"/>
                <a:cs typeface="Roboto" pitchFamily="34" charset="-120"/>
              </a:rPr>
              <a:t> — could not secure working Reddit dev-API credentials in time (app-registration + auth-flow friction). Live streaming path parked.</a:t>
            </a:r>
            <a:endParaRPr lang="en-US" sz="700" dirty="0"/>
          </a:p>
        </p:txBody>
      </p:sp>
      <p:sp>
        <p:nvSpPr>
          <p:cNvPr id="8" name="Shape 6"/>
          <p:cNvSpPr/>
          <p:nvPr/>
        </p:nvSpPr>
        <p:spPr>
          <a:xfrm>
            <a:off x="4622155" y="1026765"/>
            <a:ext cx="4095824" cy="1173733"/>
          </a:xfrm>
          <a:prstGeom prst="roundRect">
            <a:avLst>
              <a:gd name="adj" fmla="val 1161"/>
            </a:avLst>
          </a:prstGeom>
          <a:solidFill>
            <a:srgbClr val="3257B8"/>
          </a:solidFill>
          <a:ln/>
        </p:spPr>
        <p:txBody>
          <a:bodyPr/>
          <a:lstStyle/>
          <a:p>
            <a:endParaRPr lang="en-US"/>
          </a:p>
        </p:txBody>
      </p:sp>
      <p:sp>
        <p:nvSpPr>
          <p:cNvPr id="9" name="Text 7"/>
          <p:cNvSpPr/>
          <p:nvPr/>
        </p:nvSpPr>
        <p:spPr>
          <a:xfrm>
            <a:off x="4712940" y="1084883"/>
            <a:ext cx="1592387" cy="141908"/>
          </a:xfrm>
          <a:prstGeom prst="rect">
            <a:avLst/>
          </a:prstGeom>
          <a:noFill/>
          <a:ln/>
        </p:spPr>
        <p:txBody>
          <a:bodyPr wrap="none" lIns="0" tIns="0" rIns="0" bIns="0" rtlCol="0" anchor="t"/>
          <a:lstStyle/>
          <a:p>
            <a:pPr marL="0" indent="0" algn="l">
              <a:lnSpc>
                <a:spcPct val="104000"/>
              </a:lnSpc>
              <a:buNone/>
            </a:pPr>
            <a:r>
              <a:rPr lang="en-US" sz="850" dirty="0">
                <a:solidFill>
                  <a:srgbClr val="FFFFFF"/>
                </a:solidFill>
                <a:latin typeface="Roboto Slab" pitchFamily="34" charset="0"/>
                <a:ea typeface="Roboto Slab" pitchFamily="34" charset="-122"/>
                <a:cs typeface="Roboto Slab" pitchFamily="34" charset="-120"/>
              </a:rPr>
              <a:t>Actually Shipped</a:t>
            </a:r>
            <a:endParaRPr lang="en-US" sz="850" dirty="0"/>
          </a:p>
        </p:txBody>
      </p:sp>
      <p:sp>
        <p:nvSpPr>
          <p:cNvPr id="10" name="Text 8"/>
          <p:cNvSpPr/>
          <p:nvPr/>
        </p:nvSpPr>
        <p:spPr>
          <a:xfrm>
            <a:off x="4712940" y="1250007"/>
            <a:ext cx="1592387" cy="151433"/>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Roboto Slab" pitchFamily="34" charset="0"/>
                <a:ea typeface="Roboto Slab" pitchFamily="34" charset="-122"/>
                <a:cs typeface="Roboto Slab" pitchFamily="34" charset="-120"/>
              </a:rPr>
              <a:t>🧊</a:t>
            </a:r>
            <a:r>
              <a:rPr lang="en-US" sz="850" dirty="0">
                <a:solidFill>
                  <a:srgbClr val="FFFFFF"/>
                </a:solidFill>
                <a:latin typeface="Roboto Slab" pitchFamily="34" charset="0"/>
                <a:ea typeface="Roboto Slab" pitchFamily="34" charset="-122"/>
                <a:cs typeface="Roboto Slab" pitchFamily="34" charset="-120"/>
              </a:rPr>
              <a:t> Arctic Shift API</a:t>
            </a:r>
            <a:endParaRPr lang="en-US" sz="850" dirty="0"/>
          </a:p>
        </p:txBody>
      </p:sp>
      <p:sp>
        <p:nvSpPr>
          <p:cNvPr id="11" name="Text 9"/>
          <p:cNvSpPr/>
          <p:nvPr/>
        </p:nvSpPr>
        <p:spPr>
          <a:xfrm>
            <a:off x="4712940" y="1459557"/>
            <a:ext cx="3914254" cy="398041"/>
          </a:xfrm>
          <a:prstGeom prst="rect">
            <a:avLst/>
          </a:prstGeom>
          <a:noFill/>
          <a:ln/>
        </p:spPr>
        <p:txBody>
          <a:bodyPr wrap="square" lIns="0" tIns="0" rIns="0" bIns="0" rtlCol="0" anchor="t">
            <a:normAutofit/>
          </a:bodyPr>
          <a:lstStyle/>
          <a:p>
            <a:pPr marL="142240" indent="-142240" algn="l">
              <a:lnSpc>
                <a:spcPct val="109000"/>
              </a:lnSpc>
              <a:buSzPct val="100000"/>
              <a:buChar char="•"/>
            </a:pPr>
            <a:r>
              <a:rPr lang="en-US" sz="700" dirty="0">
                <a:solidFill>
                  <a:srgbClr val="FFFFFF"/>
                </a:solidFill>
                <a:latin typeface="Roboto" pitchFamily="34" charset="0"/>
                <a:ea typeface="Roboto" pitchFamily="34" charset="-122"/>
                <a:cs typeface="Roboto" pitchFamily="34" charset="-120"/>
              </a:rPr>
              <a:t>Public Reddit archive endpoint — no auth</a:t>
            </a:r>
            <a:endParaRPr lang="en-US" sz="700" dirty="0"/>
          </a:p>
          <a:p>
            <a:pPr marL="142240" indent="-142240" algn="l">
              <a:lnSpc>
                <a:spcPct val="109000"/>
              </a:lnSpc>
              <a:buSzPct val="100000"/>
              <a:buChar char="•"/>
            </a:pPr>
            <a:r>
              <a:rPr lang="en-US" sz="700" dirty="0">
                <a:solidFill>
                  <a:srgbClr val="FFFFFF"/>
                </a:solidFill>
                <a:latin typeface="Roboto" pitchFamily="34" charset="0"/>
                <a:ea typeface="Roboto" pitchFamily="34" charset="-122"/>
                <a:cs typeface="Roboto" pitchFamily="34" charset="-120"/>
              </a:rPr>
              <a:t>Windowed pulls across 25 Walmart-relevant subs</a:t>
            </a:r>
            <a:endParaRPr lang="en-US" sz="700" dirty="0"/>
          </a:p>
          <a:p>
            <a:pPr marL="142240" indent="-142240" algn="l">
              <a:lnSpc>
                <a:spcPct val="109000"/>
              </a:lnSpc>
              <a:buSzPct val="100000"/>
              <a:buChar char="•"/>
            </a:pPr>
            <a:r>
              <a:rPr lang="en-US" sz="700" dirty="0">
                <a:solidFill>
                  <a:srgbClr val="FFFFFF"/>
                </a:solidFill>
                <a:latin typeface="Roboto" pitchFamily="34" charset="0"/>
                <a:ea typeface="Roboto" pitchFamily="34" charset="-122"/>
                <a:cs typeface="Roboto" pitchFamily="34" charset="-120"/>
              </a:rPr>
              <a:t>Same fetcher interface — PRAW pluggable later</a:t>
            </a:r>
            <a:endParaRPr lang="en-US" sz="700" dirty="0"/>
          </a:p>
        </p:txBody>
      </p:sp>
      <p:sp>
        <p:nvSpPr>
          <p:cNvPr id="12" name="Text 10"/>
          <p:cNvSpPr/>
          <p:nvPr/>
        </p:nvSpPr>
        <p:spPr>
          <a:xfrm>
            <a:off x="4712940" y="1909911"/>
            <a:ext cx="3914254" cy="238274"/>
          </a:xfrm>
          <a:prstGeom prst="rect">
            <a:avLst/>
          </a:prstGeom>
          <a:noFill/>
          <a:ln/>
        </p:spPr>
        <p:txBody>
          <a:bodyPr wrap="square" lIns="0" tIns="0" rIns="0" bIns="0" rtlCol="0" anchor="t">
            <a:normAutofit/>
          </a:bodyPr>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dirty="0">
                <a:solidFill>
                  <a:srgbClr val="FFFFFF"/>
                </a:solidFill>
                <a:latin typeface="Roboto" pitchFamily="34" charset="0"/>
                <a:ea typeface="Roboto" pitchFamily="34" charset="-122"/>
                <a:cs typeface="Roboto" pitchFamily="34" charset="-120"/>
              </a:rPr>
              <a:t> </a:t>
            </a:r>
            <a:r>
              <a:rPr lang="en-US" sz="700" b="1" dirty="0">
                <a:solidFill>
                  <a:srgbClr val="FFFFFF"/>
                </a:solidFill>
                <a:latin typeface="Roboto Bold" pitchFamily="34" charset="0"/>
                <a:ea typeface="Roboto Bold" pitchFamily="34" charset="-122"/>
                <a:cs typeface="Roboto Bold" pitchFamily="34" charset="-120"/>
              </a:rPr>
              <a:t>Mitigation</a:t>
            </a:r>
            <a:r>
              <a:rPr lang="en-US" sz="700" dirty="0">
                <a:solidFill>
                  <a:srgbClr val="FFFFFF"/>
                </a:solidFill>
                <a:latin typeface="Roboto" pitchFamily="34" charset="0"/>
                <a:ea typeface="Roboto" pitchFamily="34" charset="-122"/>
                <a:cs typeface="Roboto" pitchFamily="34" charset="-120"/>
              </a:rPr>
              <a:t> — Arctic Shift keeps the pipeline unblocked. Zero downstream schema change; ingestion feeds the exact same raw_posts table.</a:t>
            </a:r>
            <a:endParaRPr lang="en-US" sz="700" dirty="0"/>
          </a:p>
        </p:txBody>
      </p:sp>
      <p:sp>
        <p:nvSpPr>
          <p:cNvPr id="13" name="Text 11"/>
          <p:cNvSpPr/>
          <p:nvPr/>
        </p:nvSpPr>
        <p:spPr>
          <a:xfrm>
            <a:off x="496119" y="2287712"/>
            <a:ext cx="1819424" cy="170259"/>
          </a:xfrm>
          <a:prstGeom prst="rect">
            <a:avLst/>
          </a:prstGeom>
          <a:noFill/>
          <a:ln/>
        </p:spPr>
        <p:txBody>
          <a:bodyPr wrap="none" lIns="0" tIns="0" rIns="0" bIns="0" rtlCol="0" anchor="t"/>
          <a:lstStyle/>
          <a:p>
            <a:pPr marL="0" indent="0" algn="l">
              <a:lnSpc>
                <a:spcPct val="104000"/>
              </a:lnSpc>
              <a:buNone/>
            </a:pPr>
            <a:r>
              <a:rPr lang="en-US" sz="1050" dirty="0">
                <a:solidFill>
                  <a:srgbClr val="3257B8"/>
                </a:solidFill>
                <a:latin typeface="Roboto Slab" pitchFamily="34" charset="0"/>
                <a:ea typeface="Roboto Slab" pitchFamily="34" charset="-122"/>
                <a:cs typeface="Roboto Slab" pitchFamily="34" charset="-120"/>
              </a:rPr>
              <a:t>Side-by-Side</a:t>
            </a:r>
            <a:endParaRPr lang="en-US" sz="1050" dirty="0"/>
          </a:p>
        </p:txBody>
      </p:sp>
      <p:sp>
        <p:nvSpPr>
          <p:cNvPr id="14" name="Shape 12"/>
          <p:cNvSpPr/>
          <p:nvPr/>
        </p:nvSpPr>
        <p:spPr>
          <a:xfrm>
            <a:off x="496119" y="2545184"/>
            <a:ext cx="8151763" cy="1224111"/>
          </a:xfrm>
          <a:prstGeom prst="roundRect">
            <a:avLst>
              <a:gd name="adj" fmla="val 1113"/>
            </a:avLst>
          </a:prstGeom>
          <a:noFill/>
          <a:ln w="4763">
            <a:solidFill>
              <a:srgbClr val="000000">
                <a:alpha val="8000"/>
              </a:srgbClr>
            </a:solidFill>
            <a:prstDash val="solid"/>
          </a:ln>
        </p:spPr>
        <p:txBody>
          <a:bodyPr/>
          <a:lstStyle/>
          <a:p>
            <a:endParaRPr lang="en-US"/>
          </a:p>
        </p:txBody>
      </p:sp>
      <p:sp>
        <p:nvSpPr>
          <p:cNvPr id="15" name="Text 13"/>
          <p:cNvSpPr/>
          <p:nvPr/>
        </p:nvSpPr>
        <p:spPr>
          <a:xfrm>
            <a:off x="592559" y="2589609"/>
            <a:ext cx="2986757" cy="119137"/>
          </a:xfrm>
          <a:prstGeom prst="rect">
            <a:avLst/>
          </a:prstGeom>
          <a:noFill/>
          <a:ln/>
        </p:spPr>
        <p:txBody>
          <a:bodyPr wrap="none" lIns="0" tIns="0" rIns="0" bIns="0" rtlCol="0" anchor="t"/>
          <a:lstStyle/>
          <a:p>
            <a:pPr marL="0" indent="0" algn="l">
              <a:lnSpc>
                <a:spcPct val="109000"/>
              </a:lnSpc>
              <a:buNone/>
            </a:pPr>
            <a:r>
              <a:rPr lang="en-US" sz="700" b="1" dirty="0">
                <a:solidFill>
                  <a:srgbClr val="15213F"/>
                </a:solidFill>
                <a:latin typeface="Roboto Bold" pitchFamily="34" charset="0"/>
                <a:ea typeface="Roboto Bold" pitchFamily="34" charset="-122"/>
                <a:cs typeface="Roboto Bold" pitchFamily="34" charset="-120"/>
              </a:rPr>
              <a:t>Dimension</a:t>
            </a:r>
            <a:endParaRPr lang="en-US" sz="700" dirty="0"/>
          </a:p>
        </p:txBody>
      </p:sp>
      <p:sp>
        <p:nvSpPr>
          <p:cNvPr id="16" name="Text 14"/>
          <p:cNvSpPr/>
          <p:nvPr/>
        </p:nvSpPr>
        <p:spPr>
          <a:xfrm>
            <a:off x="3308449" y="2589609"/>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b="1" dirty="0">
                <a:solidFill>
                  <a:srgbClr val="15213F"/>
                </a:solidFill>
                <a:latin typeface="Roboto Bold" pitchFamily="34" charset="0"/>
                <a:ea typeface="Roboto Bold" pitchFamily="34" charset="-122"/>
                <a:cs typeface="Roboto Bold" pitchFamily="34" charset="-120"/>
              </a:rPr>
              <a:t> PRAW (planned)</a:t>
            </a:r>
            <a:endParaRPr lang="en-US" sz="700" dirty="0"/>
          </a:p>
        </p:txBody>
      </p:sp>
      <p:sp>
        <p:nvSpPr>
          <p:cNvPr id="17" name="Text 15"/>
          <p:cNvSpPr/>
          <p:nvPr/>
        </p:nvSpPr>
        <p:spPr>
          <a:xfrm>
            <a:off x="6021958" y="258960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000000"/>
                </a:solidFill>
                <a:latin typeface="Roboto" pitchFamily="34" charset="0"/>
                <a:ea typeface="Roboto" pitchFamily="34" charset="-122"/>
                <a:cs typeface="Roboto" pitchFamily="34" charset="-120"/>
              </a:rPr>
              <a:t>🧊</a:t>
            </a:r>
            <a:r>
              <a:rPr lang="en-US" sz="700" b="1" dirty="0">
                <a:solidFill>
                  <a:srgbClr val="15213F"/>
                </a:solidFill>
                <a:latin typeface="Roboto Bold" pitchFamily="34" charset="0"/>
                <a:ea typeface="Roboto Bold" pitchFamily="34" charset="-122"/>
                <a:cs typeface="Roboto Bold" pitchFamily="34" charset="-120"/>
              </a:rPr>
              <a:t> Arctic Shift (shipped)</a:t>
            </a:r>
            <a:endParaRPr lang="en-US" sz="700" dirty="0"/>
          </a:p>
        </p:txBody>
      </p:sp>
      <p:sp>
        <p:nvSpPr>
          <p:cNvPr id="18" name="Text 16"/>
          <p:cNvSpPr/>
          <p:nvPr/>
        </p:nvSpPr>
        <p:spPr>
          <a:xfrm>
            <a:off x="592559" y="279283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Auth</a:t>
            </a:r>
            <a:endParaRPr lang="en-US" sz="700" dirty="0"/>
          </a:p>
        </p:txBody>
      </p:sp>
      <p:sp>
        <p:nvSpPr>
          <p:cNvPr id="19" name="Text 17"/>
          <p:cNvSpPr/>
          <p:nvPr/>
        </p:nvSpPr>
        <p:spPr>
          <a:xfrm>
            <a:off x="3308449" y="2792834"/>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Reddit app + OAuth token</a:t>
            </a:r>
            <a:endParaRPr lang="en-US" sz="700" dirty="0"/>
          </a:p>
        </p:txBody>
      </p:sp>
      <p:sp>
        <p:nvSpPr>
          <p:cNvPr id="20" name="Text 18"/>
          <p:cNvSpPr/>
          <p:nvPr/>
        </p:nvSpPr>
        <p:spPr>
          <a:xfrm>
            <a:off x="6021958" y="279283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None — public HTTP</a:t>
            </a:r>
            <a:endParaRPr lang="en-US" sz="700" dirty="0"/>
          </a:p>
        </p:txBody>
      </p:sp>
      <p:sp>
        <p:nvSpPr>
          <p:cNvPr id="21" name="Text 19"/>
          <p:cNvSpPr/>
          <p:nvPr/>
        </p:nvSpPr>
        <p:spPr>
          <a:xfrm>
            <a:off x="592559" y="299605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Access model</a:t>
            </a:r>
            <a:endParaRPr lang="en-US" sz="700" dirty="0"/>
          </a:p>
        </p:txBody>
      </p:sp>
      <p:sp>
        <p:nvSpPr>
          <p:cNvPr id="22" name="Text 20"/>
          <p:cNvSpPr/>
          <p:nvPr/>
        </p:nvSpPr>
        <p:spPr>
          <a:xfrm>
            <a:off x="3308449" y="2996059"/>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Live listings / stream</a:t>
            </a:r>
            <a:endParaRPr lang="en-US" sz="700" dirty="0"/>
          </a:p>
        </p:txBody>
      </p:sp>
      <p:sp>
        <p:nvSpPr>
          <p:cNvPr id="23" name="Text 21"/>
          <p:cNvSpPr/>
          <p:nvPr/>
        </p:nvSpPr>
        <p:spPr>
          <a:xfrm>
            <a:off x="6021958" y="299605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Windowed archive queries</a:t>
            </a:r>
            <a:endParaRPr lang="en-US" sz="700" dirty="0"/>
          </a:p>
        </p:txBody>
      </p:sp>
      <p:sp>
        <p:nvSpPr>
          <p:cNvPr id="24" name="Text 22"/>
          <p:cNvSpPr/>
          <p:nvPr/>
        </p:nvSpPr>
        <p:spPr>
          <a:xfrm>
            <a:off x="592559" y="319928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Historical reach</a:t>
            </a:r>
            <a:endParaRPr lang="en-US" sz="700" dirty="0"/>
          </a:p>
        </p:txBody>
      </p:sp>
      <p:sp>
        <p:nvSpPr>
          <p:cNvPr id="25" name="Text 23"/>
          <p:cNvSpPr/>
          <p:nvPr/>
        </p:nvSpPr>
        <p:spPr>
          <a:xfrm>
            <a:off x="3308449" y="3199284"/>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~1 000 posts / listing cap</a:t>
            </a:r>
            <a:endParaRPr lang="en-US" sz="700" dirty="0"/>
          </a:p>
        </p:txBody>
      </p:sp>
      <p:sp>
        <p:nvSpPr>
          <p:cNvPr id="26" name="Text 24"/>
          <p:cNvSpPr/>
          <p:nvPr/>
        </p:nvSpPr>
        <p:spPr>
          <a:xfrm>
            <a:off x="6021958" y="3199284"/>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Deep — years of history</a:t>
            </a:r>
            <a:endParaRPr lang="en-US" sz="700" dirty="0"/>
          </a:p>
        </p:txBody>
      </p:sp>
      <p:sp>
        <p:nvSpPr>
          <p:cNvPr id="27" name="Text 25"/>
          <p:cNvSpPr/>
          <p:nvPr/>
        </p:nvSpPr>
        <p:spPr>
          <a:xfrm>
            <a:off x="592559" y="340250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Setup effort here</a:t>
            </a:r>
            <a:endParaRPr lang="en-US" sz="700" dirty="0"/>
          </a:p>
        </p:txBody>
      </p:sp>
      <p:sp>
        <p:nvSpPr>
          <p:cNvPr id="28" name="Text 26"/>
          <p:cNvSpPr/>
          <p:nvPr/>
        </p:nvSpPr>
        <p:spPr>
          <a:xfrm>
            <a:off x="3308449" y="3402509"/>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Blocked at approval</a:t>
            </a:r>
            <a:endParaRPr lang="en-US" sz="700" dirty="0"/>
          </a:p>
        </p:txBody>
      </p:sp>
      <p:sp>
        <p:nvSpPr>
          <p:cNvPr id="29" name="Text 27"/>
          <p:cNvSpPr/>
          <p:nvPr/>
        </p:nvSpPr>
        <p:spPr>
          <a:xfrm>
            <a:off x="6021958" y="3402509"/>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Working same day</a:t>
            </a:r>
            <a:endParaRPr lang="en-US" sz="700" dirty="0"/>
          </a:p>
        </p:txBody>
      </p:sp>
      <p:sp>
        <p:nvSpPr>
          <p:cNvPr id="30" name="Text 28"/>
          <p:cNvSpPr/>
          <p:nvPr/>
        </p:nvSpPr>
        <p:spPr>
          <a:xfrm>
            <a:off x="592559" y="3605733"/>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Cost</a:t>
            </a:r>
            <a:endParaRPr lang="en-US" sz="700" dirty="0"/>
          </a:p>
        </p:txBody>
      </p:sp>
      <p:sp>
        <p:nvSpPr>
          <p:cNvPr id="31" name="Text 29"/>
          <p:cNvSpPr/>
          <p:nvPr/>
        </p:nvSpPr>
        <p:spPr>
          <a:xfrm>
            <a:off x="3308449" y="3605733"/>
            <a:ext cx="2984376"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Free · quota-bound</a:t>
            </a:r>
            <a:endParaRPr lang="en-US" sz="700" dirty="0"/>
          </a:p>
        </p:txBody>
      </p:sp>
      <p:sp>
        <p:nvSpPr>
          <p:cNvPr id="32" name="Text 30"/>
          <p:cNvSpPr/>
          <p:nvPr/>
        </p:nvSpPr>
        <p:spPr>
          <a:xfrm>
            <a:off x="6021958" y="3605733"/>
            <a:ext cx="2986757"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Free · community-hosted</a:t>
            </a:r>
            <a:endParaRPr lang="en-US" sz="700" dirty="0"/>
          </a:p>
        </p:txBody>
      </p:sp>
      <p:sp>
        <p:nvSpPr>
          <p:cNvPr id="33" name="Text 31"/>
          <p:cNvSpPr/>
          <p:nvPr/>
        </p:nvSpPr>
        <p:spPr>
          <a:xfrm>
            <a:off x="496119" y="3856509"/>
            <a:ext cx="2237184" cy="17502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Roboto Slab" pitchFamily="34" charset="0"/>
                <a:ea typeface="Roboto Slab" pitchFamily="34" charset="-122"/>
                <a:cs typeface="Roboto Slab" pitchFamily="34" charset="-120"/>
              </a:rPr>
              <a:t>🎯</a:t>
            </a:r>
            <a:r>
              <a:rPr lang="en-US" sz="1050" dirty="0">
                <a:solidFill>
                  <a:srgbClr val="3257B8"/>
                </a:solidFill>
                <a:latin typeface="Roboto Slab" pitchFamily="34" charset="0"/>
                <a:ea typeface="Roboto Slab" pitchFamily="34" charset="-122"/>
                <a:cs typeface="Roboto Slab" pitchFamily="34" charset="-120"/>
              </a:rPr>
              <a:t> Outcome for the pipeline</a:t>
            </a:r>
            <a:endParaRPr lang="en-US" sz="1050" dirty="0"/>
          </a:p>
        </p:txBody>
      </p:sp>
      <p:sp>
        <p:nvSpPr>
          <p:cNvPr id="34" name="Text 32"/>
          <p:cNvSpPr/>
          <p:nvPr/>
        </p:nvSpPr>
        <p:spPr>
          <a:xfrm>
            <a:off x="496119" y="4118744"/>
            <a:ext cx="8151763" cy="398041"/>
          </a:xfrm>
          <a:prstGeom prst="rect">
            <a:avLst/>
          </a:prstGeom>
          <a:noFill/>
          <a:ln/>
        </p:spPr>
        <p:txBody>
          <a:bodyPr wrap="square" lIns="0" tIns="0" rIns="0" bIns="0" rtlCol="0" anchor="t">
            <a:normAutofit/>
          </a:bodyPr>
          <a:lstStyle/>
          <a:p>
            <a:pPr marL="142240" indent="-142240" algn="l">
              <a:lnSpc>
                <a:spcPct val="109000"/>
              </a:lnSpc>
              <a:buSzPct val="100000"/>
              <a:buChar char="•"/>
            </a:pPr>
            <a:r>
              <a:rPr lang="en-US" sz="700" b="1" dirty="0">
                <a:solidFill>
                  <a:srgbClr val="15213F"/>
                </a:solidFill>
                <a:latin typeface="Roboto Bold" pitchFamily="34" charset="0"/>
                <a:ea typeface="Roboto Bold" pitchFamily="34" charset="-122"/>
                <a:cs typeface="Roboto Bold" pitchFamily="34" charset="-120"/>
              </a:rPr>
              <a:t>No slippage</a:t>
            </a:r>
            <a:r>
              <a:rPr lang="en-US" sz="700" dirty="0">
                <a:solidFill>
                  <a:srgbClr val="15213F"/>
                </a:solidFill>
                <a:latin typeface="Roboto" pitchFamily="34" charset="0"/>
                <a:ea typeface="Roboto" pitchFamily="34" charset="-122"/>
                <a:cs typeface="Roboto" pitchFamily="34" charset="-120"/>
              </a:rPr>
              <a:t> — Stage 1 (Ingest) hits 25 subs · hourly in production.</a:t>
            </a:r>
            <a:endParaRPr lang="en-US" sz="700" dirty="0"/>
          </a:p>
          <a:p>
            <a:pPr marL="142240" indent="-142240" algn="l">
              <a:lnSpc>
                <a:spcPct val="109000"/>
              </a:lnSpc>
              <a:buSzPct val="100000"/>
              <a:buChar char="•"/>
            </a:pPr>
            <a:r>
              <a:rPr lang="en-US" sz="700" b="1" dirty="0">
                <a:solidFill>
                  <a:srgbClr val="15213F"/>
                </a:solidFill>
                <a:latin typeface="Roboto Bold" pitchFamily="34" charset="0"/>
                <a:ea typeface="Roboto Bold" pitchFamily="34" charset="-122"/>
                <a:cs typeface="Roboto Bold" pitchFamily="34" charset="-120"/>
              </a:rPr>
              <a:t>Reversible choice</a:t>
            </a:r>
            <a:r>
              <a:rPr lang="en-US" sz="700" dirty="0">
                <a:solidFill>
                  <a:srgbClr val="15213F"/>
                </a:solidFill>
                <a:latin typeface="Roboto" pitchFamily="34" charset="0"/>
                <a:ea typeface="Roboto" pitchFamily="34" charset="-122"/>
                <a:cs typeface="Roboto" pitchFamily="34" charset="-120"/>
              </a:rPr>
              <a:t> — src/ingestion/ abstracts source; PRAW can slot in when credentials clear.</a:t>
            </a:r>
            <a:endParaRPr lang="en-US" sz="700" dirty="0"/>
          </a:p>
          <a:p>
            <a:pPr marL="142240" indent="-142240" algn="l">
              <a:lnSpc>
                <a:spcPct val="109000"/>
              </a:lnSpc>
              <a:buSzPct val="100000"/>
              <a:buChar char="•"/>
            </a:pPr>
            <a:r>
              <a:rPr lang="en-US" sz="700" b="1" dirty="0">
                <a:solidFill>
                  <a:srgbClr val="15213F"/>
                </a:solidFill>
                <a:latin typeface="Roboto Bold" pitchFamily="34" charset="0"/>
                <a:ea typeface="Roboto Bold" pitchFamily="34" charset="-122"/>
                <a:cs typeface="Roboto Bold" pitchFamily="34" charset="-120"/>
              </a:rPr>
              <a:t>Bonus win</a:t>
            </a:r>
            <a:r>
              <a:rPr lang="en-US" sz="700" dirty="0">
                <a:solidFill>
                  <a:srgbClr val="15213F"/>
                </a:solidFill>
                <a:latin typeface="Roboto" pitchFamily="34" charset="0"/>
                <a:ea typeface="Roboto" pitchFamily="34" charset="-122"/>
                <a:cs typeface="Roboto" pitchFamily="34" charset="-120"/>
              </a:rPr>
              <a:t> — Arctic's historical depth let us backfill the benchmark set (200 real posts) that ModernBERT trained on.</a:t>
            </a:r>
            <a:endParaRPr lang="en-US" sz="700" dirty="0"/>
          </a:p>
        </p:txBody>
      </p:sp>
      <p:sp>
        <p:nvSpPr>
          <p:cNvPr id="35" name="Text 33"/>
          <p:cNvSpPr/>
          <p:nvPr/>
        </p:nvSpPr>
        <p:spPr>
          <a:xfrm>
            <a:off x="496119" y="4582195"/>
            <a:ext cx="8608963" cy="119137"/>
          </a:xfrm>
          <a:prstGeom prst="rect">
            <a:avLst/>
          </a:prstGeom>
          <a:noFill/>
          <a:ln/>
        </p:spPr>
        <p:txBody>
          <a:bodyPr wrap="none" lIns="0" tIns="0" rIns="0" bIns="0" rtlCol="0" anchor="t"/>
          <a:lstStyle/>
          <a:p>
            <a:pPr marL="0" indent="0" algn="l">
              <a:lnSpc>
                <a:spcPct val="109000"/>
              </a:lnSpc>
              <a:buNone/>
            </a:pPr>
            <a:r>
              <a:rPr lang="en-US" sz="700" dirty="0">
                <a:solidFill>
                  <a:srgbClr val="15213F"/>
                </a:solidFill>
                <a:latin typeface="Roboto" pitchFamily="34" charset="0"/>
                <a:ea typeface="Roboto" pitchFamily="34" charset="-122"/>
                <a:cs typeface="Roboto" pitchFamily="34" charset="-120"/>
              </a:rPr>
              <a:t>Next in series → Step 2: Preprocess · Step 3: Trust · Step 4: Analyze · Step 5: Aggregate · Step 6: Alerts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89855"/>
            <a:ext cx="3445222"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Vision Pipeline — Why Gemma 3 4B</a:t>
            </a:r>
            <a:endParaRPr lang="en-US" sz="1350" dirty="0"/>
          </a:p>
        </p:txBody>
      </p:sp>
      <p:sp>
        <p:nvSpPr>
          <p:cNvPr id="3" name="Text 1"/>
          <p:cNvSpPr/>
          <p:nvPr/>
        </p:nvSpPr>
        <p:spPr>
          <a:xfrm>
            <a:off x="514320" y="608025"/>
            <a:ext cx="8446957" cy="1136848"/>
          </a:xfrm>
          <a:prstGeom prst="rect">
            <a:avLst/>
          </a:prstGeom>
          <a:noFill/>
          <a:ln/>
        </p:spPr>
        <p:txBody>
          <a:bodyPr wrap="square" lIns="0" tIns="0" rIns="0" bIns="0" rtlCol="0" anchor="t"/>
          <a:lstStyle/>
          <a:p>
            <a:pPr marL="0" indent="0" algn="l">
              <a:lnSpc>
                <a:spcPct val="100000"/>
              </a:lnSpc>
              <a:buNone/>
            </a:pPr>
            <a:r>
              <a:rPr lang="en-US" sz="900" dirty="0">
                <a:solidFill>
                  <a:srgbClr val="15213F"/>
                </a:solidFill>
                <a:latin typeface="Roboto Bold" pitchFamily="34" charset="0"/>
                <a:ea typeface="Roboto Bold" pitchFamily="34" charset="-122"/>
                <a:cs typeface="Roboto Bold" pitchFamily="34" charset="-120"/>
              </a:rPr>
              <a:t>39%</a:t>
            </a:r>
            <a:r>
              <a:rPr lang="en-US" sz="900" dirty="0">
                <a:solidFill>
                  <a:srgbClr val="15213F"/>
                </a:solidFill>
                <a:latin typeface="Roboto" pitchFamily="34" charset="0"/>
                <a:ea typeface="Roboto" pitchFamily="34" charset="-122"/>
                <a:cs typeface="Roboto" pitchFamily="34" charset="-120"/>
              </a:rPr>
              <a:t> of Reddit posts are image-only (empty body) — the complaint lives </a:t>
            </a:r>
            <a:r>
              <a:rPr lang="en-US" sz="900" dirty="0">
                <a:solidFill>
                  <a:srgbClr val="15213F"/>
                </a:solidFill>
                <a:latin typeface="Roboto Bold" pitchFamily="34" charset="0"/>
                <a:ea typeface="Roboto Bold" pitchFamily="34" charset="-122"/>
                <a:cs typeface="Roboto Bold" pitchFamily="34" charset="-120"/>
              </a:rPr>
              <a:t>inside the image</a:t>
            </a:r>
            <a:r>
              <a:rPr lang="en-US" sz="900" dirty="0">
                <a:solidFill>
                  <a:srgbClr val="15213F"/>
                </a:solidFill>
                <a:latin typeface="Roboto" pitchFamily="34" charset="0"/>
                <a:ea typeface="Roboto" pitchFamily="34" charset="-122"/>
                <a:cs typeface="Roboto" pitchFamily="34" charset="-120"/>
              </a:rPr>
              <a:t>. Text-only pipeline drops these → we need a vision model to eliminate hallucination in multimodal retail analysis.</a:t>
            </a:r>
            <a:endParaRPr lang="en-US" sz="900" dirty="0"/>
          </a:p>
          <a:p>
            <a:pPr marL="0" indent="0" algn="l">
              <a:lnSpc>
                <a:spcPct val="100000"/>
              </a:lnSpc>
              <a:spcAft>
                <a:spcPts val="300"/>
              </a:spcAft>
              <a:buNone/>
            </a:pPr>
            <a:r>
              <a:rPr lang="en-US" sz="900" dirty="0">
                <a:solidFill>
                  <a:srgbClr val="15213F"/>
                </a:solidFill>
                <a:latin typeface="Roboto" pitchFamily="34" charset="0"/>
                <a:ea typeface="Roboto" pitchFamily="34" charset="-122"/>
                <a:cs typeface="Roboto" pitchFamily="34" charset="-120"/>
              </a:rPr>
              <a:t>Example :</a:t>
            </a:r>
            <a:br>
              <a:rPr lang="en-US" sz="900" dirty="0">
                <a:solidFill>
                  <a:srgbClr val="15213F"/>
                </a:solidFill>
                <a:latin typeface="Roboto" pitchFamily="34" charset="0"/>
                <a:ea typeface="Roboto" pitchFamily="34" charset="-122"/>
                <a:cs typeface="Roboto" pitchFamily="34" charset="-120"/>
              </a:rPr>
            </a:br>
            <a:r>
              <a:rPr lang="en-US" sz="900" dirty="0">
                <a:solidFill>
                  <a:srgbClr val="15213F"/>
                </a:solidFill>
                <a:latin typeface="Roboto" pitchFamily="34" charset="0"/>
                <a:ea typeface="Roboto" pitchFamily="34" charset="-122"/>
                <a:cs typeface="Roboto" pitchFamily="34" charset="-120"/>
              </a:rPr>
              <a:t>Title: "Accidental Membership Upgrade"</a:t>
            </a:r>
            <a:endParaRPr lang="en-US" sz="900" dirty="0"/>
          </a:p>
          <a:p>
            <a:pPr marL="0" indent="0" algn="l">
              <a:lnSpc>
                <a:spcPct val="100000"/>
              </a:lnSpc>
              <a:buNone/>
            </a:pPr>
            <a:r>
              <a:rPr lang="en-US" sz="900" dirty="0">
                <a:solidFill>
                  <a:srgbClr val="000000"/>
                </a:solidFill>
                <a:latin typeface="Roboto" pitchFamily="34" charset="0"/>
                <a:ea typeface="Roboto" pitchFamily="34" charset="-122"/>
                <a:cs typeface="Roboto" pitchFamily="34" charset="-120"/>
              </a:rPr>
              <a:t>↗</a:t>
            </a:r>
            <a:r>
              <a:rPr lang="en-US" sz="900" u="sng" dirty="0">
                <a:solidFill>
                  <a:srgbClr val="3257B8"/>
                </a:solidFill>
                <a:latin typeface="Roboto Bold" pitchFamily="34" charset="0"/>
                <a:ea typeface="Roboto Bold" pitchFamily="34" charset="-122"/>
                <a:cs typeface="Roboto Bold" pitchFamily="34" charset="-120"/>
                <a:hlinkClick r:id="rId3">
                  <a:extLst>
                    <a:ext uri="{A12FA001-AC4F-418D-AE19-62706E023703}">
                      <ahyp:hlinkClr xmlns:ahyp="http://schemas.microsoft.com/office/drawing/2018/hyperlinkcolor" val="tx"/>
                    </a:ext>
                  </a:extLst>
                </a:hlinkClick>
              </a:rPr>
              <a:t> reddit.com/r/samsclub/comments/1uacdy7</a:t>
            </a:r>
            <a:endParaRPr lang="en-US" sz="900" dirty="0"/>
          </a:p>
          <a:p>
            <a:pPr marL="0" indent="0" algn="l">
              <a:lnSpc>
                <a:spcPct val="100000"/>
              </a:lnSpc>
              <a:buNone/>
            </a:pPr>
            <a:r>
              <a:rPr lang="en-US" sz="900" dirty="0">
                <a:solidFill>
                  <a:srgbClr val="15213F"/>
                </a:solidFill>
                <a:latin typeface="Roboto" pitchFamily="34" charset="0"/>
                <a:ea typeface="Roboto" pitchFamily="34" charset="-122"/>
                <a:cs typeface="Roboto" pitchFamily="34" charset="-120"/>
              </a:rPr>
              <a:t>Body: </a:t>
            </a:r>
            <a:r>
              <a:rPr lang="en-US" sz="900" i="1" dirty="0">
                <a:solidFill>
                  <a:srgbClr val="15213F"/>
                </a:solidFill>
                <a:latin typeface="Roboto" pitchFamily="34" charset="0"/>
                <a:ea typeface="Roboto" pitchFamily="34" charset="-122"/>
                <a:cs typeface="Roboto" pitchFamily="34" charset="-120"/>
              </a:rPr>
              <a:t>(empty)</a:t>
            </a:r>
            <a:r>
              <a:rPr lang="en-US" sz="900" dirty="0">
                <a:solidFill>
                  <a:srgbClr val="15213F"/>
                </a:solidFill>
                <a:latin typeface="Roboto" pitchFamily="34" charset="0"/>
                <a:ea typeface="Roboto" pitchFamily="34" charset="-122"/>
                <a:cs typeface="Roboto" pitchFamily="34" charset="-120"/>
              </a:rPr>
              <a:t> — the complaint is a purple circle drawn on the cart</a:t>
            </a:r>
            <a:endParaRPr lang="en-US" sz="900" dirty="0"/>
          </a:p>
        </p:txBody>
      </p:sp>
      <p:sp>
        <p:nvSpPr>
          <p:cNvPr id="4" name="Text 2"/>
          <p:cNvSpPr/>
          <p:nvPr/>
        </p:nvSpPr>
        <p:spPr>
          <a:xfrm>
            <a:off x="496119" y="1466776"/>
            <a:ext cx="1559793" cy="115491"/>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Roboto Slab" pitchFamily="34" charset="0"/>
                <a:ea typeface="Roboto Slab" pitchFamily="34" charset="-122"/>
                <a:cs typeface="Roboto Slab" pitchFamily="34" charset="-120"/>
              </a:rPr>
              <a:t>❌</a:t>
            </a:r>
            <a:r>
              <a:rPr lang="en-US" sz="950" dirty="0">
                <a:solidFill>
                  <a:srgbClr val="3257B8"/>
                </a:solidFill>
                <a:latin typeface="Roboto Slab" pitchFamily="34" charset="0"/>
                <a:ea typeface="Roboto Slab" pitchFamily="34" charset="-122"/>
                <a:cs typeface="Roboto Slab" pitchFamily="34" charset="-120"/>
              </a:rPr>
              <a:t> Text-only pipeline sees</a:t>
            </a:r>
            <a:endParaRPr lang="en-US" sz="950" dirty="0"/>
          </a:p>
        </p:txBody>
      </p:sp>
      <p:sp>
        <p:nvSpPr>
          <p:cNvPr id="5" name="Text 3"/>
          <p:cNvSpPr/>
          <p:nvPr/>
        </p:nvSpPr>
        <p:spPr>
          <a:xfrm>
            <a:off x="496119" y="1617687"/>
            <a:ext cx="4446612" cy="85055"/>
          </a:xfrm>
          <a:prstGeom prst="rect">
            <a:avLst/>
          </a:prstGeom>
          <a:noFill/>
          <a:ln/>
        </p:spPr>
        <p:txBody>
          <a:bodyPr wrap="none" lIns="0" tIns="0" rIns="0" bIns="0" rtlCol="0" anchor="t"/>
          <a:lstStyle/>
          <a:p>
            <a:pPr marL="0" indent="0" algn="l">
              <a:lnSpc>
                <a:spcPct val="100000"/>
              </a:lnSpc>
              <a:buNone/>
            </a:pPr>
            <a:r>
              <a:rPr lang="en-US" sz="950" dirty="0">
                <a:solidFill>
                  <a:srgbClr val="15213F"/>
                </a:solidFill>
                <a:latin typeface="Roboto" pitchFamily="34" charset="0"/>
                <a:ea typeface="Roboto" pitchFamily="34" charset="-122"/>
                <a:cs typeface="Roboto" pitchFamily="34" charset="-120"/>
              </a:rPr>
              <a:t>Just the 3-word title. No item, no charge, no context. Sentiment ≈ neutral · Aspect = unknown. Silently dropped. </a:t>
            </a:r>
            <a:r>
              <a:rPr lang="en-US" sz="950" b="1" dirty="0">
                <a:solidFill>
                  <a:srgbClr val="15213F"/>
                </a:solidFill>
                <a:latin typeface="Roboto Bold" pitchFamily="34" charset="0"/>
                <a:ea typeface="Roboto Bold" pitchFamily="34" charset="-122"/>
                <a:cs typeface="Roboto Bold" pitchFamily="34" charset="-120"/>
              </a:rPr>
              <a:t>Useless.</a:t>
            </a:r>
            <a:endParaRPr lang="en-US" sz="950" dirty="0"/>
          </a:p>
        </p:txBody>
      </p:sp>
      <p:pic>
        <p:nvPicPr>
          <p:cNvPr id="6" name="Image 0" descr="preencoded.png"/>
          <p:cNvPicPr>
            <a:picLocks noChangeAspect="1"/>
          </p:cNvPicPr>
          <p:nvPr/>
        </p:nvPicPr>
        <p:blipFill>
          <a:blip r:embed="rId4"/>
          <a:stretch>
            <a:fillRect/>
          </a:stretch>
        </p:blipFill>
        <p:spPr>
          <a:xfrm>
            <a:off x="496118" y="1815263"/>
            <a:ext cx="3603691" cy="1961547"/>
          </a:xfrm>
          <a:prstGeom prst="rect">
            <a:avLst/>
          </a:prstGeom>
        </p:spPr>
      </p:pic>
      <p:sp>
        <p:nvSpPr>
          <p:cNvPr id="7" name="Text 4"/>
          <p:cNvSpPr/>
          <p:nvPr/>
        </p:nvSpPr>
        <p:spPr>
          <a:xfrm>
            <a:off x="496119" y="4193232"/>
            <a:ext cx="4446612"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8" name="Shape 5"/>
          <p:cNvSpPr/>
          <p:nvPr/>
        </p:nvSpPr>
        <p:spPr>
          <a:xfrm>
            <a:off x="4399658" y="2108167"/>
            <a:ext cx="4091508" cy="1311846"/>
          </a:xfrm>
          <a:prstGeom prst="roundRect">
            <a:avLst>
              <a:gd name="adj" fmla="val 369"/>
            </a:avLst>
          </a:prstGeom>
          <a:solidFill>
            <a:srgbClr val="3257B8"/>
          </a:solidFill>
          <a:ln/>
        </p:spPr>
        <p:txBody>
          <a:bodyPr/>
          <a:lstStyle/>
          <a:p>
            <a:endParaRPr lang="en-US" dirty="0"/>
          </a:p>
        </p:txBody>
      </p:sp>
      <p:sp>
        <p:nvSpPr>
          <p:cNvPr id="9" name="Text 6"/>
          <p:cNvSpPr/>
          <p:nvPr/>
        </p:nvSpPr>
        <p:spPr>
          <a:xfrm>
            <a:off x="4572000" y="2312322"/>
            <a:ext cx="1825526" cy="115491"/>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Roboto Slab" pitchFamily="34" charset="0"/>
                <a:ea typeface="Roboto Slab" pitchFamily="34" charset="-122"/>
                <a:cs typeface="Roboto Slab" pitchFamily="34" charset="-120"/>
              </a:rPr>
              <a:t>✅</a:t>
            </a:r>
            <a:r>
              <a:rPr lang="en-US" sz="950" dirty="0">
                <a:solidFill>
                  <a:srgbClr val="FFFFFF"/>
                </a:solidFill>
                <a:latin typeface="Roboto Slab" pitchFamily="34" charset="0"/>
                <a:ea typeface="Roboto Slab" pitchFamily="34" charset="-122"/>
                <a:cs typeface="Roboto Slab" pitchFamily="34" charset="-120"/>
              </a:rPr>
              <a:t> Vision (Gemma 3 4B) extracts</a:t>
            </a:r>
          </a:p>
          <a:p>
            <a:pPr marL="0" indent="0" algn="l">
              <a:lnSpc>
                <a:spcPct val="104000"/>
              </a:lnSpc>
              <a:buNone/>
            </a:pPr>
            <a:endParaRPr lang="en-US" sz="950" dirty="0"/>
          </a:p>
        </p:txBody>
      </p:sp>
      <p:sp>
        <p:nvSpPr>
          <p:cNvPr id="10" name="Text 7"/>
          <p:cNvSpPr/>
          <p:nvPr/>
        </p:nvSpPr>
        <p:spPr>
          <a:xfrm>
            <a:off x="4541342" y="2448048"/>
            <a:ext cx="3949824" cy="822725"/>
          </a:xfrm>
          <a:prstGeom prst="rect">
            <a:avLst/>
          </a:prstGeom>
          <a:noFill/>
          <a:ln/>
        </p:spPr>
        <p:txBody>
          <a:bodyPr wrap="square" lIns="0" tIns="0" rIns="0" bIns="0" rtlCol="0" anchor="t">
            <a:noAutofit/>
          </a:bodyPr>
          <a:lstStyle/>
          <a:p>
            <a:pPr marL="111760" indent="-111760" algn="l">
              <a:lnSpc>
                <a:spcPct val="100000"/>
              </a:lnSpc>
              <a:buSzPct val="100000"/>
              <a:buChar char="•"/>
            </a:pPr>
            <a:r>
              <a:rPr lang="en-US" sz="850" b="1" dirty="0">
                <a:solidFill>
                  <a:srgbClr val="FFFFFF"/>
                </a:solidFill>
                <a:latin typeface="Roboto Bold" pitchFamily="34" charset="0"/>
                <a:ea typeface="Roboto Bold" pitchFamily="34" charset="-122"/>
                <a:cs typeface="Roboto Bold" pitchFamily="34" charset="-120"/>
              </a:rPr>
              <a:t>Sam's Club app cart</a:t>
            </a:r>
            <a:r>
              <a:rPr lang="en-US" sz="850" dirty="0">
                <a:solidFill>
                  <a:srgbClr val="FFFFFF"/>
                </a:solidFill>
                <a:latin typeface="Roboto" pitchFamily="34" charset="0"/>
                <a:ea typeface="Roboto" pitchFamily="34" charset="-122"/>
                <a:cs typeface="Roboto" pitchFamily="34" charset="-120"/>
              </a:rPr>
              <a:t>, Jun 19 2026 · total </a:t>
            </a:r>
            <a:r>
              <a:rPr lang="en-US" sz="850" b="1" dirty="0">
                <a:solidFill>
                  <a:srgbClr val="FFFFFF"/>
                </a:solidFill>
                <a:latin typeface="Roboto Bold" pitchFamily="34" charset="0"/>
                <a:ea typeface="Roboto Bold" pitchFamily="34" charset="-122"/>
                <a:cs typeface="Roboto Bold" pitchFamily="34" charset="-120"/>
              </a:rPr>
              <a:t>$306.05</a:t>
            </a:r>
            <a:endParaRPr lang="en-US" sz="850" dirty="0"/>
          </a:p>
          <a:p>
            <a:pPr marL="111760" indent="-111760" algn="l">
              <a:lnSpc>
                <a:spcPct val="100000"/>
              </a:lnSpc>
              <a:buSzPct val="100000"/>
              <a:buChar char="•"/>
            </a:pPr>
            <a:r>
              <a:rPr lang="en-US" sz="850" dirty="0">
                <a:solidFill>
                  <a:srgbClr val="FFFFFF"/>
                </a:solidFill>
                <a:latin typeface="Roboto" pitchFamily="34" charset="0"/>
                <a:ea typeface="Roboto" pitchFamily="34" charset="-122"/>
                <a:cs typeface="Roboto" pitchFamily="34" charset="-120"/>
              </a:rPr>
              <a:t>Circled · </a:t>
            </a:r>
            <a:r>
              <a:rPr lang="en-US" sz="850" b="1" dirty="0">
                <a:solidFill>
                  <a:srgbClr val="FFFFFF"/>
                </a:solidFill>
                <a:latin typeface="Roboto Bold" pitchFamily="34" charset="0"/>
                <a:ea typeface="Roboto Bold" pitchFamily="34" charset="-122"/>
                <a:cs typeface="Roboto Bold" pitchFamily="34" charset="-120"/>
              </a:rPr>
              <a:t>Sam's Plus Membership $11.01</a:t>
            </a:r>
            <a:r>
              <a:rPr lang="en-US" sz="850" dirty="0">
                <a:solidFill>
                  <a:srgbClr val="FFFFFF"/>
                </a:solidFill>
                <a:latin typeface="Roboto" pitchFamily="34" charset="0"/>
                <a:ea typeface="Roboto" pitchFamily="34" charset="-122"/>
                <a:cs typeface="Roboto" pitchFamily="34" charset="-120"/>
              </a:rPr>
              <a:t> (purple ring = complaint anchor)</a:t>
            </a:r>
            <a:endParaRPr lang="en-US" sz="850" dirty="0"/>
          </a:p>
          <a:p>
            <a:pPr marL="111760" indent="-111760" algn="l">
              <a:lnSpc>
                <a:spcPct val="100000"/>
              </a:lnSpc>
              <a:buSzPct val="100000"/>
              <a:buChar char="•"/>
            </a:pPr>
            <a:r>
              <a:rPr lang="en-US" sz="850" dirty="0">
                <a:solidFill>
                  <a:srgbClr val="FFFFFF"/>
                </a:solidFill>
                <a:latin typeface="Roboto" pitchFamily="34" charset="0"/>
                <a:ea typeface="Roboto" pitchFamily="34" charset="-122"/>
                <a:cs typeface="Roboto" pitchFamily="34" charset="-120"/>
              </a:rPr>
              <a:t>Other items ignored: Blueberries $5.14, Mini Candy Cookies $7.78, Insulated Shopper $9.98</a:t>
            </a:r>
            <a:endParaRPr lang="en-US" sz="850" dirty="0"/>
          </a:p>
          <a:p>
            <a:pPr marL="111760" indent="-111760" algn="l">
              <a:lnSpc>
                <a:spcPct val="100000"/>
              </a:lnSpc>
              <a:buSzPct val="100000"/>
              <a:buChar char="•"/>
            </a:pPr>
            <a:r>
              <a:rPr lang="en-US" sz="850" dirty="0">
                <a:solidFill>
                  <a:srgbClr val="FFFFFF"/>
                </a:solidFill>
                <a:latin typeface="Roboto" pitchFamily="34" charset="0"/>
                <a:ea typeface="Roboto" pitchFamily="34" charset="-122"/>
                <a:cs typeface="Roboto" pitchFamily="34" charset="-120"/>
              </a:rPr>
              <a:t>Aspect = fees / accidental charges · Sentiment = </a:t>
            </a:r>
            <a:r>
              <a:rPr lang="en-US" sz="850" b="1" dirty="0">
                <a:solidFill>
                  <a:srgbClr val="FFFFFF"/>
                </a:solidFill>
                <a:latin typeface="Roboto Bold" pitchFamily="34" charset="0"/>
                <a:ea typeface="Roboto Bold" pitchFamily="34" charset="-122"/>
                <a:cs typeface="Roboto Bold" pitchFamily="34" charset="-120"/>
              </a:rPr>
              <a:t>negative</a:t>
            </a:r>
            <a:r>
              <a:rPr lang="en-US" sz="850" dirty="0">
                <a:solidFill>
                  <a:srgbClr val="FFFFFF"/>
                </a:solidFill>
                <a:latin typeface="Roboto" pitchFamily="34" charset="0"/>
                <a:ea typeface="Roboto" pitchFamily="34" charset="-122"/>
                <a:cs typeface="Roboto" pitchFamily="34" charset="-120"/>
              </a:rPr>
              <a:t> · Conf </a:t>
            </a:r>
            <a:r>
              <a:rPr lang="en-US" sz="850" b="1" dirty="0">
                <a:solidFill>
                  <a:srgbClr val="FFFFFF"/>
                </a:solidFill>
                <a:latin typeface="Roboto Bold" pitchFamily="34" charset="0"/>
                <a:ea typeface="Roboto Bold" pitchFamily="34" charset="-122"/>
                <a:cs typeface="Roboto Bold" pitchFamily="34" charset="-120"/>
              </a:rPr>
              <a:t>0.88</a:t>
            </a:r>
            <a:endParaRPr lang="en-US" sz="850" dirty="0"/>
          </a:p>
        </p:txBody>
      </p:sp>
      <p:sp>
        <p:nvSpPr>
          <p:cNvPr id="11" name="Text 8"/>
          <p:cNvSpPr/>
          <p:nvPr/>
        </p:nvSpPr>
        <p:spPr>
          <a:xfrm>
            <a:off x="496120" y="3853868"/>
            <a:ext cx="2974104" cy="218890"/>
          </a:xfrm>
          <a:prstGeom prst="rect">
            <a:avLst/>
          </a:prstGeom>
          <a:noFill/>
          <a:ln/>
        </p:spPr>
        <p:txBody>
          <a:bodyPr wrap="none" lIns="0" tIns="0" rIns="0" bIns="0" rtlCol="0" anchor="t"/>
          <a:lstStyle/>
          <a:p>
            <a:pPr marL="0" indent="0" algn="l">
              <a:lnSpc>
                <a:spcPct val="100000"/>
              </a:lnSpc>
              <a:buNone/>
            </a:pPr>
            <a:r>
              <a:rPr lang="en-US" sz="550" dirty="0">
                <a:solidFill>
                  <a:srgbClr val="000000"/>
                </a:solidFill>
                <a:latin typeface="Roboto" pitchFamily="34" charset="0"/>
                <a:ea typeface="Roboto" pitchFamily="34" charset="-122"/>
                <a:cs typeface="Roboto" pitchFamily="34" charset="-120"/>
              </a:rPr>
              <a:t>🎯</a:t>
            </a:r>
            <a:r>
              <a:rPr lang="en-US" sz="550" b="1" dirty="0">
                <a:solidFill>
                  <a:srgbClr val="15213F"/>
                </a:solidFill>
                <a:latin typeface="Roboto Bold" pitchFamily="34" charset="0"/>
                <a:ea typeface="Roboto Bold" pitchFamily="34" charset="-122"/>
                <a:cs typeface="Roboto Bold" pitchFamily="34" charset="-120"/>
              </a:rPr>
              <a:t> Signal recovered</a:t>
            </a:r>
            <a:r>
              <a:rPr lang="en-US" sz="550" dirty="0">
                <a:solidFill>
                  <a:srgbClr val="15213F"/>
                </a:solidFill>
                <a:latin typeface="Roboto" pitchFamily="34" charset="0"/>
                <a:ea typeface="Roboto" pitchFamily="34" charset="-122"/>
                <a:cs typeface="Roboto" pitchFamily="34" charset="-120"/>
              </a:rPr>
              <a:t> — a UX complaint about an easy-to-tap upgrade toggle now</a:t>
            </a:r>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 feeds the </a:t>
            </a:r>
            <a:r>
              <a:rPr lang="en-US" sz="550" i="1" dirty="0">
                <a:solidFill>
                  <a:srgbClr val="15213F"/>
                </a:solidFill>
                <a:latin typeface="Roboto" pitchFamily="34" charset="0"/>
                <a:ea typeface="Roboto" pitchFamily="34" charset="-122"/>
                <a:cs typeface="Roboto" pitchFamily="34" charset="-120"/>
              </a:rPr>
              <a:t>fees</a:t>
            </a:r>
            <a:r>
              <a:rPr lang="en-US" sz="550" dirty="0">
                <a:solidFill>
                  <a:srgbClr val="15213F"/>
                </a:solidFill>
                <a:latin typeface="Roboto" pitchFamily="34" charset="0"/>
                <a:ea typeface="Roboto" pitchFamily="34" charset="-122"/>
                <a:cs typeface="Roboto" pitchFamily="34" charset="-120"/>
              </a:rPr>
              <a:t> aspect KPI and triggers alerts if the pattern repeats.</a:t>
            </a:r>
            <a:endParaRPr lang="en-US" sz="550" dirty="0"/>
          </a:p>
        </p:txBody>
      </p:sp>
      <p:sp>
        <p:nvSpPr>
          <p:cNvPr id="12" name="Text 9"/>
          <p:cNvSpPr/>
          <p:nvPr/>
        </p:nvSpPr>
        <p:spPr>
          <a:xfrm>
            <a:off x="3565513" y="4010513"/>
            <a:ext cx="1668289" cy="137666"/>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Roboto Slab" pitchFamily="34" charset="0"/>
                <a:ea typeface="Roboto Slab" pitchFamily="34" charset="-122"/>
                <a:cs typeface="Roboto Slab" pitchFamily="34" charset="-120"/>
              </a:rPr>
              <a:t>🧠</a:t>
            </a:r>
            <a:r>
              <a:rPr lang="en-US" sz="800" dirty="0">
                <a:solidFill>
                  <a:srgbClr val="3257B8"/>
                </a:solidFill>
                <a:latin typeface="Roboto Slab" pitchFamily="34" charset="0"/>
                <a:ea typeface="Roboto Slab" pitchFamily="34" charset="-122"/>
                <a:cs typeface="Roboto Slab" pitchFamily="34" charset="-120"/>
              </a:rPr>
              <a:t> Vision model chosen</a:t>
            </a:r>
            <a:endParaRPr lang="en-US" sz="800" dirty="0"/>
          </a:p>
        </p:txBody>
      </p:sp>
      <p:sp>
        <p:nvSpPr>
          <p:cNvPr id="28" name="Text 25"/>
          <p:cNvSpPr/>
          <p:nvPr/>
        </p:nvSpPr>
        <p:spPr>
          <a:xfrm>
            <a:off x="7087939" y="4993184"/>
            <a:ext cx="1941537"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33" name="Text 30"/>
          <p:cNvSpPr/>
          <p:nvPr/>
        </p:nvSpPr>
        <p:spPr>
          <a:xfrm>
            <a:off x="7087939" y="5134942"/>
            <a:ext cx="1941537"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38" name="Text 35"/>
          <p:cNvSpPr/>
          <p:nvPr/>
        </p:nvSpPr>
        <p:spPr>
          <a:xfrm>
            <a:off x="7087939" y="5276701"/>
            <a:ext cx="1941537"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39" name="Text 36"/>
          <p:cNvSpPr/>
          <p:nvPr/>
        </p:nvSpPr>
        <p:spPr>
          <a:xfrm>
            <a:off x="3639444" y="4000091"/>
            <a:ext cx="1520428" cy="132904"/>
          </a:xfrm>
          <a:prstGeom prst="rect">
            <a:avLst/>
          </a:prstGeom>
          <a:noFill/>
          <a:ln/>
        </p:spPr>
        <p:txBody>
          <a:bodyPr wrap="none" lIns="0" tIns="0" rIns="0" bIns="0" rtlCol="0" anchor="t"/>
          <a:lstStyle/>
          <a:p>
            <a:pPr marL="0" indent="0" algn="l">
              <a:lnSpc>
                <a:spcPct val="104000"/>
              </a:lnSpc>
              <a:buNone/>
            </a:pPr>
            <a:endParaRPr lang="en-US" sz="800" dirty="0"/>
          </a:p>
        </p:txBody>
      </p:sp>
      <p:sp>
        <p:nvSpPr>
          <p:cNvPr id="40" name="Text 37"/>
          <p:cNvSpPr/>
          <p:nvPr/>
        </p:nvSpPr>
        <p:spPr>
          <a:xfrm>
            <a:off x="3760067" y="4275387"/>
            <a:ext cx="3671443" cy="377279"/>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Best DocVQA under 4 GB — reads receipts, app screens</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Google-maintained → Walmart policy compliant</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Reuses local Ollama (localhost:11434)</a:t>
            </a:r>
            <a:endParaRPr lang="en-US" sz="550" dirty="0"/>
          </a:p>
          <a:p>
            <a:pPr marL="111760" indent="-111760" algn="l">
              <a:lnSpc>
                <a:spcPct val="100000"/>
              </a:lnSpc>
              <a:buSzPct val="100000"/>
              <a:buChar char="•"/>
            </a:pPr>
            <a:r>
              <a:rPr lang="en-US" sz="550" dirty="0">
                <a:solidFill>
                  <a:srgbClr val="15213F"/>
                </a:solidFill>
                <a:latin typeface="Roboto" pitchFamily="34" charset="0"/>
                <a:ea typeface="Roboto" pitchFamily="34" charset="-122"/>
                <a:cs typeface="Roboto" pitchFamily="34" charset="-120"/>
              </a:rPr>
              <a:t>4–6 s warm latency per image</a:t>
            </a:r>
            <a:endParaRPr lang="en-US" sz="550" dirty="0"/>
          </a:p>
        </p:txBody>
      </p:sp>
      <p:pic>
        <p:nvPicPr>
          <p:cNvPr id="16" name="Picture 15">
            <a:extLst>
              <a:ext uri="{FF2B5EF4-FFF2-40B4-BE49-F238E27FC236}">
                <a16:creationId xmlns:a16="http://schemas.microsoft.com/office/drawing/2014/main" id="{F9AF3086-2163-BE40-1194-3EA5DB77670D}"/>
              </a:ext>
            </a:extLst>
          </p:cNvPr>
          <p:cNvPicPr>
            <a:picLocks noChangeAspect="1"/>
          </p:cNvPicPr>
          <p:nvPr/>
        </p:nvPicPr>
        <p:blipFill>
          <a:blip r:embed="rId5"/>
          <a:stretch>
            <a:fillRect/>
          </a:stretch>
        </p:blipFill>
        <p:spPr>
          <a:xfrm>
            <a:off x="514320" y="4185280"/>
            <a:ext cx="7883808" cy="7374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89855"/>
            <a:ext cx="6559153"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Vision Pipeline · Deep-Dive — 75% Failure → Root Cause → Multi-Pass Fix</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First-cut Gemma 3 4B hallucinated on 1 in 2 images → root-caused → 5 papers reviewed (all China-blocked) → borrowed the </a:t>
            </a:r>
            <a:r>
              <a:rPr lang="en-US" sz="550" i="1" dirty="0">
                <a:solidFill>
                  <a:srgbClr val="15213F"/>
                </a:solidFill>
                <a:latin typeface="Roboto" pitchFamily="34" charset="0"/>
                <a:ea typeface="Roboto" pitchFamily="34" charset="-122"/>
                <a:cs typeface="Roboto" pitchFamily="34" charset="-120"/>
              </a:rPr>
              <a:t>ideas</a:t>
            </a:r>
            <a:r>
              <a:rPr lang="en-US" sz="550" dirty="0">
                <a:solidFill>
                  <a:srgbClr val="15213F"/>
                </a:solidFill>
                <a:latin typeface="Roboto" pitchFamily="34" charset="0"/>
                <a:ea typeface="Roboto" pitchFamily="34" charset="-122"/>
                <a:cs typeface="Roboto" pitchFamily="34" charset="-120"/>
              </a:rPr>
              <a:t> → 4-pass pipeline with a text-only final step.</a:t>
            </a:r>
            <a:endParaRPr lang="en-US" sz="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745" y="807021"/>
            <a:ext cx="4058171" cy="1057349"/>
          </a:xfrm>
          <a:prstGeom prst="rect">
            <a:avLst/>
          </a:prstGeom>
        </p:spPr>
      </p:pic>
      <p:sp>
        <p:nvSpPr>
          <p:cNvPr id="5" name="Text 2"/>
          <p:cNvSpPr/>
          <p:nvPr/>
        </p:nvSpPr>
        <p:spPr>
          <a:xfrm>
            <a:off x="614586" y="887388"/>
            <a:ext cx="1036811"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1 · First-cut test · n = 8 later with some more data n=25 </a:t>
            </a:r>
            <a:endParaRPr lang="en-US" sz="650" dirty="0"/>
          </a:p>
        </p:txBody>
      </p:sp>
      <p:sp>
        <p:nvSpPr>
          <p:cNvPr id="6" name="Text 3"/>
          <p:cNvSpPr/>
          <p:nvPr/>
        </p:nvSpPr>
        <p:spPr>
          <a:xfrm>
            <a:off x="614586" y="1024086"/>
            <a:ext cx="385933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baseline single-pass</a:t>
            </a:r>
            <a:endParaRPr lang="en-US" sz="550" dirty="0"/>
          </a:p>
        </p:txBody>
      </p:sp>
      <p:sp>
        <p:nvSpPr>
          <p:cNvPr id="7" name="Text 4"/>
          <p:cNvSpPr/>
          <p:nvPr/>
        </p:nvSpPr>
        <p:spPr>
          <a:xfrm>
            <a:off x="614586" y="1130350"/>
            <a:ext cx="3859337" cy="377279"/>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75%</a:t>
            </a:r>
            <a:r>
              <a:rPr lang="en-US" sz="550" dirty="0">
                <a:solidFill>
                  <a:srgbClr val="15213F"/>
                </a:solidFill>
                <a:latin typeface="Roboto" pitchFamily="34" charset="0"/>
                <a:ea typeface="Roboto" pitchFamily="34" charset="-122"/>
                <a:cs typeface="Roboto" pitchFamily="34" charset="-120"/>
              </a:rPr>
              <a:t> overall fail (6/8)</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50%</a:t>
            </a:r>
            <a:r>
              <a:rPr lang="en-US" sz="550" dirty="0">
                <a:solidFill>
                  <a:srgbClr val="15213F"/>
                </a:solidFill>
                <a:latin typeface="Roboto" pitchFamily="34" charset="0"/>
                <a:ea typeface="Roboto" pitchFamily="34" charset="-122"/>
                <a:cs typeface="Roboto" pitchFamily="34" charset="-120"/>
              </a:rPr>
              <a:t> hallucination (4/8)</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37.5%</a:t>
            </a:r>
            <a:r>
              <a:rPr lang="en-US" sz="550" dirty="0">
                <a:solidFill>
                  <a:srgbClr val="15213F"/>
                </a:solidFill>
                <a:latin typeface="Roboto" pitchFamily="34" charset="0"/>
                <a:ea typeface="Roboto" pitchFamily="34" charset="-122"/>
                <a:cs typeface="Roboto" pitchFamily="34" charset="-120"/>
              </a:rPr>
              <a:t> critical (fake receipts/prices)</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25%</a:t>
            </a:r>
            <a:r>
              <a:rPr lang="en-US" sz="550" dirty="0">
                <a:solidFill>
                  <a:srgbClr val="15213F"/>
                </a:solidFill>
                <a:latin typeface="Roboto" pitchFamily="34" charset="0"/>
                <a:ea typeface="Roboto" pitchFamily="34" charset="-122"/>
                <a:cs typeface="Roboto" pitchFamily="34" charset="-120"/>
              </a:rPr>
              <a:t> correct (memes only)</a:t>
            </a:r>
            <a:endParaRPr lang="en-US" sz="550" dirty="0"/>
          </a:p>
        </p:txBody>
      </p:sp>
      <p:sp>
        <p:nvSpPr>
          <p:cNvPr id="8" name="Text 5"/>
          <p:cNvSpPr/>
          <p:nvPr/>
        </p:nvSpPr>
        <p:spPr>
          <a:xfrm>
            <a:off x="614586" y="1528837"/>
            <a:ext cx="3859337" cy="255166"/>
          </a:xfrm>
          <a:prstGeom prst="rect">
            <a:avLst/>
          </a:prstGeom>
          <a:noFill/>
          <a:ln/>
        </p:spPr>
        <p:txBody>
          <a:bodyPr wrap="square" lIns="0" tIns="0" rIns="0" bIns="0" rtlCol="0" anchor="t">
            <a:normAutofit/>
          </a:bodyPr>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Hallucinations seen:</a:t>
            </a:r>
            <a:r>
              <a:rPr lang="en-US" sz="550" dirty="0">
                <a:solidFill>
                  <a:srgbClr val="15213F"/>
                </a:solidFill>
                <a:latin typeface="Roboto" pitchFamily="34" charset="0"/>
                <a:ea typeface="Roboto" pitchFamily="34" charset="-122"/>
                <a:cs typeface="Roboto" pitchFamily="34" charset="-120"/>
              </a:rPr>
              <a:t> "receipt $39.99 w/ handwritten </a:t>
            </a:r>
            <a:r>
              <a:rPr lang="en-US" sz="550" i="1" dirty="0">
                <a:solidFill>
                  <a:srgbClr val="15213F"/>
                </a:solidFill>
                <a:latin typeface="Roboto" pitchFamily="34" charset="0"/>
                <a:ea typeface="Roboto" pitchFamily="34" charset="-122"/>
                <a:cs typeface="Roboto" pitchFamily="34" charset="-120"/>
              </a:rPr>
              <a:t>Damaged Box</a:t>
            </a:r>
            <a:r>
              <a:rPr lang="en-US" sz="550" dirty="0">
                <a:solidFill>
                  <a:srgbClr val="15213F"/>
                </a:solidFill>
                <a:latin typeface="Roboto" pitchFamily="34" charset="0"/>
                <a:ea typeface="Roboto" pitchFamily="34" charset="-122"/>
                <a:cs typeface="Roboto" pitchFamily="34" charset="-120"/>
              </a:rPr>
              <a:t>" (product page, no price, no handwriting) · "Order status PENDING" (word absent) · "12-pack Zero Sugar Dr Pepper" (single 42.3 fl oz regular bottle) → </a:t>
            </a:r>
            <a:r>
              <a:rPr lang="en-US" sz="550" b="1" dirty="0">
                <a:solidFill>
                  <a:srgbClr val="15213F"/>
                </a:solidFill>
                <a:latin typeface="Roboto Bold" pitchFamily="34" charset="0"/>
                <a:ea typeface="Roboto Bold" pitchFamily="34" charset="-122"/>
                <a:cs typeface="Roboto Bold" pitchFamily="34" charset="-120"/>
              </a:rPr>
              <a:t>fabricated data corrupted dashboards. </a:t>
            </a:r>
            <a:endParaRPr lang="en-US" sz="5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9711" y="807021"/>
            <a:ext cx="4058171" cy="1057349"/>
          </a:xfrm>
          <a:prstGeom prst="rect">
            <a:avLst/>
          </a:prstGeom>
        </p:spPr>
      </p:pic>
      <p:sp>
        <p:nvSpPr>
          <p:cNvPr id="10" name="Text 6"/>
          <p:cNvSpPr/>
          <p:nvPr/>
        </p:nvSpPr>
        <p:spPr>
          <a:xfrm>
            <a:off x="4708178" y="887388"/>
            <a:ext cx="88597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2 · Root cause (5)</a:t>
            </a:r>
            <a:endParaRPr lang="en-US" sz="650" dirty="0"/>
          </a:p>
        </p:txBody>
      </p:sp>
      <p:sp>
        <p:nvSpPr>
          <p:cNvPr id="11" name="Text 7"/>
          <p:cNvSpPr/>
          <p:nvPr/>
        </p:nvSpPr>
        <p:spPr>
          <a:xfrm>
            <a:off x="4708178" y="1024086"/>
            <a:ext cx="3859337" cy="474687"/>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896 px fixed resize</a:t>
            </a:r>
            <a:r>
              <a:rPr lang="en-US" sz="550" dirty="0">
                <a:solidFill>
                  <a:srgbClr val="15213F"/>
                </a:solidFill>
                <a:latin typeface="Roboto" pitchFamily="34" charset="0"/>
                <a:ea typeface="Roboto" pitchFamily="34" charset="-122"/>
                <a:cs typeface="Roboto" pitchFamily="34" charset="-120"/>
              </a:rPr>
              <a:t> → small text unreadable</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4 B params</a:t>
            </a:r>
            <a:r>
              <a:rPr lang="en-US" sz="550" dirty="0">
                <a:solidFill>
                  <a:srgbClr val="15213F"/>
                </a:solidFill>
                <a:latin typeface="Roboto" pitchFamily="34" charset="0"/>
                <a:ea typeface="Roboto" pitchFamily="34" charset="-122"/>
                <a:cs typeface="Roboto" pitchFamily="34" charset="-120"/>
              </a:rPr>
              <a:t> → can't reason button + error + context</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No dynamic resolution</a:t>
            </a:r>
            <a:r>
              <a:rPr lang="en-US" sz="550" dirty="0">
                <a:solidFill>
                  <a:srgbClr val="15213F"/>
                </a:solidFill>
                <a:latin typeface="Roboto" pitchFamily="34" charset="0"/>
                <a:ea typeface="Roboto" pitchFamily="34" charset="-122"/>
                <a:cs typeface="Roboto" pitchFamily="34" charset="-120"/>
              </a:rPr>
              <a:t> → one fixed scale for whole image</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Hallucinates under uncertainty</a:t>
            </a:r>
            <a:r>
              <a:rPr lang="en-US" sz="550" dirty="0">
                <a:solidFill>
                  <a:srgbClr val="15213F"/>
                </a:solidFill>
                <a:latin typeface="Roboto" pitchFamily="34" charset="0"/>
                <a:ea typeface="Roboto" pitchFamily="34" charset="-122"/>
                <a:cs typeface="Roboto" pitchFamily="34" charset="-120"/>
              </a:rPr>
              <a:t> → invents rather than admits</a:t>
            </a:r>
            <a:endParaRPr lang="en-US" sz="550" dirty="0"/>
          </a:p>
          <a:p>
            <a:pPr marL="111760" indent="-111760" algn="l">
              <a:lnSpc>
                <a:spcPct val="100000"/>
              </a:lnSpc>
              <a:buSzPct val="100000"/>
              <a:buChar char="•"/>
            </a:pPr>
            <a:r>
              <a:rPr lang="en-US" sz="550" b="1" dirty="0">
                <a:solidFill>
                  <a:srgbClr val="15213F"/>
                </a:solidFill>
                <a:latin typeface="Roboto Bold" pitchFamily="34" charset="0"/>
                <a:ea typeface="Roboto Bold" pitchFamily="34" charset="-122"/>
                <a:cs typeface="Roboto Bold" pitchFamily="34" charset="-120"/>
              </a:rPr>
              <a:t>No context awareness</a:t>
            </a:r>
            <a:r>
              <a:rPr lang="en-US" sz="550" dirty="0">
                <a:solidFill>
                  <a:srgbClr val="15213F"/>
                </a:solidFill>
                <a:latin typeface="Roboto" pitchFamily="34" charset="0"/>
                <a:ea typeface="Roboto" pitchFamily="34" charset="-122"/>
                <a:cs typeface="Roboto" pitchFamily="34" charset="-120"/>
              </a:rPr>
              <a:t> → confuses screenshots vs physical displays</a:t>
            </a:r>
            <a:endParaRPr lang="en-US" sz="5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899791"/>
            <a:ext cx="4058171" cy="1194271"/>
          </a:xfrm>
          <a:prstGeom prst="rect">
            <a:avLst/>
          </a:prstGeom>
        </p:spPr>
      </p:pic>
      <p:sp>
        <p:nvSpPr>
          <p:cNvPr id="13" name="Text 8"/>
          <p:cNvSpPr/>
          <p:nvPr/>
        </p:nvSpPr>
        <p:spPr>
          <a:xfrm>
            <a:off x="614586" y="1980158"/>
            <a:ext cx="1005334"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3 · Research 2023–25</a:t>
            </a:r>
            <a:endParaRPr lang="en-US" sz="650" dirty="0"/>
          </a:p>
        </p:txBody>
      </p:sp>
      <p:sp>
        <p:nvSpPr>
          <p:cNvPr id="14" name="Text 9"/>
          <p:cNvSpPr/>
          <p:nvPr/>
        </p:nvSpPr>
        <p:spPr>
          <a:xfrm>
            <a:off x="614586" y="2116857"/>
            <a:ext cx="385933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5 / 5 blocked</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Walmart vendor policy- </a:t>
            </a:r>
            <a:r>
              <a:rPr lang="en-US" sz="660" b="1" dirty="0">
                <a:solidFill>
                  <a:srgbClr val="15213F"/>
                </a:solidFill>
                <a:latin typeface="Roboto" pitchFamily="34" charset="0"/>
                <a:ea typeface="Roboto" pitchFamily="34" charset="-122"/>
                <a:cs typeface="Roboto" pitchFamily="34" charset="-120"/>
              </a:rPr>
              <a:t>Does NOT ALLOW China origin model </a:t>
            </a:r>
            <a:endParaRPr lang="en-US" sz="660" b="1" dirty="0"/>
          </a:p>
        </p:txBody>
      </p:sp>
      <p:sp>
        <p:nvSpPr>
          <p:cNvPr id="15" name="Text 10"/>
          <p:cNvSpPr/>
          <p:nvPr/>
        </p:nvSpPr>
        <p:spPr>
          <a:xfrm>
            <a:off x="614586" y="2329383"/>
            <a:ext cx="3859337" cy="474687"/>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UReader</a:t>
            </a:r>
            <a:r>
              <a:rPr lang="en-US" sz="550" dirty="0">
                <a:solidFill>
                  <a:srgbClr val="15213F"/>
                </a:solidFill>
                <a:latin typeface="Roboto" pitchFamily="34" charset="0"/>
                <a:ea typeface="Roboto" pitchFamily="34" charset="-122"/>
                <a:cs typeface="Roboto" pitchFamily="34" charset="-120"/>
              </a:rPr>
              <a:t> (Tencent) — shape-adaptive cropping</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TextMonkey</a:t>
            </a:r>
            <a:r>
              <a:rPr lang="en-US" sz="550" dirty="0">
                <a:solidFill>
                  <a:srgbClr val="15213F"/>
                </a:solidFill>
                <a:latin typeface="Roboto" pitchFamily="34" charset="0"/>
                <a:ea typeface="Roboto" pitchFamily="34" charset="-122"/>
                <a:cs typeface="Roboto" pitchFamily="34" charset="-120"/>
              </a:rPr>
              <a:t> (USTC) — shifted window attention</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DocOwl 1.5</a:t>
            </a:r>
            <a:r>
              <a:rPr lang="en-US" sz="550" dirty="0">
                <a:solidFill>
                  <a:srgbClr val="15213F"/>
                </a:solidFill>
                <a:latin typeface="Roboto" pitchFamily="34" charset="0"/>
                <a:ea typeface="Roboto" pitchFamily="34" charset="-122"/>
                <a:cs typeface="Roboto" pitchFamily="34" charset="-120"/>
              </a:rPr>
              <a:t> (Alibaba) — structure-aware parsing</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InternVL2</a:t>
            </a:r>
            <a:r>
              <a:rPr lang="en-US" sz="550" dirty="0">
                <a:solidFill>
                  <a:srgbClr val="15213F"/>
                </a:solidFill>
                <a:latin typeface="Roboto" pitchFamily="34" charset="0"/>
                <a:ea typeface="Roboto" pitchFamily="34" charset="-122"/>
                <a:cs typeface="Roboto" pitchFamily="34" charset="-120"/>
              </a:rPr>
              <a:t> (Shanghai AI Lab) — tile-based</a:t>
            </a:r>
            <a:endParaRPr lang="en-US" sz="550" dirty="0"/>
          </a:p>
          <a:p>
            <a:pPr marL="111760" indent="-111760" algn="l">
              <a:lnSpc>
                <a:spcPct val="100000"/>
              </a:lnSpc>
              <a:buSzPct val="100000"/>
              <a:buChar char="•"/>
            </a:pPr>
            <a:r>
              <a:rPr lang="en-US" sz="550" dirty="0">
                <a:solidFill>
                  <a:srgbClr val="000000"/>
                </a:solidFill>
                <a:latin typeface="Roboto" pitchFamily="34" charset="0"/>
                <a:ea typeface="Roboto" pitchFamily="34" charset="-122"/>
                <a:cs typeface="Roboto" pitchFamily="34" charset="-120"/>
              </a:rPr>
              <a:t>❌</a:t>
            </a:r>
            <a:r>
              <a:rPr lang="en-US" sz="550" dirty="0">
                <a:solidFill>
                  <a:srgbClr val="15213F"/>
                </a:solidFill>
                <a:latin typeface="Roboto" pitchFamily="34" charset="0"/>
                <a:ea typeface="Roboto" pitchFamily="34" charset="-122"/>
                <a:cs typeface="Roboto" pitchFamily="34" charset="-120"/>
              </a:rPr>
              <a:t> </a:t>
            </a:r>
            <a:r>
              <a:rPr lang="en-US" sz="550" b="1" dirty="0">
                <a:solidFill>
                  <a:srgbClr val="15213F"/>
                </a:solidFill>
                <a:latin typeface="Roboto Bold" pitchFamily="34" charset="0"/>
                <a:ea typeface="Roboto Bold" pitchFamily="34" charset="-122"/>
                <a:cs typeface="Roboto Bold" pitchFamily="34" charset="-120"/>
              </a:rPr>
              <a:t>Qwen2.5-VL</a:t>
            </a:r>
            <a:r>
              <a:rPr lang="en-US" sz="550" dirty="0">
                <a:solidFill>
                  <a:srgbClr val="15213F"/>
                </a:solidFill>
                <a:latin typeface="Roboto" pitchFamily="34" charset="0"/>
                <a:ea typeface="Roboto" pitchFamily="34" charset="-122"/>
                <a:cs typeface="Roboto" pitchFamily="34" charset="-120"/>
              </a:rPr>
              <a:t> (Alibaba) — dynamic res + multimodal RoPE</a:t>
            </a:r>
            <a:endParaRPr lang="en-US" sz="550" dirty="0"/>
          </a:p>
        </p:txBody>
      </p:sp>
      <p:sp>
        <p:nvSpPr>
          <p:cNvPr id="16" name="Text 11"/>
          <p:cNvSpPr/>
          <p:nvPr/>
        </p:nvSpPr>
        <p:spPr>
          <a:xfrm>
            <a:off x="614586" y="2825279"/>
            <a:ext cx="3859337" cy="170111"/>
          </a:xfrm>
          <a:prstGeom prst="rect">
            <a:avLst/>
          </a:prstGeom>
          <a:noFill/>
          <a:ln/>
        </p:spPr>
        <p:txBody>
          <a:bodyPr wrap="square" lIns="0" tIns="0" rIns="0" bIns="0" rtlCol="0" anchor="t">
            <a:normAutofit/>
          </a:bodyPr>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Consensus:</a:t>
            </a:r>
            <a:r>
              <a:rPr lang="en-US" sz="550" dirty="0">
                <a:solidFill>
                  <a:srgbClr val="15213F"/>
                </a:solidFill>
                <a:latin typeface="Roboto" pitchFamily="34" charset="0"/>
                <a:ea typeface="Roboto" pitchFamily="34" charset="-122"/>
                <a:cs typeface="Roboto" pitchFamily="34" charset="-120"/>
              </a:rPr>
              <a:t> tile-based attention + dynamic/native resolution is THE fix. Fixed resize is the failure mode — </a:t>
            </a:r>
            <a:r>
              <a:rPr lang="en-US" sz="550" i="1" dirty="0">
                <a:solidFill>
                  <a:srgbClr val="15213F"/>
                </a:solidFill>
                <a:latin typeface="Roboto" pitchFamily="34" charset="0"/>
                <a:ea typeface="Roboto" pitchFamily="34" charset="-122"/>
                <a:cs typeface="Roboto" pitchFamily="34" charset="-120"/>
              </a:rPr>
              <a:t>not</a:t>
            </a:r>
            <a:r>
              <a:rPr lang="en-US" sz="550" dirty="0">
                <a:solidFill>
                  <a:srgbClr val="15213F"/>
                </a:solidFill>
                <a:latin typeface="Roboto" pitchFamily="34" charset="0"/>
                <a:ea typeface="Roboto" pitchFamily="34" charset="-122"/>
                <a:cs typeface="Roboto" pitchFamily="34" charset="-120"/>
              </a:rPr>
              <a:t> the model architecture.</a:t>
            </a:r>
            <a:endParaRPr lang="en-US" sz="5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9711" y="1899791"/>
            <a:ext cx="4058171" cy="1194271"/>
          </a:xfrm>
          <a:prstGeom prst="rect">
            <a:avLst/>
          </a:prstGeom>
        </p:spPr>
      </p:pic>
      <p:sp>
        <p:nvSpPr>
          <p:cNvPr id="18" name="Text 12"/>
          <p:cNvSpPr/>
          <p:nvPr/>
        </p:nvSpPr>
        <p:spPr>
          <a:xfrm>
            <a:off x="4708178" y="1980158"/>
            <a:ext cx="3437558" cy="115491"/>
          </a:xfrm>
          <a:prstGeom prst="rect">
            <a:avLst/>
          </a:prstGeom>
          <a:noFill/>
          <a:ln/>
        </p:spPr>
        <p:txBody>
          <a:bodyPr wrap="none" lIns="0" tIns="0" rIns="0" bIns="0" rtlCol="0" anchor="t"/>
          <a:lstStyle/>
          <a:p>
            <a:pPr marL="0" indent="0" algn="l">
              <a:lnSpc>
                <a:spcPct val="104000"/>
              </a:lnSpc>
              <a:buNone/>
            </a:pPr>
            <a:r>
              <a:rPr lang="en-US" sz="650" dirty="0">
                <a:solidFill>
                  <a:srgbClr val="000000"/>
                </a:solidFill>
                <a:latin typeface="Roboto Slab" pitchFamily="34" charset="0"/>
                <a:ea typeface="Roboto Slab" pitchFamily="34" charset="-122"/>
                <a:cs typeface="Roboto Slab" pitchFamily="34" charset="-120"/>
              </a:rPr>
              <a:t>🧭</a:t>
            </a:r>
            <a:r>
              <a:rPr lang="en-US" sz="650" dirty="0">
                <a:solidFill>
                  <a:srgbClr val="15213F"/>
                </a:solidFill>
                <a:latin typeface="Roboto Slab" pitchFamily="34" charset="0"/>
                <a:ea typeface="Roboto Slab" pitchFamily="34" charset="-122"/>
                <a:cs typeface="Roboto Slab" pitchFamily="34" charset="-120"/>
              </a:rPr>
              <a:t> 4 · Strategy — take the ideas, not the models (same gemma3:4b, smarter calling)</a:t>
            </a:r>
            <a:endParaRPr lang="en-US" sz="650" dirty="0"/>
          </a:p>
        </p:txBody>
      </p:sp>
      <p:sp>
        <p:nvSpPr>
          <p:cNvPr id="19" name="Shape 13"/>
          <p:cNvSpPr/>
          <p:nvPr/>
        </p:nvSpPr>
        <p:spPr>
          <a:xfrm>
            <a:off x="4708178" y="2135460"/>
            <a:ext cx="9525" cy="878160"/>
          </a:xfrm>
          <a:prstGeom prst="roundRect">
            <a:avLst>
              <a:gd name="adj" fmla="val 60000"/>
            </a:avLst>
          </a:prstGeom>
          <a:solidFill>
            <a:srgbClr val="3257B8"/>
          </a:solidFill>
          <a:ln/>
        </p:spPr>
        <p:txBody>
          <a:bodyPr/>
          <a:lstStyle/>
          <a:p>
            <a:endParaRPr lang="en-US"/>
          </a:p>
        </p:txBody>
      </p:sp>
      <p:sp>
        <p:nvSpPr>
          <p:cNvPr id="20" name="Shape 14"/>
          <p:cNvSpPr/>
          <p:nvPr/>
        </p:nvSpPr>
        <p:spPr>
          <a:xfrm>
            <a:off x="4814441" y="2175272"/>
            <a:ext cx="3753073" cy="798612"/>
          </a:xfrm>
          <a:prstGeom prst="roundRect">
            <a:avLst>
              <a:gd name="adj" fmla="val 1331"/>
            </a:avLst>
          </a:prstGeom>
          <a:noFill/>
          <a:ln w="4763">
            <a:solidFill>
              <a:srgbClr val="000000">
                <a:alpha val="8000"/>
              </a:srgbClr>
            </a:solidFill>
            <a:prstDash val="solid"/>
          </a:ln>
        </p:spPr>
        <p:txBody>
          <a:bodyPr/>
          <a:lstStyle/>
          <a:p>
            <a:endParaRPr lang="en-US"/>
          </a:p>
        </p:txBody>
      </p:sp>
      <p:sp>
        <p:nvSpPr>
          <p:cNvPr id="21" name="Text 15"/>
          <p:cNvSpPr/>
          <p:nvPr/>
        </p:nvSpPr>
        <p:spPr>
          <a:xfrm>
            <a:off x="4890120" y="2206005"/>
            <a:ext cx="1730053"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Paper technique</a:t>
            </a:r>
            <a:endParaRPr lang="en-US" sz="550" dirty="0"/>
          </a:p>
        </p:txBody>
      </p:sp>
      <p:sp>
        <p:nvSpPr>
          <p:cNvPr id="22" name="Text 16"/>
          <p:cNvSpPr/>
          <p:nvPr/>
        </p:nvSpPr>
        <p:spPr>
          <a:xfrm>
            <a:off x="6761857" y="2206005"/>
            <a:ext cx="1730053"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We implement as</a:t>
            </a:r>
            <a:endParaRPr lang="en-US" sz="550" dirty="0"/>
          </a:p>
        </p:txBody>
      </p:sp>
      <p:sp>
        <p:nvSpPr>
          <p:cNvPr id="23" name="Text 17"/>
          <p:cNvSpPr/>
          <p:nvPr/>
        </p:nvSpPr>
        <p:spPr>
          <a:xfrm>
            <a:off x="4890120" y="2347764"/>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Tile-based processing (InternVL2)</a:t>
            </a:r>
            <a:endParaRPr lang="en-US" sz="550" dirty="0"/>
          </a:p>
        </p:txBody>
      </p:sp>
      <p:sp>
        <p:nvSpPr>
          <p:cNvPr id="24" name="Text 18"/>
          <p:cNvSpPr/>
          <p:nvPr/>
        </p:nvSpPr>
        <p:spPr>
          <a:xfrm>
            <a:off x="6761857" y="2347764"/>
            <a:ext cx="1730053"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Split image into 2–4 crops ourselves, send each to gemma3:4b</a:t>
            </a:r>
            <a:endParaRPr lang="en-US" sz="550" dirty="0"/>
          </a:p>
        </p:txBody>
      </p:sp>
      <p:sp>
        <p:nvSpPr>
          <p:cNvPr id="25" name="Text 19"/>
          <p:cNvSpPr/>
          <p:nvPr/>
        </p:nvSpPr>
        <p:spPr>
          <a:xfrm>
            <a:off x="4890120" y="2574578"/>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Structure-first parsing (DocOwl 1.5)</a:t>
            </a:r>
            <a:endParaRPr lang="en-US" sz="550" dirty="0"/>
          </a:p>
        </p:txBody>
      </p:sp>
      <p:sp>
        <p:nvSpPr>
          <p:cNvPr id="26" name="Text 20"/>
          <p:cNvSpPr/>
          <p:nvPr/>
        </p:nvSpPr>
        <p:spPr>
          <a:xfrm>
            <a:off x="6761857" y="2574578"/>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Pass 1 asks "what type of image?" before reading text</a:t>
            </a:r>
            <a:endParaRPr lang="en-US" sz="550" dirty="0"/>
          </a:p>
        </p:txBody>
      </p:sp>
      <p:sp>
        <p:nvSpPr>
          <p:cNvPr id="27" name="Text 21"/>
          <p:cNvSpPr/>
          <p:nvPr/>
        </p:nvSpPr>
        <p:spPr>
          <a:xfrm>
            <a:off x="4890120" y="2716337"/>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Focused text extraction (UReader)</a:t>
            </a:r>
            <a:endParaRPr lang="en-US" sz="550" dirty="0"/>
          </a:p>
        </p:txBody>
      </p:sp>
      <p:sp>
        <p:nvSpPr>
          <p:cNvPr id="28" name="Text 22"/>
          <p:cNvSpPr/>
          <p:nvPr/>
        </p:nvSpPr>
        <p:spPr>
          <a:xfrm>
            <a:off x="6761857" y="2716337"/>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"Read ALL text verbatim" prompt per tile</a:t>
            </a:r>
            <a:endParaRPr lang="en-US" sz="550" dirty="0"/>
          </a:p>
        </p:txBody>
      </p:sp>
      <p:sp>
        <p:nvSpPr>
          <p:cNvPr id="29" name="Text 23"/>
          <p:cNvSpPr/>
          <p:nvPr/>
        </p:nvSpPr>
        <p:spPr>
          <a:xfrm>
            <a:off x="4890120" y="2858095"/>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Resolution preservation (Qwen2.5-VL)</a:t>
            </a:r>
            <a:endParaRPr lang="en-US" sz="550" dirty="0"/>
          </a:p>
        </p:txBody>
      </p:sp>
      <p:sp>
        <p:nvSpPr>
          <p:cNvPr id="30" name="Text 24"/>
          <p:cNvSpPr/>
          <p:nvPr/>
        </p:nvSpPr>
        <p:spPr>
          <a:xfrm>
            <a:off x="6761857" y="2858095"/>
            <a:ext cx="173005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Tiling → 2–4× effective resolution without resizing</a:t>
            </a:r>
            <a:endParaRPr lang="en-US" sz="550" dirty="0"/>
          </a:p>
        </p:txBody>
      </p:sp>
      <p:sp>
        <p:nvSpPr>
          <p:cNvPr id="31" name="Text 25"/>
          <p:cNvSpPr/>
          <p:nvPr/>
        </p:nvSpPr>
        <p:spPr>
          <a:xfrm>
            <a:off x="496119" y="3147194"/>
            <a:ext cx="2141265" cy="137666"/>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Roboto Slab" pitchFamily="34" charset="0"/>
                <a:ea typeface="Roboto Slab" pitchFamily="34" charset="-122"/>
                <a:cs typeface="Roboto Slab" pitchFamily="34" charset="-120"/>
              </a:rPr>
              <a:t>⚙️</a:t>
            </a:r>
            <a:r>
              <a:rPr lang="en-US" sz="800" dirty="0">
                <a:solidFill>
                  <a:srgbClr val="3257B8"/>
                </a:solidFill>
                <a:latin typeface="Roboto Slab" pitchFamily="34" charset="0"/>
                <a:ea typeface="Roboto Slab" pitchFamily="34" charset="-122"/>
                <a:cs typeface="Roboto Slab" pitchFamily="34" charset="-120"/>
              </a:rPr>
              <a:t> 5 · Multi-pass pipeline (the fix)</a:t>
            </a:r>
            <a:endParaRPr lang="en-US" sz="800" dirty="0"/>
          </a:p>
        </p:txBody>
      </p:sp>
      <p:pic>
        <p:nvPicPr>
          <p:cNvPr id="32" name="Image 4" descr="preencoded.png"/>
          <p:cNvPicPr>
            <a:picLocks noChangeAspect="1"/>
          </p:cNvPicPr>
          <p:nvPr/>
        </p:nvPicPr>
        <p:blipFill>
          <a:blip r:embed="rId5"/>
          <a:stretch>
            <a:fillRect/>
          </a:stretch>
        </p:blipFill>
        <p:spPr>
          <a:xfrm>
            <a:off x="496119" y="3337992"/>
            <a:ext cx="4075881" cy="283518"/>
          </a:xfrm>
          <a:prstGeom prst="rect">
            <a:avLst/>
          </a:prstGeom>
        </p:spPr>
      </p:pic>
      <p:sp>
        <p:nvSpPr>
          <p:cNvPr id="33" name="Text 26"/>
          <p:cNvSpPr/>
          <p:nvPr/>
        </p:nvSpPr>
        <p:spPr>
          <a:xfrm>
            <a:off x="566961" y="3656930"/>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1 · STRUCTURE</a:t>
            </a:r>
            <a:endParaRPr lang="en-US" sz="650" dirty="0"/>
          </a:p>
        </p:txBody>
      </p:sp>
      <p:sp>
        <p:nvSpPr>
          <p:cNvPr id="34" name="Text 27"/>
          <p:cNvSpPr/>
          <p:nvPr/>
        </p:nvSpPr>
        <p:spPr>
          <a:xfrm>
            <a:off x="566961" y="3788866"/>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 </a:t>
            </a:r>
            <a:r>
              <a:rPr lang="en-US" sz="550" dirty="0" err="1">
                <a:solidFill>
                  <a:srgbClr val="15213F"/>
                </a:solidFill>
                <a:latin typeface="Roboto" pitchFamily="34" charset="0"/>
                <a:ea typeface="Roboto" pitchFamily="34" charset="-122"/>
                <a:cs typeface="Roboto" pitchFamily="34" charset="-120"/>
              </a:rPr>
              <a:t>DocOwl</a:t>
            </a:r>
            <a:r>
              <a:rPr lang="en-US" sz="550" dirty="0">
                <a:solidFill>
                  <a:srgbClr val="15213F"/>
                </a:solidFill>
                <a:latin typeface="Roboto" pitchFamily="34" charset="0"/>
                <a:ea typeface="Roboto" pitchFamily="34" charset="-122"/>
                <a:cs typeface="Roboto" pitchFamily="34" charset="-120"/>
              </a:rPr>
              <a:t> 1.5 </a:t>
            </a:r>
            <a:r>
              <a:rPr lang="en-US" sz="550" dirty="0">
                <a:solidFill>
                  <a:srgbClr val="15213F"/>
                </a:solidFill>
                <a:latin typeface="Roboto" pitchFamily="34" charset="0"/>
                <a:ea typeface="Roboto" pitchFamily="34" charset="-122"/>
                <a:cs typeface="Roboto" pitchFamily="34" charset="-120"/>
                <a:sym typeface="Wingdings" pitchFamily="2" charset="2"/>
              </a:rPr>
              <a:t></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"What TYPE?" → screenshot / photo / receipt / app / meme. Text-heavy → continue.</a:t>
            </a:r>
            <a:endParaRPr lang="en-US" sz="550" dirty="0"/>
          </a:p>
        </p:txBody>
      </p:sp>
      <p:pic>
        <p:nvPicPr>
          <p:cNvPr id="35" name="Image 5" descr="preencoded.png"/>
          <p:cNvPicPr>
            <a:picLocks noChangeAspect="1"/>
          </p:cNvPicPr>
          <p:nvPr/>
        </p:nvPicPr>
        <p:blipFill>
          <a:blip r:embed="rId6"/>
          <a:stretch>
            <a:fillRect/>
          </a:stretch>
        </p:blipFill>
        <p:spPr>
          <a:xfrm>
            <a:off x="4572000" y="3337992"/>
            <a:ext cx="4075881" cy="283518"/>
          </a:xfrm>
          <a:prstGeom prst="rect">
            <a:avLst/>
          </a:prstGeom>
        </p:spPr>
      </p:pic>
      <p:sp>
        <p:nvSpPr>
          <p:cNvPr id="36" name="Text 28"/>
          <p:cNvSpPr/>
          <p:nvPr/>
        </p:nvSpPr>
        <p:spPr>
          <a:xfrm>
            <a:off x="4642842" y="3656930"/>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2 · TILE</a:t>
            </a:r>
            <a:endParaRPr lang="en-US" sz="650" dirty="0"/>
          </a:p>
        </p:txBody>
      </p:sp>
      <p:sp>
        <p:nvSpPr>
          <p:cNvPr id="37" name="Text 29"/>
          <p:cNvSpPr/>
          <p:nvPr/>
        </p:nvSpPr>
        <p:spPr>
          <a:xfrm>
            <a:off x="4642842" y="3788866"/>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InternVL2 </a:t>
            </a:r>
            <a:r>
              <a:rPr lang="en-US" sz="550" dirty="0">
                <a:solidFill>
                  <a:srgbClr val="15213F"/>
                </a:solidFill>
                <a:latin typeface="Roboto" pitchFamily="34" charset="0"/>
                <a:ea typeface="Roboto" pitchFamily="34" charset="-122"/>
                <a:cs typeface="Roboto" pitchFamily="34" charset="-120"/>
                <a:sym typeface="Wingdings" pitchFamily="2" charset="2"/>
              </a:rPr>
              <a:t> </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Split full image into 2–4 crops. Each crop = 2–4× effective resolution.</a:t>
            </a:r>
            <a:endParaRPr lang="en-US" sz="550" dirty="0"/>
          </a:p>
        </p:txBody>
      </p:sp>
      <p:pic>
        <p:nvPicPr>
          <p:cNvPr id="38" name="Image 6" descr="preencoded.png"/>
          <p:cNvPicPr>
            <a:picLocks noChangeAspect="1"/>
          </p:cNvPicPr>
          <p:nvPr/>
        </p:nvPicPr>
        <p:blipFill>
          <a:blip r:embed="rId7"/>
          <a:stretch>
            <a:fillRect/>
          </a:stretch>
        </p:blipFill>
        <p:spPr>
          <a:xfrm>
            <a:off x="496119" y="4051027"/>
            <a:ext cx="4075881" cy="283518"/>
          </a:xfrm>
          <a:prstGeom prst="rect">
            <a:avLst/>
          </a:prstGeom>
        </p:spPr>
      </p:pic>
      <p:sp>
        <p:nvSpPr>
          <p:cNvPr id="39" name="Text 30"/>
          <p:cNvSpPr/>
          <p:nvPr/>
        </p:nvSpPr>
        <p:spPr>
          <a:xfrm>
            <a:off x="566961" y="4369966"/>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3 · EXTRACT</a:t>
            </a:r>
            <a:endParaRPr lang="en-US" sz="650" dirty="0"/>
          </a:p>
        </p:txBody>
      </p:sp>
      <p:sp>
        <p:nvSpPr>
          <p:cNvPr id="40" name="Text 31"/>
          <p:cNvSpPr/>
          <p:nvPr/>
        </p:nvSpPr>
        <p:spPr>
          <a:xfrm>
            <a:off x="566961" y="4501902"/>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 </a:t>
            </a:r>
            <a:r>
              <a:rPr lang="en-US" sz="550" dirty="0" err="1">
                <a:solidFill>
                  <a:srgbClr val="15213F"/>
                </a:solidFill>
                <a:latin typeface="Roboto" pitchFamily="34" charset="0"/>
                <a:ea typeface="Roboto" pitchFamily="34" charset="-122"/>
                <a:cs typeface="Roboto" pitchFamily="34" charset="-120"/>
              </a:rPr>
              <a:t>Ureader</a:t>
            </a:r>
            <a:r>
              <a:rPr lang="en-US" sz="550" dirty="0">
                <a:solidFill>
                  <a:srgbClr val="15213F"/>
                </a:solidFill>
                <a:latin typeface="Roboto" pitchFamily="34" charset="0"/>
                <a:ea typeface="Roboto" pitchFamily="34" charset="-122"/>
                <a:cs typeface="Roboto" pitchFamily="34" charset="-120"/>
              </a:rPr>
              <a:t> </a:t>
            </a:r>
            <a:r>
              <a:rPr lang="en-US" sz="550" dirty="0">
                <a:solidFill>
                  <a:srgbClr val="15213F"/>
                </a:solidFill>
                <a:latin typeface="Roboto" pitchFamily="34" charset="0"/>
                <a:ea typeface="Roboto" pitchFamily="34" charset="-122"/>
                <a:cs typeface="Roboto" pitchFamily="34" charset="-120"/>
                <a:sym typeface="Wingdings" pitchFamily="2" charset="2"/>
              </a:rPr>
              <a:t> </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Per tile: "Read ALL text verbatim" → quoted text, prices, errors, buttons.</a:t>
            </a:r>
            <a:endParaRPr lang="en-US" sz="550" dirty="0"/>
          </a:p>
        </p:txBody>
      </p:sp>
      <p:pic>
        <p:nvPicPr>
          <p:cNvPr id="41" name="Image 7" descr="preencoded.png"/>
          <p:cNvPicPr>
            <a:picLocks noChangeAspect="1"/>
          </p:cNvPicPr>
          <p:nvPr/>
        </p:nvPicPr>
        <p:blipFill>
          <a:blip r:embed="rId8"/>
          <a:stretch>
            <a:fillRect/>
          </a:stretch>
        </p:blipFill>
        <p:spPr>
          <a:xfrm>
            <a:off x="4572000" y="4051027"/>
            <a:ext cx="4075881" cy="283518"/>
          </a:xfrm>
          <a:prstGeom prst="rect">
            <a:avLst/>
          </a:prstGeom>
        </p:spPr>
      </p:pic>
      <p:sp>
        <p:nvSpPr>
          <p:cNvPr id="42" name="Text 32"/>
          <p:cNvSpPr/>
          <p:nvPr/>
        </p:nvSpPr>
        <p:spPr>
          <a:xfrm>
            <a:off x="4642842" y="4369966"/>
            <a:ext cx="1138758"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PASS 4 · MERGE (no image)</a:t>
            </a:r>
            <a:endParaRPr lang="en-US" sz="650" dirty="0"/>
          </a:p>
        </p:txBody>
      </p:sp>
      <p:sp>
        <p:nvSpPr>
          <p:cNvPr id="43" name="Text 33"/>
          <p:cNvSpPr/>
          <p:nvPr/>
        </p:nvSpPr>
        <p:spPr>
          <a:xfrm>
            <a:off x="4642842" y="4501902"/>
            <a:ext cx="3934197" cy="191319"/>
          </a:xfrm>
          <a:prstGeom prst="rect">
            <a:avLst/>
          </a:prstGeom>
          <a:noFill/>
          <a:ln/>
        </p:spPr>
        <p:txBody>
          <a:bodyPr wrap="square" lIns="0" tIns="0" rIns="0" bIns="0" rtlCol="0" anchor="t"/>
          <a:lstStyle/>
          <a:p>
            <a:pPr marL="0" indent="0" algn="l">
              <a:lnSpc>
                <a:spcPct val="100000"/>
              </a:lnSpc>
              <a:spcAft>
                <a:spcPts val="150"/>
              </a:spcAft>
              <a:buNone/>
            </a:pPr>
            <a:r>
              <a:rPr lang="en-US" sz="550" dirty="0">
                <a:solidFill>
                  <a:srgbClr val="15213F"/>
                </a:solidFill>
                <a:latin typeface="Roboto" pitchFamily="34" charset="0"/>
                <a:ea typeface="Roboto" pitchFamily="34" charset="-122"/>
                <a:cs typeface="Roboto" pitchFamily="34" charset="-120"/>
              </a:rPr>
              <a:t>text-only LLM call </a:t>
            </a:r>
            <a:r>
              <a:rPr lang="en-US" sz="550" dirty="0">
                <a:solidFill>
                  <a:srgbClr val="15213F"/>
                </a:solidFill>
                <a:latin typeface="Roboto" pitchFamily="34" charset="0"/>
                <a:ea typeface="Roboto" pitchFamily="34" charset="-122"/>
                <a:cs typeface="Roboto" pitchFamily="34" charset="-120"/>
                <a:sym typeface="Wingdings" pitchFamily="2" charset="2"/>
              </a:rPr>
              <a:t></a:t>
            </a:r>
            <a:endParaRPr lang="en-US" sz="550" dirty="0"/>
          </a:p>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Combine text observations into 2–4 sentences. Model </a:t>
            </a:r>
            <a:r>
              <a:rPr lang="en-US" sz="550" b="1" dirty="0">
                <a:solidFill>
                  <a:srgbClr val="15213F"/>
                </a:solidFill>
                <a:latin typeface="Roboto Bold" pitchFamily="34" charset="0"/>
                <a:ea typeface="Roboto Bold" pitchFamily="34" charset="-122"/>
                <a:cs typeface="Roboto Bold" pitchFamily="34" charset="-120"/>
              </a:rPr>
              <a:t>never sees image → cannot lie</a:t>
            </a:r>
            <a:r>
              <a:rPr lang="en-US" sz="550" dirty="0">
                <a:solidFill>
                  <a:srgbClr val="15213F"/>
                </a:solidFill>
                <a:latin typeface="Roboto" pitchFamily="34" charset="0"/>
                <a:ea typeface="Roboto" pitchFamily="34" charset="-122"/>
                <a:cs typeface="Roboto" pitchFamily="34" charset="-120"/>
              </a:rPr>
              <a:t>.</a:t>
            </a:r>
            <a:endParaRPr lang="en-US" sz="550" dirty="0"/>
          </a:p>
        </p:txBody>
      </p:sp>
      <p:sp>
        <p:nvSpPr>
          <p:cNvPr id="44" name="Shape 34"/>
          <p:cNvSpPr/>
          <p:nvPr/>
        </p:nvSpPr>
        <p:spPr>
          <a:xfrm>
            <a:off x="496119" y="4803874"/>
            <a:ext cx="8151763" cy="196155"/>
          </a:xfrm>
          <a:prstGeom prst="roundRect">
            <a:avLst>
              <a:gd name="adj" fmla="val 5421"/>
            </a:avLst>
          </a:prstGeom>
          <a:solidFill>
            <a:srgbClr val="D7DFF4"/>
          </a:solidFill>
          <a:ln/>
        </p:spPr>
        <p:txBody>
          <a:bodyPr/>
          <a:lstStyle/>
          <a:p>
            <a:endParaRPr lang="en-US"/>
          </a:p>
        </p:txBody>
      </p:sp>
      <p:pic>
        <p:nvPicPr>
          <p:cNvPr id="45" name="Image 8" descr="preencoded.png"/>
          <p:cNvPicPr>
            <a:picLocks noChangeAspect="1"/>
          </p:cNvPicPr>
          <p:nvPr/>
        </p:nvPicPr>
        <p:blipFill>
          <a:blip r:embed="rId9"/>
          <a:stretch>
            <a:fillRect/>
          </a:stretch>
        </p:blipFill>
        <p:spPr>
          <a:xfrm>
            <a:off x="566961" y="4892427"/>
            <a:ext cx="88553" cy="70842"/>
          </a:xfrm>
          <a:prstGeom prst="rect">
            <a:avLst/>
          </a:prstGeom>
        </p:spPr>
      </p:pic>
      <p:sp>
        <p:nvSpPr>
          <p:cNvPr id="46" name="Text 35"/>
          <p:cNvSpPr/>
          <p:nvPr/>
        </p:nvSpPr>
        <p:spPr>
          <a:xfrm>
            <a:off x="726356" y="4857006"/>
            <a:ext cx="8307884" cy="85055"/>
          </a:xfrm>
          <a:prstGeom prst="rect">
            <a:avLst/>
          </a:prstGeom>
          <a:noFill/>
          <a:ln/>
        </p:spPr>
        <p:txBody>
          <a:bodyPr wrap="none" lIns="0" tIns="0" rIns="0" bIns="0" rtlCol="0" anchor="t"/>
          <a:lstStyle/>
          <a:p>
            <a:pPr marL="0" indent="0" algn="l">
              <a:lnSpc>
                <a:spcPct val="100000"/>
              </a:lnSpc>
              <a:buNone/>
            </a:pPr>
            <a:r>
              <a:rPr lang="en-US" sz="550" b="1" dirty="0">
                <a:solidFill>
                  <a:srgbClr val="000000"/>
                </a:solidFill>
                <a:latin typeface="Roboto Bold" pitchFamily="34" charset="0"/>
                <a:ea typeface="Roboto Bold" pitchFamily="34" charset="-122"/>
                <a:cs typeface="Roboto Bold" pitchFamily="34" charset="-120"/>
              </a:rPr>
              <a:t>Anti-hallucination insight:</a:t>
            </a:r>
            <a:r>
              <a:rPr lang="en-US" sz="550" dirty="0">
                <a:solidFill>
                  <a:srgbClr val="000000"/>
                </a:solidFill>
                <a:latin typeface="Roboto" pitchFamily="34" charset="0"/>
                <a:ea typeface="Roboto" pitchFamily="34" charset="-122"/>
                <a:cs typeface="Roboto" pitchFamily="34" charset="-120"/>
              </a:rPr>
              <a:t> removing the image from the final generation step makes it </a:t>
            </a:r>
            <a:r>
              <a:rPr lang="en-US" sz="550" i="1" dirty="0">
                <a:solidFill>
                  <a:srgbClr val="000000"/>
                </a:solidFill>
                <a:latin typeface="Roboto" pitchFamily="34" charset="0"/>
                <a:ea typeface="Roboto" pitchFamily="34" charset="-122"/>
                <a:cs typeface="Roboto" pitchFamily="34" charset="-120"/>
              </a:rPr>
              <a:t>physically impossible</a:t>
            </a:r>
            <a:r>
              <a:rPr lang="en-US" sz="550" dirty="0">
                <a:solidFill>
                  <a:srgbClr val="000000"/>
                </a:solidFill>
                <a:latin typeface="Roboto" pitchFamily="34" charset="0"/>
                <a:ea typeface="Roboto" pitchFamily="34" charset="-122"/>
                <a:cs typeface="Roboto" pitchFamily="34" charset="-120"/>
              </a:rPr>
              <a:t> for the model to invent visual details — it can only work with text actually extracted in Pass 3.</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2985715"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Reddit Image Pipeline python + Gemma  </a:t>
            </a:r>
            <a:endParaRPr lang="en-US" sz="1350" dirty="0"/>
          </a:p>
        </p:txBody>
      </p:sp>
      <p:pic>
        <p:nvPicPr>
          <p:cNvPr id="3" name="Image 0" descr="preencoded.png"/>
          <p:cNvPicPr>
            <a:picLocks noChangeAspect="1"/>
          </p:cNvPicPr>
          <p:nvPr/>
        </p:nvPicPr>
        <p:blipFill>
          <a:blip r:embed="rId3"/>
          <a:stretch>
            <a:fillRect/>
          </a:stretch>
        </p:blipFill>
        <p:spPr>
          <a:xfrm>
            <a:off x="496119" y="682154"/>
            <a:ext cx="731520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45666"/>
            <a:ext cx="5194920" cy="325338"/>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Roboto Slab" pitchFamily="34" charset="0"/>
                <a:ea typeface="Roboto Slab" pitchFamily="34" charset="-122"/>
                <a:cs typeface="Roboto Slab" pitchFamily="34" charset="-120"/>
              </a:rPr>
              <a:t>Trust Score — 3-Layer Credibility Filter</a:t>
            </a:r>
            <a:endParaRPr lang="en-US" sz="2000" dirty="0"/>
          </a:p>
        </p:txBody>
      </p:sp>
      <p:sp>
        <p:nvSpPr>
          <p:cNvPr id="3" name="Text 1"/>
          <p:cNvSpPr/>
          <p:nvPr/>
        </p:nvSpPr>
        <p:spPr>
          <a:xfrm>
            <a:off x="496119" y="923851"/>
            <a:ext cx="8151763" cy="288875"/>
          </a:xfrm>
          <a:prstGeom prst="rect">
            <a:avLst/>
          </a:prstGeom>
          <a:noFill/>
          <a:ln/>
        </p:spPr>
        <p:txBody>
          <a:bodyPr wrap="square" lIns="0" tIns="0" rIns="0" bIns="0" rtlCol="0" anchor="t">
            <a:normAutofit/>
          </a:bodyPr>
          <a:lstStyle/>
          <a:p>
            <a:pPr>
              <a:lnSpc>
                <a:spcPct val="116000"/>
              </a:lnSpc>
            </a:pPr>
            <a:r>
              <a:rPr lang="en-US" sz="800" dirty="0">
                <a:solidFill>
                  <a:srgbClr val="15213F"/>
                </a:solidFill>
                <a:latin typeface="Roboto" pitchFamily="34" charset="0"/>
                <a:ea typeface="Roboto" pitchFamily="34" charset="-122"/>
                <a:cs typeface="Roboto" pitchFamily="34" charset="-120"/>
              </a:rPr>
              <a:t>Not all Reddit posts are equal. A 10-year-old post from a 50k-karma user in r/walmart carries more signal than a 2-day-old account with 1 comment in r/</a:t>
            </a:r>
            <a:r>
              <a:rPr lang="en-US" sz="800" dirty="0" err="1">
                <a:solidFill>
                  <a:srgbClr val="15213F"/>
                </a:solidFill>
                <a:latin typeface="Roboto" pitchFamily="34" charset="0"/>
                <a:ea typeface="Roboto" pitchFamily="34" charset="-122"/>
                <a:cs typeface="Roboto" pitchFamily="34" charset="-120"/>
              </a:rPr>
              <a:t>walmart</a:t>
            </a:r>
            <a:r>
              <a:rPr lang="en-US" sz="800" dirty="0">
                <a:solidFill>
                  <a:srgbClr val="15213F"/>
                </a:solidFill>
                <a:latin typeface="Roboto" pitchFamily="34" charset="0"/>
                <a:ea typeface="Roboto" pitchFamily="34" charset="-122"/>
                <a:cs typeface="Roboto" pitchFamily="34" charset="-120"/>
              </a:rPr>
              <a:t>. We need a </a:t>
            </a:r>
            <a:r>
              <a:rPr lang="en-US" sz="800" b="1" dirty="0">
                <a:solidFill>
                  <a:srgbClr val="15213F"/>
                </a:solidFill>
                <a:latin typeface="Roboto Bold" pitchFamily="34" charset="0"/>
                <a:ea typeface="Roboto Bold" pitchFamily="34" charset="-122"/>
                <a:cs typeface="Roboto Bold" pitchFamily="34" charset="-120"/>
              </a:rPr>
              <a:t>continuous trust score</a:t>
            </a:r>
            <a:r>
              <a:rPr lang="en-US" sz="800" dirty="0">
                <a:solidFill>
                  <a:srgbClr val="15213F"/>
                </a:solidFill>
                <a:latin typeface="Roboto" pitchFamily="34" charset="0"/>
                <a:ea typeface="Roboto" pitchFamily="34" charset="-122"/>
                <a:cs typeface="Roboto" pitchFamily="34" charset="-120"/>
              </a:rPr>
              <a:t> — not a binary filter — so downstream models and analysts can weight evidence appropriately.</a:t>
            </a:r>
            <a:endParaRPr lang="en-US" sz="800" dirty="0"/>
          </a:p>
        </p:txBody>
      </p:sp>
      <p:sp>
        <p:nvSpPr>
          <p:cNvPr id="4" name="Shape 2"/>
          <p:cNvSpPr/>
          <p:nvPr/>
        </p:nvSpPr>
        <p:spPr>
          <a:xfrm>
            <a:off x="496119" y="1298674"/>
            <a:ext cx="2666256" cy="1698203"/>
          </a:xfrm>
          <a:prstGeom prst="roundRect">
            <a:avLst>
              <a:gd name="adj" fmla="val 920"/>
            </a:avLst>
          </a:prstGeom>
          <a:solidFill>
            <a:srgbClr val="E9ECF2"/>
          </a:solidFill>
          <a:ln/>
        </p:spPr>
        <p:txBody>
          <a:bodyPr/>
          <a:lstStyle/>
          <a:p>
            <a:endParaRPr lang="en-US"/>
          </a:p>
        </p:txBody>
      </p:sp>
      <p:sp>
        <p:nvSpPr>
          <p:cNvPr id="5" name="Text 3"/>
          <p:cNvSpPr/>
          <p:nvPr/>
        </p:nvSpPr>
        <p:spPr>
          <a:xfrm>
            <a:off x="600224" y="1402779"/>
            <a:ext cx="1766888" cy="16266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Layer 1 · Metadata Heuristics</a:t>
            </a:r>
            <a:endParaRPr lang="en-US" sz="1000" dirty="0"/>
          </a:p>
        </p:txBody>
      </p:sp>
      <p:sp>
        <p:nvSpPr>
          <p:cNvPr id="6" name="Text 4"/>
          <p:cNvSpPr/>
          <p:nvPr/>
        </p:nvSpPr>
        <p:spPr>
          <a:xfrm>
            <a:off x="600224" y="1611288"/>
            <a:ext cx="2458045" cy="144438"/>
          </a:xfrm>
          <a:prstGeom prst="rect">
            <a:avLst/>
          </a:prstGeom>
          <a:noFill/>
          <a:ln/>
        </p:spPr>
        <p:txBody>
          <a:bodyPr wrap="none" lIns="0" tIns="0" rIns="0" bIns="0" rtlCol="0" anchor="t"/>
          <a:lstStyle/>
          <a:p>
            <a:pPr marL="0" indent="0" algn="l">
              <a:lnSpc>
                <a:spcPct val="116000"/>
              </a:lnSpc>
              <a:buNone/>
            </a:pPr>
            <a:r>
              <a:rPr lang="en-US" sz="800" dirty="0">
                <a:solidFill>
                  <a:srgbClr val="15213F"/>
                </a:solidFill>
                <a:latin typeface="Roboto" pitchFamily="34" charset="0"/>
                <a:ea typeface="Roboto" pitchFamily="34" charset="-122"/>
                <a:cs typeface="Roboto" pitchFamily="34" charset="-120"/>
              </a:rPr>
              <a:t>Fast · no LLM · 40% weight</a:t>
            </a:r>
            <a:endParaRPr lang="en-US" sz="800" dirty="0"/>
          </a:p>
        </p:txBody>
      </p:sp>
      <p:sp>
        <p:nvSpPr>
          <p:cNvPr id="7" name="Text 5"/>
          <p:cNvSpPr/>
          <p:nvPr/>
        </p:nvSpPr>
        <p:spPr>
          <a:xfrm>
            <a:off x="600224" y="1801564"/>
            <a:ext cx="2458045" cy="657895"/>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Account age (days since creation)</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Comment karma (engagement history)</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Post body length (effort signal)</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Upvote ratio &amp; comment count</a:t>
            </a:r>
            <a:endParaRPr lang="en-US" sz="800" dirty="0"/>
          </a:p>
        </p:txBody>
      </p:sp>
      <p:sp>
        <p:nvSpPr>
          <p:cNvPr id="8" name="Shape 6"/>
          <p:cNvSpPr/>
          <p:nvPr/>
        </p:nvSpPr>
        <p:spPr>
          <a:xfrm>
            <a:off x="3238798" y="1298674"/>
            <a:ext cx="2666330" cy="1698203"/>
          </a:xfrm>
          <a:prstGeom prst="roundRect">
            <a:avLst>
              <a:gd name="adj" fmla="val 920"/>
            </a:avLst>
          </a:prstGeom>
          <a:solidFill>
            <a:srgbClr val="E9ECF2"/>
          </a:solidFill>
          <a:ln/>
        </p:spPr>
        <p:txBody>
          <a:bodyPr/>
          <a:lstStyle/>
          <a:p>
            <a:endParaRPr lang="en-US"/>
          </a:p>
        </p:txBody>
      </p:sp>
      <p:sp>
        <p:nvSpPr>
          <p:cNvPr id="9" name="Text 7"/>
          <p:cNvSpPr/>
          <p:nvPr/>
        </p:nvSpPr>
        <p:spPr>
          <a:xfrm>
            <a:off x="3342903" y="1402779"/>
            <a:ext cx="1710184" cy="16266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Layer 2 · Dedup / Originality</a:t>
            </a:r>
            <a:endParaRPr lang="en-US" sz="1000" dirty="0"/>
          </a:p>
        </p:txBody>
      </p:sp>
      <p:sp>
        <p:nvSpPr>
          <p:cNvPr id="10" name="Text 8"/>
          <p:cNvSpPr/>
          <p:nvPr/>
        </p:nvSpPr>
        <p:spPr>
          <a:xfrm>
            <a:off x="3342903" y="1611288"/>
            <a:ext cx="2458120" cy="144438"/>
          </a:xfrm>
          <a:prstGeom prst="rect">
            <a:avLst/>
          </a:prstGeom>
          <a:noFill/>
          <a:ln/>
        </p:spPr>
        <p:txBody>
          <a:bodyPr wrap="none" lIns="0" tIns="0" rIns="0" bIns="0" rtlCol="0" anchor="t"/>
          <a:lstStyle/>
          <a:p>
            <a:pPr marL="0" indent="0" algn="l">
              <a:lnSpc>
                <a:spcPct val="116000"/>
              </a:lnSpc>
              <a:buNone/>
            </a:pPr>
            <a:r>
              <a:rPr lang="en-US" sz="800" dirty="0">
                <a:solidFill>
                  <a:srgbClr val="15213F"/>
                </a:solidFill>
                <a:latin typeface="Roboto" pitchFamily="34" charset="0"/>
                <a:ea typeface="Roboto" pitchFamily="34" charset="-122"/>
                <a:cs typeface="Roboto" pitchFamily="34" charset="-120"/>
              </a:rPr>
              <a:t>MD5 hash · frequency-based · 30% weight</a:t>
            </a:r>
            <a:endParaRPr lang="en-US" sz="800" dirty="0"/>
          </a:p>
        </p:txBody>
      </p:sp>
      <p:sp>
        <p:nvSpPr>
          <p:cNvPr id="11" name="Text 9"/>
          <p:cNvSpPr/>
          <p:nvPr/>
        </p:nvSpPr>
        <p:spPr>
          <a:xfrm>
            <a:off x="3342903" y="1801564"/>
            <a:ext cx="2458120" cy="775618"/>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MD5 of normalized text (lowercase, strip punctuation, collapse whitespace)</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Count occurrences across 25 subs in rolling 7-day window</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Score = 1.0 / count (unique = 1.0, seen 4× = 0.25)</a:t>
            </a:r>
            <a:endParaRPr lang="en-US" sz="800" dirty="0"/>
          </a:p>
        </p:txBody>
      </p:sp>
      <p:sp>
        <p:nvSpPr>
          <p:cNvPr id="12" name="Shape 10"/>
          <p:cNvSpPr/>
          <p:nvPr/>
        </p:nvSpPr>
        <p:spPr>
          <a:xfrm>
            <a:off x="5981551" y="1298674"/>
            <a:ext cx="2666256" cy="1698203"/>
          </a:xfrm>
          <a:prstGeom prst="roundRect">
            <a:avLst>
              <a:gd name="adj" fmla="val 920"/>
            </a:avLst>
          </a:prstGeom>
          <a:solidFill>
            <a:srgbClr val="E9ECF2"/>
          </a:solidFill>
          <a:ln/>
        </p:spPr>
        <p:txBody>
          <a:bodyPr/>
          <a:lstStyle/>
          <a:p>
            <a:endParaRPr lang="en-US"/>
          </a:p>
        </p:txBody>
      </p:sp>
      <p:sp>
        <p:nvSpPr>
          <p:cNvPr id="13" name="Text 11"/>
          <p:cNvSpPr/>
          <p:nvPr/>
        </p:nvSpPr>
        <p:spPr>
          <a:xfrm>
            <a:off x="6085656" y="1402779"/>
            <a:ext cx="1915344" cy="16266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Layer 3 · LLM Credibility Check</a:t>
            </a:r>
            <a:endParaRPr lang="en-US" sz="1000" dirty="0"/>
          </a:p>
        </p:txBody>
      </p:sp>
      <p:sp>
        <p:nvSpPr>
          <p:cNvPr id="14" name="Text 12"/>
          <p:cNvSpPr/>
          <p:nvPr/>
        </p:nvSpPr>
        <p:spPr>
          <a:xfrm>
            <a:off x="6085656" y="1611288"/>
            <a:ext cx="2458045" cy="144438"/>
          </a:xfrm>
          <a:prstGeom prst="rect">
            <a:avLst/>
          </a:prstGeom>
          <a:noFill/>
          <a:ln/>
        </p:spPr>
        <p:txBody>
          <a:bodyPr wrap="none" lIns="0" tIns="0" rIns="0" bIns="0" rtlCol="0" anchor="t"/>
          <a:lstStyle/>
          <a:p>
            <a:pPr marL="0" indent="0" algn="l">
              <a:lnSpc>
                <a:spcPct val="116000"/>
              </a:lnSpc>
              <a:buNone/>
            </a:pPr>
            <a:r>
              <a:rPr lang="en-US" sz="800" dirty="0">
                <a:solidFill>
                  <a:srgbClr val="15213F"/>
                </a:solidFill>
                <a:latin typeface="Roboto" pitchFamily="34" charset="0"/>
                <a:ea typeface="Roboto" pitchFamily="34" charset="-122"/>
                <a:cs typeface="Roboto" pitchFamily="34" charset="-120"/>
              </a:rPr>
              <a:t>Gemma 3 4B · gated · 30% weight</a:t>
            </a:r>
            <a:endParaRPr lang="en-US" sz="800" dirty="0"/>
          </a:p>
        </p:txBody>
      </p:sp>
      <p:sp>
        <p:nvSpPr>
          <p:cNvPr id="15" name="Text 13"/>
          <p:cNvSpPr/>
          <p:nvPr/>
        </p:nvSpPr>
        <p:spPr>
          <a:xfrm>
            <a:off x="6085656" y="1801564"/>
            <a:ext cx="2458045" cy="1091208"/>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Only runs if 0.3 &lt; meta_score &lt; 0.8 (uncertain zone)</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Prompt: "Is this post credible? Consider specificity, emotional tone, factual claims."</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Returns float 0.0–1.0</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Skip if metadata already clear (saves ~4–6 s per post)</a:t>
            </a:r>
            <a:endParaRPr lang="en-US" sz="800" dirty="0"/>
          </a:p>
        </p:txBody>
      </p:sp>
      <p:sp>
        <p:nvSpPr>
          <p:cNvPr id="16" name="Text 14"/>
          <p:cNvSpPr/>
          <p:nvPr/>
        </p:nvSpPr>
        <p:spPr>
          <a:xfrm>
            <a:off x="496119" y="3111550"/>
            <a:ext cx="2018854" cy="195188"/>
          </a:xfrm>
          <a:prstGeom prst="rect">
            <a:avLst/>
          </a:prstGeom>
          <a:noFill/>
          <a:ln/>
        </p:spPr>
        <p:txBody>
          <a:bodyPr wrap="none" lIns="0" tIns="0" rIns="0" bIns="0" rtlCol="0" anchor="t"/>
          <a:lstStyle/>
          <a:p>
            <a:pPr marL="0" indent="0" algn="l">
              <a:lnSpc>
                <a:spcPct val="104000"/>
              </a:lnSpc>
              <a:buNone/>
            </a:pPr>
            <a:r>
              <a:rPr lang="en-US" sz="1200" dirty="0">
                <a:solidFill>
                  <a:srgbClr val="3257B8"/>
                </a:solidFill>
                <a:latin typeface="Roboto Slab" pitchFamily="34" charset="0"/>
                <a:ea typeface="Roboto Slab" pitchFamily="34" charset="-122"/>
                <a:cs typeface="Roboto Slab" pitchFamily="34" charset="-120"/>
              </a:rPr>
              <a:t>Final Score Formula</a:t>
            </a:r>
            <a:endParaRPr lang="en-US" sz="1200" dirty="0"/>
          </a:p>
        </p:txBody>
      </p:sp>
      <p:sp>
        <p:nvSpPr>
          <p:cNvPr id="17" name="Text 15"/>
          <p:cNvSpPr/>
          <p:nvPr/>
        </p:nvSpPr>
        <p:spPr>
          <a:xfrm>
            <a:off x="496119" y="3421410"/>
            <a:ext cx="8608963" cy="169962"/>
          </a:xfrm>
          <a:prstGeom prst="rect">
            <a:avLst/>
          </a:prstGeom>
          <a:noFill/>
          <a:ln/>
        </p:spPr>
        <p:txBody>
          <a:bodyPr wrap="none" lIns="0" tIns="0" rIns="0" bIns="0" rtlCol="0" anchor="t"/>
          <a:lstStyle/>
          <a:p>
            <a:pPr marL="0" indent="0" algn="l">
              <a:lnSpc>
                <a:spcPct val="116000"/>
              </a:lnSpc>
              <a:buNone/>
            </a:pPr>
            <a:endParaRPr lang="en-US" sz="900" dirty="0"/>
          </a:p>
        </p:txBody>
      </p:sp>
      <p:pic>
        <p:nvPicPr>
          <p:cNvPr id="18" name="Image 0" descr="preencoded.png"/>
          <p:cNvPicPr>
            <a:picLocks noChangeAspect="1"/>
          </p:cNvPicPr>
          <p:nvPr/>
        </p:nvPicPr>
        <p:blipFill>
          <a:blip r:embed="rId3"/>
          <a:stretch>
            <a:fillRect/>
          </a:stretch>
        </p:blipFill>
        <p:spPr>
          <a:xfrm>
            <a:off x="496119" y="3421410"/>
            <a:ext cx="8151763" cy="169962"/>
          </a:xfrm>
          <a:prstGeom prst="rect">
            <a:avLst/>
          </a:prstGeom>
        </p:spPr>
      </p:pic>
      <p:sp>
        <p:nvSpPr>
          <p:cNvPr id="19" name="Shape 16"/>
          <p:cNvSpPr/>
          <p:nvPr/>
        </p:nvSpPr>
        <p:spPr>
          <a:xfrm>
            <a:off x="421184" y="3688110"/>
            <a:ext cx="4098801" cy="1009650"/>
          </a:xfrm>
          <a:prstGeom prst="roundRect">
            <a:avLst>
              <a:gd name="adj" fmla="val 1547"/>
            </a:avLst>
          </a:prstGeom>
          <a:solidFill>
            <a:srgbClr val="3257B8"/>
          </a:solidFill>
          <a:ln/>
        </p:spPr>
        <p:txBody>
          <a:bodyPr/>
          <a:lstStyle/>
          <a:p>
            <a:endParaRPr lang="en-US"/>
          </a:p>
        </p:txBody>
      </p:sp>
      <p:sp>
        <p:nvSpPr>
          <p:cNvPr id="20" name="Text 17"/>
          <p:cNvSpPr/>
          <p:nvPr/>
        </p:nvSpPr>
        <p:spPr>
          <a:xfrm>
            <a:off x="525289" y="3764533"/>
            <a:ext cx="2773263" cy="172194"/>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Roboto Slab" pitchFamily="34" charset="0"/>
                <a:ea typeface="Roboto Slab" pitchFamily="34" charset="-122"/>
                <a:cs typeface="Roboto Slab" pitchFamily="34" charset="-120"/>
              </a:rPr>
              <a:t>📊</a:t>
            </a:r>
            <a:r>
              <a:rPr lang="en-US" sz="1000" dirty="0">
                <a:solidFill>
                  <a:srgbClr val="FFFFFF"/>
                </a:solidFill>
                <a:latin typeface="Roboto Slab" pitchFamily="34" charset="0"/>
                <a:ea typeface="Roboto Slab" pitchFamily="34" charset="-122"/>
                <a:cs typeface="Roboto Slab" pitchFamily="34" charset="-120"/>
              </a:rPr>
              <a:t> Distribution (200-post benchmark)</a:t>
            </a:r>
            <a:endParaRPr lang="en-US" sz="1000" dirty="0"/>
          </a:p>
        </p:txBody>
      </p:sp>
      <p:sp>
        <p:nvSpPr>
          <p:cNvPr id="21" name="Text 18"/>
          <p:cNvSpPr/>
          <p:nvPr/>
        </p:nvSpPr>
        <p:spPr>
          <a:xfrm>
            <a:off x="525289" y="4013150"/>
            <a:ext cx="3890590" cy="486742"/>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FFFFFF"/>
                </a:solidFill>
                <a:latin typeface="Roboto" pitchFamily="34" charset="0"/>
                <a:ea typeface="Roboto" pitchFamily="34" charset="-122"/>
                <a:cs typeface="Roboto" pitchFamily="34" charset="-120"/>
              </a:rPr>
              <a:t>Mean: </a:t>
            </a:r>
            <a:r>
              <a:rPr lang="en-US" sz="800" b="1" dirty="0">
                <a:solidFill>
                  <a:srgbClr val="FFFFFF"/>
                </a:solidFill>
                <a:latin typeface="Roboto Bold" pitchFamily="34" charset="0"/>
                <a:ea typeface="Roboto Bold" pitchFamily="34" charset="-122"/>
                <a:cs typeface="Roboto Bold" pitchFamily="34" charset="-120"/>
              </a:rPr>
              <a:t>0.61</a:t>
            </a:r>
            <a:endParaRPr lang="en-US" sz="800" dirty="0"/>
          </a:p>
          <a:p>
            <a:pPr marL="162560" indent="-162560" algn="l">
              <a:lnSpc>
                <a:spcPct val="116000"/>
              </a:lnSpc>
              <a:buSzPct val="100000"/>
              <a:buChar char="•"/>
            </a:pPr>
            <a:r>
              <a:rPr lang="en-US" sz="800" dirty="0">
                <a:solidFill>
                  <a:srgbClr val="FFFFFF"/>
                </a:solidFill>
                <a:latin typeface="Roboto" pitchFamily="34" charset="0"/>
                <a:ea typeface="Roboto" pitchFamily="34" charset="-122"/>
                <a:cs typeface="Roboto" pitchFamily="34" charset="-120"/>
              </a:rPr>
              <a:t>Std: </a:t>
            </a:r>
            <a:r>
              <a:rPr lang="en-US" sz="800" b="1" dirty="0">
                <a:solidFill>
                  <a:srgbClr val="FFFFFF"/>
                </a:solidFill>
                <a:latin typeface="Roboto Bold" pitchFamily="34" charset="0"/>
                <a:ea typeface="Roboto Bold" pitchFamily="34" charset="-122"/>
                <a:cs typeface="Roboto Bold" pitchFamily="34" charset="-120"/>
              </a:rPr>
              <a:t>0.18</a:t>
            </a:r>
            <a:endParaRPr lang="en-US" sz="800" dirty="0"/>
          </a:p>
          <a:p>
            <a:pPr marL="162560" indent="-162560" algn="l">
              <a:lnSpc>
                <a:spcPct val="116000"/>
              </a:lnSpc>
              <a:buSzPct val="100000"/>
              <a:buChar char="•"/>
            </a:pPr>
            <a:r>
              <a:rPr lang="en-US" sz="800" dirty="0">
                <a:solidFill>
                  <a:srgbClr val="FFFFFF"/>
                </a:solidFill>
                <a:latin typeface="Roboto" pitchFamily="34" charset="0"/>
                <a:ea typeface="Roboto" pitchFamily="34" charset="-122"/>
                <a:cs typeface="Roboto" pitchFamily="34" charset="-120"/>
              </a:rPr>
              <a:t>Skew: </a:t>
            </a:r>
            <a:r>
              <a:rPr lang="en-US" sz="800" b="1" dirty="0">
                <a:solidFill>
                  <a:srgbClr val="FFFFFF"/>
                </a:solidFill>
                <a:latin typeface="Roboto Bold" pitchFamily="34" charset="0"/>
                <a:ea typeface="Roboto Bold" pitchFamily="34" charset="-122"/>
                <a:cs typeface="Roboto Bold" pitchFamily="34" charset="-120"/>
              </a:rPr>
              <a:t>−0.3</a:t>
            </a:r>
            <a:r>
              <a:rPr lang="en-US" sz="800" dirty="0">
                <a:solidFill>
                  <a:srgbClr val="FFFFFF"/>
                </a:solidFill>
                <a:latin typeface="Roboto" pitchFamily="34" charset="0"/>
                <a:ea typeface="Roboto" pitchFamily="34" charset="-122"/>
                <a:cs typeface="Roboto" pitchFamily="34" charset="-120"/>
              </a:rPr>
              <a:t> (slight low-trust tail)</a:t>
            </a:r>
            <a:endParaRPr lang="en-US" sz="800" dirty="0"/>
          </a:p>
        </p:txBody>
      </p:sp>
      <p:sp>
        <p:nvSpPr>
          <p:cNvPr id="22" name="Text 19"/>
          <p:cNvSpPr/>
          <p:nvPr/>
        </p:nvSpPr>
        <p:spPr>
          <a:xfrm>
            <a:off x="4703713" y="3764533"/>
            <a:ext cx="1758553" cy="172194"/>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Roboto Slab" pitchFamily="34" charset="0"/>
                <a:ea typeface="Roboto Slab" pitchFamily="34" charset="-122"/>
                <a:cs typeface="Roboto Slab" pitchFamily="34" charset="-120"/>
              </a:rPr>
              <a:t>🎯</a:t>
            </a:r>
            <a:r>
              <a:rPr lang="en-US" sz="1000" dirty="0">
                <a:solidFill>
                  <a:srgbClr val="3257B8"/>
                </a:solidFill>
                <a:latin typeface="Roboto Slab" pitchFamily="34" charset="0"/>
                <a:ea typeface="Roboto Slab" pitchFamily="34" charset="-122"/>
                <a:cs typeface="Roboto Slab" pitchFamily="34" charset="-120"/>
              </a:rPr>
              <a:t> Why it matters</a:t>
            </a:r>
            <a:endParaRPr lang="en-US" sz="1000" dirty="0"/>
          </a:p>
        </p:txBody>
      </p:sp>
      <p:sp>
        <p:nvSpPr>
          <p:cNvPr id="23" name="Text 20"/>
          <p:cNvSpPr/>
          <p:nvPr/>
        </p:nvSpPr>
        <p:spPr>
          <a:xfrm>
            <a:off x="4703713" y="4013150"/>
            <a:ext cx="3948931" cy="657895"/>
          </a:xfrm>
          <a:prstGeom prst="rect">
            <a:avLst/>
          </a:prstGeom>
          <a:noFill/>
          <a:ln/>
        </p:spPr>
        <p:txBody>
          <a:bodyPr wrap="square" lIns="0" tIns="0" rIns="0" bIns="0" rtlCol="0" anchor="t">
            <a:normAutofit/>
          </a:bodyPr>
          <a:lstStyle/>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Low-trust posts → down-weighted in aggregates</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High-trust + negative sentiment → P1 alert candidate</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Analyst UI shows trust badge (</a:t>
            </a:r>
            <a:r>
              <a:rPr lang="en-US" sz="800" dirty="0">
                <a:solidFill>
                  <a:srgbClr val="000000"/>
                </a:solidFill>
                <a:latin typeface="Roboto" pitchFamily="34" charset="0"/>
                <a:ea typeface="Roboto" pitchFamily="34" charset="-122"/>
                <a:cs typeface="Roboto" pitchFamily="34" charset="-120"/>
              </a:rPr>
              <a:t>🟢</a:t>
            </a:r>
            <a:r>
              <a:rPr lang="en-US" sz="800" dirty="0">
                <a:solidFill>
                  <a:srgbClr val="15213F"/>
                </a:solidFill>
                <a:latin typeface="Roboto" pitchFamily="34" charset="0"/>
                <a:ea typeface="Roboto" pitchFamily="34" charset="-122"/>
                <a:cs typeface="Roboto" pitchFamily="34" charset="-120"/>
              </a:rPr>
              <a:t> / </a:t>
            </a:r>
            <a:r>
              <a:rPr lang="en-US" sz="800" dirty="0">
                <a:solidFill>
                  <a:srgbClr val="000000"/>
                </a:solidFill>
                <a:latin typeface="Roboto" pitchFamily="34" charset="0"/>
                <a:ea typeface="Roboto" pitchFamily="34" charset="-122"/>
                <a:cs typeface="Roboto" pitchFamily="34" charset="-120"/>
              </a:rPr>
              <a:t>🟡</a:t>
            </a:r>
            <a:r>
              <a:rPr lang="en-US" sz="800" dirty="0">
                <a:solidFill>
                  <a:srgbClr val="15213F"/>
                </a:solidFill>
                <a:latin typeface="Roboto" pitchFamily="34" charset="0"/>
                <a:ea typeface="Roboto" pitchFamily="34" charset="-122"/>
                <a:cs typeface="Roboto" pitchFamily="34" charset="-120"/>
              </a:rPr>
              <a:t> / </a:t>
            </a:r>
            <a:r>
              <a:rPr lang="en-US" sz="800" dirty="0">
                <a:solidFill>
                  <a:srgbClr val="000000"/>
                </a:solidFill>
                <a:latin typeface="Roboto" pitchFamily="34" charset="0"/>
                <a:ea typeface="Roboto" pitchFamily="34" charset="-122"/>
                <a:cs typeface="Roboto" pitchFamily="34" charset="-120"/>
              </a:rPr>
              <a:t>🔴</a:t>
            </a:r>
            <a:r>
              <a:rPr lang="en-US" sz="800" dirty="0">
                <a:solidFill>
                  <a:srgbClr val="15213F"/>
                </a:solidFill>
                <a:latin typeface="Roboto" pitchFamily="34" charset="0"/>
                <a:ea typeface="Roboto" pitchFamily="34" charset="-122"/>
                <a:cs typeface="Roboto" pitchFamily="34" charset="-120"/>
              </a:rPr>
              <a:t>)</a:t>
            </a:r>
            <a:endParaRPr lang="en-US" sz="800" dirty="0"/>
          </a:p>
          <a:p>
            <a:pPr marL="162560" indent="-162560" algn="l">
              <a:lnSpc>
                <a:spcPct val="116000"/>
              </a:lnSpc>
              <a:buSzPct val="100000"/>
              <a:buChar char="•"/>
            </a:pPr>
            <a:r>
              <a:rPr lang="en-US" sz="800" dirty="0">
                <a:solidFill>
                  <a:srgbClr val="15213F"/>
                </a:solidFill>
                <a:latin typeface="Roboto" pitchFamily="34" charset="0"/>
                <a:ea typeface="Roboto" pitchFamily="34" charset="-122"/>
                <a:cs typeface="Roboto" pitchFamily="34" charset="-120"/>
              </a:rPr>
              <a:t>Feedback loop: analyst corrections → future LLM prompt tuning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49399"/>
            <a:ext cx="8590062" cy="327050"/>
          </a:xfrm>
          <a:prstGeom prst="rect">
            <a:avLst/>
          </a:prstGeom>
          <a:noFill/>
          <a:ln/>
        </p:spPr>
        <p:txBody>
          <a:bodyPr wrap="none" lIns="0" tIns="0" rIns="0" bIns="0" rtlCol="0" anchor="t"/>
          <a:lstStyle/>
          <a:p>
            <a:pPr marL="0" indent="0" algn="l">
              <a:lnSpc>
                <a:spcPct val="104000"/>
              </a:lnSpc>
              <a:buNone/>
            </a:pPr>
            <a:r>
              <a:rPr lang="en-US" sz="2050" dirty="0">
                <a:solidFill>
                  <a:srgbClr val="3257B8"/>
                </a:solidFill>
                <a:latin typeface="Roboto Slab" pitchFamily="34" charset="0"/>
                <a:ea typeface="Roboto Slab" pitchFamily="34" charset="-122"/>
                <a:cs typeface="Roboto Slab" pitchFamily="34" charset="-120"/>
              </a:rPr>
              <a:t>ModernBERT-Based Sentiment Analysis for Walmart Reddit Posts</a:t>
            </a:r>
            <a:endParaRPr lang="en-US" sz="2050" dirty="0"/>
          </a:p>
        </p:txBody>
      </p:sp>
      <p:sp>
        <p:nvSpPr>
          <p:cNvPr id="3" name="Text 1"/>
          <p:cNvSpPr/>
          <p:nvPr/>
        </p:nvSpPr>
        <p:spPr>
          <a:xfrm>
            <a:off x="496119" y="911721"/>
            <a:ext cx="2691929" cy="2711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Roboto Slab" pitchFamily="34" charset="0"/>
                <a:ea typeface="Roboto Slab" pitchFamily="34" charset="-122"/>
                <a:cs typeface="Roboto Slab" pitchFamily="34" charset="-120"/>
              </a:rPr>
              <a:t>🎯</a:t>
            </a:r>
            <a:r>
              <a:rPr lang="en-US" sz="1600" dirty="0">
                <a:solidFill>
                  <a:srgbClr val="3257B8"/>
                </a:solidFill>
                <a:latin typeface="Roboto Slab" pitchFamily="34" charset="0"/>
                <a:ea typeface="Roboto Slab" pitchFamily="34" charset="-122"/>
                <a:cs typeface="Roboto Slab" pitchFamily="34" charset="-120"/>
              </a:rPr>
              <a:t> Business Challenge</a:t>
            </a:r>
            <a:endParaRPr lang="en-US" sz="1600" dirty="0"/>
          </a:p>
        </p:txBody>
      </p:sp>
      <p:sp>
        <p:nvSpPr>
          <p:cNvPr id="4" name="Text 2"/>
          <p:cNvSpPr/>
          <p:nvPr/>
        </p:nvSpPr>
        <p:spPr>
          <a:xfrm>
            <a:off x="496119" y="1315343"/>
            <a:ext cx="8151763" cy="494109"/>
          </a:xfrm>
          <a:prstGeom prst="rect">
            <a:avLst/>
          </a:prstGeom>
          <a:noFill/>
          <a:ln/>
        </p:spPr>
        <p:txBody>
          <a:bodyPr wrap="square" lIns="0" tIns="0" rIns="0" bIns="0" rtlCol="0" anchor="t">
            <a:normAutofit/>
          </a:bodyPr>
          <a:lstStyle/>
          <a:p>
            <a:pPr marL="162560" indent="-162560" algn="l">
              <a:lnSpc>
                <a:spcPct val="123000"/>
              </a:lnSpc>
              <a:buSzPct val="100000"/>
              <a:buChar char="•"/>
            </a:pPr>
            <a:r>
              <a:rPr lang="en-US" sz="800" b="1" dirty="0">
                <a:solidFill>
                  <a:srgbClr val="15213F"/>
                </a:solidFill>
                <a:latin typeface="Roboto Bold" pitchFamily="34" charset="0"/>
                <a:ea typeface="Roboto Bold" pitchFamily="34" charset="-122"/>
                <a:cs typeface="Roboto Bold" pitchFamily="34" charset="-120"/>
              </a:rPr>
              <a:t>Retail domain vocabulary gap:</a:t>
            </a:r>
            <a:r>
              <a:rPr lang="en-US" sz="800" dirty="0">
                <a:solidFill>
                  <a:srgbClr val="15213F"/>
                </a:solidFill>
                <a:latin typeface="Roboto" pitchFamily="34" charset="0"/>
                <a:ea typeface="Roboto" pitchFamily="34" charset="-122"/>
                <a:cs typeface="Roboto" pitchFamily="34" charset="-120"/>
              </a:rPr>
              <a:t> Generic models miss Walmart-specific terms like Cap-2, OGP, Pickup Associate, Coach, Store IDs, and Scan-and-Go, often misclassifying real complaints as Neutral.</a:t>
            </a:r>
            <a:endParaRPr lang="en-US" sz="800" dirty="0"/>
          </a:p>
          <a:p>
            <a:pPr marL="162560" indent="-162560" algn="l">
              <a:lnSpc>
                <a:spcPct val="123000"/>
              </a:lnSpc>
              <a:buSzPct val="100000"/>
              <a:buChar char="•"/>
            </a:pPr>
            <a:r>
              <a:rPr lang="en-US" sz="800" b="1" dirty="0">
                <a:solidFill>
                  <a:srgbClr val="15213F"/>
                </a:solidFill>
                <a:latin typeface="Roboto Bold" pitchFamily="34" charset="0"/>
                <a:ea typeface="Roboto Bold" pitchFamily="34" charset="-122"/>
                <a:cs typeface="Roboto Bold" pitchFamily="34" charset="-120"/>
              </a:rPr>
              <a:t>Context-length limitation:</a:t>
            </a:r>
            <a:r>
              <a:rPr lang="en-US" sz="800" dirty="0">
                <a:solidFill>
                  <a:srgbClr val="15213F"/>
                </a:solidFill>
                <a:latin typeface="Roboto" pitchFamily="34" charset="0"/>
                <a:ea typeface="Roboto" pitchFamily="34" charset="-122"/>
                <a:cs typeface="Roboto" pitchFamily="34" charset="-120"/>
              </a:rPr>
              <a:t> BERT/RoBERTa models are limited to 512 tokens, so long Reddit threads and screenshot text get truncated and lose key sentiment signals.</a:t>
            </a:r>
            <a:endParaRPr lang="en-US" sz="800" dirty="0"/>
          </a:p>
        </p:txBody>
      </p:sp>
      <p:sp>
        <p:nvSpPr>
          <p:cNvPr id="5" name="Shape 3"/>
          <p:cNvSpPr/>
          <p:nvPr/>
        </p:nvSpPr>
        <p:spPr>
          <a:xfrm>
            <a:off x="496119" y="1908795"/>
            <a:ext cx="8151763" cy="374377"/>
          </a:xfrm>
          <a:prstGeom prst="roundRect">
            <a:avLst>
              <a:gd name="adj" fmla="val 4194"/>
            </a:avLst>
          </a:prstGeom>
          <a:solidFill>
            <a:srgbClr val="D7DFF4"/>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00745" y="2052712"/>
            <a:ext cx="130820" cy="104626"/>
          </a:xfrm>
          <a:prstGeom prst="rect">
            <a:avLst/>
          </a:prstGeom>
        </p:spPr>
      </p:pic>
      <p:sp>
        <p:nvSpPr>
          <p:cNvPr id="7" name="Text 4"/>
          <p:cNvSpPr/>
          <p:nvPr/>
        </p:nvSpPr>
        <p:spPr>
          <a:xfrm>
            <a:off x="836191" y="2023170"/>
            <a:ext cx="8164264" cy="154409"/>
          </a:xfrm>
          <a:prstGeom prst="rect">
            <a:avLst/>
          </a:prstGeom>
          <a:noFill/>
          <a:ln/>
        </p:spPr>
        <p:txBody>
          <a:bodyPr wrap="none" lIns="0" tIns="0" rIns="0" bIns="0" rtlCol="0" anchor="t"/>
          <a:lstStyle/>
          <a:p>
            <a:pPr marL="0" indent="0" algn="l">
              <a:lnSpc>
                <a:spcPct val="123000"/>
              </a:lnSpc>
              <a:buNone/>
            </a:pPr>
            <a:r>
              <a:rPr lang="en-US" sz="800" dirty="0">
                <a:solidFill>
                  <a:srgbClr val="000000"/>
                </a:solidFill>
                <a:latin typeface="Roboto" pitchFamily="34" charset="0"/>
                <a:ea typeface="Roboto" pitchFamily="34" charset="-122"/>
                <a:cs typeface="Roboto" pitchFamily="34" charset="-120"/>
              </a:rPr>
              <a:t>➡️ </a:t>
            </a:r>
            <a:r>
              <a:rPr lang="en-US" sz="800" b="1" dirty="0">
                <a:solidFill>
                  <a:srgbClr val="000000"/>
                </a:solidFill>
                <a:latin typeface="Roboto Bold" pitchFamily="34" charset="0"/>
                <a:ea typeface="Roboto Bold" pitchFamily="34" charset="-122"/>
                <a:cs typeface="Roboto Bold" pitchFamily="34" charset="-120"/>
              </a:rPr>
              <a:t>Solution:</a:t>
            </a:r>
            <a:r>
              <a:rPr lang="en-US" sz="800" dirty="0">
                <a:solidFill>
                  <a:srgbClr val="000000"/>
                </a:solidFill>
                <a:latin typeface="Roboto" pitchFamily="34" charset="0"/>
                <a:ea typeface="Roboto" pitchFamily="34" charset="-122"/>
                <a:cs typeface="Roboto" pitchFamily="34" charset="-120"/>
              </a:rPr>
              <a:t> Fine-tune ModernBERT-base into a 3-class sentiment classifier (Negative / Neutral / Positive) for Walmart Reddit content.</a:t>
            </a:r>
            <a:endParaRPr lang="en-US" sz="800" dirty="0"/>
          </a:p>
        </p:txBody>
      </p:sp>
      <p:sp>
        <p:nvSpPr>
          <p:cNvPr id="8" name="Text 5"/>
          <p:cNvSpPr/>
          <p:nvPr/>
        </p:nvSpPr>
        <p:spPr>
          <a:xfrm>
            <a:off x="496119" y="2415629"/>
            <a:ext cx="2550468" cy="261640"/>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Roboto Slab" pitchFamily="34" charset="0"/>
                <a:ea typeface="Roboto Slab" pitchFamily="34" charset="-122"/>
                <a:cs typeface="Roboto Slab" pitchFamily="34" charset="-120"/>
              </a:rPr>
              <a:t>Why ModernBERT?</a:t>
            </a:r>
            <a:endParaRPr lang="en-US" sz="1600" dirty="0"/>
          </a:p>
        </p:txBody>
      </p:sp>
      <p:sp>
        <p:nvSpPr>
          <p:cNvPr id="9" name="Shape 6"/>
          <p:cNvSpPr/>
          <p:nvPr/>
        </p:nvSpPr>
        <p:spPr>
          <a:xfrm>
            <a:off x="496119" y="2809726"/>
            <a:ext cx="8151763" cy="1103412"/>
          </a:xfrm>
          <a:prstGeom prst="roundRect">
            <a:avLst>
              <a:gd name="adj" fmla="val 1423"/>
            </a:avLst>
          </a:prstGeom>
          <a:noFill/>
          <a:ln w="4763">
            <a:solidFill>
              <a:srgbClr val="000000">
                <a:alpha val="8000"/>
              </a:srgbClr>
            </a:solidFill>
            <a:prstDash val="solid"/>
          </a:ln>
        </p:spPr>
        <p:txBody>
          <a:bodyPr/>
          <a:lstStyle/>
          <a:p>
            <a:endParaRPr lang="en-US"/>
          </a:p>
        </p:txBody>
      </p:sp>
      <p:sp>
        <p:nvSpPr>
          <p:cNvPr id="10" name="Text 7"/>
          <p:cNvSpPr/>
          <p:nvPr/>
        </p:nvSpPr>
        <p:spPr>
          <a:xfrm>
            <a:off x="605656" y="2872234"/>
            <a:ext cx="3013918" cy="154409"/>
          </a:xfrm>
          <a:prstGeom prst="rect">
            <a:avLst/>
          </a:prstGeom>
          <a:noFill/>
          <a:ln/>
        </p:spPr>
        <p:txBody>
          <a:bodyPr wrap="none" lIns="0" tIns="0" rIns="0" bIns="0" rtlCol="0" anchor="t"/>
          <a:lstStyle/>
          <a:p>
            <a:pPr marL="0" indent="0" algn="l">
              <a:lnSpc>
                <a:spcPct val="123000"/>
              </a:lnSpc>
              <a:buNone/>
            </a:pPr>
            <a:r>
              <a:rPr lang="en-US" sz="800" b="1" dirty="0">
                <a:solidFill>
                  <a:srgbClr val="15213F"/>
                </a:solidFill>
                <a:latin typeface="Roboto Bold" pitchFamily="34" charset="0"/>
                <a:ea typeface="Roboto Bold" pitchFamily="34" charset="-122"/>
                <a:cs typeface="Roboto Bold" pitchFamily="34" charset="-120"/>
              </a:rPr>
              <a:t>Dimension</a:t>
            </a:r>
            <a:endParaRPr lang="en-US" sz="800" dirty="0"/>
          </a:p>
        </p:txBody>
      </p:sp>
      <p:sp>
        <p:nvSpPr>
          <p:cNvPr id="11" name="Text 8"/>
          <p:cNvSpPr/>
          <p:nvPr/>
        </p:nvSpPr>
        <p:spPr>
          <a:xfrm>
            <a:off x="3376389" y="2872234"/>
            <a:ext cx="2930054" cy="154409"/>
          </a:xfrm>
          <a:prstGeom prst="rect">
            <a:avLst/>
          </a:prstGeom>
          <a:noFill/>
          <a:ln/>
        </p:spPr>
        <p:txBody>
          <a:bodyPr wrap="none" lIns="0" tIns="0" rIns="0" bIns="0" rtlCol="0" anchor="t"/>
          <a:lstStyle/>
          <a:p>
            <a:pPr marL="0" indent="0" algn="l">
              <a:lnSpc>
                <a:spcPct val="123000"/>
              </a:lnSpc>
              <a:buNone/>
            </a:pPr>
            <a:r>
              <a:rPr lang="en-US" sz="800" b="1" dirty="0">
                <a:solidFill>
                  <a:srgbClr val="15213F"/>
                </a:solidFill>
                <a:latin typeface="Roboto Bold" pitchFamily="34" charset="0"/>
                <a:ea typeface="Roboto Bold" pitchFamily="34" charset="-122"/>
                <a:cs typeface="Roboto Bold" pitchFamily="34" charset="-120"/>
              </a:rPr>
              <a:t>Legacy Models</a:t>
            </a:r>
            <a:endParaRPr lang="en-US" sz="800" dirty="0"/>
          </a:p>
        </p:txBody>
      </p:sp>
      <p:sp>
        <p:nvSpPr>
          <p:cNvPr id="12" name="Text 9"/>
          <p:cNvSpPr/>
          <p:nvPr/>
        </p:nvSpPr>
        <p:spPr>
          <a:xfrm>
            <a:off x="6063258" y="2872234"/>
            <a:ext cx="2932435" cy="154409"/>
          </a:xfrm>
          <a:prstGeom prst="rect">
            <a:avLst/>
          </a:prstGeom>
          <a:noFill/>
          <a:ln/>
        </p:spPr>
        <p:txBody>
          <a:bodyPr wrap="none" lIns="0" tIns="0" rIns="0" bIns="0" rtlCol="0" anchor="t"/>
          <a:lstStyle/>
          <a:p>
            <a:pPr marL="0" indent="0" algn="l">
              <a:lnSpc>
                <a:spcPct val="123000"/>
              </a:lnSpc>
              <a:buNone/>
            </a:pPr>
            <a:r>
              <a:rPr lang="en-US" sz="800" b="1" dirty="0">
                <a:solidFill>
                  <a:srgbClr val="15213F"/>
                </a:solidFill>
                <a:latin typeface="Roboto Bold" pitchFamily="34" charset="0"/>
                <a:ea typeface="Roboto Bold" pitchFamily="34" charset="-122"/>
                <a:cs typeface="Roboto Bold" pitchFamily="34" charset="-120"/>
              </a:rPr>
              <a:t>ModernBERT</a:t>
            </a:r>
            <a:endParaRPr lang="en-US" sz="800" dirty="0"/>
          </a:p>
        </p:txBody>
      </p:sp>
      <p:sp>
        <p:nvSpPr>
          <p:cNvPr id="13" name="Text 10"/>
          <p:cNvSpPr/>
          <p:nvPr/>
        </p:nvSpPr>
        <p:spPr>
          <a:xfrm>
            <a:off x="605656" y="3146896"/>
            <a:ext cx="3013918"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Context window</a:t>
            </a:r>
            <a:endParaRPr lang="en-US" sz="800" dirty="0"/>
          </a:p>
        </p:txBody>
      </p:sp>
      <p:sp>
        <p:nvSpPr>
          <p:cNvPr id="14" name="Text 11"/>
          <p:cNvSpPr/>
          <p:nvPr/>
        </p:nvSpPr>
        <p:spPr>
          <a:xfrm>
            <a:off x="3376389" y="3146896"/>
            <a:ext cx="2930054"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512 tokens</a:t>
            </a:r>
            <a:endParaRPr lang="en-US" sz="800" dirty="0"/>
          </a:p>
        </p:txBody>
      </p:sp>
      <p:sp>
        <p:nvSpPr>
          <p:cNvPr id="15" name="Text 12"/>
          <p:cNvSpPr/>
          <p:nvPr/>
        </p:nvSpPr>
        <p:spPr>
          <a:xfrm>
            <a:off x="6063258" y="3146896"/>
            <a:ext cx="2932435"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8192 tokens</a:t>
            </a:r>
            <a:endParaRPr lang="en-US" sz="800" dirty="0"/>
          </a:p>
        </p:txBody>
      </p:sp>
      <p:sp>
        <p:nvSpPr>
          <p:cNvPr id="16" name="Text 13"/>
          <p:cNvSpPr/>
          <p:nvPr/>
        </p:nvSpPr>
        <p:spPr>
          <a:xfrm>
            <a:off x="605656" y="3421559"/>
            <a:ext cx="3013918"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Inference speed</a:t>
            </a:r>
            <a:endParaRPr lang="en-US" sz="800" dirty="0"/>
          </a:p>
        </p:txBody>
      </p:sp>
      <p:sp>
        <p:nvSpPr>
          <p:cNvPr id="17" name="Text 14"/>
          <p:cNvSpPr/>
          <p:nvPr/>
        </p:nvSpPr>
        <p:spPr>
          <a:xfrm>
            <a:off x="3376389" y="3421559"/>
            <a:ext cx="2930054"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Slower inference</a:t>
            </a:r>
            <a:endParaRPr lang="en-US" sz="800" dirty="0"/>
          </a:p>
        </p:txBody>
      </p:sp>
      <p:sp>
        <p:nvSpPr>
          <p:cNvPr id="18" name="Text 15"/>
          <p:cNvSpPr/>
          <p:nvPr/>
        </p:nvSpPr>
        <p:spPr>
          <a:xfrm>
            <a:off x="6063258" y="3421559"/>
            <a:ext cx="2932435"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~2× faster</a:t>
            </a:r>
            <a:endParaRPr lang="en-US" sz="800" dirty="0"/>
          </a:p>
        </p:txBody>
      </p:sp>
      <p:sp>
        <p:nvSpPr>
          <p:cNvPr id="19" name="Text 16"/>
          <p:cNvSpPr/>
          <p:nvPr/>
        </p:nvSpPr>
        <p:spPr>
          <a:xfrm>
            <a:off x="605656" y="3696221"/>
            <a:ext cx="3013918"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Long-thread handling</a:t>
            </a:r>
            <a:endParaRPr lang="en-US" sz="800" dirty="0"/>
          </a:p>
        </p:txBody>
      </p:sp>
      <p:sp>
        <p:nvSpPr>
          <p:cNvPr id="20" name="Text 17"/>
          <p:cNvSpPr/>
          <p:nvPr/>
        </p:nvSpPr>
        <p:spPr>
          <a:xfrm>
            <a:off x="3376389" y="3696221"/>
            <a:ext cx="2930054"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Often truncates posts and screenshots</a:t>
            </a:r>
            <a:endParaRPr lang="en-US" sz="800" dirty="0"/>
          </a:p>
        </p:txBody>
      </p:sp>
      <p:sp>
        <p:nvSpPr>
          <p:cNvPr id="21" name="Text 18"/>
          <p:cNvSpPr/>
          <p:nvPr/>
        </p:nvSpPr>
        <p:spPr>
          <a:xfrm>
            <a:off x="6063258" y="3696221"/>
            <a:ext cx="2932435"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Preserves more sentiment-bearing context</a:t>
            </a:r>
            <a:endParaRPr lang="en-US" sz="800" dirty="0"/>
          </a:p>
        </p:txBody>
      </p:sp>
      <p:sp>
        <p:nvSpPr>
          <p:cNvPr id="22" name="Text 19"/>
          <p:cNvSpPr/>
          <p:nvPr/>
        </p:nvSpPr>
        <p:spPr>
          <a:xfrm>
            <a:off x="496119" y="4045595"/>
            <a:ext cx="2550468" cy="261640"/>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Roboto Slab" pitchFamily="34" charset="0"/>
                <a:ea typeface="Roboto Slab" pitchFamily="34" charset="-122"/>
                <a:cs typeface="Roboto Slab" pitchFamily="34" charset="-120"/>
              </a:rPr>
              <a:t>Training Setup</a:t>
            </a:r>
            <a:endParaRPr lang="en-US" sz="1600" dirty="0"/>
          </a:p>
        </p:txBody>
      </p:sp>
      <p:sp>
        <p:nvSpPr>
          <p:cNvPr id="23" name="Text 20"/>
          <p:cNvSpPr/>
          <p:nvPr/>
        </p:nvSpPr>
        <p:spPr>
          <a:xfrm>
            <a:off x="496119" y="4439692"/>
            <a:ext cx="8608963" cy="154409"/>
          </a:xfrm>
          <a:prstGeom prst="rect">
            <a:avLst/>
          </a:prstGeom>
          <a:noFill/>
          <a:ln/>
        </p:spPr>
        <p:txBody>
          <a:bodyPr wrap="none" lIns="0" tIns="0" rIns="0" bIns="0" rtlCol="0" anchor="t"/>
          <a:lstStyle/>
          <a:p>
            <a:pPr marL="0" indent="0" algn="l">
              <a:lnSpc>
                <a:spcPct val="123000"/>
              </a:lnSpc>
              <a:buNone/>
            </a:pPr>
            <a:r>
              <a:rPr lang="en-US" sz="800" dirty="0">
                <a:solidFill>
                  <a:srgbClr val="15213F"/>
                </a:solidFill>
                <a:latin typeface="Roboto" pitchFamily="34" charset="0"/>
                <a:ea typeface="Roboto" pitchFamily="34" charset="-122"/>
                <a:cs typeface="Roboto" pitchFamily="34" charset="-120"/>
              </a:rPr>
              <a:t>ModernBERT-base with ~150M parameters, a 2048-token sequence length, and coverage of &gt;99% of Walmart Reddit posts.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75717"/>
            <a:ext cx="5695801" cy="385018"/>
          </a:xfrm>
          <a:prstGeom prst="rect">
            <a:avLst/>
          </a:prstGeom>
          <a:noFill/>
          <a:ln/>
        </p:spPr>
        <p:txBody>
          <a:bodyPr wrap="none" lIns="0" tIns="0" rIns="0" bIns="0" rtlCol="0" anchor="t"/>
          <a:lstStyle/>
          <a:p>
            <a:pPr marL="0" indent="0" algn="l">
              <a:lnSpc>
                <a:spcPct val="104000"/>
              </a:lnSpc>
              <a:buNone/>
            </a:pPr>
            <a:r>
              <a:rPr lang="en-US" sz="2350" dirty="0">
                <a:solidFill>
                  <a:srgbClr val="000000"/>
                </a:solidFill>
                <a:latin typeface="Roboto Slab" pitchFamily="34" charset="0"/>
                <a:ea typeface="Roboto Slab" pitchFamily="34" charset="-122"/>
                <a:cs typeface="Roboto Slab" pitchFamily="34" charset="-120"/>
              </a:rPr>
              <a:t>📚</a:t>
            </a:r>
            <a:r>
              <a:rPr lang="en-US" sz="2350" dirty="0">
                <a:solidFill>
                  <a:srgbClr val="3257B8"/>
                </a:solidFill>
                <a:latin typeface="Roboto Slab" pitchFamily="34" charset="0"/>
                <a:ea typeface="Roboto Slab" pitchFamily="34" charset="-122"/>
                <a:cs typeface="Roboto Slab" pitchFamily="34" charset="-120"/>
              </a:rPr>
              <a:t> Three-Stage Curriculum Learning</a:t>
            </a:r>
            <a:endParaRPr lang="en-US" sz="2350" dirty="0"/>
          </a:p>
        </p:txBody>
      </p:sp>
      <p:sp>
        <p:nvSpPr>
          <p:cNvPr id="3" name="Text 1"/>
          <p:cNvSpPr/>
          <p:nvPr/>
        </p:nvSpPr>
        <p:spPr>
          <a:xfrm>
            <a:off x="496119" y="993502"/>
            <a:ext cx="8151763"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15213F"/>
                </a:solidFill>
                <a:latin typeface="Roboto" pitchFamily="34" charset="0"/>
                <a:ea typeface="Roboto" pitchFamily="34" charset="-122"/>
                <a:cs typeface="Roboto" pitchFamily="34" charset="-120"/>
              </a:rPr>
              <a:t>We had a large Walmart Reddit corpus, but only 200 posts were manually labeled. Training a 150M-parameter model directly on that small set would overfit, so we used a curriculum learning approach.</a:t>
            </a:r>
            <a:endParaRPr lang="en-US" sz="900" dirty="0"/>
          </a:p>
        </p:txBody>
      </p:sp>
      <p:pic>
        <p:nvPicPr>
          <p:cNvPr id="4" name="Image 0" descr="preencoded.png"/>
          <p:cNvPicPr>
            <a:picLocks noChangeAspect="1"/>
          </p:cNvPicPr>
          <p:nvPr/>
        </p:nvPicPr>
        <p:blipFill>
          <a:blip r:embed="rId3"/>
          <a:stretch>
            <a:fillRect/>
          </a:stretch>
        </p:blipFill>
        <p:spPr>
          <a:xfrm>
            <a:off x="496119" y="1502866"/>
            <a:ext cx="1519684" cy="939180"/>
          </a:xfrm>
          <a:prstGeom prst="rect">
            <a:avLst/>
          </a:prstGeom>
        </p:spPr>
      </p:pic>
      <p:sp>
        <p:nvSpPr>
          <p:cNvPr id="5" name="Text 2"/>
          <p:cNvSpPr/>
          <p:nvPr/>
        </p:nvSpPr>
        <p:spPr>
          <a:xfrm>
            <a:off x="496119" y="2587526"/>
            <a:ext cx="2620268" cy="37549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15213F"/>
                </a:solidFill>
                <a:latin typeface="Roboto Slab" pitchFamily="34" charset="0"/>
                <a:ea typeface="Roboto Slab" pitchFamily="34" charset="-122"/>
                <a:cs typeface="Roboto Slab" pitchFamily="34" charset="-120"/>
              </a:rPr>
              <a:t>Stage 1 – General Sentiment Learning</a:t>
            </a:r>
            <a:endParaRPr lang="en-US" sz="1150" dirty="0"/>
          </a:p>
        </p:txBody>
      </p:sp>
      <p:sp>
        <p:nvSpPr>
          <p:cNvPr id="6" name="Text 3"/>
          <p:cNvSpPr/>
          <p:nvPr/>
        </p:nvSpPr>
        <p:spPr>
          <a:xfrm>
            <a:off x="496119" y="3032820"/>
            <a:ext cx="2620268" cy="189235"/>
          </a:xfrm>
          <a:prstGeom prst="rect">
            <a:avLst/>
          </a:prstGeom>
          <a:noFill/>
          <a:ln/>
        </p:spPr>
        <p:txBody>
          <a:bodyPr wrap="none" lIns="0" tIns="0" rIns="0" bIns="0" rtlCol="0" anchor="t"/>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TweetEval Sentiment</a:t>
            </a:r>
            <a:endParaRPr lang="en-US" sz="900" dirty="0"/>
          </a:p>
        </p:txBody>
      </p:sp>
      <p:sp>
        <p:nvSpPr>
          <p:cNvPr id="7" name="Text 4"/>
          <p:cNvSpPr/>
          <p:nvPr/>
        </p:nvSpPr>
        <p:spPr>
          <a:xfrm>
            <a:off x="496119" y="3291855"/>
            <a:ext cx="2620268" cy="419174"/>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~45K labeled tweets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2 epochs</a:t>
            </a:r>
            <a:endParaRPr lang="en-US" sz="900" dirty="0"/>
          </a:p>
        </p:txBody>
      </p:sp>
      <p:sp>
        <p:nvSpPr>
          <p:cNvPr id="8" name="Text 5"/>
          <p:cNvSpPr/>
          <p:nvPr/>
        </p:nvSpPr>
        <p:spPr>
          <a:xfrm>
            <a:off x="496119" y="3780830"/>
            <a:ext cx="2620268" cy="378470"/>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Objective:</a:t>
            </a:r>
            <a:r>
              <a:rPr lang="en-US" sz="900" dirty="0">
                <a:solidFill>
                  <a:srgbClr val="15213F"/>
                </a:solidFill>
                <a:latin typeface="Roboto" pitchFamily="34" charset="0"/>
                <a:ea typeface="Roboto" pitchFamily="34" charset="-122"/>
                <a:cs typeface="Roboto" pitchFamily="34" charset="-120"/>
              </a:rPr>
              <a:t> Teach basic positive, neutral, and negative sentiment recognition.</a:t>
            </a:r>
            <a:endParaRPr lang="en-US" sz="900" dirty="0"/>
          </a:p>
        </p:txBody>
      </p:sp>
      <p:pic>
        <p:nvPicPr>
          <p:cNvPr id="9" name="Image 1" descr="preencoded.png"/>
          <p:cNvPicPr>
            <a:picLocks noChangeAspect="1"/>
          </p:cNvPicPr>
          <p:nvPr/>
        </p:nvPicPr>
        <p:blipFill>
          <a:blip r:embed="rId4"/>
          <a:stretch>
            <a:fillRect/>
          </a:stretch>
        </p:blipFill>
        <p:spPr>
          <a:xfrm>
            <a:off x="3261866" y="1502866"/>
            <a:ext cx="1519684" cy="939180"/>
          </a:xfrm>
          <a:prstGeom prst="rect">
            <a:avLst/>
          </a:prstGeom>
        </p:spPr>
      </p:pic>
      <p:sp>
        <p:nvSpPr>
          <p:cNvPr id="10" name="Text 6"/>
          <p:cNvSpPr/>
          <p:nvPr/>
        </p:nvSpPr>
        <p:spPr>
          <a:xfrm>
            <a:off x="3261866" y="2587526"/>
            <a:ext cx="2620268" cy="37549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15213F"/>
                </a:solidFill>
                <a:latin typeface="Roboto Slab" pitchFamily="34" charset="0"/>
                <a:ea typeface="Roboto Slab" pitchFamily="34" charset="-122"/>
                <a:cs typeface="Roboto Slab" pitchFamily="34" charset="-120"/>
              </a:rPr>
              <a:t>Stage 2 – Reddit Language Adaptation</a:t>
            </a:r>
            <a:endParaRPr lang="en-US" sz="1150" dirty="0"/>
          </a:p>
        </p:txBody>
      </p:sp>
      <p:sp>
        <p:nvSpPr>
          <p:cNvPr id="11" name="Text 7"/>
          <p:cNvSpPr/>
          <p:nvPr/>
        </p:nvSpPr>
        <p:spPr>
          <a:xfrm>
            <a:off x="3261866" y="3032820"/>
            <a:ext cx="2620268" cy="189235"/>
          </a:xfrm>
          <a:prstGeom prst="rect">
            <a:avLst/>
          </a:prstGeom>
          <a:noFill/>
          <a:ln/>
        </p:spPr>
        <p:txBody>
          <a:bodyPr wrap="none" lIns="0" tIns="0" rIns="0" bIns="0" rtlCol="0" anchor="t"/>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GoEmotions Dataset</a:t>
            </a:r>
            <a:endParaRPr lang="en-US" sz="900" dirty="0"/>
          </a:p>
        </p:txBody>
      </p:sp>
      <p:sp>
        <p:nvSpPr>
          <p:cNvPr id="12" name="Text 8"/>
          <p:cNvSpPr/>
          <p:nvPr/>
        </p:nvSpPr>
        <p:spPr>
          <a:xfrm>
            <a:off x="3261866" y="3291855"/>
            <a:ext cx="2620268" cy="838349"/>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~43K Reddit comments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28 emotions collapsed into 3 sentiment classes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16 epochs</a:t>
            </a:r>
            <a:endParaRPr lang="en-US" sz="900" dirty="0"/>
          </a:p>
        </p:txBody>
      </p:sp>
      <p:sp>
        <p:nvSpPr>
          <p:cNvPr id="13" name="Text 9"/>
          <p:cNvSpPr/>
          <p:nvPr/>
        </p:nvSpPr>
        <p:spPr>
          <a:xfrm>
            <a:off x="3261866" y="4200004"/>
            <a:ext cx="2620268" cy="567705"/>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Objective:</a:t>
            </a:r>
            <a:r>
              <a:rPr lang="en-US" sz="900" dirty="0">
                <a:solidFill>
                  <a:srgbClr val="15213F"/>
                </a:solidFill>
                <a:latin typeface="Roboto" pitchFamily="34" charset="0"/>
                <a:ea typeface="Roboto" pitchFamily="34" charset="-122"/>
                <a:cs typeface="Roboto" pitchFamily="34" charset="-120"/>
              </a:rPr>
              <a:t> Learn Reddit-specific language patterns: slang, informal grammar, sarcasm, emotional expression.</a:t>
            </a:r>
            <a:endParaRPr lang="en-US" sz="900" dirty="0"/>
          </a:p>
        </p:txBody>
      </p:sp>
      <p:pic>
        <p:nvPicPr>
          <p:cNvPr id="14" name="Image 2" descr="preencoded.png"/>
          <p:cNvPicPr>
            <a:picLocks noChangeAspect="1"/>
          </p:cNvPicPr>
          <p:nvPr/>
        </p:nvPicPr>
        <p:blipFill>
          <a:blip r:embed="rId5"/>
          <a:stretch>
            <a:fillRect/>
          </a:stretch>
        </p:blipFill>
        <p:spPr>
          <a:xfrm>
            <a:off x="6027613" y="1502866"/>
            <a:ext cx="1519684" cy="939180"/>
          </a:xfrm>
          <a:prstGeom prst="rect">
            <a:avLst/>
          </a:prstGeom>
        </p:spPr>
      </p:pic>
      <p:sp>
        <p:nvSpPr>
          <p:cNvPr id="15" name="Text 10"/>
          <p:cNvSpPr/>
          <p:nvPr/>
        </p:nvSpPr>
        <p:spPr>
          <a:xfrm>
            <a:off x="6027613" y="2587526"/>
            <a:ext cx="2356545" cy="187747"/>
          </a:xfrm>
          <a:prstGeom prst="rect">
            <a:avLst/>
          </a:prstGeom>
          <a:noFill/>
          <a:ln/>
        </p:spPr>
        <p:txBody>
          <a:bodyPr wrap="none" lIns="0" tIns="0" rIns="0" bIns="0" rtlCol="0" anchor="t"/>
          <a:lstStyle/>
          <a:p>
            <a:pPr marL="0" indent="0" algn="l">
              <a:lnSpc>
                <a:spcPct val="104000"/>
              </a:lnSpc>
              <a:buNone/>
            </a:pPr>
            <a:r>
              <a:rPr lang="en-US" sz="1150" dirty="0">
                <a:solidFill>
                  <a:srgbClr val="15213F"/>
                </a:solidFill>
                <a:latin typeface="Roboto Slab" pitchFamily="34" charset="0"/>
                <a:ea typeface="Roboto Slab" pitchFamily="34" charset="-122"/>
                <a:cs typeface="Roboto Slab" pitchFamily="34" charset="-120"/>
              </a:rPr>
              <a:t>Stage 3 – Walmart Specialization</a:t>
            </a:r>
            <a:endParaRPr lang="en-US" sz="1150" dirty="0"/>
          </a:p>
        </p:txBody>
      </p:sp>
      <p:sp>
        <p:nvSpPr>
          <p:cNvPr id="16" name="Text 11"/>
          <p:cNvSpPr/>
          <p:nvPr/>
        </p:nvSpPr>
        <p:spPr>
          <a:xfrm>
            <a:off x="6027613" y="2845073"/>
            <a:ext cx="2620268" cy="189235"/>
          </a:xfrm>
          <a:prstGeom prst="rect">
            <a:avLst/>
          </a:prstGeom>
          <a:noFill/>
          <a:ln/>
        </p:spPr>
        <p:txBody>
          <a:bodyPr wrap="none" lIns="0" tIns="0" rIns="0" bIns="0" rtlCol="0" anchor="t"/>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Walmart-200 Dataset</a:t>
            </a:r>
            <a:endParaRPr lang="en-US" sz="900" dirty="0"/>
          </a:p>
        </p:txBody>
      </p:sp>
      <p:sp>
        <p:nvSpPr>
          <p:cNvPr id="17" name="Text 12"/>
          <p:cNvSpPr/>
          <p:nvPr/>
        </p:nvSpPr>
        <p:spPr>
          <a:xfrm>
            <a:off x="6027613" y="3104108"/>
            <a:ext cx="2620268" cy="419174"/>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200 manually labeled Walmart Reddit posts</a:t>
            </a:r>
            <a:endParaRPr lang="en-US" sz="900" dirty="0"/>
          </a:p>
          <a:p>
            <a:pPr marL="182880" indent="-182880" algn="l">
              <a:lnSpc>
                <a:spcPct val="131000"/>
              </a:lnSpc>
              <a:buSzPct val="100000"/>
              <a:buChar char="•"/>
            </a:pPr>
            <a:r>
              <a:rPr lang="en-US" sz="900" dirty="0">
                <a:solidFill>
                  <a:srgbClr val="15213F"/>
                </a:solidFill>
                <a:latin typeface="Roboto" pitchFamily="34" charset="0"/>
                <a:ea typeface="Roboto" pitchFamily="34" charset="-122"/>
                <a:cs typeface="Roboto" pitchFamily="34" charset="-120"/>
              </a:rPr>
              <a:t>19 epochs</a:t>
            </a:r>
            <a:endParaRPr lang="en-US" sz="900" dirty="0"/>
          </a:p>
        </p:txBody>
      </p:sp>
      <p:sp>
        <p:nvSpPr>
          <p:cNvPr id="18" name="Text 13"/>
          <p:cNvSpPr/>
          <p:nvPr/>
        </p:nvSpPr>
        <p:spPr>
          <a:xfrm>
            <a:off x="6027613" y="3593083"/>
            <a:ext cx="2620268" cy="378470"/>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15213F"/>
                </a:solidFill>
                <a:latin typeface="Roboto Bold" pitchFamily="34" charset="0"/>
                <a:ea typeface="Roboto Bold" pitchFamily="34" charset="-122"/>
                <a:cs typeface="Roboto Bold" pitchFamily="34" charset="-120"/>
              </a:rPr>
              <a:t>Objective:</a:t>
            </a:r>
            <a:r>
              <a:rPr lang="en-US" sz="900" dirty="0">
                <a:solidFill>
                  <a:srgbClr val="15213F"/>
                </a:solidFill>
                <a:latin typeface="Roboto" pitchFamily="34" charset="0"/>
                <a:ea typeface="Roboto" pitchFamily="34" charset="-122"/>
                <a:cs typeface="Roboto" pitchFamily="34" charset="-120"/>
              </a:rPr>
              <a:t> Learn Walmart-specific vocabulary and discussion patterns.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4572"/>
            <a:ext cx="6795343" cy="251817"/>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Roboto Slab" pitchFamily="34" charset="0"/>
                <a:ea typeface="Roboto Slab" pitchFamily="34" charset="-122"/>
                <a:cs typeface="Roboto Slab" pitchFamily="34" charset="-120"/>
              </a:rPr>
              <a:t>🔄</a:t>
            </a:r>
            <a:r>
              <a:rPr lang="en-US" sz="1500" dirty="0">
                <a:solidFill>
                  <a:srgbClr val="3257B8"/>
                </a:solidFill>
                <a:latin typeface="Roboto Slab" pitchFamily="34" charset="0"/>
                <a:ea typeface="Roboto Slab" pitchFamily="34" charset="-122"/>
                <a:cs typeface="Roboto Slab" pitchFamily="34" charset="-120"/>
              </a:rPr>
              <a:t> 5-Fold Cross-Validation (Maximum Learning from Limited Labels)</a:t>
            </a:r>
            <a:endParaRPr lang="en-US" sz="1500" dirty="0"/>
          </a:p>
        </p:txBody>
      </p:sp>
      <p:sp>
        <p:nvSpPr>
          <p:cNvPr id="3" name="Shape 1"/>
          <p:cNvSpPr/>
          <p:nvPr/>
        </p:nvSpPr>
        <p:spPr>
          <a:xfrm>
            <a:off x="440234" y="709017"/>
            <a:ext cx="4093071" cy="859631"/>
          </a:xfrm>
          <a:prstGeom prst="roundRect">
            <a:avLst>
              <a:gd name="adj" fmla="val 1353"/>
            </a:avLst>
          </a:prstGeom>
          <a:solidFill>
            <a:srgbClr val="3257B8"/>
          </a:solidFill>
          <a:ln/>
        </p:spPr>
        <p:txBody>
          <a:bodyPr/>
          <a:lstStyle/>
          <a:p>
            <a:endParaRPr lang="en-US"/>
          </a:p>
        </p:txBody>
      </p:sp>
      <p:sp>
        <p:nvSpPr>
          <p:cNvPr id="4" name="Text 2"/>
          <p:cNvSpPr/>
          <p:nvPr/>
        </p:nvSpPr>
        <p:spPr>
          <a:xfrm>
            <a:off x="517699" y="757461"/>
            <a:ext cx="1426294" cy="121072"/>
          </a:xfrm>
          <a:prstGeom prst="rect">
            <a:avLst/>
          </a:prstGeom>
          <a:noFill/>
          <a:ln/>
        </p:spPr>
        <p:txBody>
          <a:bodyPr wrap="none" lIns="0" tIns="0" rIns="0" bIns="0" rtlCol="0" anchor="t"/>
          <a:lstStyle/>
          <a:p>
            <a:pPr marL="0" indent="0" algn="l">
              <a:lnSpc>
                <a:spcPct val="104000"/>
              </a:lnSpc>
              <a:buNone/>
            </a:pPr>
            <a:r>
              <a:rPr lang="en-US" sz="750" dirty="0">
                <a:solidFill>
                  <a:srgbClr val="FFFFFF"/>
                </a:solidFill>
                <a:latin typeface="Roboto Slab" pitchFamily="34" charset="0"/>
                <a:ea typeface="Roboto Slab" pitchFamily="34" charset="-122"/>
                <a:cs typeface="Roboto Slab" pitchFamily="34" charset="-120"/>
              </a:rPr>
              <a:t>Why We Used It</a:t>
            </a:r>
            <a:endParaRPr lang="en-US" sz="750" dirty="0"/>
          </a:p>
        </p:txBody>
      </p:sp>
      <p:sp>
        <p:nvSpPr>
          <p:cNvPr id="5" name="Text 3"/>
          <p:cNvSpPr/>
          <p:nvPr/>
        </p:nvSpPr>
        <p:spPr>
          <a:xfrm>
            <a:off x="517699" y="926976"/>
            <a:ext cx="3938141" cy="302270"/>
          </a:xfrm>
          <a:prstGeom prst="rect">
            <a:avLst/>
          </a:prstGeom>
          <a:noFill/>
          <a:ln/>
        </p:spPr>
        <p:txBody>
          <a:bodyPr wrap="square" lIns="0" tIns="0" rIns="0" bIns="0" rtlCol="0" anchor="t">
            <a:normAutofit/>
          </a:bodyPr>
          <a:lstStyle/>
          <a:p>
            <a:pPr marL="0" indent="0" algn="l">
              <a:lnSpc>
                <a:spcPct val="108000"/>
              </a:lnSpc>
              <a:buNone/>
            </a:pPr>
            <a:r>
              <a:rPr lang="en-US" sz="600" dirty="0">
                <a:solidFill>
                  <a:srgbClr val="FFFFFF"/>
                </a:solidFill>
                <a:latin typeface="Roboto" pitchFamily="34" charset="0"/>
                <a:ea typeface="Roboto" pitchFamily="34" charset="-122"/>
                <a:cs typeface="Roboto" pitchFamily="34" charset="-120"/>
              </a:rPr>
              <a:t>Manually labeling Walmart posts is time-consuming and requires human review and validation. Instead of reserving a large portion of the 200 labeled posts solely for testing, we used 5-fold cross-validation to maximize both training data utilization and evaluation reliability.</a:t>
            </a:r>
            <a:endParaRPr lang="en-US" sz="600" dirty="0"/>
          </a:p>
        </p:txBody>
      </p:sp>
      <p:sp>
        <p:nvSpPr>
          <p:cNvPr id="6" name="Text 4"/>
          <p:cNvSpPr/>
          <p:nvPr/>
        </p:nvSpPr>
        <p:spPr>
          <a:xfrm>
            <a:off x="4671343" y="757461"/>
            <a:ext cx="1426294" cy="121072"/>
          </a:xfrm>
          <a:prstGeom prst="rect">
            <a:avLst/>
          </a:prstGeom>
          <a:noFill/>
          <a:ln/>
        </p:spPr>
        <p:txBody>
          <a:bodyPr wrap="none" lIns="0" tIns="0" rIns="0" bIns="0" rtlCol="0" anchor="t"/>
          <a:lstStyle/>
          <a:p>
            <a:pPr marL="0" indent="0" algn="l">
              <a:lnSpc>
                <a:spcPct val="104000"/>
              </a:lnSpc>
              <a:buNone/>
            </a:pPr>
            <a:r>
              <a:rPr lang="en-US" sz="750" dirty="0">
                <a:solidFill>
                  <a:srgbClr val="3257B8"/>
                </a:solidFill>
                <a:latin typeface="Roboto Slab" pitchFamily="34" charset="0"/>
                <a:ea typeface="Roboto Slab" pitchFamily="34" charset="-122"/>
                <a:cs typeface="Roboto Slab" pitchFamily="34" charset="-120"/>
              </a:rPr>
              <a:t>Process</a:t>
            </a:r>
            <a:endParaRPr lang="en-US" sz="750" dirty="0"/>
          </a:p>
        </p:txBody>
      </p:sp>
      <p:sp>
        <p:nvSpPr>
          <p:cNvPr id="7" name="Text 5"/>
          <p:cNvSpPr/>
          <p:nvPr/>
        </p:nvSpPr>
        <p:spPr>
          <a:xfrm>
            <a:off x="4671343" y="926976"/>
            <a:ext cx="3981301" cy="245120"/>
          </a:xfrm>
          <a:prstGeom prst="rect">
            <a:avLst/>
          </a:prstGeom>
          <a:noFill/>
          <a:ln/>
        </p:spPr>
        <p:txBody>
          <a:bodyPr wrap="square" lIns="0" tIns="0" rIns="0" bIns="0" rtlCol="0" anchor="t"/>
          <a:lstStyle/>
          <a:p>
            <a:pPr marL="0" indent="0" algn="l">
              <a:lnSpc>
                <a:spcPct val="108000"/>
              </a:lnSpc>
              <a:spcAft>
                <a:spcPts val="300"/>
              </a:spcAft>
              <a:buNone/>
            </a:pPr>
            <a:r>
              <a:rPr lang="en-US" sz="600" dirty="0">
                <a:solidFill>
                  <a:srgbClr val="15213F"/>
                </a:solidFill>
                <a:latin typeface="Roboto" pitchFamily="34" charset="0"/>
                <a:ea typeface="Roboto" pitchFamily="34" charset="-122"/>
                <a:cs typeface="Roboto" pitchFamily="34" charset="-120"/>
              </a:rPr>
              <a:t>200 labeled posts → 5 stratified folds (40 posts each)</a:t>
            </a:r>
            <a:endParaRPr lang="en-US" sz="600" dirty="0"/>
          </a:p>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Class distribution preserved in every fold:</a:t>
            </a:r>
            <a:endParaRPr lang="en-US" sz="600" dirty="0"/>
          </a:p>
        </p:txBody>
      </p:sp>
      <p:sp>
        <p:nvSpPr>
          <p:cNvPr id="8" name="Text 6"/>
          <p:cNvSpPr/>
          <p:nvPr/>
        </p:nvSpPr>
        <p:spPr>
          <a:xfrm>
            <a:off x="4671343" y="1215703"/>
            <a:ext cx="3981301" cy="336054"/>
          </a:xfrm>
          <a:prstGeom prst="rect">
            <a:avLst/>
          </a:prstGeom>
          <a:noFill/>
          <a:ln/>
        </p:spPr>
        <p:txBody>
          <a:bodyPr wrap="square" lIns="0" tIns="0" rIns="0" bIns="0" rtlCol="0" anchor="t">
            <a:normAutofit/>
          </a:bodyPr>
          <a:lstStyle/>
          <a:p>
            <a:pPr marL="121920" indent="-121920" algn="l">
              <a:lnSpc>
                <a:spcPct val="108000"/>
              </a:lnSpc>
              <a:buSzPct val="100000"/>
              <a:buChar char="•"/>
            </a:pPr>
            <a:r>
              <a:rPr lang="en-US" sz="600" dirty="0">
                <a:solidFill>
                  <a:srgbClr val="15213F"/>
                </a:solidFill>
                <a:latin typeface="Roboto" pitchFamily="34" charset="0"/>
                <a:ea typeface="Roboto" pitchFamily="34" charset="-122"/>
                <a:cs typeface="Roboto" pitchFamily="34" charset="-120"/>
              </a:rPr>
              <a:t>~63% Negative</a:t>
            </a:r>
            <a:endParaRPr lang="en-US" sz="600" dirty="0"/>
          </a:p>
          <a:p>
            <a:pPr marL="121920" indent="-121920" algn="l">
              <a:lnSpc>
                <a:spcPct val="108000"/>
              </a:lnSpc>
              <a:buSzPct val="100000"/>
              <a:buChar char="•"/>
            </a:pPr>
            <a:r>
              <a:rPr lang="en-US" sz="600" dirty="0">
                <a:solidFill>
                  <a:srgbClr val="15213F"/>
                </a:solidFill>
                <a:latin typeface="Roboto" pitchFamily="34" charset="0"/>
                <a:ea typeface="Roboto" pitchFamily="34" charset="-122"/>
                <a:cs typeface="Roboto" pitchFamily="34" charset="-120"/>
              </a:rPr>
              <a:t>~32% Neutral</a:t>
            </a:r>
            <a:endParaRPr lang="en-US" sz="600" dirty="0"/>
          </a:p>
          <a:p>
            <a:pPr marL="121920" indent="-121920" algn="l">
              <a:lnSpc>
                <a:spcPct val="108000"/>
              </a:lnSpc>
              <a:buSzPct val="100000"/>
              <a:buChar char="•"/>
            </a:pPr>
            <a:r>
              <a:rPr lang="en-US" sz="600" dirty="0">
                <a:solidFill>
                  <a:srgbClr val="15213F"/>
                </a:solidFill>
                <a:latin typeface="Roboto" pitchFamily="34" charset="0"/>
                <a:ea typeface="Roboto" pitchFamily="34" charset="-122"/>
                <a:cs typeface="Roboto" pitchFamily="34" charset="-120"/>
              </a:rPr>
              <a:t>~4% Positive</a:t>
            </a:r>
            <a:endParaRPr lang="en-US" sz="600" dirty="0"/>
          </a:p>
        </p:txBody>
      </p:sp>
      <p:sp>
        <p:nvSpPr>
          <p:cNvPr id="9" name="Shape 7"/>
          <p:cNvSpPr/>
          <p:nvPr/>
        </p:nvSpPr>
        <p:spPr>
          <a:xfrm>
            <a:off x="496119" y="1623120"/>
            <a:ext cx="8151763" cy="350937"/>
          </a:xfrm>
          <a:prstGeom prst="roundRect">
            <a:avLst>
              <a:gd name="adj" fmla="val 3314"/>
            </a:avLst>
          </a:prstGeom>
          <a:noFill/>
          <a:ln w="4763">
            <a:solidFill>
              <a:srgbClr val="000000">
                <a:alpha val="8000"/>
              </a:srgbClr>
            </a:solidFill>
            <a:prstDash val="solid"/>
          </a:ln>
        </p:spPr>
        <p:txBody>
          <a:bodyPr/>
          <a:lstStyle/>
          <a:p>
            <a:endParaRPr lang="en-US"/>
          </a:p>
        </p:txBody>
      </p:sp>
      <p:sp>
        <p:nvSpPr>
          <p:cNvPr id="10" name="Text 8"/>
          <p:cNvSpPr/>
          <p:nvPr/>
        </p:nvSpPr>
        <p:spPr>
          <a:xfrm>
            <a:off x="578569"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Fold1</a:t>
            </a:r>
            <a:endParaRPr lang="en-US" sz="600" dirty="0"/>
          </a:p>
        </p:txBody>
      </p:sp>
      <p:sp>
        <p:nvSpPr>
          <p:cNvPr id="11" name="Text 9"/>
          <p:cNvSpPr/>
          <p:nvPr/>
        </p:nvSpPr>
        <p:spPr>
          <a:xfrm>
            <a:off x="2206972"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Fold2</a:t>
            </a:r>
            <a:endParaRPr lang="en-US" sz="600" dirty="0"/>
          </a:p>
        </p:txBody>
      </p:sp>
      <p:sp>
        <p:nvSpPr>
          <p:cNvPr id="12" name="Text 10"/>
          <p:cNvSpPr/>
          <p:nvPr/>
        </p:nvSpPr>
        <p:spPr>
          <a:xfrm>
            <a:off x="3835375"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Fold3</a:t>
            </a:r>
            <a:endParaRPr lang="en-US" sz="600" dirty="0"/>
          </a:p>
        </p:txBody>
      </p:sp>
      <p:sp>
        <p:nvSpPr>
          <p:cNvPr id="13" name="Text 11"/>
          <p:cNvSpPr/>
          <p:nvPr/>
        </p:nvSpPr>
        <p:spPr>
          <a:xfrm>
            <a:off x="5463778"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Fold4</a:t>
            </a:r>
            <a:endParaRPr lang="en-US" sz="600" dirty="0"/>
          </a:p>
        </p:txBody>
      </p:sp>
      <p:sp>
        <p:nvSpPr>
          <p:cNvPr id="14" name="Text 12"/>
          <p:cNvSpPr/>
          <p:nvPr/>
        </p:nvSpPr>
        <p:spPr>
          <a:xfrm>
            <a:off x="7092181" y="1661666"/>
            <a:ext cx="1930673" cy="100757"/>
          </a:xfrm>
          <a:prstGeom prst="rect">
            <a:avLst/>
          </a:prstGeom>
          <a:noFill/>
          <a:ln/>
        </p:spPr>
        <p:txBody>
          <a:bodyPr wrap="none" lIns="0" tIns="0" rIns="0" bIns="0" rtlCol="0" anchor="t"/>
          <a:lstStyle/>
          <a:p>
            <a:pPr marL="0" indent="0" algn="l">
              <a:lnSpc>
                <a:spcPct val="108000"/>
              </a:lnSpc>
              <a:buNone/>
            </a:pPr>
            <a:r>
              <a:rPr lang="en-US" sz="600" b="1" dirty="0">
                <a:solidFill>
                  <a:srgbClr val="15213F"/>
                </a:solidFill>
                <a:latin typeface="Roboto Bold" pitchFamily="34" charset="0"/>
                <a:ea typeface="Roboto Bold" pitchFamily="34" charset="-122"/>
                <a:cs typeface="Roboto Bold" pitchFamily="34" charset="-120"/>
              </a:rPr>
              <a:t>Fold5</a:t>
            </a:r>
            <a:endParaRPr lang="en-US" sz="600" dirty="0"/>
          </a:p>
        </p:txBody>
      </p:sp>
      <p:sp>
        <p:nvSpPr>
          <p:cNvPr id="15" name="Text 13"/>
          <p:cNvSpPr/>
          <p:nvPr/>
        </p:nvSpPr>
        <p:spPr>
          <a:xfrm>
            <a:off x="578569"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6" name="Text 14"/>
          <p:cNvSpPr/>
          <p:nvPr/>
        </p:nvSpPr>
        <p:spPr>
          <a:xfrm>
            <a:off x="2206972"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7" name="Text 15"/>
          <p:cNvSpPr/>
          <p:nvPr/>
        </p:nvSpPr>
        <p:spPr>
          <a:xfrm>
            <a:off x="3835375"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8" name="Text 16"/>
          <p:cNvSpPr/>
          <p:nvPr/>
        </p:nvSpPr>
        <p:spPr>
          <a:xfrm>
            <a:off x="5463778"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sp>
        <p:nvSpPr>
          <p:cNvPr id="19" name="Text 17"/>
          <p:cNvSpPr/>
          <p:nvPr/>
        </p:nvSpPr>
        <p:spPr>
          <a:xfrm>
            <a:off x="7092181" y="1834753"/>
            <a:ext cx="1930673"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40</a:t>
            </a:r>
            <a:endParaRPr lang="en-US" sz="600" dirty="0"/>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028527"/>
            <a:ext cx="2684934" cy="424830"/>
          </a:xfrm>
          <a:prstGeom prst="rect">
            <a:avLst/>
          </a:prstGeom>
        </p:spPr>
      </p:pic>
      <p:sp>
        <p:nvSpPr>
          <p:cNvPr id="21" name="Text 18"/>
          <p:cNvSpPr/>
          <p:nvPr/>
        </p:nvSpPr>
        <p:spPr>
          <a:xfrm>
            <a:off x="621209" y="2115517"/>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1</a:t>
            </a:r>
            <a:endParaRPr lang="en-US" sz="750" dirty="0"/>
          </a:p>
        </p:txBody>
      </p:sp>
      <p:sp>
        <p:nvSpPr>
          <p:cNvPr id="22" name="Text 19"/>
          <p:cNvSpPr/>
          <p:nvPr/>
        </p:nvSpPr>
        <p:spPr>
          <a:xfrm>
            <a:off x="621209" y="2265611"/>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TEST Train Train Train Train → </a:t>
            </a:r>
            <a:r>
              <a:rPr lang="en-US" sz="600" b="1" dirty="0">
                <a:solidFill>
                  <a:srgbClr val="15213F"/>
                </a:solidFill>
                <a:latin typeface="Roboto Bold" pitchFamily="34" charset="0"/>
                <a:ea typeface="Roboto Bold" pitchFamily="34" charset="-122"/>
                <a:cs typeface="Roboto Bold" pitchFamily="34" charset="-120"/>
              </a:rPr>
              <a:t>F1 = 0.71</a:t>
            </a:r>
            <a:endParaRPr lang="en-US" sz="600"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9496" y="2028527"/>
            <a:ext cx="2684934" cy="424830"/>
          </a:xfrm>
          <a:prstGeom prst="rect">
            <a:avLst/>
          </a:prstGeom>
        </p:spPr>
      </p:pic>
      <p:sp>
        <p:nvSpPr>
          <p:cNvPr id="24" name="Text 20"/>
          <p:cNvSpPr/>
          <p:nvPr/>
        </p:nvSpPr>
        <p:spPr>
          <a:xfrm>
            <a:off x="3354586" y="2115517"/>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2</a:t>
            </a:r>
            <a:endParaRPr lang="en-US" sz="750" dirty="0"/>
          </a:p>
        </p:txBody>
      </p:sp>
      <p:sp>
        <p:nvSpPr>
          <p:cNvPr id="25" name="Text 21"/>
          <p:cNvSpPr/>
          <p:nvPr/>
        </p:nvSpPr>
        <p:spPr>
          <a:xfrm>
            <a:off x="3354586" y="2265611"/>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TEST Train Train Train → </a:t>
            </a:r>
            <a:r>
              <a:rPr lang="en-US" sz="600" b="1" dirty="0">
                <a:solidFill>
                  <a:srgbClr val="15213F"/>
                </a:solidFill>
                <a:latin typeface="Roboto Bold" pitchFamily="34" charset="0"/>
                <a:ea typeface="Roboto Bold" pitchFamily="34" charset="-122"/>
                <a:cs typeface="Roboto Bold" pitchFamily="34" charset="-120"/>
              </a:rPr>
              <a:t>F1 = 0.78</a:t>
            </a:r>
            <a:endParaRPr lang="en-US" sz="600" dirty="0"/>
          </a:p>
        </p:txBody>
      </p:sp>
      <p:pic>
        <p:nvPicPr>
          <p:cNvPr id="26"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2873" y="2028527"/>
            <a:ext cx="2685008" cy="424830"/>
          </a:xfrm>
          <a:prstGeom prst="rect">
            <a:avLst/>
          </a:prstGeom>
        </p:spPr>
      </p:pic>
      <p:sp>
        <p:nvSpPr>
          <p:cNvPr id="27" name="Text 22"/>
          <p:cNvSpPr/>
          <p:nvPr/>
        </p:nvSpPr>
        <p:spPr>
          <a:xfrm>
            <a:off x="6087963" y="2115517"/>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3</a:t>
            </a:r>
            <a:endParaRPr lang="en-US" sz="750" dirty="0"/>
          </a:p>
        </p:txBody>
      </p:sp>
      <p:sp>
        <p:nvSpPr>
          <p:cNvPr id="28" name="Text 23"/>
          <p:cNvSpPr/>
          <p:nvPr/>
        </p:nvSpPr>
        <p:spPr>
          <a:xfrm>
            <a:off x="6087963" y="2265611"/>
            <a:ext cx="2472928"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Train TEST Train Train → </a:t>
            </a:r>
            <a:r>
              <a:rPr lang="en-US" sz="600" b="1" dirty="0">
                <a:solidFill>
                  <a:srgbClr val="15213F"/>
                </a:solidFill>
                <a:latin typeface="Roboto Bold" pitchFamily="34" charset="0"/>
                <a:ea typeface="Roboto Bold" pitchFamily="34" charset="-122"/>
                <a:cs typeface="Roboto Bold" pitchFamily="34" charset="-120"/>
              </a:rPr>
              <a:t>F1 = 0.72</a:t>
            </a:r>
            <a:endParaRPr lang="en-US" sz="600" dirty="0"/>
          </a:p>
        </p:txBody>
      </p:sp>
      <p:pic>
        <p:nvPicPr>
          <p:cNvPr id="29"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501801"/>
            <a:ext cx="2684934" cy="424830"/>
          </a:xfrm>
          <a:prstGeom prst="rect">
            <a:avLst/>
          </a:prstGeom>
        </p:spPr>
      </p:pic>
      <p:sp>
        <p:nvSpPr>
          <p:cNvPr id="30" name="Text 24"/>
          <p:cNvSpPr/>
          <p:nvPr/>
        </p:nvSpPr>
        <p:spPr>
          <a:xfrm>
            <a:off x="621209" y="2588791"/>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4</a:t>
            </a:r>
            <a:endParaRPr lang="en-US" sz="750" dirty="0"/>
          </a:p>
        </p:txBody>
      </p:sp>
      <p:sp>
        <p:nvSpPr>
          <p:cNvPr id="31" name="Text 25"/>
          <p:cNvSpPr/>
          <p:nvPr/>
        </p:nvSpPr>
        <p:spPr>
          <a:xfrm>
            <a:off x="621209" y="2738884"/>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Train Train TEST Train → </a:t>
            </a:r>
            <a:r>
              <a:rPr lang="en-US" sz="600" b="1" dirty="0">
                <a:solidFill>
                  <a:srgbClr val="15213F"/>
                </a:solidFill>
                <a:latin typeface="Roboto Bold" pitchFamily="34" charset="0"/>
                <a:ea typeface="Roboto Bold" pitchFamily="34" charset="-122"/>
                <a:cs typeface="Roboto Bold" pitchFamily="34" charset="-120"/>
              </a:rPr>
              <a:t>F1 = 0.86</a:t>
            </a:r>
            <a:endParaRPr lang="en-US" sz="600" dirty="0"/>
          </a:p>
        </p:txBody>
      </p:sp>
      <p:pic>
        <p:nvPicPr>
          <p:cNvPr id="3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9496" y="2501801"/>
            <a:ext cx="2684934" cy="424830"/>
          </a:xfrm>
          <a:prstGeom prst="rect">
            <a:avLst/>
          </a:prstGeom>
        </p:spPr>
      </p:pic>
      <p:sp>
        <p:nvSpPr>
          <p:cNvPr id="33" name="Text 26"/>
          <p:cNvSpPr/>
          <p:nvPr/>
        </p:nvSpPr>
        <p:spPr>
          <a:xfrm>
            <a:off x="3354586" y="2588791"/>
            <a:ext cx="969094" cy="121072"/>
          </a:xfrm>
          <a:prstGeom prst="rect">
            <a:avLst/>
          </a:prstGeom>
          <a:noFill/>
          <a:ln/>
        </p:spPr>
        <p:txBody>
          <a:bodyPr wrap="none" lIns="0" tIns="0" rIns="0" bIns="0" rtlCol="0" anchor="t"/>
          <a:lstStyle/>
          <a:p>
            <a:pPr marL="0" indent="0" algn="l">
              <a:lnSpc>
                <a:spcPct val="104000"/>
              </a:lnSpc>
              <a:buNone/>
            </a:pPr>
            <a:r>
              <a:rPr lang="en-US" sz="750" dirty="0">
                <a:solidFill>
                  <a:srgbClr val="15213F"/>
                </a:solidFill>
                <a:latin typeface="Roboto Slab" pitchFamily="34" charset="0"/>
                <a:ea typeface="Roboto Slab" pitchFamily="34" charset="-122"/>
                <a:cs typeface="Roboto Slab" pitchFamily="34" charset="-120"/>
              </a:rPr>
              <a:t>Round 5</a:t>
            </a:r>
            <a:endParaRPr lang="en-US" sz="750" dirty="0"/>
          </a:p>
        </p:txBody>
      </p:sp>
      <p:sp>
        <p:nvSpPr>
          <p:cNvPr id="34" name="Text 27"/>
          <p:cNvSpPr/>
          <p:nvPr/>
        </p:nvSpPr>
        <p:spPr>
          <a:xfrm>
            <a:off x="3354586" y="2738884"/>
            <a:ext cx="2472854" cy="100757"/>
          </a:xfrm>
          <a:prstGeom prst="rect">
            <a:avLst/>
          </a:prstGeom>
          <a:noFill/>
          <a:ln/>
        </p:spPr>
        <p:txBody>
          <a:bodyPr wrap="none" lIns="0" tIns="0" rIns="0" bIns="0" rtlCol="0" anchor="t"/>
          <a:lstStyle/>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Train Train Train Train TEST → </a:t>
            </a:r>
            <a:r>
              <a:rPr lang="en-US" sz="600" b="1" dirty="0">
                <a:solidFill>
                  <a:srgbClr val="15213F"/>
                </a:solidFill>
                <a:latin typeface="Roboto Bold" pitchFamily="34" charset="0"/>
                <a:ea typeface="Roboto Bold" pitchFamily="34" charset="-122"/>
                <a:cs typeface="Roboto Bold" pitchFamily="34" charset="-120"/>
              </a:rPr>
              <a:t>F1 = 0.61</a:t>
            </a:r>
            <a:endParaRPr lang="en-US" sz="600" dirty="0"/>
          </a:p>
        </p:txBody>
      </p:sp>
      <p:sp>
        <p:nvSpPr>
          <p:cNvPr id="35" name="Text 28"/>
          <p:cNvSpPr/>
          <p:nvPr/>
        </p:nvSpPr>
        <p:spPr>
          <a:xfrm>
            <a:off x="496119" y="299925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3257B8"/>
                </a:solidFill>
                <a:latin typeface="Roboto Slab" pitchFamily="34" charset="0"/>
                <a:ea typeface="Roboto Slab" pitchFamily="34" charset="-122"/>
                <a:cs typeface="Roboto Slab" pitchFamily="34" charset="-120"/>
              </a:rPr>
              <a:t>Average Macro-F1</a:t>
            </a:r>
            <a:endParaRPr lang="en-US" sz="1200" dirty="0"/>
          </a:p>
        </p:txBody>
      </p:sp>
      <p:sp>
        <p:nvSpPr>
          <p:cNvPr id="36" name="Text 29"/>
          <p:cNvSpPr/>
          <p:nvPr/>
        </p:nvSpPr>
        <p:spPr>
          <a:xfrm>
            <a:off x="496119" y="3265736"/>
            <a:ext cx="8151763" cy="255984"/>
          </a:xfrm>
          <a:prstGeom prst="rect">
            <a:avLst/>
          </a:prstGeom>
          <a:noFill/>
          <a:ln/>
        </p:spPr>
        <p:txBody>
          <a:bodyPr wrap="square" lIns="0" tIns="0" rIns="0" bIns="0" rtlCol="0" anchor="t"/>
          <a:lstStyle/>
          <a:p>
            <a:pPr marL="0" indent="0" algn="l">
              <a:lnSpc>
                <a:spcPct val="108000"/>
              </a:lnSpc>
              <a:spcAft>
                <a:spcPts val="400"/>
              </a:spcAft>
              <a:buNone/>
            </a:pPr>
            <a:r>
              <a:rPr lang="en-US" sz="600" b="1" dirty="0">
                <a:solidFill>
                  <a:srgbClr val="15213F"/>
                </a:solidFill>
                <a:latin typeface="Roboto Bold" pitchFamily="34" charset="0"/>
                <a:ea typeface="Roboto Bold" pitchFamily="34" charset="-122"/>
                <a:cs typeface="Roboto Bold" pitchFamily="34" charset="-120"/>
              </a:rPr>
              <a:t>0.736 ± 0.115</a:t>
            </a:r>
            <a:endParaRPr lang="en-US" sz="600" dirty="0"/>
          </a:p>
          <a:p>
            <a:pPr marL="0" indent="0" algn="l">
              <a:lnSpc>
                <a:spcPct val="108000"/>
              </a:lnSpc>
              <a:buNone/>
            </a:pPr>
            <a:r>
              <a:rPr lang="en-US" sz="600" dirty="0">
                <a:solidFill>
                  <a:srgbClr val="15213F"/>
                </a:solidFill>
                <a:latin typeface="Roboto" pitchFamily="34" charset="0"/>
                <a:ea typeface="Roboto" pitchFamily="34" charset="-122"/>
                <a:cs typeface="Roboto" pitchFamily="34" charset="-120"/>
              </a:rPr>
              <a:t>For each fold, the model trained on 160 posts and tested on 40 unseen posts. This ensures every labeled post appears in the test set exactly once and is evaluated by a model that has never seen it.</a:t>
            </a:r>
            <a:endParaRPr lang="en-US" sz="600" dirty="0"/>
          </a:p>
        </p:txBody>
      </p:sp>
      <p:sp>
        <p:nvSpPr>
          <p:cNvPr id="37" name="Text 30"/>
          <p:cNvSpPr/>
          <p:nvPr/>
        </p:nvSpPr>
        <p:spPr>
          <a:xfrm>
            <a:off x="496119" y="3576191"/>
            <a:ext cx="8151763" cy="218405"/>
          </a:xfrm>
          <a:prstGeom prst="rect">
            <a:avLst/>
          </a:prstGeom>
          <a:noFill/>
          <a:ln/>
        </p:spPr>
        <p:txBody>
          <a:bodyPr wrap="square" lIns="0" tIns="0" rIns="0" bIns="0" rtlCol="0" anchor="t">
            <a:normAutofit/>
          </a:bodyPr>
          <a:lstStyle/>
          <a:p>
            <a:pPr marL="121920" indent="-121920" algn="l">
              <a:lnSpc>
                <a:spcPct val="108000"/>
              </a:lnSpc>
              <a:buSzPct val="100000"/>
              <a:buChar char="•"/>
            </a:pPr>
            <a:r>
              <a:rPr lang="en-US" sz="600" dirty="0">
                <a:solidFill>
                  <a:srgbClr val="000000"/>
                </a:solidFill>
                <a:latin typeface="Roboto" pitchFamily="34" charset="0"/>
                <a:ea typeface="Roboto" pitchFamily="34" charset="-122"/>
                <a:cs typeface="Roboto" pitchFamily="34" charset="-120"/>
              </a:rPr>
              <a:t>✅</a:t>
            </a:r>
            <a:r>
              <a:rPr lang="en-US" sz="600" dirty="0">
                <a:solidFill>
                  <a:srgbClr val="15213F"/>
                </a:solidFill>
                <a:latin typeface="Roboto" pitchFamily="34" charset="0"/>
                <a:ea typeface="Roboto" pitchFamily="34" charset="-122"/>
                <a:cs typeface="Roboto" pitchFamily="34" charset="-120"/>
              </a:rPr>
              <a:t> Each labeled post appears in the test set exactly once</a:t>
            </a:r>
            <a:endParaRPr lang="en-US" sz="600" dirty="0"/>
          </a:p>
          <a:p>
            <a:pPr marL="121920" indent="-121920" algn="l">
              <a:lnSpc>
                <a:spcPct val="108000"/>
              </a:lnSpc>
              <a:buSzPct val="100000"/>
              <a:buChar char="•"/>
            </a:pPr>
            <a:r>
              <a:rPr lang="en-US" sz="600" dirty="0">
                <a:solidFill>
                  <a:srgbClr val="000000"/>
                </a:solidFill>
                <a:latin typeface="Roboto" pitchFamily="34" charset="0"/>
                <a:ea typeface="Roboto" pitchFamily="34" charset="-122"/>
                <a:cs typeface="Roboto" pitchFamily="34" charset="-120"/>
              </a:rPr>
              <a:t>✅</a:t>
            </a:r>
            <a:r>
              <a:rPr lang="en-US" sz="600" dirty="0">
                <a:solidFill>
                  <a:srgbClr val="15213F"/>
                </a:solidFill>
                <a:latin typeface="Roboto" pitchFamily="34" charset="0"/>
                <a:ea typeface="Roboto" pitchFamily="34" charset="-122"/>
                <a:cs typeface="Roboto" pitchFamily="34" charset="-120"/>
              </a:rPr>
              <a:t> Each post is evaluated by a model that has never seen it</a:t>
            </a:r>
            <a:endParaRPr lang="en-US" sz="600" dirty="0"/>
          </a:p>
        </p:txBody>
      </p:sp>
      <p:sp>
        <p:nvSpPr>
          <p:cNvPr id="38" name="Text 31"/>
          <p:cNvSpPr/>
          <p:nvPr/>
        </p:nvSpPr>
        <p:spPr>
          <a:xfrm>
            <a:off x="496119" y="3867224"/>
            <a:ext cx="2211660"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3257B8"/>
                </a:solidFill>
                <a:latin typeface="Roboto Slab" pitchFamily="34" charset="0"/>
                <a:ea typeface="Roboto Slab" pitchFamily="34" charset="-122"/>
                <a:cs typeface="Roboto Slab" pitchFamily="34" charset="-120"/>
              </a:rPr>
              <a:t> Performance Results</a:t>
            </a:r>
            <a:endParaRPr lang="en-US" sz="1200" dirty="0"/>
          </a:p>
        </p:txBody>
      </p:sp>
      <p:sp>
        <p:nvSpPr>
          <p:cNvPr id="39" name="Text 32"/>
          <p:cNvSpPr/>
          <p:nvPr/>
        </p:nvSpPr>
        <p:spPr>
          <a:xfrm>
            <a:off x="496119" y="4177159"/>
            <a:ext cx="2676897" cy="25583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Roboto Slab" pitchFamily="34" charset="0"/>
                <a:ea typeface="Roboto Slab" pitchFamily="34" charset="-122"/>
                <a:cs typeface="Roboto Slab" pitchFamily="34" charset="-120"/>
              </a:rPr>
              <a:t>0.63</a:t>
            </a:r>
            <a:endParaRPr lang="en-US" sz="2000" dirty="0"/>
          </a:p>
        </p:txBody>
      </p:sp>
      <p:sp>
        <p:nvSpPr>
          <p:cNvPr id="40" name="Text 33"/>
          <p:cNvSpPr/>
          <p:nvPr/>
        </p:nvSpPr>
        <p:spPr>
          <a:xfrm>
            <a:off x="1212056" y="4508004"/>
            <a:ext cx="1245022" cy="121072"/>
          </a:xfrm>
          <a:prstGeom prst="rect">
            <a:avLst/>
          </a:prstGeom>
          <a:noFill/>
          <a:ln/>
        </p:spPr>
        <p:txBody>
          <a:bodyPr wrap="none" lIns="0" tIns="0" rIns="0" bIns="0" rtlCol="0" anchor="t"/>
          <a:lstStyle/>
          <a:p>
            <a:pPr marL="0" indent="0" algn="ctr">
              <a:lnSpc>
                <a:spcPct val="104000"/>
              </a:lnSpc>
              <a:buNone/>
            </a:pPr>
            <a:r>
              <a:rPr lang="en-US" sz="750" dirty="0">
                <a:solidFill>
                  <a:srgbClr val="15213F"/>
                </a:solidFill>
                <a:latin typeface="Roboto Slab" pitchFamily="34" charset="0"/>
                <a:ea typeface="Roboto Slab" pitchFamily="34" charset="-122"/>
                <a:cs typeface="Roboto Slab" pitchFamily="34" charset="-120"/>
              </a:rPr>
              <a:t>Baseline Sentiment Models</a:t>
            </a:r>
            <a:endParaRPr lang="en-US" sz="750" dirty="0"/>
          </a:p>
        </p:txBody>
      </p:sp>
      <p:sp>
        <p:nvSpPr>
          <p:cNvPr id="41" name="Text 34"/>
          <p:cNvSpPr/>
          <p:nvPr/>
        </p:nvSpPr>
        <p:spPr>
          <a:xfrm>
            <a:off x="3233514" y="4177159"/>
            <a:ext cx="2676897" cy="25583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Roboto Slab" pitchFamily="34" charset="0"/>
                <a:ea typeface="Roboto Slab" pitchFamily="34" charset="-122"/>
                <a:cs typeface="Roboto Slab" pitchFamily="34" charset="-120"/>
              </a:rPr>
              <a:t>0.736</a:t>
            </a:r>
            <a:endParaRPr lang="en-US" sz="2000" dirty="0"/>
          </a:p>
        </p:txBody>
      </p:sp>
      <p:sp>
        <p:nvSpPr>
          <p:cNvPr id="42" name="Text 35"/>
          <p:cNvSpPr/>
          <p:nvPr/>
        </p:nvSpPr>
        <p:spPr>
          <a:xfrm>
            <a:off x="3984873" y="4508004"/>
            <a:ext cx="1174105" cy="121072"/>
          </a:xfrm>
          <a:prstGeom prst="rect">
            <a:avLst/>
          </a:prstGeom>
          <a:noFill/>
          <a:ln/>
        </p:spPr>
        <p:txBody>
          <a:bodyPr wrap="none" lIns="0" tIns="0" rIns="0" bIns="0" rtlCol="0" anchor="t"/>
          <a:lstStyle/>
          <a:p>
            <a:pPr marL="0" indent="0" algn="ctr">
              <a:lnSpc>
                <a:spcPct val="104000"/>
              </a:lnSpc>
              <a:buNone/>
            </a:pPr>
            <a:r>
              <a:rPr lang="en-US" sz="750" dirty="0">
                <a:solidFill>
                  <a:srgbClr val="15213F"/>
                </a:solidFill>
                <a:latin typeface="Roboto Slab" pitchFamily="34" charset="0"/>
                <a:ea typeface="Roboto Slab" pitchFamily="34" charset="-122"/>
                <a:cs typeface="Roboto Slab" pitchFamily="34" charset="-120"/>
              </a:rPr>
              <a:t>Cross-Validation Mean F1</a:t>
            </a:r>
            <a:endParaRPr lang="en-US" sz="750" dirty="0"/>
          </a:p>
        </p:txBody>
      </p:sp>
      <p:sp>
        <p:nvSpPr>
          <p:cNvPr id="43" name="Text 36"/>
          <p:cNvSpPr/>
          <p:nvPr/>
        </p:nvSpPr>
        <p:spPr>
          <a:xfrm>
            <a:off x="3233514" y="4658097"/>
            <a:ext cx="2676897" cy="100757"/>
          </a:xfrm>
          <a:prstGeom prst="rect">
            <a:avLst/>
          </a:prstGeom>
          <a:noFill/>
          <a:ln/>
        </p:spPr>
        <p:txBody>
          <a:bodyPr wrap="none" lIns="0" tIns="0" rIns="0" bIns="0" rtlCol="0" anchor="t"/>
          <a:lstStyle/>
          <a:p>
            <a:pPr marL="0" indent="0" algn="ctr">
              <a:lnSpc>
                <a:spcPct val="108000"/>
              </a:lnSpc>
              <a:buNone/>
            </a:pPr>
            <a:r>
              <a:rPr lang="en-US" sz="600" dirty="0">
                <a:solidFill>
                  <a:srgbClr val="15213F"/>
                </a:solidFill>
                <a:latin typeface="Roboto" pitchFamily="34" charset="0"/>
                <a:ea typeface="Roboto" pitchFamily="34" charset="-122"/>
                <a:cs typeface="Roboto" pitchFamily="34" charset="-120"/>
              </a:rPr>
              <a:t>± 0.115</a:t>
            </a:r>
            <a:endParaRPr lang="en-US" sz="600" dirty="0"/>
          </a:p>
        </p:txBody>
      </p:sp>
      <p:sp>
        <p:nvSpPr>
          <p:cNvPr id="44" name="Text 37"/>
          <p:cNvSpPr/>
          <p:nvPr/>
        </p:nvSpPr>
        <p:spPr>
          <a:xfrm>
            <a:off x="5970910" y="4177159"/>
            <a:ext cx="2676971" cy="25583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Roboto Slab" pitchFamily="34" charset="0"/>
                <a:ea typeface="Roboto Slab" pitchFamily="34" charset="-122"/>
                <a:cs typeface="Roboto Slab" pitchFamily="34" charset="-120"/>
              </a:rPr>
              <a:t>0.764</a:t>
            </a:r>
            <a:endParaRPr lang="en-US" sz="2000" dirty="0"/>
          </a:p>
        </p:txBody>
      </p:sp>
      <p:sp>
        <p:nvSpPr>
          <p:cNvPr id="45" name="Text 38"/>
          <p:cNvSpPr/>
          <p:nvPr/>
        </p:nvSpPr>
        <p:spPr>
          <a:xfrm>
            <a:off x="6824811" y="4508004"/>
            <a:ext cx="969094" cy="121072"/>
          </a:xfrm>
          <a:prstGeom prst="rect">
            <a:avLst/>
          </a:prstGeom>
          <a:noFill/>
          <a:ln/>
        </p:spPr>
        <p:txBody>
          <a:bodyPr wrap="none" lIns="0" tIns="0" rIns="0" bIns="0" rtlCol="0" anchor="t"/>
          <a:lstStyle/>
          <a:p>
            <a:pPr marL="0" indent="0" algn="ctr">
              <a:lnSpc>
                <a:spcPct val="104000"/>
              </a:lnSpc>
              <a:buNone/>
            </a:pPr>
            <a:r>
              <a:rPr lang="en-US" sz="750" dirty="0">
                <a:solidFill>
                  <a:srgbClr val="15213F"/>
                </a:solidFill>
                <a:latin typeface="Roboto Slab" pitchFamily="34" charset="0"/>
                <a:ea typeface="Roboto Slab" pitchFamily="34" charset="-122"/>
                <a:cs typeface="Roboto Slab" pitchFamily="34" charset="-120"/>
              </a:rPr>
              <a:t>Out-of-Fold Macro-F1</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49597"/>
            <a:ext cx="3499470" cy="215429"/>
          </a:xfrm>
          <a:prstGeom prst="rect">
            <a:avLst/>
          </a:prstGeom>
          <a:noFill/>
          <a:ln/>
        </p:spPr>
        <p:txBody>
          <a:bodyPr wrap="none" lIns="0" tIns="0" rIns="0" bIns="0" rtlCol="0" anchor="t"/>
          <a:lstStyle/>
          <a:p>
            <a:pPr marL="0" indent="0" algn="l">
              <a:lnSpc>
                <a:spcPct val="104000"/>
              </a:lnSpc>
              <a:buNone/>
            </a:pPr>
            <a:r>
              <a:rPr lang="en-US" sz="1250" dirty="0">
                <a:solidFill>
                  <a:srgbClr val="000000"/>
                </a:solidFill>
                <a:latin typeface="Roboto Slab" pitchFamily="34" charset="0"/>
                <a:ea typeface="Roboto Slab" pitchFamily="34" charset="-122"/>
                <a:cs typeface="Roboto Slab" pitchFamily="34" charset="-120"/>
              </a:rPr>
              <a:t>⚙️</a:t>
            </a:r>
            <a:r>
              <a:rPr lang="en-US" sz="1250" dirty="0">
                <a:solidFill>
                  <a:srgbClr val="3257B8"/>
                </a:solidFill>
                <a:latin typeface="Roboto Slab" pitchFamily="34" charset="0"/>
                <a:ea typeface="Roboto Slab" pitchFamily="34" charset="-122"/>
                <a:cs typeface="Roboto Slab" pitchFamily="34" charset="-120"/>
              </a:rPr>
              <a:t> Training Details &amp; Hyperparameters</a:t>
            </a:r>
            <a:endParaRPr lang="en-US" sz="1250" dirty="0"/>
          </a:p>
        </p:txBody>
      </p:sp>
      <p:sp>
        <p:nvSpPr>
          <p:cNvPr id="3" name="Shape 1"/>
          <p:cNvSpPr/>
          <p:nvPr/>
        </p:nvSpPr>
        <p:spPr>
          <a:xfrm>
            <a:off x="496119" y="656853"/>
            <a:ext cx="2831753" cy="418802"/>
          </a:xfrm>
          <a:prstGeom prst="roundRect">
            <a:avLst>
              <a:gd name="adj" fmla="val 2360"/>
            </a:avLst>
          </a:prstGeom>
          <a:solidFill>
            <a:srgbClr val="D7DFF4"/>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61975" y="743396"/>
            <a:ext cx="82302" cy="65856"/>
          </a:xfrm>
          <a:prstGeom prst="rect">
            <a:avLst/>
          </a:prstGeom>
        </p:spPr>
      </p:pic>
      <p:sp>
        <p:nvSpPr>
          <p:cNvPr id="5" name="Text 2"/>
          <p:cNvSpPr/>
          <p:nvPr/>
        </p:nvSpPr>
        <p:spPr>
          <a:xfrm>
            <a:off x="710133" y="704776"/>
            <a:ext cx="2551881" cy="322957"/>
          </a:xfrm>
          <a:prstGeom prst="rect">
            <a:avLst/>
          </a:prstGeom>
          <a:noFill/>
          <a:ln/>
        </p:spPr>
        <p:txBody>
          <a:bodyPr wrap="square" lIns="0" tIns="0" rIns="0" bIns="0" rtlCol="0" anchor="t">
            <a:normAutofit/>
          </a:bodyPr>
          <a:lstStyle/>
          <a:p>
            <a:pPr marL="0" indent="0" algn="l">
              <a:lnSpc>
                <a:spcPct val="102000"/>
              </a:lnSpc>
              <a:buNone/>
            </a:pPr>
            <a:r>
              <a:rPr lang="en-US" sz="500" b="1" dirty="0">
                <a:solidFill>
                  <a:srgbClr val="000000"/>
                </a:solidFill>
                <a:latin typeface="Roboto Bold" pitchFamily="34" charset="0"/>
                <a:ea typeface="Roboto Bold" pitchFamily="34" charset="-122"/>
                <a:cs typeface="Roboto Bold" pitchFamily="34" charset="-120"/>
              </a:rPr>
              <a:t>Weighted loss is important:</a:t>
            </a:r>
            <a:r>
              <a:rPr lang="en-US" sz="500" dirty="0">
                <a:solidFill>
                  <a:srgbClr val="000000"/>
                </a:solidFill>
                <a:latin typeface="Roboto" pitchFamily="34" charset="0"/>
                <a:ea typeface="Roboto" pitchFamily="34" charset="-122"/>
                <a:cs typeface="Roboto" pitchFamily="34" charset="-120"/>
              </a:rPr>
              <a:t> our Walmart-200 is roughly 63% negative / 32% neutral / 4% positive. A plain classifier would just predict 'negative' always and score 63% accuracy. We up-weight the rare classes so the model is forced to actually learn positive.</a:t>
            </a:r>
            <a:endParaRPr lang="en-US" sz="500" dirty="0"/>
          </a:p>
        </p:txBody>
      </p:sp>
      <p:sp>
        <p:nvSpPr>
          <p:cNvPr id="6" name="Shape 3"/>
          <p:cNvSpPr/>
          <p:nvPr/>
        </p:nvSpPr>
        <p:spPr>
          <a:xfrm>
            <a:off x="496119" y="1131466"/>
            <a:ext cx="2831753" cy="9525"/>
          </a:xfrm>
          <a:prstGeom prst="roundRect">
            <a:avLst>
              <a:gd name="adj" fmla="val 60000"/>
            </a:avLst>
          </a:prstGeom>
          <a:solidFill>
            <a:srgbClr val="15213F">
              <a:alpha val="50000"/>
            </a:srgbClr>
          </a:solidFill>
          <a:ln/>
        </p:spPr>
        <p:txBody>
          <a:bodyPr/>
          <a:lstStyle/>
          <a:p>
            <a:endParaRPr lang="en-US"/>
          </a:p>
        </p:txBody>
      </p:sp>
      <p:sp>
        <p:nvSpPr>
          <p:cNvPr id="7" name="Text 4"/>
          <p:cNvSpPr/>
          <p:nvPr/>
        </p:nvSpPr>
        <p:spPr>
          <a:xfrm>
            <a:off x="496119" y="1196801"/>
            <a:ext cx="2831753" cy="329357"/>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3257B8"/>
                </a:solidFill>
                <a:latin typeface="Roboto Slab" pitchFamily="34" charset="0"/>
                <a:ea typeface="Roboto Slab" pitchFamily="34" charset="-122"/>
                <a:cs typeface="Roboto Slab" pitchFamily="34" charset="-120"/>
              </a:rPr>
              <a:t>What 'loss = cross-entropy on logits' actually does during training</a:t>
            </a:r>
            <a:endParaRPr lang="en-US" sz="1000" dirty="0"/>
          </a:p>
        </p:txBody>
      </p:sp>
      <p:sp>
        <p:nvSpPr>
          <p:cNvPr id="8" name="Text 5"/>
          <p:cNvSpPr/>
          <p:nvPr/>
        </p:nvSpPr>
        <p:spPr>
          <a:xfrm>
            <a:off x="496119" y="1561133"/>
            <a:ext cx="2831753" cy="533251"/>
          </a:xfrm>
          <a:prstGeom prst="rect">
            <a:avLst/>
          </a:prstGeom>
          <a:noFill/>
          <a:ln/>
        </p:spPr>
        <p:txBody>
          <a:bodyPr wrap="square" lIns="0" tIns="0" rIns="0" bIns="0" rtlCol="0" anchor="t">
            <a:normAutofit/>
          </a:bodyPr>
          <a:lstStyle/>
          <a:p>
            <a:pPr marL="101600" indent="-101600" algn="l">
              <a:lnSpc>
                <a:spcPct val="102000"/>
              </a:lnSpc>
              <a:buSzPct val="100000"/>
              <a:buFont typeface="+mj-lt"/>
              <a:buAutoNum type="arabicPeriod"/>
            </a:pPr>
            <a:r>
              <a:rPr lang="en-US" sz="500" dirty="0">
                <a:solidFill>
                  <a:srgbClr val="15213F"/>
                </a:solidFill>
                <a:latin typeface="Roboto" pitchFamily="34" charset="0"/>
                <a:ea typeface="Roboto" pitchFamily="34" charset="-122"/>
                <a:cs typeface="Roboto" pitchFamily="34" charset="-120"/>
              </a:rPr>
              <a:t>Reads the tokens, produces 3 logits, e.g. [3.2, 0.9, 0.1].</a:t>
            </a:r>
            <a:endParaRPr lang="en-US" sz="500" dirty="0"/>
          </a:p>
          <a:p>
            <a:pPr marL="101600" indent="-101600" algn="l">
              <a:lnSpc>
                <a:spcPct val="102000"/>
              </a:lnSpc>
              <a:buSzPct val="100000"/>
              <a:buFont typeface="+mj-lt"/>
              <a:buAutoNum type="arabicPeriod" startAt="2"/>
            </a:pPr>
            <a:r>
              <a:rPr lang="en-US" sz="500" dirty="0">
                <a:solidFill>
                  <a:srgbClr val="15213F"/>
                </a:solidFill>
                <a:latin typeface="Roboto" pitchFamily="34" charset="0"/>
                <a:ea typeface="Roboto" pitchFamily="34" charset="-122"/>
                <a:cs typeface="Roboto" pitchFamily="34" charset="-120"/>
              </a:rPr>
              <a:t>Applies softmax → [0.87, 0.09, 0.04].</a:t>
            </a:r>
            <a:endParaRPr lang="en-US" sz="500" dirty="0"/>
          </a:p>
          <a:p>
            <a:pPr marL="101600" indent="-101600" algn="l">
              <a:lnSpc>
                <a:spcPct val="102000"/>
              </a:lnSpc>
              <a:buSzPct val="100000"/>
              <a:buFont typeface="+mj-lt"/>
              <a:buAutoNum type="arabicPeriod" startAt="3"/>
            </a:pPr>
            <a:r>
              <a:rPr lang="en-US" sz="500" dirty="0">
                <a:solidFill>
                  <a:srgbClr val="15213F"/>
                </a:solidFill>
                <a:latin typeface="Roboto" pitchFamily="34" charset="0"/>
                <a:ea typeface="Roboto" pitchFamily="34" charset="-122"/>
                <a:cs typeface="Roboto" pitchFamily="34" charset="-120"/>
              </a:rPr>
              <a:t>True label is negative (class 0). So loss = -log(0.87) = 0.14. Small loss = model was already right.</a:t>
            </a:r>
            <a:endParaRPr lang="en-US" sz="500" dirty="0"/>
          </a:p>
          <a:p>
            <a:pPr marL="101600" indent="-101600" algn="l">
              <a:lnSpc>
                <a:spcPct val="102000"/>
              </a:lnSpc>
              <a:buSzPct val="100000"/>
              <a:buFont typeface="+mj-lt"/>
              <a:buAutoNum type="arabicPeriod" startAt="4"/>
            </a:pPr>
            <a:r>
              <a:rPr lang="en-US" sz="500" dirty="0">
                <a:solidFill>
                  <a:srgbClr val="15213F"/>
                </a:solidFill>
                <a:latin typeface="Roboto" pitchFamily="34" charset="0"/>
                <a:ea typeface="Roboto" pitchFamily="34" charset="-122"/>
                <a:cs typeface="Roboto" pitchFamily="34" charset="-120"/>
              </a:rPr>
              <a:t>If true label had been positive (class 2), loss = -log(0.04) = 3.22. Huge loss = big kick.</a:t>
            </a:r>
            <a:endParaRPr lang="en-US" sz="500" dirty="0"/>
          </a:p>
          <a:p>
            <a:pPr marL="101600" indent="-101600" algn="l">
              <a:lnSpc>
                <a:spcPct val="102000"/>
              </a:lnSpc>
              <a:buSzPct val="100000"/>
              <a:buFont typeface="+mj-lt"/>
              <a:buAutoNum type="arabicPeriod" startAt="5"/>
            </a:pPr>
            <a:r>
              <a:rPr lang="en-US" sz="500" dirty="0">
                <a:solidFill>
                  <a:srgbClr val="15213F"/>
                </a:solidFill>
                <a:latin typeface="Roboto" pitchFamily="34" charset="0"/>
                <a:ea typeface="Roboto" pitchFamily="34" charset="-122"/>
                <a:cs typeface="Roboto" pitchFamily="34" charset="-120"/>
              </a:rPr>
              <a:t>Backpropagation adjusts every weight to make the correct class's probability larger next time.</a:t>
            </a:r>
            <a:endParaRPr lang="en-US" sz="500" dirty="0"/>
          </a:p>
        </p:txBody>
      </p:sp>
      <p:sp>
        <p:nvSpPr>
          <p:cNvPr id="9" name="Text 6"/>
          <p:cNvSpPr/>
          <p:nvPr/>
        </p:nvSpPr>
        <p:spPr>
          <a:xfrm>
            <a:off x="496119" y="2125861"/>
            <a:ext cx="2831753" cy="242218"/>
          </a:xfrm>
          <a:prstGeom prst="rect">
            <a:avLst/>
          </a:prstGeom>
          <a:noFill/>
          <a:ln/>
        </p:spPr>
        <p:txBody>
          <a:bodyPr wrap="square" lIns="0" tIns="0" rIns="0" bIns="0" rtlCol="0" anchor="t">
            <a:normAutofit/>
          </a:bodyPr>
          <a:lstStyle/>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Multiply this over 88k training examples × 2 epochs (Stage 1+2) plus 200 × 10 epochs × 5 folds (Stage 3), and the model gradually rearranges its internal weights so Walmart complaints get high negative logits.</a:t>
            </a:r>
            <a:endParaRPr lang="en-US" sz="5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656853"/>
            <a:ext cx="5159201" cy="481608"/>
          </a:xfrm>
          <a:prstGeom prst="rect">
            <a:avLst/>
          </a:prstGeom>
        </p:spPr>
      </p:pic>
      <p:sp>
        <p:nvSpPr>
          <p:cNvPr id="11" name="Text 7"/>
          <p:cNvSpPr/>
          <p:nvPr/>
        </p:nvSpPr>
        <p:spPr>
          <a:xfrm>
            <a:off x="3801442" y="732234"/>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Base model</a:t>
            </a:r>
            <a:endParaRPr lang="en-US" sz="600" dirty="0"/>
          </a:p>
        </p:txBody>
      </p:sp>
      <p:sp>
        <p:nvSpPr>
          <p:cNvPr id="12" name="Text 8"/>
          <p:cNvSpPr/>
          <p:nvPr/>
        </p:nvSpPr>
        <p:spPr>
          <a:xfrm>
            <a:off x="3801442" y="870124"/>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answerdotai/ModernBERT-base</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~150M params, 8192 context</a:t>
            </a:r>
            <a:endParaRPr lang="en-US" sz="5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1173435"/>
            <a:ext cx="5159201" cy="481608"/>
          </a:xfrm>
          <a:prstGeom prst="rect">
            <a:avLst/>
          </a:prstGeom>
        </p:spPr>
      </p:pic>
      <p:sp>
        <p:nvSpPr>
          <p:cNvPr id="14" name="Text 9"/>
          <p:cNvSpPr/>
          <p:nvPr/>
        </p:nvSpPr>
        <p:spPr>
          <a:xfrm>
            <a:off x="3801442" y="1248817"/>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Learning rate</a:t>
            </a:r>
            <a:endParaRPr lang="en-US" sz="600" dirty="0"/>
          </a:p>
        </p:txBody>
      </p:sp>
      <p:sp>
        <p:nvSpPr>
          <p:cNvPr id="15" name="Text 10"/>
          <p:cNvSpPr/>
          <p:nvPr/>
        </p:nvSpPr>
        <p:spPr>
          <a:xfrm>
            <a:off x="3801442" y="1386706"/>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2e-5</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Standard fine-tuning LR</a:t>
            </a:r>
            <a:endParaRPr lang="en-US" sz="5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1690018"/>
            <a:ext cx="5159201" cy="481608"/>
          </a:xfrm>
          <a:prstGeom prst="rect">
            <a:avLst/>
          </a:prstGeom>
        </p:spPr>
      </p:pic>
      <p:sp>
        <p:nvSpPr>
          <p:cNvPr id="17" name="Text 11"/>
          <p:cNvSpPr/>
          <p:nvPr/>
        </p:nvSpPr>
        <p:spPr>
          <a:xfrm>
            <a:off x="3801442" y="1765399"/>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Batch size</a:t>
            </a:r>
            <a:endParaRPr lang="en-US" sz="600" dirty="0"/>
          </a:p>
        </p:txBody>
      </p:sp>
      <p:sp>
        <p:nvSpPr>
          <p:cNvPr id="18" name="Text 12"/>
          <p:cNvSpPr/>
          <p:nvPr/>
        </p:nvSpPr>
        <p:spPr>
          <a:xfrm>
            <a:off x="3801442" y="1903288"/>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16–32</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Fits on Apple M-series MPS</a:t>
            </a:r>
            <a:endParaRPr lang="en-US" sz="500"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2206600"/>
            <a:ext cx="5159201" cy="481608"/>
          </a:xfrm>
          <a:prstGeom prst="rect">
            <a:avLst/>
          </a:prstGeom>
        </p:spPr>
      </p:pic>
      <p:sp>
        <p:nvSpPr>
          <p:cNvPr id="20" name="Text 13"/>
          <p:cNvSpPr/>
          <p:nvPr/>
        </p:nvSpPr>
        <p:spPr>
          <a:xfrm>
            <a:off x="3801442" y="2281982"/>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Max token length</a:t>
            </a:r>
            <a:endParaRPr lang="en-US" sz="600" dirty="0"/>
          </a:p>
        </p:txBody>
      </p:sp>
      <p:sp>
        <p:nvSpPr>
          <p:cNvPr id="21" name="Text 14"/>
          <p:cNvSpPr/>
          <p:nvPr/>
        </p:nvSpPr>
        <p:spPr>
          <a:xfrm>
            <a:off x="3801442" y="2419871"/>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2048</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99% of Reddit posts</a:t>
            </a:r>
            <a:endParaRPr lang="en-US" sz="500"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2723183"/>
            <a:ext cx="5159201" cy="481608"/>
          </a:xfrm>
          <a:prstGeom prst="rect">
            <a:avLst/>
          </a:prstGeom>
        </p:spPr>
      </p:pic>
      <p:sp>
        <p:nvSpPr>
          <p:cNvPr id="23" name="Text 15"/>
          <p:cNvSpPr/>
          <p:nvPr/>
        </p:nvSpPr>
        <p:spPr>
          <a:xfrm>
            <a:off x="3801442" y="2798564"/>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Loss</a:t>
            </a:r>
            <a:endParaRPr lang="en-US" sz="600" dirty="0"/>
          </a:p>
        </p:txBody>
      </p:sp>
      <p:sp>
        <p:nvSpPr>
          <p:cNvPr id="24" name="Text 16"/>
          <p:cNvSpPr/>
          <p:nvPr/>
        </p:nvSpPr>
        <p:spPr>
          <a:xfrm>
            <a:off x="3801442" y="2936453"/>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Weighted cross-entropy</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Counter class imbalance</a:t>
            </a:r>
            <a:endParaRPr lang="en-US" sz="500" dirty="0"/>
          </a:p>
        </p:txBody>
      </p:sp>
      <p:pic>
        <p:nvPicPr>
          <p:cNvPr id="25"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3239765"/>
            <a:ext cx="5159201" cy="481608"/>
          </a:xfrm>
          <a:prstGeom prst="rect">
            <a:avLst/>
          </a:prstGeom>
        </p:spPr>
      </p:pic>
      <p:sp>
        <p:nvSpPr>
          <p:cNvPr id="26" name="Text 17"/>
          <p:cNvSpPr/>
          <p:nvPr/>
        </p:nvSpPr>
        <p:spPr>
          <a:xfrm>
            <a:off x="3801442" y="3315146"/>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Early stopping</a:t>
            </a:r>
            <a:endParaRPr lang="en-US" sz="600" dirty="0"/>
          </a:p>
        </p:txBody>
      </p:sp>
      <p:sp>
        <p:nvSpPr>
          <p:cNvPr id="27" name="Text 18"/>
          <p:cNvSpPr/>
          <p:nvPr/>
        </p:nvSpPr>
        <p:spPr>
          <a:xfrm>
            <a:off x="3801442" y="3453036"/>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On macro-F1</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Prevents overfitting</a:t>
            </a:r>
            <a:endParaRPr lang="en-US" sz="500" dirty="0"/>
          </a:p>
        </p:txBody>
      </p:sp>
      <p:pic>
        <p:nvPicPr>
          <p:cNvPr id="28"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3756347"/>
            <a:ext cx="5159201" cy="481608"/>
          </a:xfrm>
          <a:prstGeom prst="rect">
            <a:avLst/>
          </a:prstGeom>
        </p:spPr>
      </p:pic>
      <p:sp>
        <p:nvSpPr>
          <p:cNvPr id="29" name="Text 19"/>
          <p:cNvSpPr/>
          <p:nvPr/>
        </p:nvSpPr>
        <p:spPr>
          <a:xfrm>
            <a:off x="3801442" y="3831729"/>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Optimiser</a:t>
            </a:r>
            <a:endParaRPr lang="en-US" sz="600" dirty="0"/>
          </a:p>
        </p:txBody>
      </p:sp>
      <p:sp>
        <p:nvSpPr>
          <p:cNvPr id="30" name="Text 20"/>
          <p:cNvSpPr/>
          <p:nvPr/>
        </p:nvSpPr>
        <p:spPr>
          <a:xfrm>
            <a:off x="3801442" y="3969618"/>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AdamW (Trainer default)</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Standard for transformers</a:t>
            </a:r>
            <a:endParaRPr lang="en-US" sz="500" dirty="0"/>
          </a:p>
        </p:txBody>
      </p:sp>
      <p:pic>
        <p:nvPicPr>
          <p:cNvPr id="31" name="Image 8"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3368" y="4272930"/>
            <a:ext cx="5159201" cy="481608"/>
          </a:xfrm>
          <a:prstGeom prst="rect">
            <a:avLst/>
          </a:prstGeom>
        </p:spPr>
      </p:pic>
      <p:sp>
        <p:nvSpPr>
          <p:cNvPr id="32" name="Text 21"/>
          <p:cNvSpPr/>
          <p:nvPr/>
        </p:nvSpPr>
        <p:spPr>
          <a:xfrm>
            <a:off x="3801442" y="4348311"/>
            <a:ext cx="823689" cy="102915"/>
          </a:xfrm>
          <a:prstGeom prst="rect">
            <a:avLst/>
          </a:prstGeom>
          <a:noFill/>
          <a:ln/>
        </p:spPr>
        <p:txBody>
          <a:bodyPr wrap="none" lIns="0" tIns="0" rIns="0" bIns="0" rtlCol="0" anchor="t"/>
          <a:lstStyle/>
          <a:p>
            <a:pPr marL="0" indent="0" algn="l">
              <a:lnSpc>
                <a:spcPct val="104000"/>
              </a:lnSpc>
              <a:buNone/>
            </a:pPr>
            <a:r>
              <a:rPr lang="en-US" sz="600" dirty="0">
                <a:solidFill>
                  <a:srgbClr val="15213F"/>
                </a:solidFill>
                <a:latin typeface="Roboto Slab" pitchFamily="34" charset="0"/>
                <a:ea typeface="Roboto Slab" pitchFamily="34" charset="-122"/>
                <a:cs typeface="Roboto Slab" pitchFamily="34" charset="-120"/>
              </a:rPr>
              <a:t>Seed</a:t>
            </a:r>
            <a:endParaRPr lang="en-US" sz="600" dirty="0"/>
          </a:p>
        </p:txBody>
      </p:sp>
      <p:sp>
        <p:nvSpPr>
          <p:cNvPr id="33" name="Text 22"/>
          <p:cNvSpPr/>
          <p:nvPr/>
        </p:nvSpPr>
        <p:spPr>
          <a:xfrm>
            <a:off x="3801442" y="4486201"/>
            <a:ext cx="4775746" cy="192956"/>
          </a:xfrm>
          <a:prstGeom prst="rect">
            <a:avLst/>
          </a:prstGeom>
          <a:noFill/>
          <a:ln/>
        </p:spPr>
        <p:txBody>
          <a:bodyPr wrap="square" lIns="0" tIns="0" rIns="0" bIns="0" rtlCol="0" anchor="t"/>
          <a:lstStyle/>
          <a:p>
            <a:pPr marL="0" indent="0" algn="l">
              <a:lnSpc>
                <a:spcPct val="102000"/>
              </a:lnSpc>
              <a:spcAft>
                <a:spcPts val="200"/>
              </a:spcAft>
              <a:buNone/>
            </a:pPr>
            <a:r>
              <a:rPr lang="en-US" sz="500" dirty="0">
                <a:solidFill>
                  <a:srgbClr val="15213F"/>
                </a:solidFill>
                <a:latin typeface="Roboto" pitchFamily="34" charset="0"/>
                <a:ea typeface="Roboto" pitchFamily="34" charset="-122"/>
                <a:cs typeface="Roboto" pitchFamily="34" charset="-120"/>
              </a:rPr>
              <a:t>42</a:t>
            </a:r>
            <a:endParaRPr lang="en-US" sz="500" dirty="0"/>
          </a:p>
          <a:p>
            <a:pPr marL="0" indent="0" algn="l">
              <a:lnSpc>
                <a:spcPct val="102000"/>
              </a:lnSpc>
              <a:buNone/>
            </a:pPr>
            <a:r>
              <a:rPr lang="en-US" sz="500" dirty="0">
                <a:solidFill>
                  <a:srgbClr val="15213F"/>
                </a:solidFill>
                <a:latin typeface="Roboto" pitchFamily="34" charset="0"/>
                <a:ea typeface="Roboto" pitchFamily="34" charset="-122"/>
                <a:cs typeface="Roboto" pitchFamily="34" charset="-120"/>
              </a:rPr>
              <a:t>Reproducibility</a:t>
            </a:r>
            <a:endParaRPr lang="en-US" sz="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09203"/>
            <a:ext cx="5407223" cy="304502"/>
          </a:xfrm>
          <a:prstGeom prst="rect">
            <a:avLst/>
          </a:prstGeom>
          <a:noFill/>
          <a:ln/>
        </p:spPr>
        <p:txBody>
          <a:bodyPr wrap="none" lIns="0" tIns="0" rIns="0" bIns="0" rtlCol="0" anchor="t"/>
          <a:lstStyle/>
          <a:p>
            <a:pPr marL="0" indent="0" algn="l">
              <a:lnSpc>
                <a:spcPct val="104000"/>
              </a:lnSpc>
              <a:buNone/>
            </a:pPr>
            <a:r>
              <a:rPr lang="en-US" sz="1900" dirty="0">
                <a:solidFill>
                  <a:srgbClr val="3257B8"/>
                </a:solidFill>
                <a:latin typeface="Roboto Slab" pitchFamily="34" charset="0"/>
                <a:ea typeface="Roboto Slab" pitchFamily="34" charset="-122"/>
                <a:cs typeface="Roboto Slab" pitchFamily="34" charset="-120"/>
              </a:rPr>
              <a:t>Trust · Confidence Score — Model Certainty</a:t>
            </a:r>
            <a:endParaRPr lang="en-US" sz="1900" dirty="0"/>
          </a:p>
        </p:txBody>
      </p:sp>
      <p:sp>
        <p:nvSpPr>
          <p:cNvPr id="3" name="Text 1"/>
          <p:cNvSpPr/>
          <p:nvPr/>
        </p:nvSpPr>
        <p:spPr>
          <a:xfrm>
            <a:off x="496119" y="847651"/>
            <a:ext cx="8608963"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Confidence</a:t>
            </a:r>
            <a:r>
              <a:rPr lang="en-US" sz="750" dirty="0">
                <a:solidFill>
                  <a:srgbClr val="15213F"/>
                </a:solidFill>
                <a:latin typeface="Roboto" pitchFamily="34" charset="0"/>
                <a:ea typeface="Roboto" pitchFamily="34" charset="-122"/>
                <a:cs typeface="Roboto" pitchFamily="34" charset="-120"/>
              </a:rPr>
              <a:t> = softmax probability of the predicted class.</a:t>
            </a:r>
            <a:endParaRPr lang="en-US" sz="750" dirty="0"/>
          </a:p>
        </p:txBody>
      </p:sp>
      <p:sp>
        <p:nvSpPr>
          <p:cNvPr id="4" name="Text 2"/>
          <p:cNvSpPr/>
          <p:nvPr/>
        </p:nvSpPr>
        <p:spPr>
          <a:xfrm>
            <a:off x="496119" y="1079674"/>
            <a:ext cx="2406476" cy="243706"/>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How it's calculated</a:t>
            </a:r>
            <a:endParaRPr lang="en-US" sz="1500" dirty="0"/>
          </a:p>
        </p:txBody>
      </p:sp>
      <p:sp>
        <p:nvSpPr>
          <p:cNvPr id="5" name="Text 3"/>
          <p:cNvSpPr/>
          <p:nvPr/>
        </p:nvSpPr>
        <p:spPr>
          <a:xfrm>
            <a:off x="496119" y="1423839"/>
            <a:ext cx="194890" cy="121816"/>
          </a:xfrm>
          <a:prstGeom prst="rect">
            <a:avLst/>
          </a:prstGeom>
          <a:noFill/>
          <a:ln/>
        </p:spPr>
        <p:txBody>
          <a:bodyPr wrap="none" lIns="0" tIns="0" rIns="0" bIns="0" rtlCol="0" anchor="ctr"/>
          <a:lstStyle/>
          <a:p>
            <a:pPr marL="0" indent="0" algn="l">
              <a:lnSpc>
                <a:spcPct val="100000"/>
              </a:lnSpc>
              <a:buNone/>
            </a:pPr>
            <a:r>
              <a:rPr lang="en-US" sz="750" dirty="0">
                <a:solidFill>
                  <a:srgbClr val="15213F"/>
                </a:solidFill>
                <a:latin typeface="Roboto Slab Light" pitchFamily="34" charset="0"/>
                <a:ea typeface="Roboto Slab Light" pitchFamily="34" charset="-122"/>
                <a:cs typeface="Roboto Slab Light" pitchFamily="34" charset="-120"/>
              </a:rPr>
              <a:t>01</a:t>
            </a:r>
            <a:endParaRPr lang="en-US" sz="750" dirty="0"/>
          </a:p>
        </p:txBody>
      </p:sp>
      <p:sp>
        <p:nvSpPr>
          <p:cNvPr id="6" name="Shape 4"/>
          <p:cNvSpPr/>
          <p:nvPr/>
        </p:nvSpPr>
        <p:spPr>
          <a:xfrm>
            <a:off x="496119" y="1575122"/>
            <a:ext cx="2672581" cy="14288"/>
          </a:xfrm>
          <a:prstGeom prst="rect">
            <a:avLst/>
          </a:prstGeom>
          <a:solidFill>
            <a:srgbClr val="476FD6"/>
          </a:solidFill>
          <a:ln/>
        </p:spPr>
        <p:txBody>
          <a:bodyPr/>
          <a:lstStyle/>
          <a:p>
            <a:endParaRPr lang="en-US"/>
          </a:p>
        </p:txBody>
      </p:sp>
      <p:sp>
        <p:nvSpPr>
          <p:cNvPr id="7" name="Text 5"/>
          <p:cNvSpPr/>
          <p:nvPr/>
        </p:nvSpPr>
        <p:spPr>
          <a:xfrm>
            <a:off x="496119" y="1652364"/>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Logits</a:t>
            </a:r>
            <a:endParaRPr lang="en-US" sz="950" dirty="0"/>
          </a:p>
        </p:txBody>
      </p:sp>
      <p:sp>
        <p:nvSpPr>
          <p:cNvPr id="8" name="Text 6"/>
          <p:cNvSpPr/>
          <p:nvPr/>
        </p:nvSpPr>
        <p:spPr>
          <a:xfrm>
            <a:off x="496119" y="1844799"/>
            <a:ext cx="2672581"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ModernBERT outputs </a:t>
            </a:r>
            <a:r>
              <a:rPr lang="en-US" sz="750" b="1" dirty="0">
                <a:solidFill>
                  <a:srgbClr val="15213F"/>
                </a:solidFill>
                <a:latin typeface="Roboto Bold" pitchFamily="34" charset="0"/>
                <a:ea typeface="Roboto Bold" pitchFamily="34" charset="-122"/>
                <a:cs typeface="Roboto Bold" pitchFamily="34" charset="-120"/>
              </a:rPr>
              <a:t>logits</a:t>
            </a:r>
            <a:r>
              <a:rPr lang="en-US" sz="750" dirty="0">
                <a:solidFill>
                  <a:srgbClr val="15213F"/>
                </a:solidFill>
                <a:latin typeface="Roboto" pitchFamily="34" charset="0"/>
                <a:ea typeface="Roboto" pitchFamily="34" charset="-122"/>
                <a:cs typeface="Roboto" pitchFamily="34" charset="-120"/>
              </a:rPr>
              <a:t> for [negative, neutral, positive]</a:t>
            </a:r>
            <a:endParaRPr lang="en-US" sz="750" dirty="0"/>
          </a:p>
        </p:txBody>
      </p:sp>
      <p:sp>
        <p:nvSpPr>
          <p:cNvPr id="9" name="Text 7"/>
          <p:cNvSpPr/>
          <p:nvPr/>
        </p:nvSpPr>
        <p:spPr>
          <a:xfrm>
            <a:off x="3235672" y="1423839"/>
            <a:ext cx="194890" cy="121816"/>
          </a:xfrm>
          <a:prstGeom prst="rect">
            <a:avLst/>
          </a:prstGeom>
          <a:noFill/>
          <a:ln/>
        </p:spPr>
        <p:txBody>
          <a:bodyPr wrap="none" lIns="0" tIns="0" rIns="0" bIns="0" rtlCol="0" anchor="ctr"/>
          <a:lstStyle/>
          <a:p>
            <a:pPr marL="0" indent="0" algn="l">
              <a:lnSpc>
                <a:spcPct val="100000"/>
              </a:lnSpc>
              <a:buNone/>
            </a:pPr>
            <a:r>
              <a:rPr lang="en-US" sz="750" dirty="0">
                <a:solidFill>
                  <a:srgbClr val="15213F"/>
                </a:solidFill>
                <a:latin typeface="Roboto Slab Light" pitchFamily="34" charset="0"/>
                <a:ea typeface="Roboto Slab Light" pitchFamily="34" charset="-122"/>
                <a:cs typeface="Roboto Slab Light" pitchFamily="34" charset="-120"/>
              </a:rPr>
              <a:t>02</a:t>
            </a:r>
            <a:endParaRPr lang="en-US" sz="750" dirty="0"/>
          </a:p>
        </p:txBody>
      </p:sp>
      <p:sp>
        <p:nvSpPr>
          <p:cNvPr id="10" name="Shape 8"/>
          <p:cNvSpPr/>
          <p:nvPr/>
        </p:nvSpPr>
        <p:spPr>
          <a:xfrm>
            <a:off x="3235672" y="1575122"/>
            <a:ext cx="2672581" cy="14288"/>
          </a:xfrm>
          <a:prstGeom prst="rect">
            <a:avLst/>
          </a:prstGeom>
          <a:solidFill>
            <a:srgbClr val="476FD6"/>
          </a:solidFill>
          <a:ln/>
        </p:spPr>
        <p:txBody>
          <a:bodyPr/>
          <a:lstStyle/>
          <a:p>
            <a:endParaRPr lang="en-US"/>
          </a:p>
        </p:txBody>
      </p:sp>
      <p:sp>
        <p:nvSpPr>
          <p:cNvPr id="11" name="Text 9"/>
          <p:cNvSpPr/>
          <p:nvPr/>
        </p:nvSpPr>
        <p:spPr>
          <a:xfrm>
            <a:off x="3235672" y="1652364"/>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Softmax</a:t>
            </a:r>
            <a:endParaRPr lang="en-US" sz="950" dirty="0"/>
          </a:p>
        </p:txBody>
      </p:sp>
      <p:sp>
        <p:nvSpPr>
          <p:cNvPr id="12" name="Text 10"/>
          <p:cNvSpPr/>
          <p:nvPr/>
        </p:nvSpPr>
        <p:spPr>
          <a:xfrm>
            <a:off x="3235672" y="1844799"/>
            <a:ext cx="2672581"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Softmax</a:t>
            </a:r>
            <a:r>
              <a:rPr lang="en-US" sz="750" dirty="0">
                <a:solidFill>
                  <a:srgbClr val="15213F"/>
                </a:solidFill>
                <a:latin typeface="Roboto" pitchFamily="34" charset="0"/>
                <a:ea typeface="Roboto" pitchFamily="34" charset="-122"/>
                <a:cs typeface="Roboto" pitchFamily="34" charset="-120"/>
              </a:rPr>
              <a:t> converts to probabilities: P(neg), P(neu), P(pos)</a:t>
            </a:r>
            <a:endParaRPr lang="en-US" sz="750" dirty="0"/>
          </a:p>
        </p:txBody>
      </p:sp>
      <p:sp>
        <p:nvSpPr>
          <p:cNvPr id="13" name="Text 11"/>
          <p:cNvSpPr/>
          <p:nvPr/>
        </p:nvSpPr>
        <p:spPr>
          <a:xfrm>
            <a:off x="5975226" y="1423839"/>
            <a:ext cx="194890" cy="121816"/>
          </a:xfrm>
          <a:prstGeom prst="rect">
            <a:avLst/>
          </a:prstGeom>
          <a:noFill/>
          <a:ln/>
        </p:spPr>
        <p:txBody>
          <a:bodyPr wrap="none" lIns="0" tIns="0" rIns="0" bIns="0" rtlCol="0" anchor="ctr"/>
          <a:lstStyle/>
          <a:p>
            <a:pPr marL="0" indent="0" algn="l">
              <a:lnSpc>
                <a:spcPct val="100000"/>
              </a:lnSpc>
              <a:buNone/>
            </a:pPr>
            <a:r>
              <a:rPr lang="en-US" sz="750" dirty="0">
                <a:solidFill>
                  <a:srgbClr val="15213F"/>
                </a:solidFill>
                <a:latin typeface="Roboto Slab Light" pitchFamily="34" charset="0"/>
                <a:ea typeface="Roboto Slab Light" pitchFamily="34" charset="-122"/>
                <a:cs typeface="Roboto Slab Light" pitchFamily="34" charset="-120"/>
              </a:rPr>
              <a:t>03</a:t>
            </a:r>
            <a:endParaRPr lang="en-US" sz="750" dirty="0"/>
          </a:p>
        </p:txBody>
      </p:sp>
      <p:sp>
        <p:nvSpPr>
          <p:cNvPr id="14" name="Shape 12"/>
          <p:cNvSpPr/>
          <p:nvPr/>
        </p:nvSpPr>
        <p:spPr>
          <a:xfrm>
            <a:off x="5975226" y="1575122"/>
            <a:ext cx="2672581" cy="14288"/>
          </a:xfrm>
          <a:prstGeom prst="rect">
            <a:avLst/>
          </a:prstGeom>
          <a:solidFill>
            <a:srgbClr val="476FD6"/>
          </a:solidFill>
          <a:ln/>
        </p:spPr>
        <p:txBody>
          <a:bodyPr/>
          <a:lstStyle/>
          <a:p>
            <a:endParaRPr lang="en-US"/>
          </a:p>
        </p:txBody>
      </p:sp>
      <p:sp>
        <p:nvSpPr>
          <p:cNvPr id="15" name="Text 13"/>
          <p:cNvSpPr/>
          <p:nvPr/>
        </p:nvSpPr>
        <p:spPr>
          <a:xfrm>
            <a:off x="5975226" y="1652364"/>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Confidence</a:t>
            </a:r>
            <a:endParaRPr lang="en-US" sz="950" dirty="0"/>
          </a:p>
        </p:txBody>
      </p:sp>
      <p:sp>
        <p:nvSpPr>
          <p:cNvPr id="16" name="Text 14"/>
          <p:cNvSpPr/>
          <p:nvPr/>
        </p:nvSpPr>
        <p:spPr>
          <a:xfrm>
            <a:off x="5975226" y="1844799"/>
            <a:ext cx="2672581"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confidence = max(P(neg), P(neu), P(pos))</a:t>
            </a:r>
            <a:endParaRPr lang="en-US" sz="750" dirty="0"/>
          </a:p>
        </p:txBody>
      </p:sp>
      <p:sp>
        <p:nvSpPr>
          <p:cNvPr id="17" name="Text 15"/>
          <p:cNvSpPr/>
          <p:nvPr/>
        </p:nvSpPr>
        <p:spPr>
          <a:xfrm>
            <a:off x="496119" y="2149897"/>
            <a:ext cx="3273475" cy="243706"/>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Thresholds used in the system</a:t>
            </a:r>
            <a:endParaRPr lang="en-US" sz="1500" dirty="0"/>
          </a:p>
        </p:txBody>
      </p:sp>
      <p:sp>
        <p:nvSpPr>
          <p:cNvPr id="18" name="Shape 16"/>
          <p:cNvSpPr/>
          <p:nvPr/>
        </p:nvSpPr>
        <p:spPr>
          <a:xfrm>
            <a:off x="496119" y="2484388"/>
            <a:ext cx="8151763" cy="909638"/>
          </a:xfrm>
          <a:prstGeom prst="roundRect">
            <a:avLst>
              <a:gd name="adj" fmla="val 1607"/>
            </a:avLst>
          </a:prstGeom>
          <a:noFill/>
          <a:ln w="4763">
            <a:solidFill>
              <a:srgbClr val="000000">
                <a:alpha val="8000"/>
              </a:srgbClr>
            </a:solidFill>
            <a:prstDash val="solid"/>
          </a:ln>
        </p:spPr>
        <p:txBody>
          <a:bodyPr/>
          <a:lstStyle/>
          <a:p>
            <a:endParaRPr lang="en-US"/>
          </a:p>
        </p:txBody>
      </p:sp>
      <p:sp>
        <p:nvSpPr>
          <p:cNvPr id="19" name="Text 17"/>
          <p:cNvSpPr/>
          <p:nvPr/>
        </p:nvSpPr>
        <p:spPr>
          <a:xfrm>
            <a:off x="599182" y="2543770"/>
            <a:ext cx="2973512"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Threshold</a:t>
            </a:r>
            <a:endParaRPr lang="en-US" sz="750" dirty="0"/>
          </a:p>
        </p:txBody>
      </p:sp>
      <p:sp>
        <p:nvSpPr>
          <p:cNvPr id="20" name="Text 18"/>
          <p:cNvSpPr/>
          <p:nvPr/>
        </p:nvSpPr>
        <p:spPr>
          <a:xfrm>
            <a:off x="3315072" y="2543770"/>
            <a:ext cx="2971130"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Value</a:t>
            </a:r>
            <a:endParaRPr lang="en-US" sz="750" dirty="0"/>
          </a:p>
        </p:txBody>
      </p:sp>
      <p:sp>
        <p:nvSpPr>
          <p:cNvPr id="21" name="Text 19"/>
          <p:cNvSpPr/>
          <p:nvPr/>
        </p:nvSpPr>
        <p:spPr>
          <a:xfrm>
            <a:off x="6028581" y="2543770"/>
            <a:ext cx="2973512" cy="131564"/>
          </a:xfrm>
          <a:prstGeom prst="rect">
            <a:avLst/>
          </a:prstGeom>
          <a:noFill/>
          <a:ln/>
        </p:spPr>
        <p:txBody>
          <a:bodyPr wrap="none" lIns="0" tIns="0" rIns="0" bIns="0" rtlCol="0" anchor="t"/>
          <a:lstStyle/>
          <a:p>
            <a:pPr marL="0" indent="0" algn="l">
              <a:lnSpc>
                <a:spcPct val="113000"/>
              </a:lnSpc>
              <a:buNone/>
            </a:pPr>
            <a:r>
              <a:rPr lang="en-US" sz="750" b="1" dirty="0">
                <a:solidFill>
                  <a:srgbClr val="15213F"/>
                </a:solidFill>
                <a:latin typeface="Roboto Bold" pitchFamily="34" charset="0"/>
                <a:ea typeface="Roboto Bold" pitchFamily="34" charset="-122"/>
                <a:cs typeface="Roboto Bold" pitchFamily="34" charset="-120"/>
              </a:rPr>
              <a:t>Source</a:t>
            </a:r>
            <a:endParaRPr lang="en-US" sz="750" dirty="0"/>
          </a:p>
        </p:txBody>
      </p:sp>
      <p:sp>
        <p:nvSpPr>
          <p:cNvPr id="22" name="Text 20"/>
          <p:cNvSpPr/>
          <p:nvPr/>
        </p:nvSpPr>
        <p:spPr>
          <a:xfrm>
            <a:off x="599182" y="2769989"/>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Analysis confidence</a:t>
            </a:r>
            <a:endParaRPr lang="en-US" sz="750" dirty="0"/>
          </a:p>
        </p:txBody>
      </p:sp>
      <p:sp>
        <p:nvSpPr>
          <p:cNvPr id="23" name="Text 21"/>
          <p:cNvSpPr/>
          <p:nvPr/>
        </p:nvSpPr>
        <p:spPr>
          <a:xfrm>
            <a:off x="3315072" y="2769989"/>
            <a:ext cx="2971130"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 0.7</a:t>
            </a:r>
            <a:endParaRPr lang="en-US" sz="750" dirty="0"/>
          </a:p>
        </p:txBody>
      </p:sp>
      <p:sp>
        <p:nvSpPr>
          <p:cNvPr id="24" name="Text 22"/>
          <p:cNvSpPr/>
          <p:nvPr/>
        </p:nvSpPr>
        <p:spPr>
          <a:xfrm>
            <a:off x="6028581" y="2769989"/>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config/models.yaml</a:t>
            </a:r>
            <a:endParaRPr lang="en-US" sz="750" dirty="0"/>
          </a:p>
        </p:txBody>
      </p:sp>
      <p:sp>
        <p:nvSpPr>
          <p:cNvPr id="25" name="Text 23"/>
          <p:cNvSpPr/>
          <p:nvPr/>
        </p:nvSpPr>
        <p:spPr>
          <a:xfrm>
            <a:off x="599182" y="2996208"/>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Notification P1 trust</a:t>
            </a:r>
            <a:endParaRPr lang="en-US" sz="750" dirty="0"/>
          </a:p>
        </p:txBody>
      </p:sp>
      <p:sp>
        <p:nvSpPr>
          <p:cNvPr id="26" name="Text 24"/>
          <p:cNvSpPr/>
          <p:nvPr/>
        </p:nvSpPr>
        <p:spPr>
          <a:xfrm>
            <a:off x="3315072" y="2996208"/>
            <a:ext cx="2971130"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 0.70 </a:t>
            </a:r>
            <a:r>
              <a:rPr lang="en-US" sz="750" b="1" dirty="0">
                <a:solidFill>
                  <a:srgbClr val="15213F"/>
                </a:solidFill>
                <a:latin typeface="Roboto Bold" pitchFamily="34" charset="0"/>
                <a:ea typeface="Roboto Bold" pitchFamily="34" charset="-122"/>
                <a:cs typeface="Roboto Bold" pitchFamily="34" charset="-120"/>
              </a:rPr>
              <a:t>AND</a:t>
            </a:r>
            <a:r>
              <a:rPr lang="en-US" sz="750" dirty="0">
                <a:solidFill>
                  <a:srgbClr val="15213F"/>
                </a:solidFill>
                <a:latin typeface="Roboto" pitchFamily="34" charset="0"/>
                <a:ea typeface="Roboto" pitchFamily="34" charset="-122"/>
                <a:cs typeface="Roboto" pitchFamily="34" charset="-120"/>
              </a:rPr>
              <a:t> confidence ≥ 0.80</a:t>
            </a:r>
            <a:endParaRPr lang="en-US" sz="750" dirty="0"/>
          </a:p>
        </p:txBody>
      </p:sp>
      <p:sp>
        <p:nvSpPr>
          <p:cNvPr id="27" name="Text 25"/>
          <p:cNvSpPr/>
          <p:nvPr/>
        </p:nvSpPr>
        <p:spPr>
          <a:xfrm>
            <a:off x="6028581" y="2996208"/>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dispatcher.py</a:t>
            </a:r>
            <a:endParaRPr lang="en-US" sz="750" dirty="0"/>
          </a:p>
        </p:txBody>
      </p:sp>
      <p:sp>
        <p:nvSpPr>
          <p:cNvPr id="28" name="Text 26"/>
          <p:cNvSpPr/>
          <p:nvPr/>
        </p:nvSpPr>
        <p:spPr>
          <a:xfrm>
            <a:off x="599182" y="3222427"/>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Notification P2 trust</a:t>
            </a:r>
            <a:endParaRPr lang="en-US" sz="750" dirty="0"/>
          </a:p>
        </p:txBody>
      </p:sp>
      <p:sp>
        <p:nvSpPr>
          <p:cNvPr id="29" name="Text 27"/>
          <p:cNvSpPr/>
          <p:nvPr/>
        </p:nvSpPr>
        <p:spPr>
          <a:xfrm>
            <a:off x="3315072" y="3222427"/>
            <a:ext cx="2971130"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 0.50 </a:t>
            </a:r>
            <a:r>
              <a:rPr lang="en-US" sz="750" b="1" dirty="0">
                <a:solidFill>
                  <a:srgbClr val="15213F"/>
                </a:solidFill>
                <a:latin typeface="Roboto Bold" pitchFamily="34" charset="0"/>
                <a:ea typeface="Roboto Bold" pitchFamily="34" charset="-122"/>
                <a:cs typeface="Roboto Bold" pitchFamily="34" charset="-120"/>
              </a:rPr>
              <a:t>AND</a:t>
            </a:r>
            <a:r>
              <a:rPr lang="en-US" sz="750" dirty="0">
                <a:solidFill>
                  <a:srgbClr val="15213F"/>
                </a:solidFill>
                <a:latin typeface="Roboto" pitchFamily="34" charset="0"/>
                <a:ea typeface="Roboto" pitchFamily="34" charset="-122"/>
                <a:cs typeface="Roboto" pitchFamily="34" charset="-120"/>
              </a:rPr>
              <a:t> confidence ≥ 0.60</a:t>
            </a:r>
            <a:endParaRPr lang="en-US" sz="750" dirty="0"/>
          </a:p>
        </p:txBody>
      </p:sp>
      <p:sp>
        <p:nvSpPr>
          <p:cNvPr id="30" name="Text 28"/>
          <p:cNvSpPr/>
          <p:nvPr/>
        </p:nvSpPr>
        <p:spPr>
          <a:xfrm>
            <a:off x="6028581" y="3222427"/>
            <a:ext cx="2973512"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dispatcher.py</a:t>
            </a:r>
            <a:endParaRPr lang="en-US" sz="750" dirty="0"/>
          </a:p>
        </p:txBody>
      </p:sp>
      <p:sp>
        <p:nvSpPr>
          <p:cNvPr id="31" name="Text 29"/>
          <p:cNvSpPr/>
          <p:nvPr/>
        </p:nvSpPr>
        <p:spPr>
          <a:xfrm>
            <a:off x="496119" y="3504158"/>
            <a:ext cx="2961605" cy="243706"/>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Combined Priority Formula</a:t>
            </a:r>
            <a:endParaRPr lang="en-US" sz="1500" dirty="0"/>
          </a:p>
        </p:txBody>
      </p:sp>
      <p:pic>
        <p:nvPicPr>
          <p:cNvPr id="3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838649"/>
            <a:ext cx="2672581" cy="678954"/>
          </a:xfrm>
          <a:prstGeom prst="rect">
            <a:avLst/>
          </a:prstGeom>
        </p:spPr>
      </p:pic>
      <p:sp>
        <p:nvSpPr>
          <p:cNvPr id="33" name="Text 30"/>
          <p:cNvSpPr/>
          <p:nvPr/>
        </p:nvSpPr>
        <p:spPr>
          <a:xfrm>
            <a:off x="664964" y="3960019"/>
            <a:ext cx="1320180"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P1 — Immediate Action</a:t>
            </a:r>
            <a:endParaRPr lang="en-US" sz="950" dirty="0"/>
          </a:p>
        </p:txBody>
      </p:sp>
      <p:sp>
        <p:nvSpPr>
          <p:cNvPr id="34" name="Text 31"/>
          <p:cNvSpPr/>
          <p:nvPr/>
        </p:nvSpPr>
        <p:spPr>
          <a:xfrm>
            <a:off x="664964" y="4152454"/>
            <a:ext cx="239204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P1 = (trust_score ≥ 0.70) ∧ (confidence ≥ 0.80) → immediate action</a:t>
            </a:r>
            <a:endParaRPr lang="en-US" sz="750" dirty="0"/>
          </a:p>
        </p:txBody>
      </p:sp>
      <p:pic>
        <p:nvPicPr>
          <p:cNvPr id="3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35672" y="3838649"/>
            <a:ext cx="2672581" cy="678954"/>
          </a:xfrm>
          <a:prstGeom prst="rect">
            <a:avLst/>
          </a:prstGeom>
        </p:spPr>
      </p:pic>
      <p:sp>
        <p:nvSpPr>
          <p:cNvPr id="36" name="Text 32"/>
          <p:cNvSpPr/>
          <p:nvPr/>
        </p:nvSpPr>
        <p:spPr>
          <a:xfrm>
            <a:off x="3404518" y="3960019"/>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P2 — Review-Worthy</a:t>
            </a:r>
            <a:endParaRPr lang="en-US" sz="950" dirty="0"/>
          </a:p>
        </p:txBody>
      </p:sp>
      <p:sp>
        <p:nvSpPr>
          <p:cNvPr id="37" name="Text 33"/>
          <p:cNvSpPr/>
          <p:nvPr/>
        </p:nvSpPr>
        <p:spPr>
          <a:xfrm>
            <a:off x="3404518" y="4152454"/>
            <a:ext cx="239204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P2 = (trust_score ≥ 0.50) ∧ (confidence ≥ 0.60) → review-worthy</a:t>
            </a:r>
            <a:endParaRPr lang="en-US" sz="750" dirty="0"/>
          </a:p>
        </p:txBody>
      </p:sp>
      <p:pic>
        <p:nvPicPr>
          <p:cNvPr id="3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5226" y="3838649"/>
            <a:ext cx="2672581" cy="678954"/>
          </a:xfrm>
          <a:prstGeom prst="rect">
            <a:avLst/>
          </a:prstGeom>
        </p:spPr>
      </p:pic>
      <p:sp>
        <p:nvSpPr>
          <p:cNvPr id="39" name="Text 34"/>
          <p:cNvSpPr/>
          <p:nvPr/>
        </p:nvSpPr>
        <p:spPr>
          <a:xfrm>
            <a:off x="6144071" y="3960019"/>
            <a:ext cx="1218307" cy="152251"/>
          </a:xfrm>
          <a:prstGeom prst="rect">
            <a:avLst/>
          </a:prstGeom>
          <a:noFill/>
          <a:ln/>
        </p:spPr>
        <p:txBody>
          <a:bodyPr wrap="none" lIns="0" tIns="0" rIns="0" bIns="0" rtlCol="0" anchor="t"/>
          <a:lstStyle/>
          <a:p>
            <a:pPr marL="0" indent="0" algn="l">
              <a:lnSpc>
                <a:spcPct val="104000"/>
              </a:lnSpc>
              <a:buNone/>
            </a:pPr>
            <a:r>
              <a:rPr lang="en-US" sz="950" dirty="0">
                <a:solidFill>
                  <a:srgbClr val="15213F"/>
                </a:solidFill>
                <a:latin typeface="Roboto Slab" pitchFamily="34" charset="0"/>
                <a:ea typeface="Roboto Slab" pitchFamily="34" charset="-122"/>
                <a:cs typeface="Roboto Slab" pitchFamily="34" charset="-120"/>
              </a:rPr>
              <a:t>Below P2</a:t>
            </a:r>
            <a:endParaRPr lang="en-US" sz="950" dirty="0"/>
          </a:p>
        </p:txBody>
      </p:sp>
      <p:sp>
        <p:nvSpPr>
          <p:cNvPr id="40" name="Text 35"/>
          <p:cNvSpPr/>
          <p:nvPr/>
        </p:nvSpPr>
        <p:spPr>
          <a:xfrm>
            <a:off x="6144071" y="4152454"/>
            <a:ext cx="239204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&lt; P2 → no notification triggered (still visible in dashboard)</a:t>
            </a:r>
            <a:endParaRPr lang="en-US" sz="750" dirty="0"/>
          </a:p>
        </p:txBody>
      </p:sp>
      <p:sp>
        <p:nvSpPr>
          <p:cNvPr id="41" name="Text 36"/>
          <p:cNvSpPr/>
          <p:nvPr/>
        </p:nvSpPr>
        <p:spPr>
          <a:xfrm>
            <a:off x="496119" y="4602659"/>
            <a:ext cx="8608963" cy="131564"/>
          </a:xfrm>
          <a:prstGeom prst="rect">
            <a:avLst/>
          </a:prstGeom>
          <a:noFill/>
          <a:ln/>
        </p:spPr>
        <p:txBody>
          <a:bodyPr wrap="none" lIns="0" tIns="0" rIns="0" bIns="0" rtlCol="0" anchor="t"/>
          <a:lstStyle/>
          <a:p>
            <a:pPr marL="0" indent="0" algn="l">
              <a:lnSpc>
                <a:spcPct val="113000"/>
              </a:lnSpc>
              <a:buNone/>
            </a:pPr>
            <a:r>
              <a:rPr lang="en-US" sz="750" dirty="0">
                <a:solidFill>
                  <a:srgbClr val="15213F"/>
                </a:solidFill>
                <a:latin typeface="Roboto" pitchFamily="34" charset="0"/>
                <a:ea typeface="Roboto" pitchFamily="34" charset="-122"/>
                <a:cs typeface="Roboto" pitchFamily="34" charset="-120"/>
              </a:rPr>
              <a:t>Dashboard displays </a:t>
            </a:r>
            <a:r>
              <a:rPr lang="en-US" sz="750" b="1" dirty="0">
                <a:solidFill>
                  <a:srgbClr val="15213F"/>
                </a:solidFill>
                <a:latin typeface="Roboto Bold" pitchFamily="34" charset="0"/>
                <a:ea typeface="Roboto Bold" pitchFamily="34" charset="-122"/>
                <a:cs typeface="Roboto Bold" pitchFamily="34" charset="-120"/>
              </a:rPr>
              <a:t>both</a:t>
            </a:r>
            <a:r>
              <a:rPr lang="en-US" sz="750" dirty="0">
                <a:solidFill>
                  <a:srgbClr val="15213F"/>
                </a:solidFill>
                <a:latin typeface="Roboto" pitchFamily="34" charset="0"/>
                <a:ea typeface="Roboto" pitchFamily="34" charset="-122"/>
                <a:cs typeface="Roboto" pitchFamily="34" charset="-120"/>
              </a:rPr>
              <a:t> trust and confidence per post for analyst transparency.</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55712"/>
            <a:ext cx="5657478" cy="256059"/>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Roboto Slab" pitchFamily="34" charset="0"/>
                <a:ea typeface="Roboto Slab" pitchFamily="34" charset="-122"/>
                <a:cs typeface="Roboto Slab" pitchFamily="34" charset="-120"/>
              </a:rPr>
              <a:t>Notification System — Architecture · Config Page · API</a:t>
            </a:r>
            <a:endParaRPr lang="en-US" sz="1600" dirty="0"/>
          </a:p>
        </p:txBody>
      </p:sp>
      <p:sp>
        <p:nvSpPr>
          <p:cNvPr id="3" name="Text 1"/>
          <p:cNvSpPr/>
          <p:nvPr/>
        </p:nvSpPr>
        <p:spPr>
          <a:xfrm>
            <a:off x="496119" y="806500"/>
            <a:ext cx="8608963"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Group-based routing for P1 / P2 priority posts — email + Slack, per-team ownership</a:t>
            </a:r>
            <a:endParaRPr lang="en-US" sz="600" dirty="0"/>
          </a:p>
        </p:txBody>
      </p:sp>
      <p:sp>
        <p:nvSpPr>
          <p:cNvPr id="4" name="Text 2"/>
          <p:cNvSpPr/>
          <p:nvPr/>
        </p:nvSpPr>
        <p:spPr>
          <a:xfrm>
            <a:off x="496119" y="981001"/>
            <a:ext cx="2876624" cy="204862"/>
          </a:xfrm>
          <a:prstGeom prst="rect">
            <a:avLst/>
          </a:prstGeom>
          <a:noFill/>
          <a:ln/>
        </p:spPr>
        <p:txBody>
          <a:bodyPr wrap="none" lIns="0" tIns="0" rIns="0" bIns="0" rtlCol="0" anchor="t"/>
          <a:lstStyle/>
          <a:p>
            <a:pPr marL="0" indent="0" algn="l">
              <a:lnSpc>
                <a:spcPct val="104000"/>
              </a:lnSpc>
              <a:buNone/>
            </a:pPr>
            <a:r>
              <a:rPr lang="en-US" sz="1250" dirty="0">
                <a:solidFill>
                  <a:srgbClr val="3257B8"/>
                </a:solidFill>
                <a:latin typeface="Roboto Slab" pitchFamily="34" charset="0"/>
                <a:ea typeface="Roboto Slab" pitchFamily="34" charset="-122"/>
                <a:cs typeface="Roboto Slab" pitchFamily="34" charset="-120"/>
              </a:rPr>
              <a:t>Priority classification &amp; routing</a:t>
            </a:r>
            <a:endParaRPr lang="en-US" sz="1250" dirty="0"/>
          </a:p>
        </p:txBody>
      </p:sp>
      <p:sp>
        <p:nvSpPr>
          <p:cNvPr id="5" name="Text 3"/>
          <p:cNvSpPr/>
          <p:nvPr/>
        </p:nvSpPr>
        <p:spPr>
          <a:xfrm>
            <a:off x="496119" y="1256928"/>
            <a:ext cx="8151763" cy="463302"/>
          </a:xfrm>
          <a:prstGeom prst="rect">
            <a:avLst/>
          </a:prstGeom>
          <a:noFill/>
          <a:ln/>
        </p:spPr>
        <p:txBody>
          <a:bodyPr wrap="square" lIns="0" tIns="0" rIns="0" bIns="0" rtlCol="0" anchor="t">
            <a:normAutofit/>
          </a:bodyPr>
          <a:lstStyle/>
          <a:p>
            <a:pPr marL="121920" indent="-121920" algn="l">
              <a:lnSpc>
                <a:spcPct val="105000"/>
              </a:lnSpc>
              <a:buSzPct val="100000"/>
              <a:buChar char="•"/>
            </a:pPr>
            <a:r>
              <a:rPr lang="en-US" sz="600" b="1" dirty="0">
                <a:solidFill>
                  <a:srgbClr val="15213F"/>
                </a:solidFill>
                <a:latin typeface="Roboto Bold" pitchFamily="34" charset="0"/>
                <a:ea typeface="Roboto Bold" pitchFamily="34" charset="-122"/>
                <a:cs typeface="Roboto Bold" pitchFamily="34" charset="-120"/>
              </a:rPr>
              <a:t>P1</a:t>
            </a:r>
            <a:r>
              <a:rPr lang="en-US" sz="600" dirty="0">
                <a:solidFill>
                  <a:srgbClr val="15213F"/>
                </a:solidFill>
                <a:latin typeface="Roboto" pitchFamily="34" charset="0"/>
                <a:ea typeface="Roboto" pitchFamily="34" charset="-122"/>
                <a:cs typeface="Roboto" pitchFamily="34" charset="-120"/>
              </a:rPr>
              <a:t> — trust ≥ 0.70 AND confidence ≥ 0.80 → immediate action</a:t>
            </a:r>
            <a:endParaRPr lang="en-US" sz="600" dirty="0"/>
          </a:p>
          <a:p>
            <a:pPr marL="121920" indent="-121920" algn="l">
              <a:lnSpc>
                <a:spcPct val="105000"/>
              </a:lnSpc>
              <a:buSzPct val="100000"/>
              <a:buChar char="•"/>
            </a:pPr>
            <a:r>
              <a:rPr lang="en-US" sz="600" b="1" dirty="0">
                <a:solidFill>
                  <a:srgbClr val="15213F"/>
                </a:solidFill>
                <a:latin typeface="Roboto Bold" pitchFamily="34" charset="0"/>
                <a:ea typeface="Roboto Bold" pitchFamily="34" charset="-122"/>
                <a:cs typeface="Roboto Bold" pitchFamily="34" charset="-120"/>
              </a:rPr>
              <a:t>P2</a:t>
            </a:r>
            <a:r>
              <a:rPr lang="en-US" sz="600" dirty="0">
                <a:solidFill>
                  <a:srgbClr val="15213F"/>
                </a:solidFill>
                <a:latin typeface="Roboto" pitchFamily="34" charset="0"/>
                <a:ea typeface="Roboto" pitchFamily="34" charset="-122"/>
                <a:cs typeface="Roboto" pitchFamily="34" charset="-120"/>
              </a:rPr>
              <a:t> — trust ≥ 0.50 AND confidence ≥ 0.60 → review-worthy</a:t>
            </a:r>
            <a:endParaRPr lang="en-US" sz="600" dirty="0"/>
          </a:p>
          <a:p>
            <a:pPr marL="121920" indent="-121920" algn="l">
              <a:lnSpc>
                <a:spcPct val="105000"/>
              </a:lnSpc>
              <a:buSzPct val="100000"/>
              <a:buChar char="•"/>
            </a:pPr>
            <a:r>
              <a:rPr lang="en-US" sz="600" dirty="0">
                <a:solidFill>
                  <a:srgbClr val="15213F"/>
                </a:solidFill>
                <a:latin typeface="Roboto" pitchFamily="34" charset="0"/>
                <a:ea typeface="Roboto" pitchFamily="34" charset="-122"/>
                <a:cs typeface="Roboto" pitchFamily="34" charset="-120"/>
              </a:rPr>
              <a:t>Routing model: </a:t>
            </a:r>
            <a:r>
              <a:rPr lang="en-US" sz="600" b="1" dirty="0">
                <a:solidFill>
                  <a:srgbClr val="15213F"/>
                </a:solidFill>
                <a:latin typeface="Roboto Bold" pitchFamily="34" charset="0"/>
                <a:ea typeface="Roboto Bold" pitchFamily="34" charset="-122"/>
                <a:cs typeface="Roboto Bold" pitchFamily="34" charset="-120"/>
              </a:rPr>
              <a:t>per-subreddit-set</a:t>
            </a:r>
            <a:r>
              <a:rPr lang="en-US" sz="600" dirty="0">
                <a:solidFill>
                  <a:srgbClr val="15213F"/>
                </a:solidFill>
                <a:latin typeface="Roboto" pitchFamily="34" charset="0"/>
                <a:ea typeface="Roboto" pitchFamily="34" charset="-122"/>
                <a:cs typeface="Roboto" pitchFamily="34" charset="-120"/>
              </a:rPr>
              <a:t> — different teams own different subreddits</a:t>
            </a:r>
            <a:endParaRPr lang="en-US" sz="600" dirty="0"/>
          </a:p>
          <a:p>
            <a:pPr marL="121920" indent="-121920" algn="l">
              <a:lnSpc>
                <a:spcPct val="105000"/>
              </a:lnSpc>
              <a:buSzPct val="100000"/>
              <a:buChar char="•"/>
            </a:pPr>
            <a:r>
              <a:rPr lang="en-US" sz="600" dirty="0">
                <a:solidFill>
                  <a:srgbClr val="15213F"/>
                </a:solidFill>
                <a:latin typeface="Roboto" pitchFamily="34" charset="0"/>
                <a:ea typeface="Roboto" pitchFamily="34" charset="-122"/>
                <a:cs typeface="Roboto" pitchFamily="34" charset="-120"/>
              </a:rPr>
              <a:t>Each group has its own email DL, Slack channel, and priority filter (P1, P2, or both)</a:t>
            </a:r>
            <a:endParaRPr lang="en-US" sz="600" dirty="0"/>
          </a:p>
        </p:txBody>
      </p:sp>
      <p:sp>
        <p:nvSpPr>
          <p:cNvPr id="6" name="Shape 4"/>
          <p:cNvSpPr/>
          <p:nvPr/>
        </p:nvSpPr>
        <p:spPr>
          <a:xfrm>
            <a:off x="496119" y="1773510"/>
            <a:ext cx="8151763" cy="887909"/>
          </a:xfrm>
          <a:prstGeom prst="roundRect">
            <a:avLst>
              <a:gd name="adj" fmla="val 1385"/>
            </a:avLst>
          </a:prstGeom>
          <a:solidFill>
            <a:srgbClr val="EEEFF1"/>
          </a:solidFill>
          <a:ln/>
        </p:spPr>
        <p:txBody>
          <a:bodyPr/>
          <a:lstStyle/>
          <a:p>
            <a:endParaRPr lang="en-US"/>
          </a:p>
        </p:txBody>
      </p:sp>
      <p:sp>
        <p:nvSpPr>
          <p:cNvPr id="7" name="Shape 5"/>
          <p:cNvSpPr/>
          <p:nvPr/>
        </p:nvSpPr>
        <p:spPr>
          <a:xfrm>
            <a:off x="492026" y="1773510"/>
            <a:ext cx="8159948" cy="887909"/>
          </a:xfrm>
          <a:prstGeom prst="roundRect">
            <a:avLst>
              <a:gd name="adj" fmla="val 1385"/>
            </a:avLst>
          </a:prstGeom>
          <a:solidFill>
            <a:srgbClr val="EEEFF1"/>
          </a:solidFill>
          <a:ln/>
        </p:spPr>
        <p:txBody>
          <a:bodyPr/>
          <a:lstStyle/>
          <a:p>
            <a:endParaRPr lang="en-US"/>
          </a:p>
        </p:txBody>
      </p:sp>
      <p:sp>
        <p:nvSpPr>
          <p:cNvPr id="8" name="Text 6"/>
          <p:cNvSpPr/>
          <p:nvPr/>
        </p:nvSpPr>
        <p:spPr>
          <a:xfrm>
            <a:off x="594420" y="1855440"/>
            <a:ext cx="7955161" cy="724049"/>
          </a:xfrm>
          <a:prstGeom prst="rect">
            <a:avLst/>
          </a:prstGeom>
          <a:noFill/>
          <a:ln/>
        </p:spPr>
        <p:txBody>
          <a:bodyPr wrap="square" lIns="0" tIns="0" rIns="0" bIns="0" rtlCol="0" anchor="t">
            <a:normAutofit/>
          </a:bodyPr>
          <a:lstStyle/>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Pipeline → classify_priority(trust, conf)</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Not P1/P2 → skip</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P1 / P2 → find matching notification groups</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group matches subreddit + priority filter?</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 email DL configured → send email</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 Slack channel configured → send Slack</a:t>
            </a:r>
            <a:endParaRPr lang="en-US" sz="600" dirty="0"/>
          </a:p>
          <a:p>
            <a:pPr marL="0" indent="0" algn="l">
              <a:lnSpc>
                <a:spcPct val="105000"/>
              </a:lnSpc>
              <a:buNone/>
            </a:pPr>
            <a:r>
              <a:rPr lang="en-US" sz="600" dirty="0">
                <a:solidFill>
                  <a:srgbClr val="15213F"/>
                </a:solidFill>
                <a:latin typeface="Consolas" pitchFamily="34" charset="0"/>
                <a:ea typeface="Consolas" pitchFamily="34" charset="-122"/>
                <a:cs typeface="Consolas" pitchFamily="34" charset="-120"/>
              </a:rPr>
              <a:t>        └── log to notification_log (audit trail)</a:t>
            </a:r>
            <a:endParaRPr lang="en-US" sz="600" dirty="0"/>
          </a:p>
        </p:txBody>
      </p:sp>
      <p:sp>
        <p:nvSpPr>
          <p:cNvPr id="9" name="Text 7"/>
          <p:cNvSpPr/>
          <p:nvPr/>
        </p:nvSpPr>
        <p:spPr>
          <a:xfrm>
            <a:off x="496119" y="2732484"/>
            <a:ext cx="2482825" cy="204862"/>
          </a:xfrm>
          <a:prstGeom prst="rect">
            <a:avLst/>
          </a:prstGeom>
          <a:noFill/>
          <a:ln/>
        </p:spPr>
        <p:txBody>
          <a:bodyPr wrap="none" lIns="0" tIns="0" rIns="0" bIns="0" rtlCol="0" anchor="t"/>
          <a:lstStyle/>
          <a:p>
            <a:pPr marL="0" indent="0" algn="l">
              <a:lnSpc>
                <a:spcPct val="104000"/>
              </a:lnSpc>
              <a:buNone/>
            </a:pPr>
            <a:r>
              <a:rPr lang="en-US" sz="1250" dirty="0">
                <a:solidFill>
                  <a:srgbClr val="3257B8"/>
                </a:solidFill>
                <a:latin typeface="Roboto Slab" pitchFamily="34" charset="0"/>
                <a:ea typeface="Roboto Slab" pitchFamily="34" charset="-122"/>
                <a:cs typeface="Roboto Slab" pitchFamily="34" charset="-120"/>
              </a:rPr>
              <a:t>Technical stack summary</a:t>
            </a:r>
            <a:endParaRPr lang="en-US" sz="1250" dirty="0"/>
          </a:p>
        </p:txBody>
      </p:sp>
      <p:sp>
        <p:nvSpPr>
          <p:cNvPr id="10" name="Shape 8"/>
          <p:cNvSpPr/>
          <p:nvPr/>
        </p:nvSpPr>
        <p:spPr>
          <a:xfrm>
            <a:off x="496119" y="3008412"/>
            <a:ext cx="8151763" cy="1679377"/>
          </a:xfrm>
          <a:prstGeom prst="roundRect">
            <a:avLst>
              <a:gd name="adj" fmla="val 732"/>
            </a:avLst>
          </a:prstGeom>
          <a:noFill/>
          <a:ln w="4763">
            <a:solidFill>
              <a:srgbClr val="000000">
                <a:alpha val="8000"/>
              </a:srgbClr>
            </a:solidFill>
            <a:prstDash val="solid"/>
          </a:ln>
        </p:spPr>
        <p:txBody>
          <a:bodyPr/>
          <a:lstStyle/>
          <a:p>
            <a:endParaRPr lang="en-US"/>
          </a:p>
        </p:txBody>
      </p:sp>
      <p:sp>
        <p:nvSpPr>
          <p:cNvPr id="11" name="Text 9"/>
          <p:cNvSpPr/>
          <p:nvPr/>
        </p:nvSpPr>
        <p:spPr>
          <a:xfrm>
            <a:off x="583704" y="3046363"/>
            <a:ext cx="3004468" cy="103436"/>
          </a:xfrm>
          <a:prstGeom prst="rect">
            <a:avLst/>
          </a:prstGeom>
          <a:noFill/>
          <a:ln/>
        </p:spPr>
        <p:txBody>
          <a:bodyPr wrap="none" lIns="0" tIns="0" rIns="0" bIns="0" rtlCol="0" anchor="t"/>
          <a:lstStyle/>
          <a:p>
            <a:pPr marL="0" indent="0" algn="l">
              <a:lnSpc>
                <a:spcPct val="105000"/>
              </a:lnSpc>
              <a:buNone/>
            </a:pPr>
            <a:r>
              <a:rPr lang="en-US" sz="600" b="1" dirty="0">
                <a:solidFill>
                  <a:srgbClr val="15213F"/>
                </a:solidFill>
                <a:latin typeface="Roboto Bold" pitchFamily="34" charset="0"/>
                <a:ea typeface="Roboto Bold" pitchFamily="34" charset="-122"/>
                <a:cs typeface="Roboto Bold" pitchFamily="34" charset="-120"/>
              </a:rPr>
              <a:t>Layer</a:t>
            </a:r>
            <a:endParaRPr lang="en-US" sz="600" dirty="0"/>
          </a:p>
        </p:txBody>
      </p:sp>
      <p:sp>
        <p:nvSpPr>
          <p:cNvPr id="12" name="Text 10"/>
          <p:cNvSpPr/>
          <p:nvPr/>
        </p:nvSpPr>
        <p:spPr>
          <a:xfrm>
            <a:off x="3299594" y="3046363"/>
            <a:ext cx="3002087" cy="103436"/>
          </a:xfrm>
          <a:prstGeom prst="rect">
            <a:avLst/>
          </a:prstGeom>
          <a:noFill/>
          <a:ln/>
        </p:spPr>
        <p:txBody>
          <a:bodyPr wrap="none" lIns="0" tIns="0" rIns="0" bIns="0" rtlCol="0" anchor="t"/>
          <a:lstStyle/>
          <a:p>
            <a:pPr marL="0" indent="0" algn="l">
              <a:lnSpc>
                <a:spcPct val="105000"/>
              </a:lnSpc>
              <a:buNone/>
            </a:pPr>
            <a:r>
              <a:rPr lang="en-US" sz="600" b="1" dirty="0">
                <a:solidFill>
                  <a:srgbClr val="15213F"/>
                </a:solidFill>
                <a:latin typeface="Roboto Bold" pitchFamily="34" charset="0"/>
                <a:ea typeface="Roboto Bold" pitchFamily="34" charset="-122"/>
                <a:cs typeface="Roboto Bold" pitchFamily="34" charset="-120"/>
              </a:rPr>
              <a:t>Technology</a:t>
            </a:r>
            <a:endParaRPr lang="en-US" sz="600" dirty="0"/>
          </a:p>
        </p:txBody>
      </p:sp>
      <p:sp>
        <p:nvSpPr>
          <p:cNvPr id="13" name="Text 11"/>
          <p:cNvSpPr/>
          <p:nvPr/>
        </p:nvSpPr>
        <p:spPr>
          <a:xfrm>
            <a:off x="6013103" y="3046363"/>
            <a:ext cx="3004468" cy="103436"/>
          </a:xfrm>
          <a:prstGeom prst="rect">
            <a:avLst/>
          </a:prstGeom>
          <a:noFill/>
          <a:ln/>
        </p:spPr>
        <p:txBody>
          <a:bodyPr wrap="none" lIns="0" tIns="0" rIns="0" bIns="0" rtlCol="0" anchor="t"/>
          <a:lstStyle/>
          <a:p>
            <a:pPr marL="0" indent="0" algn="l">
              <a:lnSpc>
                <a:spcPct val="105000"/>
              </a:lnSpc>
              <a:buNone/>
            </a:pPr>
            <a:r>
              <a:rPr lang="en-US" sz="600" b="1" dirty="0">
                <a:solidFill>
                  <a:srgbClr val="15213F"/>
                </a:solidFill>
                <a:latin typeface="Roboto Bold" pitchFamily="34" charset="0"/>
                <a:ea typeface="Roboto Bold" pitchFamily="34" charset="-122"/>
                <a:cs typeface="Roboto Bold" pitchFamily="34" charset="-120"/>
              </a:rPr>
              <a:t>Key decision</a:t>
            </a:r>
            <a:endParaRPr lang="en-US" sz="600" dirty="0"/>
          </a:p>
        </p:txBody>
      </p:sp>
      <p:sp>
        <p:nvSpPr>
          <p:cNvPr id="14" name="Text 12"/>
          <p:cNvSpPr/>
          <p:nvPr/>
        </p:nvSpPr>
        <p:spPr>
          <a:xfrm>
            <a:off x="583704" y="3220938"/>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Backend</a:t>
            </a:r>
            <a:endParaRPr lang="en-US" sz="600" dirty="0"/>
          </a:p>
        </p:txBody>
      </p:sp>
      <p:sp>
        <p:nvSpPr>
          <p:cNvPr id="15" name="Text 13"/>
          <p:cNvSpPr/>
          <p:nvPr/>
        </p:nvSpPr>
        <p:spPr>
          <a:xfrm>
            <a:off x="3299594" y="3220938"/>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Python 3.13 · FastAPI · SQLite</a:t>
            </a:r>
            <a:endParaRPr lang="en-US" sz="600" dirty="0"/>
          </a:p>
        </p:txBody>
      </p:sp>
      <p:sp>
        <p:nvSpPr>
          <p:cNvPr id="16" name="Text 14"/>
          <p:cNvSpPr/>
          <p:nvPr/>
        </p:nvSpPr>
        <p:spPr>
          <a:xfrm>
            <a:off x="6013103" y="3220938"/>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Free · local-first · modular</a:t>
            </a:r>
            <a:endParaRPr lang="en-US" sz="600" dirty="0"/>
          </a:p>
        </p:txBody>
      </p:sp>
      <p:sp>
        <p:nvSpPr>
          <p:cNvPr id="17" name="Text 15"/>
          <p:cNvSpPr/>
          <p:nvPr/>
        </p:nvSpPr>
        <p:spPr>
          <a:xfrm>
            <a:off x="583704" y="339551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Frontend</a:t>
            </a:r>
            <a:endParaRPr lang="en-US" sz="600" dirty="0"/>
          </a:p>
        </p:txBody>
      </p:sp>
      <p:sp>
        <p:nvSpPr>
          <p:cNvPr id="18" name="Text 16"/>
          <p:cNvSpPr/>
          <p:nvPr/>
        </p:nvSpPr>
        <p:spPr>
          <a:xfrm>
            <a:off x="3299594" y="3395514"/>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React 18 · TS · Vite · Tailwind</a:t>
            </a:r>
            <a:endParaRPr lang="en-US" sz="600" dirty="0"/>
          </a:p>
        </p:txBody>
      </p:sp>
      <p:sp>
        <p:nvSpPr>
          <p:cNvPr id="19" name="Text 17"/>
          <p:cNvSpPr/>
          <p:nvPr/>
        </p:nvSpPr>
        <p:spPr>
          <a:xfrm>
            <a:off x="6013103" y="339551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Modern SPA · responsive</a:t>
            </a:r>
            <a:endParaRPr lang="en-US" sz="600" dirty="0"/>
          </a:p>
        </p:txBody>
      </p:sp>
      <p:sp>
        <p:nvSpPr>
          <p:cNvPr id="20" name="Text 18"/>
          <p:cNvSpPr/>
          <p:nvPr/>
        </p:nvSpPr>
        <p:spPr>
          <a:xfrm>
            <a:off x="583704" y="3570089"/>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Sentiment</a:t>
            </a:r>
            <a:endParaRPr lang="en-US" sz="600" dirty="0"/>
          </a:p>
        </p:txBody>
      </p:sp>
      <p:sp>
        <p:nvSpPr>
          <p:cNvPr id="21" name="Text 19"/>
          <p:cNvSpPr/>
          <p:nvPr/>
        </p:nvSpPr>
        <p:spPr>
          <a:xfrm>
            <a:off x="3299594" y="3570089"/>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ModernBERT (fine-tuned · 1024-tok)</a:t>
            </a:r>
            <a:endParaRPr lang="en-US" sz="600" dirty="0"/>
          </a:p>
        </p:txBody>
      </p:sp>
      <p:sp>
        <p:nvSpPr>
          <p:cNvPr id="22" name="Text 20"/>
          <p:cNvSpPr/>
          <p:nvPr/>
        </p:nvSpPr>
        <p:spPr>
          <a:xfrm>
            <a:off x="6013103" y="3570089"/>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Domain-specialized · offline</a:t>
            </a:r>
            <a:endParaRPr lang="en-US" sz="600" dirty="0"/>
          </a:p>
        </p:txBody>
      </p:sp>
      <p:sp>
        <p:nvSpPr>
          <p:cNvPr id="23" name="Text 21"/>
          <p:cNvSpPr/>
          <p:nvPr/>
        </p:nvSpPr>
        <p:spPr>
          <a:xfrm>
            <a:off x="583704" y="374466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Aspects</a:t>
            </a:r>
            <a:endParaRPr lang="en-US" sz="600" dirty="0"/>
          </a:p>
        </p:txBody>
      </p:sp>
      <p:sp>
        <p:nvSpPr>
          <p:cNvPr id="24" name="Text 22"/>
          <p:cNvSpPr/>
          <p:nvPr/>
        </p:nvSpPr>
        <p:spPr>
          <a:xfrm>
            <a:off x="3299594" y="3744664"/>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DeBERTa-v3 zero-shot-v2 (BART-MNLI fallback)</a:t>
            </a:r>
            <a:endParaRPr lang="en-US" sz="600" dirty="0"/>
          </a:p>
        </p:txBody>
      </p:sp>
      <p:sp>
        <p:nvSpPr>
          <p:cNvPr id="25" name="Text 23"/>
          <p:cNvSpPr/>
          <p:nvPr/>
        </p:nvSpPr>
        <p:spPr>
          <a:xfrm>
            <a:off x="6013103" y="3744664"/>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No training needed</a:t>
            </a:r>
            <a:endParaRPr lang="en-US" sz="600" dirty="0"/>
          </a:p>
        </p:txBody>
      </p:sp>
      <p:sp>
        <p:nvSpPr>
          <p:cNvPr id="26" name="Text 24"/>
          <p:cNvSpPr/>
          <p:nvPr/>
        </p:nvSpPr>
        <p:spPr>
          <a:xfrm>
            <a:off x="583704" y="3919240"/>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Vision</a:t>
            </a:r>
            <a:endParaRPr lang="en-US" sz="600" dirty="0"/>
          </a:p>
        </p:txBody>
      </p:sp>
      <p:sp>
        <p:nvSpPr>
          <p:cNvPr id="27" name="Text 25"/>
          <p:cNvSpPr/>
          <p:nvPr/>
        </p:nvSpPr>
        <p:spPr>
          <a:xfrm>
            <a:off x="3299594" y="3919240"/>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Gemma 3 4B via Ollama (multi-pass)</a:t>
            </a:r>
            <a:endParaRPr lang="en-US" sz="600" dirty="0"/>
          </a:p>
        </p:txBody>
      </p:sp>
      <p:sp>
        <p:nvSpPr>
          <p:cNvPr id="28" name="Text 26"/>
          <p:cNvSpPr/>
          <p:nvPr/>
        </p:nvSpPr>
        <p:spPr>
          <a:xfrm>
            <a:off x="6013103" y="3919240"/>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Policy compliant · no hallucination</a:t>
            </a:r>
            <a:endParaRPr lang="en-US" sz="600" dirty="0"/>
          </a:p>
        </p:txBody>
      </p:sp>
      <p:sp>
        <p:nvSpPr>
          <p:cNvPr id="29" name="Text 27"/>
          <p:cNvSpPr/>
          <p:nvPr/>
        </p:nvSpPr>
        <p:spPr>
          <a:xfrm>
            <a:off x="583704" y="4093815"/>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Reply Gen</a:t>
            </a:r>
            <a:endParaRPr lang="en-US" sz="600" dirty="0"/>
          </a:p>
        </p:txBody>
      </p:sp>
      <p:sp>
        <p:nvSpPr>
          <p:cNvPr id="30" name="Text 28"/>
          <p:cNvSpPr/>
          <p:nvPr/>
        </p:nvSpPr>
        <p:spPr>
          <a:xfrm>
            <a:off x="3299594" y="4093815"/>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Mistral 7B (Ollama) + FLAN-T5-base (HF fallback) + Smart Composer</a:t>
            </a:r>
            <a:endParaRPr lang="en-US" sz="600" dirty="0"/>
          </a:p>
        </p:txBody>
      </p:sp>
      <p:sp>
        <p:nvSpPr>
          <p:cNvPr id="31" name="Text 29"/>
          <p:cNvSpPr/>
          <p:nvPr/>
        </p:nvSpPr>
        <p:spPr>
          <a:xfrm>
            <a:off x="6013103" y="4093815"/>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Dual draft · local-first · learning loop</a:t>
            </a:r>
            <a:endParaRPr lang="en-US" sz="600" dirty="0"/>
          </a:p>
        </p:txBody>
      </p:sp>
      <p:sp>
        <p:nvSpPr>
          <p:cNvPr id="32" name="Text 30"/>
          <p:cNvSpPr/>
          <p:nvPr/>
        </p:nvSpPr>
        <p:spPr>
          <a:xfrm>
            <a:off x="583704" y="4268391"/>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Trust LLM</a:t>
            </a:r>
            <a:endParaRPr lang="en-US" sz="600" dirty="0"/>
          </a:p>
        </p:txBody>
      </p:sp>
      <p:sp>
        <p:nvSpPr>
          <p:cNvPr id="33" name="Text 31"/>
          <p:cNvSpPr/>
          <p:nvPr/>
        </p:nvSpPr>
        <p:spPr>
          <a:xfrm>
            <a:off x="3299594" y="4268391"/>
            <a:ext cx="3002087"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gpt-4o-mini via WMT LLM Gateway (ambiguous-zone only)</a:t>
            </a:r>
            <a:endParaRPr lang="en-US" sz="600" dirty="0"/>
          </a:p>
        </p:txBody>
      </p:sp>
      <p:sp>
        <p:nvSpPr>
          <p:cNvPr id="34" name="Text 32"/>
          <p:cNvSpPr/>
          <p:nvPr/>
        </p:nvSpPr>
        <p:spPr>
          <a:xfrm>
            <a:off x="6013103" y="4268391"/>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Cost-controlled cloud call · rule-based fallback</a:t>
            </a:r>
            <a:endParaRPr lang="en-US" sz="600" dirty="0"/>
          </a:p>
        </p:txBody>
      </p:sp>
      <p:sp>
        <p:nvSpPr>
          <p:cNvPr id="35" name="Text 33"/>
          <p:cNvSpPr/>
          <p:nvPr/>
        </p:nvSpPr>
        <p:spPr>
          <a:xfrm>
            <a:off x="583704" y="4442966"/>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Trust · Scheduling · Observability</a:t>
            </a:r>
            <a:endParaRPr lang="en-US" sz="600" dirty="0"/>
          </a:p>
        </p:txBody>
      </p:sp>
      <p:sp>
        <p:nvSpPr>
          <p:cNvPr id="36" name="Text 34"/>
          <p:cNvSpPr/>
          <p:nvPr/>
        </p:nvSpPr>
        <p:spPr>
          <a:xfrm>
            <a:off x="3299594" y="4442966"/>
            <a:ext cx="2544887" cy="206871"/>
          </a:xfrm>
          <a:prstGeom prst="rect">
            <a:avLst/>
          </a:prstGeom>
          <a:noFill/>
          <a:ln/>
        </p:spPr>
        <p:txBody>
          <a:bodyPr wrap="square" lIns="0" tIns="0" rIns="0" bIns="0" rtlCol="0" anchor="t">
            <a:normAutofit/>
          </a:bodyPr>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Metadata+Dedup+LLM · APScheduler 60 min + manual · structlog + JSONL cost ledger</a:t>
            </a:r>
            <a:endParaRPr lang="en-US" sz="600" dirty="0"/>
          </a:p>
        </p:txBody>
      </p:sp>
      <p:sp>
        <p:nvSpPr>
          <p:cNvPr id="37" name="Text 35"/>
          <p:cNvSpPr/>
          <p:nvPr/>
        </p:nvSpPr>
        <p:spPr>
          <a:xfrm>
            <a:off x="6013103" y="4442966"/>
            <a:ext cx="3004468" cy="103436"/>
          </a:xfrm>
          <a:prstGeom prst="rect">
            <a:avLst/>
          </a:prstGeom>
          <a:noFill/>
          <a:ln/>
        </p:spPr>
        <p:txBody>
          <a:bodyPr wrap="none" lIns="0" tIns="0" rIns="0" bIns="0" rtlCol="0" anchor="t"/>
          <a:lstStyle/>
          <a:p>
            <a:pPr marL="0" indent="0" algn="l">
              <a:lnSpc>
                <a:spcPct val="105000"/>
              </a:lnSpc>
              <a:buNone/>
            </a:pPr>
            <a:r>
              <a:rPr lang="en-US" sz="600" dirty="0">
                <a:solidFill>
                  <a:srgbClr val="15213F"/>
                </a:solidFill>
                <a:latin typeface="Roboto" pitchFamily="34" charset="0"/>
                <a:ea typeface="Roboto" pitchFamily="34" charset="-122"/>
                <a:cs typeface="Roboto" pitchFamily="34" charset="-120"/>
              </a:rPr>
              <a:t>Flag-don't-drop · cursor-based · per-call cost</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404045"/>
            <a:ext cx="8608963" cy="1329035"/>
          </a:xfrm>
          <a:prstGeom prst="rect">
            <a:avLst/>
          </a:prstGeom>
          <a:noFill/>
          <a:ln/>
        </p:spPr>
        <p:txBody>
          <a:bodyPr wrap="none" lIns="0" tIns="0" rIns="0" bIns="0" rtlCol="0" anchor="t"/>
          <a:lstStyle/>
          <a:p>
            <a:pPr marL="0" indent="0" algn="l">
              <a:lnSpc>
                <a:spcPct val="104000"/>
              </a:lnSpc>
              <a:buNone/>
            </a:pPr>
            <a:r>
              <a:rPr lang="en-US" sz="8350" dirty="0">
                <a:solidFill>
                  <a:srgbClr val="3257B8"/>
                </a:solidFill>
                <a:latin typeface="Roboto Slab" pitchFamily="34" charset="0"/>
                <a:ea typeface="Roboto Slab" pitchFamily="34" charset="-122"/>
                <a:cs typeface="Roboto Slab" pitchFamily="34" charset="-120"/>
              </a:rPr>
              <a:t>Demo</a:t>
            </a:r>
            <a:endParaRPr lang="en-US" sz="8350" dirty="0"/>
          </a:p>
        </p:txBody>
      </p:sp>
      <p:sp>
        <p:nvSpPr>
          <p:cNvPr id="3" name="Text 1"/>
          <p:cNvSpPr/>
          <p:nvPr/>
        </p:nvSpPr>
        <p:spPr>
          <a:xfrm>
            <a:off x="496119" y="2945681"/>
            <a:ext cx="7712199"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                                                                                  Thank You</a:t>
            </a:r>
            <a:endParaRPr lang="en-US" sz="2200" dirty="0"/>
          </a:p>
        </p:txBody>
      </p:sp>
      <p:sp>
        <p:nvSpPr>
          <p:cNvPr id="4" name="Text 2"/>
          <p:cNvSpPr/>
          <p:nvPr/>
        </p:nvSpPr>
        <p:spPr>
          <a:xfrm>
            <a:off x="496119" y="3512641"/>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                                                                                                                                                                        Vishal Singh</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4274790" cy="221456"/>
          </a:xfrm>
          <a:prstGeom prst="rect">
            <a:avLst/>
          </a:prstGeom>
          <a:noFill/>
          <a:ln/>
        </p:spPr>
        <p:txBody>
          <a:bodyPr wrap="none" lIns="0" tIns="0" rIns="0" bIns="0" rtlCol="0" anchor="t"/>
          <a:lstStyle/>
          <a:p>
            <a:pPr marL="0" indent="0" algn="l">
              <a:lnSpc>
                <a:spcPct val="104000"/>
              </a:lnSpc>
              <a:buNone/>
            </a:pPr>
            <a:r>
              <a:rPr lang="en-US" sz="1350" dirty="0">
                <a:solidFill>
                  <a:srgbClr val="3257B8"/>
                </a:solidFill>
                <a:latin typeface="Roboto Slab" pitchFamily="34" charset="0"/>
                <a:ea typeface="Roboto Slab" pitchFamily="34" charset="-122"/>
                <a:cs typeface="Roboto Slab" pitchFamily="34" charset="-120"/>
              </a:rPr>
              <a:t>Data Flow — From Raw Post to Dashboard KPI</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How a single Reddit post transforms into a scored, stored, and surfaced artefact</a:t>
            </a:r>
            <a:endParaRPr lang="en-US" sz="550" dirty="0"/>
          </a:p>
        </p:txBody>
      </p:sp>
      <p:pic>
        <p:nvPicPr>
          <p:cNvPr id="4" name="Image 0" descr="preencoded.png"/>
          <p:cNvPicPr>
            <a:picLocks noChangeAspect="1"/>
          </p:cNvPicPr>
          <p:nvPr/>
        </p:nvPicPr>
        <p:blipFill>
          <a:blip r:embed="rId3"/>
          <a:stretch>
            <a:fillRect/>
          </a:stretch>
        </p:blipFill>
        <p:spPr>
          <a:xfrm>
            <a:off x="496119" y="807021"/>
            <a:ext cx="7315200" cy="411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80938"/>
            <a:ext cx="2229222" cy="221456"/>
          </a:xfrm>
          <a:prstGeom prst="rect">
            <a:avLst/>
          </a:prstGeom>
          <a:noFill/>
          <a:ln/>
        </p:spPr>
        <p:txBody>
          <a:bodyPr wrap="none" lIns="0" tIns="0" rIns="0" bIns="0" rtlCol="0" anchor="t"/>
          <a:lstStyle/>
          <a:p>
            <a:pPr>
              <a:lnSpc>
                <a:spcPct val="104000"/>
              </a:lnSpc>
            </a:pPr>
            <a:r>
              <a:rPr lang="en-US" sz="1350" dirty="0">
                <a:solidFill>
                  <a:srgbClr val="3257B8"/>
                </a:solidFill>
                <a:latin typeface="Roboto Slab" pitchFamily="34" charset="0"/>
                <a:ea typeface="Roboto Slab" pitchFamily="34" charset="-122"/>
                <a:cs typeface="Roboto Slab" pitchFamily="34" charset="-120"/>
              </a:rPr>
              <a:t>Example of one post to calculate the Trust and confidence Score  -</a:t>
            </a:r>
            <a:r>
              <a:rPr lang="en-US" sz="1350" dirty="0">
                <a:solidFill>
                  <a:srgbClr val="3257B8"/>
                </a:solidFill>
                <a:latin typeface="Roboto Slab" pitchFamily="34" charset="0"/>
                <a:ea typeface="Roboto Slab" pitchFamily="34" charset="-122"/>
                <a:cs typeface="Roboto Slab" pitchFamily="34" charset="-120"/>
                <a:sym typeface="Wingdings" pitchFamily="2" charset="2"/>
              </a:rPr>
              <a:t> </a:t>
            </a:r>
            <a:r>
              <a:rPr lang="en-US" sz="1350" dirty="0">
                <a:solidFill>
                  <a:srgbClr val="3257B8"/>
                </a:solidFill>
                <a:latin typeface="Roboto Slab" pitchFamily="34" charset="0"/>
                <a:ea typeface="Roboto Slab" pitchFamily="34" charset="-122"/>
                <a:cs typeface="Roboto Slab" pitchFamily="34" charset="-120"/>
              </a:rPr>
              <a:t>r/</a:t>
            </a:r>
            <a:r>
              <a:rPr lang="en-US" sz="1350" dirty="0" err="1">
                <a:solidFill>
                  <a:srgbClr val="3257B8"/>
                </a:solidFill>
                <a:latin typeface="Roboto Slab" pitchFamily="34" charset="0"/>
                <a:ea typeface="Roboto Slab" pitchFamily="34" charset="-122"/>
                <a:cs typeface="Roboto Slab" pitchFamily="34" charset="-120"/>
              </a:rPr>
              <a:t>walmart</a:t>
            </a:r>
            <a:endParaRPr lang="en-US" sz="1350" dirty="0"/>
          </a:p>
        </p:txBody>
      </p:sp>
      <p:sp>
        <p:nvSpPr>
          <p:cNvPr id="3" name="Shape 1"/>
          <p:cNvSpPr/>
          <p:nvPr/>
        </p:nvSpPr>
        <p:spPr>
          <a:xfrm>
            <a:off x="496119" y="773237"/>
            <a:ext cx="4058171" cy="783729"/>
          </a:xfrm>
          <a:prstGeom prst="roundRect">
            <a:avLst>
              <a:gd name="adj" fmla="val 1357"/>
            </a:avLst>
          </a:prstGeom>
          <a:solidFill>
            <a:srgbClr val="E9ECF2"/>
          </a:solidFill>
          <a:ln/>
        </p:spPr>
        <p:txBody>
          <a:bodyPr/>
          <a:lstStyle/>
          <a:p>
            <a:endParaRPr lang="en-US"/>
          </a:p>
        </p:txBody>
      </p:sp>
      <p:sp>
        <p:nvSpPr>
          <p:cNvPr id="4" name="Text 2"/>
          <p:cNvSpPr/>
          <p:nvPr/>
        </p:nvSpPr>
        <p:spPr>
          <a:xfrm>
            <a:off x="566961" y="844079"/>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Post Metadata</a:t>
            </a:r>
            <a:endParaRPr lang="en-US" sz="650" dirty="0"/>
          </a:p>
        </p:txBody>
      </p:sp>
      <p:sp>
        <p:nvSpPr>
          <p:cNvPr id="5" name="Text 3"/>
          <p:cNvSpPr/>
          <p:nvPr/>
        </p:nvSpPr>
        <p:spPr>
          <a:xfrm>
            <a:off x="566961" y="976015"/>
            <a:ext cx="3916487" cy="510108"/>
          </a:xfrm>
          <a:prstGeom prst="rect">
            <a:avLst/>
          </a:prstGeom>
          <a:noFill/>
          <a:ln/>
        </p:spPr>
        <p:txBody>
          <a:bodyPr wrap="squar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Author:</a:t>
            </a:r>
            <a:r>
              <a:rPr lang="en-US" sz="550" dirty="0">
                <a:solidFill>
                  <a:srgbClr val="15213F"/>
                </a:solidFill>
                <a:latin typeface="Roboto" pitchFamily="34" charset="0"/>
                <a:ea typeface="Roboto" pitchFamily="34" charset="-122"/>
                <a:cs typeface="Roboto" pitchFamily="34" charset="-120"/>
              </a:rPr>
              <a:t> u/tired_associate_2019</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Title:</a:t>
            </a:r>
            <a:r>
              <a:rPr lang="en-US" sz="550" dirty="0">
                <a:solidFill>
                  <a:srgbClr val="15213F"/>
                </a:solidFill>
                <a:latin typeface="Roboto" pitchFamily="34" charset="0"/>
                <a:ea typeface="Roboto" pitchFamily="34" charset="-122"/>
                <a:cs typeface="Roboto" pitchFamily="34" charset="-120"/>
              </a:rPr>
              <a:t> "Store #4521 forced overtime again — 3rd time this month"</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Score:</a:t>
            </a:r>
            <a:r>
              <a:rPr lang="en-US" sz="550" dirty="0">
                <a:solidFill>
                  <a:srgbClr val="15213F"/>
                </a:solidFill>
                <a:latin typeface="Roboto" pitchFamily="34" charset="0"/>
                <a:ea typeface="Roboto" pitchFamily="34" charset="-122"/>
                <a:cs typeface="Roboto" pitchFamily="34" charset="-120"/>
              </a:rPr>
              <a:t> 18 upvotes</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Account age:</a:t>
            </a:r>
            <a:r>
              <a:rPr lang="en-US" sz="550" dirty="0">
                <a:solidFill>
                  <a:srgbClr val="15213F"/>
                </a:solidFill>
                <a:latin typeface="Roboto" pitchFamily="34" charset="0"/>
                <a:ea typeface="Roboto" pitchFamily="34" charset="-122"/>
                <a:cs typeface="Roboto" pitchFamily="34" charset="-120"/>
              </a:rPr>
              <a:t> 1830 days (~5 years)</a:t>
            </a:r>
            <a:endParaRPr lang="en-US" sz="550" dirty="0"/>
          </a:p>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Total karma:</a:t>
            </a:r>
            <a:r>
              <a:rPr lang="en-US" sz="550" dirty="0">
                <a:solidFill>
                  <a:srgbClr val="15213F"/>
                </a:solidFill>
                <a:latin typeface="Roboto" pitchFamily="34" charset="0"/>
                <a:ea typeface="Roboto" pitchFamily="34" charset="-122"/>
                <a:cs typeface="Roboto" pitchFamily="34" charset="-120"/>
              </a:rPr>
              <a:t> 3200</a:t>
            </a:r>
            <a:endParaRPr lang="en-US" sz="550" dirty="0"/>
          </a:p>
        </p:txBody>
      </p:sp>
      <p:sp>
        <p:nvSpPr>
          <p:cNvPr id="6" name="Shape 4"/>
          <p:cNvSpPr/>
          <p:nvPr/>
        </p:nvSpPr>
        <p:spPr>
          <a:xfrm>
            <a:off x="4589711" y="773237"/>
            <a:ext cx="4058171" cy="783729"/>
          </a:xfrm>
          <a:prstGeom prst="roundRect">
            <a:avLst>
              <a:gd name="adj" fmla="val 1357"/>
            </a:avLst>
          </a:prstGeom>
          <a:solidFill>
            <a:srgbClr val="E9ECF2"/>
          </a:solidFill>
          <a:ln/>
        </p:spPr>
        <p:txBody>
          <a:bodyPr/>
          <a:lstStyle/>
          <a:p>
            <a:endParaRPr lang="en-US"/>
          </a:p>
        </p:txBody>
      </p:sp>
      <p:sp>
        <p:nvSpPr>
          <p:cNvPr id="7" name="Text 5"/>
          <p:cNvSpPr/>
          <p:nvPr/>
        </p:nvSpPr>
        <p:spPr>
          <a:xfrm>
            <a:off x="4660553" y="844079"/>
            <a:ext cx="885974" cy="110728"/>
          </a:xfrm>
          <a:prstGeom prst="rect">
            <a:avLst/>
          </a:prstGeom>
          <a:noFill/>
          <a:ln/>
        </p:spPr>
        <p:txBody>
          <a:bodyPr wrap="none" lIns="0" tIns="0" rIns="0" bIns="0" rtlCol="0" anchor="t"/>
          <a:lstStyle/>
          <a:p>
            <a:pPr marL="0" indent="0" algn="l">
              <a:lnSpc>
                <a:spcPct val="104000"/>
              </a:lnSpc>
              <a:buNone/>
            </a:pPr>
            <a:r>
              <a:rPr lang="en-US" sz="650" dirty="0">
                <a:solidFill>
                  <a:srgbClr val="15213F"/>
                </a:solidFill>
                <a:latin typeface="Roboto Slab" pitchFamily="34" charset="0"/>
                <a:ea typeface="Roboto Slab" pitchFamily="34" charset="-122"/>
                <a:cs typeface="Roboto Slab" pitchFamily="34" charset="-120"/>
              </a:rPr>
              <a:t>Post Body</a:t>
            </a:r>
            <a:endParaRPr lang="en-US" sz="650" dirty="0"/>
          </a:p>
        </p:txBody>
      </p:sp>
      <p:sp>
        <p:nvSpPr>
          <p:cNvPr id="8" name="Text 6"/>
          <p:cNvSpPr/>
          <p:nvPr/>
        </p:nvSpPr>
        <p:spPr>
          <a:xfrm>
            <a:off x="4660553" y="976015"/>
            <a:ext cx="3916487"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"Coach told our whole Cap-2 team we had to stay 2 hours past close for inventory. No approval, no notice. Third time. Register 7 was already down all evening. This is why associates are leaving."</a:t>
            </a:r>
            <a:endParaRPr lang="en-US" sz="550" dirty="0"/>
          </a:p>
        </p:txBody>
      </p:sp>
      <p:sp>
        <p:nvSpPr>
          <p:cNvPr id="9" name="Shape 7"/>
          <p:cNvSpPr/>
          <p:nvPr/>
        </p:nvSpPr>
        <p:spPr>
          <a:xfrm>
            <a:off x="496119" y="1614488"/>
            <a:ext cx="8151763" cy="9525"/>
          </a:xfrm>
          <a:prstGeom prst="roundRect">
            <a:avLst>
              <a:gd name="adj" fmla="val 60000"/>
            </a:avLst>
          </a:prstGeom>
          <a:solidFill>
            <a:srgbClr val="15213F">
              <a:alpha val="50000"/>
            </a:srgbClr>
          </a:solidFill>
          <a:ln/>
        </p:spPr>
        <p:txBody>
          <a:bodyPr/>
          <a:lstStyle/>
          <a:p>
            <a:endParaRPr lang="en-US"/>
          </a:p>
        </p:txBody>
      </p:sp>
      <p:sp>
        <p:nvSpPr>
          <p:cNvPr id="10" name="Text 8"/>
          <p:cNvSpPr/>
          <p:nvPr/>
        </p:nvSpPr>
        <p:spPr>
          <a:xfrm>
            <a:off x="496119" y="1694855"/>
            <a:ext cx="1874862" cy="177180"/>
          </a:xfrm>
          <a:prstGeom prst="rect">
            <a:avLst/>
          </a:prstGeom>
          <a:noFill/>
          <a:ln/>
        </p:spPr>
        <p:txBody>
          <a:bodyPr wrap="none" lIns="0" tIns="0" rIns="0" bIns="0" rtlCol="0" anchor="t"/>
          <a:lstStyle/>
          <a:p>
            <a:pPr marL="0" indent="0" algn="l">
              <a:lnSpc>
                <a:spcPct val="104000"/>
              </a:lnSpc>
              <a:buNone/>
            </a:pPr>
            <a:r>
              <a:rPr lang="en-US" sz="1100" dirty="0">
                <a:solidFill>
                  <a:srgbClr val="3257B8"/>
                </a:solidFill>
                <a:latin typeface="Roboto Slab" pitchFamily="34" charset="0"/>
                <a:ea typeface="Roboto Slab" pitchFamily="34" charset="-122"/>
                <a:cs typeface="Roboto Slab" pitchFamily="34" charset="-120"/>
              </a:rPr>
              <a:t>Stage 1 — Trust Score</a:t>
            </a:r>
            <a:endParaRPr lang="en-US" sz="1100" dirty="0"/>
          </a:p>
        </p:txBody>
      </p:sp>
      <p:sp>
        <p:nvSpPr>
          <p:cNvPr id="11" name="Text 9"/>
          <p:cNvSpPr/>
          <p:nvPr/>
        </p:nvSpPr>
        <p:spPr>
          <a:xfrm>
            <a:off x="496119" y="1925166"/>
            <a:ext cx="8608963" cy="89818"/>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This step runs first in </a:t>
            </a:r>
            <a:r>
              <a:rPr lang="en-US" sz="550" dirty="0">
                <a:solidFill>
                  <a:srgbClr val="15213F"/>
                </a:solidFill>
                <a:highlight>
                  <a:srgbClr val="EEEFF1"/>
                </a:highlight>
                <a:latin typeface="Consolas" pitchFamily="34" charset="0"/>
                <a:ea typeface="Consolas" pitchFamily="34" charset="-122"/>
                <a:cs typeface="Consolas" pitchFamily="34" charset="-120"/>
              </a:rPr>
              <a:t>TrustScorer.score(unit)</a:t>
            </a:r>
            <a:r>
              <a:rPr lang="en-US" sz="550" dirty="0">
                <a:solidFill>
                  <a:srgbClr val="15213F"/>
                </a:solidFill>
                <a:latin typeface="Roboto" pitchFamily="34" charset="0"/>
                <a:ea typeface="Roboto" pitchFamily="34" charset="-122"/>
                <a:cs typeface="Roboto" pitchFamily="34" charset="-120"/>
              </a:rPr>
              <a:t>.</a:t>
            </a:r>
            <a:endParaRPr lang="en-US" sz="550" dirty="0"/>
          </a:p>
        </p:txBody>
      </p:sp>
      <p:sp>
        <p:nvSpPr>
          <p:cNvPr id="12" name="Shape 10"/>
          <p:cNvSpPr/>
          <p:nvPr/>
        </p:nvSpPr>
        <p:spPr>
          <a:xfrm>
            <a:off x="496119" y="2577480"/>
            <a:ext cx="8151763" cy="9525"/>
          </a:xfrm>
          <a:prstGeom prst="roundRect">
            <a:avLst>
              <a:gd name="adj" fmla="val 111628"/>
            </a:avLst>
          </a:prstGeom>
          <a:solidFill>
            <a:srgbClr val="CFD2D8"/>
          </a:solidFill>
          <a:ln/>
        </p:spPr>
        <p:txBody>
          <a:bodyPr/>
          <a:lstStyle/>
          <a:p>
            <a:endParaRPr lang="en-US"/>
          </a:p>
        </p:txBody>
      </p:sp>
      <p:sp>
        <p:nvSpPr>
          <p:cNvPr id="13" name="Shape 11"/>
          <p:cNvSpPr/>
          <p:nvPr/>
        </p:nvSpPr>
        <p:spPr>
          <a:xfrm>
            <a:off x="2108299" y="2364916"/>
            <a:ext cx="9525" cy="212601"/>
          </a:xfrm>
          <a:prstGeom prst="roundRect">
            <a:avLst>
              <a:gd name="adj" fmla="val 111628"/>
            </a:avLst>
          </a:prstGeom>
          <a:solidFill>
            <a:srgbClr val="CFD2D8"/>
          </a:solidFill>
          <a:ln/>
        </p:spPr>
        <p:txBody>
          <a:bodyPr/>
          <a:lstStyle/>
          <a:p>
            <a:endParaRPr lang="en-US"/>
          </a:p>
        </p:txBody>
      </p:sp>
      <p:sp>
        <p:nvSpPr>
          <p:cNvPr id="14" name="Shape 12"/>
          <p:cNvSpPr/>
          <p:nvPr/>
        </p:nvSpPr>
        <p:spPr>
          <a:xfrm>
            <a:off x="2033364" y="2497745"/>
            <a:ext cx="159469" cy="159469"/>
          </a:xfrm>
          <a:prstGeom prst="roundRect">
            <a:avLst>
              <a:gd name="adj" fmla="val 6667"/>
            </a:avLst>
          </a:prstGeom>
          <a:solidFill>
            <a:srgbClr val="E9ECF2"/>
          </a:solidFill>
          <a:ln/>
        </p:spPr>
        <p:txBody>
          <a:bodyPr/>
          <a:lstStyle/>
          <a:p>
            <a:endParaRPr lang="en-US"/>
          </a:p>
        </p:txBody>
      </p:sp>
      <p:sp>
        <p:nvSpPr>
          <p:cNvPr id="15" name="Text 13"/>
          <p:cNvSpPr/>
          <p:nvPr/>
        </p:nvSpPr>
        <p:spPr>
          <a:xfrm>
            <a:off x="2059930"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1</a:t>
            </a:r>
            <a:endParaRPr lang="en-US" sz="800" dirty="0"/>
          </a:p>
        </p:txBody>
      </p:sp>
      <p:sp>
        <p:nvSpPr>
          <p:cNvPr id="16" name="Text 14"/>
          <p:cNvSpPr/>
          <p:nvPr/>
        </p:nvSpPr>
        <p:spPr>
          <a:xfrm>
            <a:off x="1581522" y="2054796"/>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1a. Metadata Score</a:t>
            </a:r>
            <a:endParaRPr lang="en-US" sz="800" dirty="0"/>
          </a:p>
        </p:txBody>
      </p:sp>
      <p:sp>
        <p:nvSpPr>
          <p:cNvPr id="17" name="Text 15"/>
          <p:cNvSpPr/>
          <p:nvPr/>
        </p:nvSpPr>
        <p:spPr>
          <a:xfrm>
            <a:off x="566961" y="2208907"/>
            <a:ext cx="3092425" cy="85055"/>
          </a:xfrm>
          <a:prstGeom prst="rect">
            <a:avLst/>
          </a:prstGeom>
          <a:noFill/>
          <a:ln/>
        </p:spPr>
        <p:txBody>
          <a:bodyPr wrap="none" lIns="0" tIns="0" rIns="0" bIns="0" rtlCol="0" anchor="t"/>
          <a:lstStyle/>
          <a:p>
            <a:pPr marL="0" indent="0" algn="ctr">
              <a:lnSpc>
                <a:spcPct val="100000"/>
              </a:lnSpc>
              <a:buNone/>
            </a:pPr>
            <a:r>
              <a:rPr lang="en-US" sz="550" b="1" dirty="0">
                <a:solidFill>
                  <a:srgbClr val="15213F"/>
                </a:solidFill>
                <a:latin typeface="Roboto Bold" pitchFamily="34" charset="0"/>
                <a:ea typeface="Roboto Bold" pitchFamily="34" charset="-122"/>
                <a:cs typeface="Roboto Bold" pitchFamily="34" charset="-120"/>
              </a:rPr>
              <a:t>Weights:</a:t>
            </a:r>
            <a:r>
              <a:rPr lang="en-US" sz="550" dirty="0">
                <a:solidFill>
                  <a:srgbClr val="15213F"/>
                </a:solidFill>
                <a:latin typeface="Roboto" pitchFamily="34" charset="0"/>
                <a:ea typeface="Roboto" pitchFamily="34" charset="-122"/>
                <a:cs typeface="Roboto" pitchFamily="34" charset="-120"/>
              </a:rPr>
              <a:t> base=0.15, age=0.20, karma=0.20, length=0.30, engagement=0.15</a:t>
            </a:r>
            <a:endParaRPr lang="en-US" sz="550" dirty="0"/>
          </a:p>
        </p:txBody>
      </p:sp>
      <p:sp>
        <p:nvSpPr>
          <p:cNvPr id="18" name="Shape 16"/>
          <p:cNvSpPr/>
          <p:nvPr/>
        </p:nvSpPr>
        <p:spPr>
          <a:xfrm>
            <a:off x="3747492" y="2577443"/>
            <a:ext cx="9525" cy="212601"/>
          </a:xfrm>
          <a:prstGeom prst="roundRect">
            <a:avLst>
              <a:gd name="adj" fmla="val 111628"/>
            </a:avLst>
          </a:prstGeom>
          <a:solidFill>
            <a:srgbClr val="CFD2D8"/>
          </a:solidFill>
          <a:ln/>
        </p:spPr>
        <p:txBody>
          <a:bodyPr/>
          <a:lstStyle/>
          <a:p>
            <a:endParaRPr lang="en-US"/>
          </a:p>
        </p:txBody>
      </p:sp>
      <p:sp>
        <p:nvSpPr>
          <p:cNvPr id="19" name="Shape 17"/>
          <p:cNvSpPr/>
          <p:nvPr/>
        </p:nvSpPr>
        <p:spPr>
          <a:xfrm>
            <a:off x="3672557" y="2497745"/>
            <a:ext cx="159469" cy="159469"/>
          </a:xfrm>
          <a:prstGeom prst="roundRect">
            <a:avLst>
              <a:gd name="adj" fmla="val 6667"/>
            </a:avLst>
          </a:prstGeom>
          <a:solidFill>
            <a:srgbClr val="E9ECF2"/>
          </a:solidFill>
          <a:ln/>
        </p:spPr>
        <p:txBody>
          <a:bodyPr/>
          <a:lstStyle/>
          <a:p>
            <a:endParaRPr lang="en-US"/>
          </a:p>
        </p:txBody>
      </p:sp>
      <p:sp>
        <p:nvSpPr>
          <p:cNvPr id="20" name="Text 18"/>
          <p:cNvSpPr/>
          <p:nvPr/>
        </p:nvSpPr>
        <p:spPr>
          <a:xfrm>
            <a:off x="3699123"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2</a:t>
            </a:r>
            <a:endParaRPr lang="en-US" sz="800" dirty="0"/>
          </a:p>
        </p:txBody>
      </p:sp>
      <p:sp>
        <p:nvSpPr>
          <p:cNvPr id="21" name="Text 19"/>
          <p:cNvSpPr/>
          <p:nvPr/>
        </p:nvSpPr>
        <p:spPr>
          <a:xfrm>
            <a:off x="3220715" y="2860997"/>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1b. Dedup Score</a:t>
            </a:r>
            <a:endParaRPr lang="en-US" sz="800" dirty="0"/>
          </a:p>
        </p:txBody>
      </p:sp>
      <p:sp>
        <p:nvSpPr>
          <p:cNvPr id="22" name="Text 20"/>
          <p:cNvSpPr/>
          <p:nvPr/>
        </p:nvSpPr>
        <p:spPr>
          <a:xfrm>
            <a:off x="2206154" y="3015109"/>
            <a:ext cx="3092425" cy="89818"/>
          </a:xfrm>
          <a:prstGeom prst="rect">
            <a:avLst/>
          </a:prstGeom>
          <a:noFill/>
          <a:ln/>
        </p:spPr>
        <p:txBody>
          <a:bodyPr wrap="none" lIns="0" tIns="0" rIns="0" bIns="0" rtlCol="0" anchor="t"/>
          <a:lstStyle/>
          <a:p>
            <a:pPr marL="0" indent="0" algn="ctr">
              <a:lnSpc>
                <a:spcPct val="100000"/>
              </a:lnSpc>
              <a:buNone/>
            </a:pPr>
            <a:r>
              <a:rPr lang="en-US" sz="550" dirty="0">
                <a:solidFill>
                  <a:srgbClr val="15213F"/>
                </a:solidFill>
                <a:latin typeface="Roboto" pitchFamily="34" charset="0"/>
                <a:ea typeface="Roboto" pitchFamily="34" charset="-122"/>
                <a:cs typeface="Roboto" pitchFamily="34" charset="-120"/>
              </a:rPr>
              <a:t>First appearance → </a:t>
            </a:r>
            <a:r>
              <a:rPr lang="en-US" sz="550" dirty="0">
                <a:solidFill>
                  <a:srgbClr val="15213F"/>
                </a:solidFill>
                <a:highlight>
                  <a:srgbClr val="EEEFF1"/>
                </a:highlight>
                <a:latin typeface="Consolas" pitchFamily="34" charset="0"/>
                <a:ea typeface="Consolas" pitchFamily="34" charset="-122"/>
                <a:cs typeface="Consolas" pitchFamily="34" charset="-120"/>
              </a:rPr>
              <a:t>dedup_score = 1.0</a:t>
            </a:r>
            <a:r>
              <a:rPr lang="en-US" sz="550" dirty="0">
                <a:solidFill>
                  <a:srgbClr val="15213F"/>
                </a:solidFill>
                <a:latin typeface="Roboto" pitchFamily="34" charset="0"/>
                <a:ea typeface="Roboto" pitchFamily="34" charset="-122"/>
                <a:cs typeface="Roboto" pitchFamily="34" charset="-120"/>
              </a:rPr>
              <a:t>. Later repeats are penalized.</a:t>
            </a:r>
            <a:endParaRPr lang="en-US" sz="550" dirty="0"/>
          </a:p>
        </p:txBody>
      </p:sp>
      <p:sp>
        <p:nvSpPr>
          <p:cNvPr id="23" name="Shape 21"/>
          <p:cNvSpPr/>
          <p:nvPr/>
        </p:nvSpPr>
        <p:spPr>
          <a:xfrm>
            <a:off x="5386685" y="2364916"/>
            <a:ext cx="9525" cy="212601"/>
          </a:xfrm>
          <a:prstGeom prst="roundRect">
            <a:avLst>
              <a:gd name="adj" fmla="val 111628"/>
            </a:avLst>
          </a:prstGeom>
          <a:solidFill>
            <a:srgbClr val="CFD2D8"/>
          </a:solidFill>
          <a:ln/>
        </p:spPr>
        <p:txBody>
          <a:bodyPr/>
          <a:lstStyle/>
          <a:p>
            <a:endParaRPr lang="en-US"/>
          </a:p>
        </p:txBody>
      </p:sp>
      <p:sp>
        <p:nvSpPr>
          <p:cNvPr id="24" name="Shape 22"/>
          <p:cNvSpPr/>
          <p:nvPr/>
        </p:nvSpPr>
        <p:spPr>
          <a:xfrm>
            <a:off x="5311750" y="2497745"/>
            <a:ext cx="159469" cy="159469"/>
          </a:xfrm>
          <a:prstGeom prst="roundRect">
            <a:avLst>
              <a:gd name="adj" fmla="val 6667"/>
            </a:avLst>
          </a:prstGeom>
          <a:solidFill>
            <a:srgbClr val="E9ECF2"/>
          </a:solidFill>
          <a:ln/>
        </p:spPr>
        <p:txBody>
          <a:bodyPr/>
          <a:lstStyle/>
          <a:p>
            <a:endParaRPr lang="en-US"/>
          </a:p>
        </p:txBody>
      </p:sp>
      <p:sp>
        <p:nvSpPr>
          <p:cNvPr id="25" name="Text 23"/>
          <p:cNvSpPr/>
          <p:nvPr/>
        </p:nvSpPr>
        <p:spPr>
          <a:xfrm>
            <a:off x="5338316"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3</a:t>
            </a:r>
            <a:endParaRPr lang="en-US" sz="800" dirty="0"/>
          </a:p>
        </p:txBody>
      </p:sp>
      <p:sp>
        <p:nvSpPr>
          <p:cNvPr id="26" name="Text 24"/>
          <p:cNvSpPr/>
          <p:nvPr/>
        </p:nvSpPr>
        <p:spPr>
          <a:xfrm>
            <a:off x="4859908" y="2054796"/>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1c. LLM Credibility</a:t>
            </a:r>
            <a:endParaRPr lang="en-US" sz="800" dirty="0"/>
          </a:p>
        </p:txBody>
      </p:sp>
      <p:sp>
        <p:nvSpPr>
          <p:cNvPr id="27" name="Text 25"/>
          <p:cNvSpPr/>
          <p:nvPr/>
        </p:nvSpPr>
        <p:spPr>
          <a:xfrm>
            <a:off x="3845347" y="2208907"/>
            <a:ext cx="3092425" cy="85055"/>
          </a:xfrm>
          <a:prstGeom prst="rect">
            <a:avLst/>
          </a:prstGeom>
          <a:noFill/>
          <a:ln/>
        </p:spPr>
        <p:txBody>
          <a:bodyPr wrap="none" lIns="0" tIns="0" rIns="0" bIns="0" rtlCol="0" anchor="t"/>
          <a:lstStyle/>
          <a:p>
            <a:pPr marL="0" indent="0" algn="ctr">
              <a:lnSpc>
                <a:spcPct val="100000"/>
              </a:lnSpc>
              <a:buNone/>
            </a:pPr>
            <a:r>
              <a:rPr lang="en-US" sz="550" dirty="0">
                <a:solidFill>
                  <a:srgbClr val="15213F"/>
                </a:solidFill>
                <a:latin typeface="Roboto" pitchFamily="34" charset="0"/>
                <a:ea typeface="Roboto" pitchFamily="34" charset="-122"/>
                <a:cs typeface="Roboto" pitchFamily="34" charset="-120"/>
              </a:rPr>
              <a:t>Because the metadata score is above 0.8, the LLM step is skipped and the neutral default is used.</a:t>
            </a:r>
            <a:endParaRPr lang="en-US" sz="550" dirty="0"/>
          </a:p>
        </p:txBody>
      </p:sp>
      <p:sp>
        <p:nvSpPr>
          <p:cNvPr id="28" name="Shape 26"/>
          <p:cNvSpPr/>
          <p:nvPr/>
        </p:nvSpPr>
        <p:spPr>
          <a:xfrm>
            <a:off x="7025878" y="2577443"/>
            <a:ext cx="9525" cy="212601"/>
          </a:xfrm>
          <a:prstGeom prst="roundRect">
            <a:avLst>
              <a:gd name="adj" fmla="val 111628"/>
            </a:avLst>
          </a:prstGeom>
          <a:solidFill>
            <a:srgbClr val="CFD2D8"/>
          </a:solidFill>
          <a:ln/>
        </p:spPr>
        <p:txBody>
          <a:bodyPr/>
          <a:lstStyle/>
          <a:p>
            <a:endParaRPr lang="en-US"/>
          </a:p>
        </p:txBody>
      </p:sp>
      <p:sp>
        <p:nvSpPr>
          <p:cNvPr id="29" name="Shape 27"/>
          <p:cNvSpPr/>
          <p:nvPr/>
        </p:nvSpPr>
        <p:spPr>
          <a:xfrm>
            <a:off x="6950943" y="2497745"/>
            <a:ext cx="159469" cy="159469"/>
          </a:xfrm>
          <a:prstGeom prst="roundRect">
            <a:avLst>
              <a:gd name="adj" fmla="val 6667"/>
            </a:avLst>
          </a:prstGeom>
          <a:solidFill>
            <a:srgbClr val="E9ECF2"/>
          </a:solidFill>
          <a:ln/>
        </p:spPr>
        <p:txBody>
          <a:bodyPr/>
          <a:lstStyle/>
          <a:p>
            <a:endParaRPr lang="en-US"/>
          </a:p>
        </p:txBody>
      </p:sp>
      <p:sp>
        <p:nvSpPr>
          <p:cNvPr id="30" name="Text 28"/>
          <p:cNvSpPr/>
          <p:nvPr/>
        </p:nvSpPr>
        <p:spPr>
          <a:xfrm>
            <a:off x="6977509" y="2510991"/>
            <a:ext cx="106263" cy="132904"/>
          </a:xfrm>
          <a:prstGeom prst="rect">
            <a:avLst/>
          </a:prstGeom>
          <a:noFill/>
          <a:ln/>
        </p:spPr>
        <p:txBody>
          <a:bodyPr wrap="none" lIns="0" tIns="0" rIns="0" bIns="0" rtlCol="0" anchor="ctr"/>
          <a:lstStyle/>
          <a:p>
            <a:pPr marL="0" indent="0" algn="ctr">
              <a:lnSpc>
                <a:spcPct val="100000"/>
              </a:lnSpc>
              <a:buNone/>
            </a:pPr>
            <a:r>
              <a:rPr lang="en-US" sz="800" dirty="0">
                <a:solidFill>
                  <a:srgbClr val="15213F"/>
                </a:solidFill>
                <a:latin typeface="Roboto Slab" pitchFamily="34" charset="0"/>
                <a:ea typeface="Roboto Slab" pitchFamily="34" charset="-122"/>
                <a:cs typeface="Roboto Slab" pitchFamily="34" charset="-120"/>
              </a:rPr>
              <a:t>4</a:t>
            </a:r>
            <a:endParaRPr lang="en-US" sz="800" dirty="0"/>
          </a:p>
        </p:txBody>
      </p:sp>
      <p:sp>
        <p:nvSpPr>
          <p:cNvPr id="31" name="Text 29"/>
          <p:cNvSpPr/>
          <p:nvPr/>
        </p:nvSpPr>
        <p:spPr>
          <a:xfrm>
            <a:off x="6499101" y="2860997"/>
            <a:ext cx="1063228" cy="132904"/>
          </a:xfrm>
          <a:prstGeom prst="rect">
            <a:avLst/>
          </a:prstGeom>
          <a:noFill/>
          <a:ln/>
        </p:spPr>
        <p:txBody>
          <a:bodyPr wrap="none" lIns="0" tIns="0" rIns="0" bIns="0" rtlCol="0" anchor="t"/>
          <a:lstStyle/>
          <a:p>
            <a:pPr marL="0" indent="0" algn="ctr">
              <a:lnSpc>
                <a:spcPct val="104000"/>
              </a:lnSpc>
              <a:buNone/>
            </a:pPr>
            <a:r>
              <a:rPr lang="en-US" sz="800" dirty="0">
                <a:solidFill>
                  <a:srgbClr val="15213F"/>
                </a:solidFill>
                <a:latin typeface="Roboto Slab" pitchFamily="34" charset="0"/>
                <a:ea typeface="Roboto Slab" pitchFamily="34" charset="-122"/>
                <a:cs typeface="Roboto Slab" pitchFamily="34" charset="-120"/>
              </a:rPr>
              <a:t>1d. Combined Trust</a:t>
            </a:r>
            <a:endParaRPr lang="en-US" sz="800" dirty="0"/>
          </a:p>
        </p:txBody>
      </p:sp>
      <p:sp>
        <p:nvSpPr>
          <p:cNvPr id="32" name="Text 30"/>
          <p:cNvSpPr/>
          <p:nvPr/>
        </p:nvSpPr>
        <p:spPr>
          <a:xfrm>
            <a:off x="5484540" y="3015109"/>
            <a:ext cx="3092425" cy="85055"/>
          </a:xfrm>
          <a:prstGeom prst="rect">
            <a:avLst/>
          </a:prstGeom>
          <a:noFill/>
          <a:ln/>
        </p:spPr>
        <p:txBody>
          <a:bodyPr wrap="none" lIns="0" tIns="0" rIns="0" bIns="0" rtlCol="0" anchor="t"/>
          <a:lstStyle/>
          <a:p>
            <a:pPr marL="0" indent="0" algn="ctr">
              <a:lnSpc>
                <a:spcPct val="100000"/>
              </a:lnSpc>
              <a:buNone/>
            </a:pPr>
            <a:r>
              <a:rPr lang="en-US" sz="550" b="1" dirty="0">
                <a:solidFill>
                  <a:srgbClr val="15213F"/>
                </a:solidFill>
                <a:latin typeface="Roboto Bold" pitchFamily="34" charset="0"/>
                <a:ea typeface="Roboto Bold" pitchFamily="34" charset="-122"/>
                <a:cs typeface="Roboto Bold" pitchFamily="34" charset="-120"/>
              </a:rPr>
              <a:t>Weights:</a:t>
            </a:r>
            <a:r>
              <a:rPr lang="en-US" sz="550" dirty="0">
                <a:solidFill>
                  <a:srgbClr val="15213F"/>
                </a:solidFill>
                <a:latin typeface="Roboto" pitchFamily="34" charset="0"/>
                <a:ea typeface="Roboto" pitchFamily="34" charset="-122"/>
                <a:cs typeface="Roboto" pitchFamily="34" charset="-120"/>
              </a:rPr>
              <a:t> metadata=0.4, dedup=0.3, llm=0.3</a:t>
            </a:r>
            <a:endParaRPr lang="en-US" sz="550" dirty="0"/>
          </a:p>
        </p:txBody>
      </p:sp>
      <p:sp>
        <p:nvSpPr>
          <p:cNvPr id="33" name="Shape 31"/>
          <p:cNvSpPr/>
          <p:nvPr/>
        </p:nvSpPr>
        <p:spPr>
          <a:xfrm>
            <a:off x="496119" y="3184550"/>
            <a:ext cx="4488879" cy="713556"/>
          </a:xfrm>
          <a:prstGeom prst="roundRect">
            <a:avLst>
              <a:gd name="adj" fmla="val 1490"/>
            </a:avLst>
          </a:prstGeom>
          <a:noFill/>
          <a:ln w="4763">
            <a:solidFill>
              <a:srgbClr val="000000">
                <a:alpha val="8000"/>
              </a:srgbClr>
            </a:solidFill>
            <a:prstDash val="solid"/>
          </a:ln>
        </p:spPr>
        <p:txBody>
          <a:bodyPr/>
          <a:lstStyle/>
          <a:p>
            <a:endParaRPr lang="en-US"/>
          </a:p>
        </p:txBody>
      </p:sp>
      <p:sp>
        <p:nvSpPr>
          <p:cNvPr id="34" name="Text 32"/>
          <p:cNvSpPr/>
          <p:nvPr/>
        </p:nvSpPr>
        <p:spPr>
          <a:xfrm>
            <a:off x="571798" y="3215283"/>
            <a:ext cx="1209005"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Signal</a:t>
            </a:r>
            <a:endParaRPr lang="en-US" sz="550" dirty="0"/>
          </a:p>
        </p:txBody>
      </p:sp>
      <p:sp>
        <p:nvSpPr>
          <p:cNvPr id="35" name="Text 33"/>
          <p:cNvSpPr/>
          <p:nvPr/>
        </p:nvSpPr>
        <p:spPr>
          <a:xfrm>
            <a:off x="1470050" y="3215283"/>
            <a:ext cx="120662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Raw</a:t>
            </a:r>
            <a:endParaRPr lang="en-US" sz="550" dirty="0"/>
          </a:p>
        </p:txBody>
      </p:sp>
      <p:sp>
        <p:nvSpPr>
          <p:cNvPr id="36" name="Text 34"/>
          <p:cNvSpPr/>
          <p:nvPr/>
        </p:nvSpPr>
        <p:spPr>
          <a:xfrm>
            <a:off x="2365921" y="3215283"/>
            <a:ext cx="1878509"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Formula</a:t>
            </a:r>
            <a:endParaRPr lang="en-US" sz="550" dirty="0"/>
          </a:p>
        </p:txBody>
      </p:sp>
      <p:sp>
        <p:nvSpPr>
          <p:cNvPr id="37" name="Text 35"/>
          <p:cNvSpPr/>
          <p:nvPr/>
        </p:nvSpPr>
        <p:spPr>
          <a:xfrm>
            <a:off x="3933676" y="3215283"/>
            <a:ext cx="1432917"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Score</a:t>
            </a:r>
            <a:endParaRPr lang="en-US" sz="550" dirty="0"/>
          </a:p>
        </p:txBody>
      </p:sp>
      <p:sp>
        <p:nvSpPr>
          <p:cNvPr id="38" name="Text 36"/>
          <p:cNvSpPr/>
          <p:nvPr/>
        </p:nvSpPr>
        <p:spPr>
          <a:xfrm>
            <a:off x="571798" y="3357042"/>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Age</a:t>
            </a:r>
            <a:endParaRPr lang="en-US" sz="550" dirty="0"/>
          </a:p>
        </p:txBody>
      </p:sp>
      <p:sp>
        <p:nvSpPr>
          <p:cNvPr id="39" name="Text 37"/>
          <p:cNvSpPr/>
          <p:nvPr/>
        </p:nvSpPr>
        <p:spPr>
          <a:xfrm>
            <a:off x="1470050" y="3357042"/>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1830 days</a:t>
            </a:r>
            <a:endParaRPr lang="en-US" sz="550" dirty="0"/>
          </a:p>
        </p:txBody>
      </p:sp>
      <p:sp>
        <p:nvSpPr>
          <p:cNvPr id="40" name="Text 38"/>
          <p:cNvSpPr/>
          <p:nvPr/>
        </p:nvSpPr>
        <p:spPr>
          <a:xfrm>
            <a:off x="2365921" y="3357042"/>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min(1830/365, 1)</a:t>
            </a:r>
            <a:endParaRPr lang="en-US" sz="550" dirty="0"/>
          </a:p>
        </p:txBody>
      </p:sp>
      <p:sp>
        <p:nvSpPr>
          <p:cNvPr id="41" name="Text 39"/>
          <p:cNvSpPr/>
          <p:nvPr/>
        </p:nvSpPr>
        <p:spPr>
          <a:xfrm>
            <a:off x="3933676" y="3357042"/>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1.00</a:t>
            </a:r>
            <a:endParaRPr lang="en-US" sz="550" dirty="0"/>
          </a:p>
        </p:txBody>
      </p:sp>
      <p:sp>
        <p:nvSpPr>
          <p:cNvPr id="42" name="Text 40"/>
          <p:cNvSpPr/>
          <p:nvPr/>
        </p:nvSpPr>
        <p:spPr>
          <a:xfrm>
            <a:off x="571798" y="3498800"/>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Karma</a:t>
            </a:r>
            <a:endParaRPr lang="en-US" sz="550" dirty="0"/>
          </a:p>
        </p:txBody>
      </p:sp>
      <p:sp>
        <p:nvSpPr>
          <p:cNvPr id="43" name="Text 41"/>
          <p:cNvSpPr/>
          <p:nvPr/>
        </p:nvSpPr>
        <p:spPr>
          <a:xfrm>
            <a:off x="1470050" y="3498800"/>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3200</a:t>
            </a:r>
            <a:endParaRPr lang="en-US" sz="550" dirty="0"/>
          </a:p>
        </p:txBody>
      </p:sp>
      <p:sp>
        <p:nvSpPr>
          <p:cNvPr id="44" name="Text 42"/>
          <p:cNvSpPr/>
          <p:nvPr/>
        </p:nvSpPr>
        <p:spPr>
          <a:xfrm>
            <a:off x="2365921" y="3498800"/>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min(3200/5000, 1)</a:t>
            </a:r>
            <a:endParaRPr lang="en-US" sz="550" dirty="0"/>
          </a:p>
        </p:txBody>
      </p:sp>
      <p:sp>
        <p:nvSpPr>
          <p:cNvPr id="45" name="Text 43"/>
          <p:cNvSpPr/>
          <p:nvPr/>
        </p:nvSpPr>
        <p:spPr>
          <a:xfrm>
            <a:off x="3933676" y="3498800"/>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0.64</a:t>
            </a:r>
            <a:endParaRPr lang="en-US" sz="550" dirty="0"/>
          </a:p>
        </p:txBody>
      </p:sp>
      <p:sp>
        <p:nvSpPr>
          <p:cNvPr id="46" name="Text 44"/>
          <p:cNvSpPr/>
          <p:nvPr/>
        </p:nvSpPr>
        <p:spPr>
          <a:xfrm>
            <a:off x="571798" y="3640559"/>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Length</a:t>
            </a:r>
            <a:endParaRPr lang="en-US" sz="550" dirty="0"/>
          </a:p>
        </p:txBody>
      </p:sp>
      <p:sp>
        <p:nvSpPr>
          <p:cNvPr id="47" name="Text 45"/>
          <p:cNvSpPr/>
          <p:nvPr/>
        </p:nvSpPr>
        <p:spPr>
          <a:xfrm>
            <a:off x="1470050" y="3640559"/>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259 chars</a:t>
            </a:r>
            <a:endParaRPr lang="en-US" sz="550" dirty="0"/>
          </a:p>
        </p:txBody>
      </p:sp>
      <p:sp>
        <p:nvSpPr>
          <p:cNvPr id="48" name="Text 46"/>
          <p:cNvSpPr/>
          <p:nvPr/>
        </p:nvSpPr>
        <p:spPr>
          <a:xfrm>
            <a:off x="2365921" y="3640559"/>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min(259/200, 1)</a:t>
            </a:r>
            <a:endParaRPr lang="en-US" sz="550" dirty="0"/>
          </a:p>
        </p:txBody>
      </p:sp>
      <p:sp>
        <p:nvSpPr>
          <p:cNvPr id="49" name="Text 47"/>
          <p:cNvSpPr/>
          <p:nvPr/>
        </p:nvSpPr>
        <p:spPr>
          <a:xfrm>
            <a:off x="3933676" y="3640559"/>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1.00</a:t>
            </a:r>
            <a:endParaRPr lang="en-US" sz="550" dirty="0"/>
          </a:p>
        </p:txBody>
      </p:sp>
      <p:sp>
        <p:nvSpPr>
          <p:cNvPr id="50" name="Text 48"/>
          <p:cNvSpPr/>
          <p:nvPr/>
        </p:nvSpPr>
        <p:spPr>
          <a:xfrm>
            <a:off x="571798" y="3782318"/>
            <a:ext cx="1209005"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Engagement</a:t>
            </a:r>
            <a:endParaRPr lang="en-US" sz="550" dirty="0"/>
          </a:p>
        </p:txBody>
      </p:sp>
      <p:sp>
        <p:nvSpPr>
          <p:cNvPr id="51" name="Text 49"/>
          <p:cNvSpPr/>
          <p:nvPr/>
        </p:nvSpPr>
        <p:spPr>
          <a:xfrm>
            <a:off x="1470050" y="3782318"/>
            <a:ext cx="120662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18 upvotes</a:t>
            </a:r>
            <a:endParaRPr lang="en-US" sz="550" dirty="0"/>
          </a:p>
        </p:txBody>
      </p:sp>
      <p:sp>
        <p:nvSpPr>
          <p:cNvPr id="52" name="Text 50"/>
          <p:cNvSpPr/>
          <p:nvPr/>
        </p:nvSpPr>
        <p:spPr>
          <a:xfrm>
            <a:off x="2365921" y="3782318"/>
            <a:ext cx="1878509"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min(18/20, 1)</a:t>
            </a:r>
            <a:endParaRPr lang="en-US" sz="550" dirty="0"/>
          </a:p>
        </p:txBody>
      </p:sp>
      <p:sp>
        <p:nvSpPr>
          <p:cNvPr id="53" name="Text 51"/>
          <p:cNvSpPr/>
          <p:nvPr/>
        </p:nvSpPr>
        <p:spPr>
          <a:xfrm>
            <a:off x="3933676" y="3782318"/>
            <a:ext cx="1432917"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0.90</a:t>
            </a:r>
            <a:endParaRPr lang="en-US" sz="550" dirty="0"/>
          </a:p>
        </p:txBody>
      </p:sp>
      <p:sp>
        <p:nvSpPr>
          <p:cNvPr id="54" name="Text 52"/>
          <p:cNvSpPr/>
          <p:nvPr/>
        </p:nvSpPr>
        <p:spPr>
          <a:xfrm>
            <a:off x="496119" y="3937918"/>
            <a:ext cx="4488879" cy="211485"/>
          </a:xfrm>
          <a:prstGeom prst="rect">
            <a:avLst/>
          </a:prstGeom>
          <a:noFill/>
          <a:ln/>
        </p:spPr>
        <p:txBody>
          <a:bodyPr wrap="square" lIns="0" tIns="0" rIns="0" bIns="0" rtlCol="0" anchor="t"/>
          <a:lstStyle/>
          <a:p>
            <a:pPr marL="0" indent="0" algn="l">
              <a:lnSpc>
                <a:spcPct val="100000"/>
              </a:lnSpc>
              <a:spcAft>
                <a:spcPts val="250"/>
              </a:spcAft>
              <a:buNone/>
            </a:pPr>
            <a:r>
              <a:rPr lang="en-US" sz="550" dirty="0">
                <a:solidFill>
                  <a:srgbClr val="15213F"/>
                </a:solidFill>
                <a:highlight>
                  <a:srgbClr val="EEEFF1"/>
                </a:highlight>
                <a:latin typeface="Consolas" pitchFamily="34" charset="0"/>
                <a:ea typeface="Consolas" pitchFamily="34" charset="-122"/>
                <a:cs typeface="Consolas" pitchFamily="34" charset="-120"/>
              </a:rPr>
              <a:t>metadata_score = 0.913</a:t>
            </a:r>
            <a:endParaRPr lang="en-US" sz="550" dirty="0"/>
          </a:p>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llm_score = 0.5</a:t>
            </a:r>
            <a:endParaRPr lang="en-US" sz="550" dirty="0"/>
          </a:p>
        </p:txBody>
      </p:sp>
      <p:sp>
        <p:nvSpPr>
          <p:cNvPr id="55" name="Shape 53"/>
          <p:cNvSpPr/>
          <p:nvPr/>
        </p:nvSpPr>
        <p:spPr>
          <a:xfrm>
            <a:off x="496119" y="4189214"/>
            <a:ext cx="4488879" cy="311795"/>
          </a:xfrm>
          <a:prstGeom prst="roundRect">
            <a:avLst>
              <a:gd name="adj" fmla="val 3410"/>
            </a:avLst>
          </a:prstGeom>
          <a:solidFill>
            <a:srgbClr val="EEEFF1"/>
          </a:solidFill>
          <a:ln/>
        </p:spPr>
        <p:txBody>
          <a:bodyPr/>
          <a:lstStyle/>
          <a:p>
            <a:endParaRPr lang="en-US"/>
          </a:p>
        </p:txBody>
      </p:sp>
      <p:sp>
        <p:nvSpPr>
          <p:cNvPr id="56" name="Shape 54"/>
          <p:cNvSpPr/>
          <p:nvPr/>
        </p:nvSpPr>
        <p:spPr>
          <a:xfrm>
            <a:off x="492621" y="4189214"/>
            <a:ext cx="4495874" cy="311795"/>
          </a:xfrm>
          <a:prstGeom prst="roundRect">
            <a:avLst>
              <a:gd name="adj" fmla="val 3410"/>
            </a:avLst>
          </a:prstGeom>
          <a:solidFill>
            <a:srgbClr val="EEEFF1"/>
          </a:solidFill>
          <a:ln/>
        </p:spPr>
        <p:txBody>
          <a:bodyPr/>
          <a:lstStyle/>
          <a:p>
            <a:endParaRPr lang="en-US"/>
          </a:p>
        </p:txBody>
      </p:sp>
      <p:sp>
        <p:nvSpPr>
          <p:cNvPr id="57" name="Text 55"/>
          <p:cNvSpPr/>
          <p:nvPr/>
        </p:nvSpPr>
        <p:spPr>
          <a:xfrm>
            <a:off x="581174" y="4260056"/>
            <a:ext cx="4318769"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trust_score = 0.4 · 0.913 + 0.3 · 1.000 + 0.3 · 0.500</a:t>
            </a:r>
            <a:endParaRPr lang="en-US" sz="550" dirty="0"/>
          </a:p>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            = 0.815</a:t>
            </a:r>
            <a:endParaRPr lang="en-US" sz="550" dirty="0"/>
          </a:p>
        </p:txBody>
      </p:sp>
      <p:sp>
        <p:nvSpPr>
          <p:cNvPr id="58" name="Text 56"/>
          <p:cNvSpPr/>
          <p:nvPr/>
        </p:nvSpPr>
        <p:spPr>
          <a:xfrm>
            <a:off x="496119" y="4540821"/>
            <a:ext cx="4946079" cy="89818"/>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trust_score = 0.815</a:t>
            </a:r>
            <a:endParaRPr lang="en-US" sz="550" dirty="0"/>
          </a:p>
        </p:txBody>
      </p:sp>
      <p:sp>
        <p:nvSpPr>
          <p:cNvPr id="59" name="Shape 57"/>
          <p:cNvSpPr/>
          <p:nvPr/>
        </p:nvSpPr>
        <p:spPr>
          <a:xfrm>
            <a:off x="5162699" y="3184550"/>
            <a:ext cx="3489871" cy="713556"/>
          </a:xfrm>
          <a:prstGeom prst="roundRect">
            <a:avLst>
              <a:gd name="adj" fmla="val 1490"/>
            </a:avLst>
          </a:prstGeom>
          <a:noFill/>
          <a:ln w="4763">
            <a:solidFill>
              <a:srgbClr val="000000">
                <a:alpha val="8000"/>
              </a:srgbClr>
            </a:solidFill>
            <a:prstDash val="solid"/>
          </a:ln>
        </p:spPr>
        <p:txBody>
          <a:bodyPr/>
          <a:lstStyle/>
          <a:p>
            <a:endParaRPr lang="en-US"/>
          </a:p>
        </p:txBody>
      </p:sp>
      <p:sp>
        <p:nvSpPr>
          <p:cNvPr id="60" name="Text 58"/>
          <p:cNvSpPr/>
          <p:nvPr/>
        </p:nvSpPr>
        <p:spPr>
          <a:xfrm>
            <a:off x="5238452" y="3215283"/>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Class</a:t>
            </a:r>
            <a:endParaRPr lang="en-US" sz="550" dirty="0"/>
          </a:p>
        </p:txBody>
      </p:sp>
      <p:sp>
        <p:nvSpPr>
          <p:cNvPr id="61" name="Text 59"/>
          <p:cNvSpPr/>
          <p:nvPr/>
        </p:nvSpPr>
        <p:spPr>
          <a:xfrm>
            <a:off x="6110883" y="3215283"/>
            <a:ext cx="1180802"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Logit</a:t>
            </a:r>
            <a:endParaRPr lang="en-US" sz="550" dirty="0"/>
          </a:p>
        </p:txBody>
      </p:sp>
      <p:sp>
        <p:nvSpPr>
          <p:cNvPr id="62" name="Text 60"/>
          <p:cNvSpPr/>
          <p:nvPr/>
        </p:nvSpPr>
        <p:spPr>
          <a:xfrm>
            <a:off x="6980932" y="3215283"/>
            <a:ext cx="1180802"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exp(logit)</a:t>
            </a:r>
            <a:endParaRPr lang="en-US" sz="550" dirty="0"/>
          </a:p>
        </p:txBody>
      </p:sp>
      <p:sp>
        <p:nvSpPr>
          <p:cNvPr id="63" name="Text 61"/>
          <p:cNvSpPr/>
          <p:nvPr/>
        </p:nvSpPr>
        <p:spPr>
          <a:xfrm>
            <a:off x="7850981" y="3215283"/>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Probability</a:t>
            </a:r>
            <a:endParaRPr lang="en-US" sz="550" dirty="0"/>
          </a:p>
        </p:txBody>
      </p:sp>
      <p:sp>
        <p:nvSpPr>
          <p:cNvPr id="64" name="Text 62"/>
          <p:cNvSpPr/>
          <p:nvPr/>
        </p:nvSpPr>
        <p:spPr>
          <a:xfrm>
            <a:off x="5238452" y="3357042"/>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negative</a:t>
            </a:r>
            <a:endParaRPr lang="en-US" sz="550" dirty="0"/>
          </a:p>
        </p:txBody>
      </p:sp>
      <p:sp>
        <p:nvSpPr>
          <p:cNvPr id="65" name="Text 63"/>
          <p:cNvSpPr/>
          <p:nvPr/>
        </p:nvSpPr>
        <p:spPr>
          <a:xfrm>
            <a:off x="6110883" y="3357042"/>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3.20</a:t>
            </a:r>
            <a:endParaRPr lang="en-US" sz="550" dirty="0"/>
          </a:p>
        </p:txBody>
      </p:sp>
      <p:sp>
        <p:nvSpPr>
          <p:cNvPr id="66" name="Text 64"/>
          <p:cNvSpPr/>
          <p:nvPr/>
        </p:nvSpPr>
        <p:spPr>
          <a:xfrm>
            <a:off x="6980932" y="3357042"/>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24.53</a:t>
            </a:r>
            <a:endParaRPr lang="en-US" sz="550" dirty="0"/>
          </a:p>
        </p:txBody>
      </p:sp>
      <p:sp>
        <p:nvSpPr>
          <p:cNvPr id="67" name="Text 65"/>
          <p:cNvSpPr/>
          <p:nvPr/>
        </p:nvSpPr>
        <p:spPr>
          <a:xfrm>
            <a:off x="7850981" y="3357042"/>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0.87</a:t>
            </a:r>
            <a:endParaRPr lang="en-US" sz="550" dirty="0"/>
          </a:p>
        </p:txBody>
      </p:sp>
      <p:sp>
        <p:nvSpPr>
          <p:cNvPr id="68" name="Text 66"/>
          <p:cNvSpPr/>
          <p:nvPr/>
        </p:nvSpPr>
        <p:spPr>
          <a:xfrm>
            <a:off x="5238452" y="3498800"/>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neutral</a:t>
            </a:r>
            <a:endParaRPr lang="en-US" sz="550" dirty="0"/>
          </a:p>
        </p:txBody>
      </p:sp>
      <p:sp>
        <p:nvSpPr>
          <p:cNvPr id="69" name="Text 67"/>
          <p:cNvSpPr/>
          <p:nvPr/>
        </p:nvSpPr>
        <p:spPr>
          <a:xfrm>
            <a:off x="6110883" y="3498800"/>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0.90</a:t>
            </a:r>
            <a:endParaRPr lang="en-US" sz="550" dirty="0"/>
          </a:p>
        </p:txBody>
      </p:sp>
      <p:sp>
        <p:nvSpPr>
          <p:cNvPr id="70" name="Text 68"/>
          <p:cNvSpPr/>
          <p:nvPr/>
        </p:nvSpPr>
        <p:spPr>
          <a:xfrm>
            <a:off x="6980932" y="3498800"/>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2.46</a:t>
            </a:r>
            <a:endParaRPr lang="en-US" sz="550" dirty="0"/>
          </a:p>
        </p:txBody>
      </p:sp>
      <p:sp>
        <p:nvSpPr>
          <p:cNvPr id="71" name="Text 69"/>
          <p:cNvSpPr/>
          <p:nvPr/>
        </p:nvSpPr>
        <p:spPr>
          <a:xfrm>
            <a:off x="7850981" y="3498800"/>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0.09</a:t>
            </a:r>
            <a:endParaRPr lang="en-US" sz="550" dirty="0"/>
          </a:p>
        </p:txBody>
      </p:sp>
      <p:sp>
        <p:nvSpPr>
          <p:cNvPr id="72" name="Text 70"/>
          <p:cNvSpPr/>
          <p:nvPr/>
        </p:nvSpPr>
        <p:spPr>
          <a:xfrm>
            <a:off x="5238452" y="3640559"/>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positive</a:t>
            </a:r>
            <a:endParaRPr lang="en-US" sz="550" dirty="0"/>
          </a:p>
        </p:txBody>
      </p:sp>
      <p:sp>
        <p:nvSpPr>
          <p:cNvPr id="73" name="Text 71"/>
          <p:cNvSpPr/>
          <p:nvPr/>
        </p:nvSpPr>
        <p:spPr>
          <a:xfrm>
            <a:off x="6110883" y="3640559"/>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0.10</a:t>
            </a:r>
            <a:endParaRPr lang="en-US" sz="550" dirty="0"/>
          </a:p>
        </p:txBody>
      </p:sp>
      <p:sp>
        <p:nvSpPr>
          <p:cNvPr id="74" name="Text 72"/>
          <p:cNvSpPr/>
          <p:nvPr/>
        </p:nvSpPr>
        <p:spPr>
          <a:xfrm>
            <a:off x="6980932" y="3640559"/>
            <a:ext cx="1180802"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1.11</a:t>
            </a:r>
            <a:endParaRPr lang="en-US" sz="550" dirty="0"/>
          </a:p>
        </p:txBody>
      </p:sp>
      <p:sp>
        <p:nvSpPr>
          <p:cNvPr id="75" name="Text 73"/>
          <p:cNvSpPr/>
          <p:nvPr/>
        </p:nvSpPr>
        <p:spPr>
          <a:xfrm>
            <a:off x="7850981" y="3640559"/>
            <a:ext cx="1183184" cy="85055"/>
          </a:xfrm>
          <a:prstGeom prst="rect">
            <a:avLst/>
          </a:prstGeom>
          <a:noFill/>
          <a:ln/>
        </p:spPr>
        <p:txBody>
          <a:bodyPr wrap="none" lIns="0" tIns="0" rIns="0" bIns="0" rtlCol="0" anchor="t"/>
          <a:lstStyle/>
          <a:p>
            <a:pPr marL="0" indent="0" algn="l">
              <a:lnSpc>
                <a:spcPct val="100000"/>
              </a:lnSpc>
              <a:buNone/>
            </a:pPr>
            <a:r>
              <a:rPr lang="en-US" sz="550" dirty="0">
                <a:solidFill>
                  <a:srgbClr val="15213F"/>
                </a:solidFill>
                <a:latin typeface="Roboto" pitchFamily="34" charset="0"/>
                <a:ea typeface="Roboto" pitchFamily="34" charset="-122"/>
                <a:cs typeface="Roboto" pitchFamily="34" charset="-120"/>
              </a:rPr>
              <a:t>0.04</a:t>
            </a:r>
            <a:endParaRPr lang="en-US" sz="550" dirty="0"/>
          </a:p>
        </p:txBody>
      </p:sp>
      <p:sp>
        <p:nvSpPr>
          <p:cNvPr id="76" name="Text 74"/>
          <p:cNvSpPr/>
          <p:nvPr/>
        </p:nvSpPr>
        <p:spPr>
          <a:xfrm>
            <a:off x="5238452" y="3782318"/>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Σ</a:t>
            </a:r>
            <a:endParaRPr lang="en-US" sz="550" dirty="0"/>
          </a:p>
        </p:txBody>
      </p:sp>
      <p:sp>
        <p:nvSpPr>
          <p:cNvPr id="77" name="Text 75"/>
          <p:cNvSpPr/>
          <p:nvPr/>
        </p:nvSpPr>
        <p:spPr>
          <a:xfrm>
            <a:off x="6110883" y="3782318"/>
            <a:ext cx="1180802" cy="85055"/>
          </a:xfrm>
          <a:prstGeom prst="rect">
            <a:avLst/>
          </a:prstGeom>
          <a:noFill/>
          <a:ln/>
        </p:spPr>
        <p:txBody>
          <a:bodyPr wrap="none" lIns="0" tIns="0" rIns="0" bIns="0" rtlCol="0" anchor="t"/>
          <a:lstStyle/>
          <a:p>
            <a:pPr marL="0" indent="0" algn="l">
              <a:lnSpc>
                <a:spcPct val="100000"/>
              </a:lnSpc>
              <a:buNone/>
            </a:pPr>
            <a:endParaRPr lang="en-US" sz="550" dirty="0"/>
          </a:p>
        </p:txBody>
      </p:sp>
      <p:sp>
        <p:nvSpPr>
          <p:cNvPr id="78" name="Text 76"/>
          <p:cNvSpPr/>
          <p:nvPr/>
        </p:nvSpPr>
        <p:spPr>
          <a:xfrm>
            <a:off x="6980932" y="3782318"/>
            <a:ext cx="1180802"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28.10</a:t>
            </a:r>
            <a:endParaRPr lang="en-US" sz="550" dirty="0"/>
          </a:p>
        </p:txBody>
      </p:sp>
      <p:sp>
        <p:nvSpPr>
          <p:cNvPr id="79" name="Text 77"/>
          <p:cNvSpPr/>
          <p:nvPr/>
        </p:nvSpPr>
        <p:spPr>
          <a:xfrm>
            <a:off x="7850981" y="3782318"/>
            <a:ext cx="1183184" cy="85055"/>
          </a:xfrm>
          <a:prstGeom prst="rect">
            <a:avLst/>
          </a:prstGeom>
          <a:noFill/>
          <a:ln/>
        </p:spPr>
        <p:txBody>
          <a:bodyPr wrap="none" lIns="0" tIns="0" rIns="0" bIns="0" rtlCol="0" anchor="t"/>
          <a:lstStyle/>
          <a:p>
            <a:pPr marL="0" indent="0" algn="l">
              <a:lnSpc>
                <a:spcPct val="100000"/>
              </a:lnSpc>
              <a:buNone/>
            </a:pPr>
            <a:r>
              <a:rPr lang="en-US" sz="550" b="1" dirty="0">
                <a:solidFill>
                  <a:srgbClr val="15213F"/>
                </a:solidFill>
                <a:latin typeface="Roboto Bold" pitchFamily="34" charset="0"/>
                <a:ea typeface="Roboto Bold" pitchFamily="34" charset="-122"/>
                <a:cs typeface="Roboto Bold" pitchFamily="34" charset="-120"/>
              </a:rPr>
              <a:t>1.00</a:t>
            </a:r>
            <a:endParaRPr lang="en-US" sz="550" dirty="0"/>
          </a:p>
        </p:txBody>
      </p:sp>
      <p:sp>
        <p:nvSpPr>
          <p:cNvPr id="80" name="Text 78"/>
          <p:cNvSpPr/>
          <p:nvPr/>
        </p:nvSpPr>
        <p:spPr>
          <a:xfrm>
            <a:off x="5162699" y="3937918"/>
            <a:ext cx="3489871" cy="328389"/>
          </a:xfrm>
          <a:prstGeom prst="rect">
            <a:avLst/>
          </a:prstGeom>
          <a:noFill/>
          <a:ln/>
        </p:spPr>
        <p:txBody>
          <a:bodyPr wrap="square" lIns="0" tIns="0" rIns="0" bIns="0" rtlCol="0" anchor="t"/>
          <a:lstStyle/>
          <a:p>
            <a:pPr marL="0" indent="0" algn="l">
              <a:lnSpc>
                <a:spcPct val="100000"/>
              </a:lnSpc>
              <a:spcAft>
                <a:spcPts val="250"/>
              </a:spcAft>
              <a:buNone/>
            </a:pPr>
            <a:r>
              <a:rPr lang="en-US" sz="550" dirty="0">
                <a:solidFill>
                  <a:srgbClr val="15213F"/>
                </a:solidFill>
                <a:latin typeface="Roboto" pitchFamily="34" charset="0"/>
                <a:ea typeface="Roboto" pitchFamily="34" charset="-122"/>
                <a:cs typeface="Roboto" pitchFamily="34" charset="-120"/>
              </a:rPr>
              <a:t>ModernBERT classifies the post as negative.</a:t>
            </a:r>
            <a:endParaRPr lang="en-US" sz="550" dirty="0"/>
          </a:p>
          <a:p>
            <a:pPr marL="0" indent="0" algn="l">
              <a:lnSpc>
                <a:spcPct val="100000"/>
              </a:lnSpc>
              <a:spcAft>
                <a:spcPts val="250"/>
              </a:spcAft>
              <a:buNone/>
            </a:pPr>
            <a:r>
              <a:rPr lang="en-US" sz="550" dirty="0">
                <a:solidFill>
                  <a:srgbClr val="15213F"/>
                </a:solidFill>
                <a:highlight>
                  <a:srgbClr val="EEEFF1"/>
                </a:highlight>
                <a:latin typeface="Consolas" pitchFamily="34" charset="0"/>
                <a:ea typeface="Consolas" pitchFamily="34" charset="-122"/>
                <a:cs typeface="Consolas" pitchFamily="34" charset="-120"/>
              </a:rPr>
              <a:t>sentiment_label = "negative"</a:t>
            </a:r>
            <a:endParaRPr lang="en-US" sz="550" dirty="0"/>
          </a:p>
          <a:p>
            <a:pPr marL="0" indent="0" algn="l">
              <a:lnSpc>
                <a:spcPct val="100000"/>
              </a:lnSpc>
              <a:buNone/>
            </a:pPr>
            <a:r>
              <a:rPr lang="en-US" sz="550" dirty="0">
                <a:solidFill>
                  <a:srgbClr val="15213F"/>
                </a:solidFill>
                <a:highlight>
                  <a:srgbClr val="EEEFF1"/>
                </a:highlight>
                <a:latin typeface="Consolas" pitchFamily="34" charset="0"/>
                <a:ea typeface="Consolas" pitchFamily="34" charset="-122"/>
                <a:cs typeface="Consolas" pitchFamily="34" charset="-120"/>
              </a:rPr>
              <a:t>sentiment_confidence = 0.87</a:t>
            </a:r>
            <a:endParaRPr lang="en-US" sz="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88603"/>
            <a:ext cx="2900214" cy="238125"/>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Stage 2 — Confidence Score</a:t>
            </a:r>
            <a:endParaRPr lang="en-US" sz="1500" dirty="0"/>
          </a:p>
        </p:txBody>
      </p:sp>
      <p:sp>
        <p:nvSpPr>
          <p:cNvPr id="3" name="Text 1"/>
          <p:cNvSpPr/>
          <p:nvPr/>
        </p:nvSpPr>
        <p:spPr>
          <a:xfrm>
            <a:off x="496119" y="854720"/>
            <a:ext cx="860896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ModernBERT classifies the post as negative.</a:t>
            </a:r>
            <a:endParaRPr lang="en-US" sz="750" dirty="0"/>
          </a:p>
        </p:txBody>
      </p:sp>
      <p:sp>
        <p:nvSpPr>
          <p:cNvPr id="4" name="Shape 2"/>
          <p:cNvSpPr/>
          <p:nvPr/>
        </p:nvSpPr>
        <p:spPr>
          <a:xfrm>
            <a:off x="496119" y="1054075"/>
            <a:ext cx="8151763" cy="1097161"/>
          </a:xfrm>
          <a:prstGeom prst="roundRect">
            <a:avLst>
              <a:gd name="adj" fmla="val 1302"/>
            </a:avLst>
          </a:prstGeom>
          <a:noFill/>
          <a:ln w="4763">
            <a:solidFill>
              <a:srgbClr val="000000">
                <a:alpha val="8000"/>
              </a:srgbClr>
            </a:solidFill>
            <a:prstDash val="solid"/>
          </a:ln>
        </p:spPr>
        <p:txBody>
          <a:bodyPr/>
          <a:lstStyle/>
          <a:p>
            <a:endParaRPr lang="en-US"/>
          </a:p>
        </p:txBody>
      </p:sp>
      <p:sp>
        <p:nvSpPr>
          <p:cNvPr id="5" name="Text 3"/>
          <p:cNvSpPr/>
          <p:nvPr/>
        </p:nvSpPr>
        <p:spPr>
          <a:xfrm>
            <a:off x="596280" y="110199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Class</a:t>
            </a:r>
            <a:endParaRPr lang="en-US" sz="750" dirty="0"/>
          </a:p>
        </p:txBody>
      </p:sp>
      <p:sp>
        <p:nvSpPr>
          <p:cNvPr id="6" name="Text 4"/>
          <p:cNvSpPr/>
          <p:nvPr/>
        </p:nvSpPr>
        <p:spPr>
          <a:xfrm>
            <a:off x="2634183" y="110199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Logit</a:t>
            </a:r>
            <a:endParaRPr lang="en-US" sz="750" dirty="0"/>
          </a:p>
        </p:txBody>
      </p:sp>
      <p:sp>
        <p:nvSpPr>
          <p:cNvPr id="7" name="Text 5"/>
          <p:cNvSpPr/>
          <p:nvPr/>
        </p:nvSpPr>
        <p:spPr>
          <a:xfrm>
            <a:off x="4669706" y="110199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exp(logit)</a:t>
            </a:r>
            <a:endParaRPr lang="en-US" sz="750" dirty="0"/>
          </a:p>
        </p:txBody>
      </p:sp>
      <p:sp>
        <p:nvSpPr>
          <p:cNvPr id="8" name="Text 6"/>
          <p:cNvSpPr/>
          <p:nvPr/>
        </p:nvSpPr>
        <p:spPr>
          <a:xfrm>
            <a:off x="6705228" y="110199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Probability</a:t>
            </a:r>
            <a:endParaRPr lang="en-US" sz="750" dirty="0"/>
          </a:p>
        </p:txBody>
      </p:sp>
      <p:sp>
        <p:nvSpPr>
          <p:cNvPr id="9" name="Text 7"/>
          <p:cNvSpPr/>
          <p:nvPr/>
        </p:nvSpPr>
        <p:spPr>
          <a:xfrm>
            <a:off x="596280" y="132047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negative</a:t>
            </a:r>
            <a:endParaRPr lang="en-US" sz="750" dirty="0"/>
          </a:p>
        </p:txBody>
      </p:sp>
      <p:sp>
        <p:nvSpPr>
          <p:cNvPr id="10" name="Text 8"/>
          <p:cNvSpPr/>
          <p:nvPr/>
        </p:nvSpPr>
        <p:spPr>
          <a:xfrm>
            <a:off x="2634183" y="132047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3.20</a:t>
            </a:r>
            <a:endParaRPr lang="en-US" sz="750" dirty="0"/>
          </a:p>
        </p:txBody>
      </p:sp>
      <p:sp>
        <p:nvSpPr>
          <p:cNvPr id="11" name="Text 9"/>
          <p:cNvSpPr/>
          <p:nvPr/>
        </p:nvSpPr>
        <p:spPr>
          <a:xfrm>
            <a:off x="4669706" y="1320478"/>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24.53</a:t>
            </a:r>
            <a:endParaRPr lang="en-US" sz="750" dirty="0"/>
          </a:p>
        </p:txBody>
      </p:sp>
      <p:sp>
        <p:nvSpPr>
          <p:cNvPr id="12" name="Text 10"/>
          <p:cNvSpPr/>
          <p:nvPr/>
        </p:nvSpPr>
        <p:spPr>
          <a:xfrm>
            <a:off x="6705228" y="1320478"/>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0.87</a:t>
            </a:r>
            <a:endParaRPr lang="en-US" sz="750" dirty="0"/>
          </a:p>
        </p:txBody>
      </p:sp>
      <p:sp>
        <p:nvSpPr>
          <p:cNvPr id="13" name="Text 11"/>
          <p:cNvSpPr/>
          <p:nvPr/>
        </p:nvSpPr>
        <p:spPr>
          <a:xfrm>
            <a:off x="596280" y="153895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neutral</a:t>
            </a:r>
            <a:endParaRPr lang="en-US" sz="750" dirty="0"/>
          </a:p>
        </p:txBody>
      </p:sp>
      <p:sp>
        <p:nvSpPr>
          <p:cNvPr id="14" name="Text 12"/>
          <p:cNvSpPr/>
          <p:nvPr/>
        </p:nvSpPr>
        <p:spPr>
          <a:xfrm>
            <a:off x="2634183" y="153895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0.90</a:t>
            </a:r>
            <a:endParaRPr lang="en-US" sz="750" dirty="0"/>
          </a:p>
        </p:txBody>
      </p:sp>
      <p:sp>
        <p:nvSpPr>
          <p:cNvPr id="15" name="Text 13"/>
          <p:cNvSpPr/>
          <p:nvPr/>
        </p:nvSpPr>
        <p:spPr>
          <a:xfrm>
            <a:off x="4669706" y="153895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2.46</a:t>
            </a:r>
            <a:endParaRPr lang="en-US" sz="750" dirty="0"/>
          </a:p>
        </p:txBody>
      </p:sp>
      <p:sp>
        <p:nvSpPr>
          <p:cNvPr id="16" name="Text 14"/>
          <p:cNvSpPr/>
          <p:nvPr/>
        </p:nvSpPr>
        <p:spPr>
          <a:xfrm>
            <a:off x="6705228" y="153895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0.09</a:t>
            </a:r>
            <a:endParaRPr lang="en-US" sz="750" dirty="0"/>
          </a:p>
        </p:txBody>
      </p:sp>
      <p:sp>
        <p:nvSpPr>
          <p:cNvPr id="17" name="Text 15"/>
          <p:cNvSpPr/>
          <p:nvPr/>
        </p:nvSpPr>
        <p:spPr>
          <a:xfrm>
            <a:off x="596280" y="175743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positive</a:t>
            </a:r>
            <a:endParaRPr lang="en-US" sz="750" dirty="0"/>
          </a:p>
        </p:txBody>
      </p:sp>
      <p:sp>
        <p:nvSpPr>
          <p:cNvPr id="18" name="Text 16"/>
          <p:cNvSpPr/>
          <p:nvPr/>
        </p:nvSpPr>
        <p:spPr>
          <a:xfrm>
            <a:off x="2634183" y="175743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0.10</a:t>
            </a:r>
            <a:endParaRPr lang="en-US" sz="750" dirty="0"/>
          </a:p>
        </p:txBody>
      </p:sp>
      <p:sp>
        <p:nvSpPr>
          <p:cNvPr id="19" name="Text 17"/>
          <p:cNvSpPr/>
          <p:nvPr/>
        </p:nvSpPr>
        <p:spPr>
          <a:xfrm>
            <a:off x="4669706" y="1757437"/>
            <a:ext cx="2297460"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1.11</a:t>
            </a:r>
            <a:endParaRPr lang="en-US" sz="750" dirty="0"/>
          </a:p>
        </p:txBody>
      </p:sp>
      <p:sp>
        <p:nvSpPr>
          <p:cNvPr id="20" name="Text 18"/>
          <p:cNvSpPr/>
          <p:nvPr/>
        </p:nvSpPr>
        <p:spPr>
          <a:xfrm>
            <a:off x="6705228" y="1757437"/>
            <a:ext cx="229984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0.04</a:t>
            </a:r>
            <a:endParaRPr lang="en-US" sz="750" dirty="0"/>
          </a:p>
        </p:txBody>
      </p:sp>
      <p:sp>
        <p:nvSpPr>
          <p:cNvPr id="21" name="Text 19"/>
          <p:cNvSpPr/>
          <p:nvPr/>
        </p:nvSpPr>
        <p:spPr>
          <a:xfrm>
            <a:off x="596280" y="1975917"/>
            <a:ext cx="2299841"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Σ</a:t>
            </a:r>
            <a:endParaRPr lang="en-US" sz="750" dirty="0"/>
          </a:p>
        </p:txBody>
      </p:sp>
      <p:sp>
        <p:nvSpPr>
          <p:cNvPr id="22" name="Text 20"/>
          <p:cNvSpPr/>
          <p:nvPr/>
        </p:nvSpPr>
        <p:spPr>
          <a:xfrm>
            <a:off x="2634183" y="1975917"/>
            <a:ext cx="2297460" cy="127397"/>
          </a:xfrm>
          <a:prstGeom prst="rect">
            <a:avLst/>
          </a:prstGeom>
          <a:noFill/>
          <a:ln/>
        </p:spPr>
        <p:txBody>
          <a:bodyPr wrap="none" lIns="0" tIns="0" rIns="0" bIns="0" rtlCol="0" anchor="t"/>
          <a:lstStyle/>
          <a:p>
            <a:pPr marL="0" indent="0" algn="l">
              <a:lnSpc>
                <a:spcPct val="111000"/>
              </a:lnSpc>
              <a:buNone/>
            </a:pPr>
            <a:endParaRPr lang="en-US" sz="750" dirty="0"/>
          </a:p>
        </p:txBody>
      </p:sp>
      <p:sp>
        <p:nvSpPr>
          <p:cNvPr id="23" name="Text 21"/>
          <p:cNvSpPr/>
          <p:nvPr/>
        </p:nvSpPr>
        <p:spPr>
          <a:xfrm>
            <a:off x="4669706" y="1975917"/>
            <a:ext cx="2297460"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28.10</a:t>
            </a:r>
            <a:endParaRPr lang="en-US" sz="750" dirty="0"/>
          </a:p>
        </p:txBody>
      </p:sp>
      <p:sp>
        <p:nvSpPr>
          <p:cNvPr id="24" name="Text 22"/>
          <p:cNvSpPr/>
          <p:nvPr/>
        </p:nvSpPr>
        <p:spPr>
          <a:xfrm>
            <a:off x="6705228" y="1975917"/>
            <a:ext cx="2299841"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1.00</a:t>
            </a:r>
            <a:endParaRPr lang="en-US" sz="750" dirty="0"/>
          </a:p>
        </p:txBody>
      </p:sp>
      <p:sp>
        <p:nvSpPr>
          <p:cNvPr id="25" name="Text 23"/>
          <p:cNvSpPr/>
          <p:nvPr/>
        </p:nvSpPr>
        <p:spPr>
          <a:xfrm>
            <a:off x="496119" y="2223195"/>
            <a:ext cx="8151763" cy="326752"/>
          </a:xfrm>
          <a:prstGeom prst="rect">
            <a:avLst/>
          </a:prstGeom>
          <a:noFill/>
          <a:ln/>
        </p:spPr>
        <p:txBody>
          <a:bodyPr wrap="square" lIns="0" tIns="0" rIns="0" bIns="0" rtlCol="0" anchor="t"/>
          <a:lstStyle/>
          <a:p>
            <a:pPr marL="0" indent="0" algn="l">
              <a:lnSpc>
                <a:spcPct val="111000"/>
              </a:lnSpc>
              <a:spcAft>
                <a:spcPts val="550"/>
              </a:spcAft>
              <a:buNone/>
            </a:pPr>
            <a:r>
              <a:rPr lang="en-US" sz="750" dirty="0">
                <a:solidFill>
                  <a:srgbClr val="15213F"/>
                </a:solidFill>
                <a:latin typeface="Roboto" pitchFamily="34" charset="0"/>
                <a:ea typeface="Roboto" pitchFamily="34" charset="-122"/>
                <a:cs typeface="Roboto" pitchFamily="34" charset="-120"/>
              </a:rPr>
              <a:t>sentiment_label = "negative"</a:t>
            </a:r>
            <a:endParaRPr lang="en-US" sz="750" dirty="0"/>
          </a:p>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sentiment_confidence = 0.87</a:t>
            </a:r>
            <a:endParaRPr lang="en-US" sz="750" dirty="0"/>
          </a:p>
        </p:txBody>
      </p:sp>
      <p:sp>
        <p:nvSpPr>
          <p:cNvPr id="26" name="Shape 24"/>
          <p:cNvSpPr/>
          <p:nvPr/>
        </p:nvSpPr>
        <p:spPr>
          <a:xfrm>
            <a:off x="496119" y="2645718"/>
            <a:ext cx="8151763" cy="14288"/>
          </a:xfrm>
          <a:prstGeom prst="roundRect">
            <a:avLst>
              <a:gd name="adj" fmla="val 59998"/>
            </a:avLst>
          </a:prstGeom>
          <a:solidFill>
            <a:srgbClr val="15213F">
              <a:alpha val="50000"/>
            </a:srgbClr>
          </a:solidFill>
          <a:ln/>
        </p:spPr>
        <p:txBody>
          <a:bodyPr/>
          <a:lstStyle/>
          <a:p>
            <a:endParaRPr lang="en-US"/>
          </a:p>
        </p:txBody>
      </p:sp>
      <p:sp>
        <p:nvSpPr>
          <p:cNvPr id="27" name="Text 25"/>
          <p:cNvSpPr/>
          <p:nvPr/>
        </p:nvSpPr>
        <p:spPr>
          <a:xfrm>
            <a:off x="496119" y="2819772"/>
            <a:ext cx="2362200" cy="238125"/>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Stage 3 — Gate 1</a:t>
            </a:r>
            <a:endParaRPr lang="en-US" sz="1500" dirty="0"/>
          </a:p>
        </p:txBody>
      </p:sp>
      <p:sp>
        <p:nvSpPr>
          <p:cNvPr id="28" name="Text 26"/>
          <p:cNvSpPr/>
          <p:nvPr/>
        </p:nvSpPr>
        <p:spPr>
          <a:xfrm>
            <a:off x="496119" y="3121893"/>
            <a:ext cx="441692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highlight>
                  <a:srgbClr val="EEEFF1"/>
                </a:highlight>
                <a:latin typeface="Consolas" pitchFamily="34" charset="0"/>
                <a:ea typeface="Consolas" pitchFamily="34" charset="-122"/>
                <a:cs typeface="Consolas" pitchFamily="34" charset="-120"/>
              </a:rPr>
              <a:t>gate_formula = "score_x_confidence"</a:t>
            </a:r>
            <a:r>
              <a:rPr lang="en-US" sz="750" dirty="0">
                <a:solidFill>
                  <a:srgbClr val="15213F"/>
                </a:solidFill>
                <a:latin typeface="Roboto" pitchFamily="34" charset="0"/>
                <a:ea typeface="Roboto" pitchFamily="34" charset="-122"/>
                <a:cs typeface="Roboto" pitchFamily="34" charset="-120"/>
              </a:rPr>
              <a:t> · </a:t>
            </a:r>
            <a:r>
              <a:rPr lang="en-US" sz="750" dirty="0">
                <a:solidFill>
                  <a:srgbClr val="15213F"/>
                </a:solidFill>
                <a:highlight>
                  <a:srgbClr val="EEEFF1"/>
                </a:highlight>
                <a:latin typeface="Consolas" pitchFamily="34" charset="0"/>
                <a:ea typeface="Consolas" pitchFamily="34" charset="-122"/>
                <a:cs typeface="Consolas" pitchFamily="34" charset="-120"/>
              </a:rPr>
              <a:t>gate_tau = 0.30</a:t>
            </a:r>
            <a:endParaRPr lang="en-US" sz="750" dirty="0"/>
          </a:p>
        </p:txBody>
      </p:sp>
      <p:sp>
        <p:nvSpPr>
          <p:cNvPr id="29" name="Shape 27"/>
          <p:cNvSpPr/>
          <p:nvPr/>
        </p:nvSpPr>
        <p:spPr>
          <a:xfrm>
            <a:off x="496119" y="3321248"/>
            <a:ext cx="3959721" cy="572691"/>
          </a:xfrm>
          <a:prstGeom prst="roundRect">
            <a:avLst>
              <a:gd name="adj" fmla="val 2495"/>
            </a:avLst>
          </a:prstGeom>
          <a:solidFill>
            <a:srgbClr val="EEEFF1"/>
          </a:solidFill>
          <a:ln/>
        </p:spPr>
        <p:txBody>
          <a:bodyPr/>
          <a:lstStyle/>
          <a:p>
            <a:endParaRPr lang="en-US"/>
          </a:p>
        </p:txBody>
      </p:sp>
      <p:sp>
        <p:nvSpPr>
          <p:cNvPr id="30" name="Shape 28"/>
          <p:cNvSpPr/>
          <p:nvPr/>
        </p:nvSpPr>
        <p:spPr>
          <a:xfrm>
            <a:off x="491356" y="3321248"/>
            <a:ext cx="3969246" cy="572691"/>
          </a:xfrm>
          <a:prstGeom prst="roundRect">
            <a:avLst>
              <a:gd name="adj" fmla="val 2495"/>
            </a:avLst>
          </a:prstGeom>
          <a:solidFill>
            <a:srgbClr val="EEEFF1"/>
          </a:solidFill>
          <a:ln/>
        </p:spPr>
        <p:txBody>
          <a:bodyPr/>
          <a:lstStyle/>
          <a:p>
            <a:endParaRPr lang="en-US"/>
          </a:p>
        </p:txBody>
      </p:sp>
      <p:sp>
        <p:nvSpPr>
          <p:cNvPr id="31" name="Text 29"/>
          <p:cNvSpPr/>
          <p:nvPr/>
        </p:nvSpPr>
        <p:spPr>
          <a:xfrm>
            <a:off x="610419" y="3416498"/>
            <a:ext cx="3731121" cy="382191"/>
          </a:xfrm>
          <a:prstGeom prst="rect">
            <a:avLst/>
          </a:prstGeom>
          <a:noFill/>
          <a:ln/>
        </p:spPr>
        <p:txBody>
          <a:bodyPr wrap="square" lIns="0" tIns="0" rIns="0" bIns="0" rtlCol="0" anchor="t">
            <a:normAutofit/>
          </a:bodyPr>
          <a:lstStyle/>
          <a:p>
            <a:pPr marL="0" indent="0" algn="l">
              <a:lnSpc>
                <a:spcPct val="111000"/>
              </a:lnSpc>
              <a:buNone/>
            </a:pPr>
            <a:r>
              <a:rPr lang="en-US" sz="750" dirty="0">
                <a:solidFill>
                  <a:srgbClr val="15213F"/>
                </a:solidFill>
                <a:latin typeface="Consolas" pitchFamily="34" charset="0"/>
                <a:ea typeface="Consolas" pitchFamily="34" charset="-122"/>
                <a:cs typeface="Consolas" pitchFamily="34" charset="-120"/>
              </a:rPr>
              <a:t>gate = trust_score × sentiment_confidence</a:t>
            </a:r>
            <a:endParaRPr lang="en-US" sz="750" dirty="0"/>
          </a:p>
          <a:p>
            <a:pPr marL="0" indent="0" algn="l">
              <a:lnSpc>
                <a:spcPct val="111000"/>
              </a:lnSpc>
              <a:buNone/>
            </a:pPr>
            <a:r>
              <a:rPr lang="en-US" sz="750" dirty="0">
                <a:solidFill>
                  <a:srgbClr val="15213F"/>
                </a:solidFill>
                <a:latin typeface="Consolas" pitchFamily="34" charset="0"/>
                <a:ea typeface="Consolas" pitchFamily="34" charset="-122"/>
                <a:cs typeface="Consolas" pitchFamily="34" charset="-120"/>
              </a:rPr>
              <a:t>     = 0.815 × 0.87</a:t>
            </a:r>
            <a:endParaRPr lang="en-US" sz="750" dirty="0"/>
          </a:p>
          <a:p>
            <a:pPr marL="0" indent="0" algn="l">
              <a:lnSpc>
                <a:spcPct val="111000"/>
              </a:lnSpc>
              <a:buNone/>
            </a:pPr>
            <a:r>
              <a:rPr lang="en-US" sz="750" dirty="0">
                <a:solidFill>
                  <a:srgbClr val="15213F"/>
                </a:solidFill>
                <a:latin typeface="Consolas" pitchFamily="34" charset="0"/>
                <a:ea typeface="Consolas" pitchFamily="34" charset="-122"/>
                <a:cs typeface="Consolas" pitchFamily="34" charset="-120"/>
              </a:rPr>
              <a:t>     = 0.709</a:t>
            </a:r>
            <a:endParaRPr lang="en-US" sz="750" dirty="0"/>
          </a:p>
        </p:txBody>
      </p:sp>
      <p:sp>
        <p:nvSpPr>
          <p:cNvPr id="32" name="Text 30"/>
          <p:cNvSpPr/>
          <p:nvPr/>
        </p:nvSpPr>
        <p:spPr>
          <a:xfrm>
            <a:off x="496119" y="3965897"/>
            <a:ext cx="441692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highlight>
                  <a:srgbClr val="EEEFF1"/>
                </a:highlight>
                <a:latin typeface="Consolas" pitchFamily="34" charset="0"/>
                <a:ea typeface="Consolas" pitchFamily="34" charset="-122"/>
                <a:cs typeface="Consolas" pitchFamily="34" charset="-120"/>
              </a:rPr>
              <a:t>0.709 ≥ 0.30</a:t>
            </a:r>
            <a:r>
              <a:rPr lang="en-US" sz="750" dirty="0">
                <a:solidFill>
                  <a:srgbClr val="15213F"/>
                </a:solidFill>
                <a:latin typeface="Roboto" pitchFamily="34" charset="0"/>
                <a:ea typeface="Roboto" pitchFamily="34" charset="-122"/>
                <a:cs typeface="Roboto" pitchFamily="34" charset="-120"/>
              </a:rPr>
              <a:t> → passes, so the post is stored and eligible for alerts.</a:t>
            </a:r>
            <a:endParaRPr lang="en-US" sz="750" dirty="0"/>
          </a:p>
        </p:txBody>
      </p:sp>
      <p:sp>
        <p:nvSpPr>
          <p:cNvPr id="33" name="Shape 31"/>
          <p:cNvSpPr/>
          <p:nvPr/>
        </p:nvSpPr>
        <p:spPr>
          <a:xfrm>
            <a:off x="496119" y="4165253"/>
            <a:ext cx="3959721" cy="417612"/>
          </a:xfrm>
          <a:prstGeom prst="roundRect">
            <a:avLst>
              <a:gd name="adj" fmla="val 3421"/>
            </a:avLst>
          </a:prstGeom>
          <a:solidFill>
            <a:srgbClr val="D7DFF4"/>
          </a:solidFill>
          <a:ln/>
        </p:spPr>
        <p:txBody>
          <a:bodyPr/>
          <a:lstStyle/>
          <a:p>
            <a:endParaRPr lang="en-US"/>
          </a:p>
        </p:txBody>
      </p:sp>
      <p:pic>
        <p:nvPicPr>
          <p:cNvPr id="34" name="Image 0" descr="preencoded.png"/>
          <p:cNvPicPr>
            <a:picLocks noChangeAspect="1"/>
          </p:cNvPicPr>
          <p:nvPr/>
        </p:nvPicPr>
        <p:blipFill>
          <a:blip r:embed="rId3"/>
          <a:stretch>
            <a:fillRect/>
          </a:stretch>
        </p:blipFill>
        <p:spPr>
          <a:xfrm>
            <a:off x="591369" y="4296221"/>
            <a:ext cx="119062" cy="95250"/>
          </a:xfrm>
          <a:prstGeom prst="rect">
            <a:avLst/>
          </a:prstGeom>
        </p:spPr>
      </p:pic>
      <p:sp>
        <p:nvSpPr>
          <p:cNvPr id="35" name="Text 32"/>
          <p:cNvSpPr/>
          <p:nvPr/>
        </p:nvSpPr>
        <p:spPr>
          <a:xfrm>
            <a:off x="805681" y="4246662"/>
            <a:ext cx="3554909" cy="254794"/>
          </a:xfrm>
          <a:prstGeom prst="rect">
            <a:avLst/>
          </a:prstGeom>
          <a:noFill/>
          <a:ln/>
        </p:spPr>
        <p:txBody>
          <a:bodyPr wrap="square" lIns="0" tIns="0" rIns="0" bIns="0" rtlCol="0" anchor="t">
            <a:normAutofit/>
          </a:bodyPr>
          <a:lstStyle/>
          <a:p>
            <a:pPr marL="0" indent="0" algn="l">
              <a:lnSpc>
                <a:spcPct val="111000"/>
              </a:lnSpc>
              <a:buNone/>
            </a:pPr>
            <a:r>
              <a:rPr lang="en-US" sz="750" dirty="0">
                <a:solidFill>
                  <a:srgbClr val="000000"/>
                </a:solidFill>
                <a:latin typeface="Roboto" pitchFamily="34" charset="0"/>
                <a:ea typeface="Roboto" pitchFamily="34" charset="-122"/>
                <a:cs typeface="Roboto" pitchFamily="34" charset="-120"/>
              </a:rPr>
              <a:t>If the score were below 0.30, the post would be marked low-trust and excluded from alerts, while still appearing on the dashboard.</a:t>
            </a:r>
            <a:endParaRPr lang="en-US" sz="750" dirty="0"/>
          </a:p>
        </p:txBody>
      </p:sp>
      <p:sp>
        <p:nvSpPr>
          <p:cNvPr id="36" name="Text 33"/>
          <p:cNvSpPr/>
          <p:nvPr/>
        </p:nvSpPr>
        <p:spPr>
          <a:xfrm>
            <a:off x="4692923" y="2819772"/>
            <a:ext cx="3548881" cy="238125"/>
          </a:xfrm>
          <a:prstGeom prst="rect">
            <a:avLst/>
          </a:prstGeom>
          <a:noFill/>
          <a:ln/>
        </p:spPr>
        <p:txBody>
          <a:bodyPr wrap="none" lIns="0" tIns="0" rIns="0" bIns="0" rtlCol="0" anchor="t"/>
          <a:lstStyle/>
          <a:p>
            <a:pPr marL="0" indent="0" algn="l">
              <a:lnSpc>
                <a:spcPct val="104000"/>
              </a:lnSpc>
              <a:buNone/>
            </a:pPr>
            <a:r>
              <a:rPr lang="en-US" sz="1500" dirty="0">
                <a:solidFill>
                  <a:srgbClr val="3257B8"/>
                </a:solidFill>
                <a:latin typeface="Roboto Slab" pitchFamily="34" charset="0"/>
                <a:ea typeface="Roboto Slab" pitchFamily="34" charset="-122"/>
                <a:cs typeface="Roboto Slab" pitchFamily="34" charset="-120"/>
              </a:rPr>
              <a:t>Stage 4 — Priority for Notifications</a:t>
            </a:r>
            <a:endParaRPr lang="en-US" sz="1500" dirty="0"/>
          </a:p>
        </p:txBody>
      </p:sp>
      <p:sp>
        <p:nvSpPr>
          <p:cNvPr id="37" name="Text 34"/>
          <p:cNvSpPr/>
          <p:nvPr/>
        </p:nvSpPr>
        <p:spPr>
          <a:xfrm>
            <a:off x="4692923" y="3121893"/>
            <a:ext cx="4416921" cy="127397"/>
          </a:xfrm>
          <a:prstGeom prst="rect">
            <a:avLst/>
          </a:prstGeom>
          <a:noFill/>
          <a:ln/>
        </p:spPr>
        <p:txBody>
          <a:bodyPr wrap="non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Thresholds:</a:t>
            </a:r>
            <a:r>
              <a:rPr lang="en-US" sz="750" dirty="0">
                <a:solidFill>
                  <a:srgbClr val="15213F"/>
                </a:solidFill>
                <a:latin typeface="Roboto" pitchFamily="34" charset="0"/>
                <a:ea typeface="Roboto" pitchFamily="34" charset="-122"/>
                <a:cs typeface="Roboto" pitchFamily="34" charset="-120"/>
              </a:rPr>
              <a:t> P1 = trust ≥ 0.70 and confidence ≥ 0.80; P2 = trust ≥ 0.50 and confidence ≥ 0.60.</a:t>
            </a:r>
            <a:endParaRPr lang="en-US" sz="750" dirty="0"/>
          </a:p>
        </p:txBody>
      </p:sp>
      <p:sp>
        <p:nvSpPr>
          <p:cNvPr id="38" name="Shape 35"/>
          <p:cNvSpPr/>
          <p:nvPr/>
        </p:nvSpPr>
        <p:spPr>
          <a:xfrm>
            <a:off x="4692923" y="3321248"/>
            <a:ext cx="3959721" cy="878681"/>
          </a:xfrm>
          <a:prstGeom prst="roundRect">
            <a:avLst>
              <a:gd name="adj" fmla="val 1626"/>
            </a:avLst>
          </a:prstGeom>
          <a:noFill/>
          <a:ln w="4763">
            <a:solidFill>
              <a:srgbClr val="000000">
                <a:alpha val="8000"/>
              </a:srgbClr>
            </a:solidFill>
            <a:prstDash val="solid"/>
          </a:ln>
        </p:spPr>
        <p:txBody>
          <a:bodyPr/>
          <a:lstStyle/>
          <a:p>
            <a:endParaRPr lang="en-US"/>
          </a:p>
        </p:txBody>
      </p:sp>
      <p:sp>
        <p:nvSpPr>
          <p:cNvPr id="39" name="Text 36"/>
          <p:cNvSpPr/>
          <p:nvPr/>
        </p:nvSpPr>
        <p:spPr>
          <a:xfrm>
            <a:off x="4793084" y="3369171"/>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Tier</a:t>
            </a:r>
            <a:endParaRPr lang="en-US" sz="750" dirty="0"/>
          </a:p>
        </p:txBody>
      </p:sp>
      <p:sp>
        <p:nvSpPr>
          <p:cNvPr id="40" name="Text 37"/>
          <p:cNvSpPr/>
          <p:nvPr/>
        </p:nvSpPr>
        <p:spPr>
          <a:xfrm>
            <a:off x="5585445" y="3369171"/>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Trust ≥</a:t>
            </a:r>
            <a:endParaRPr lang="en-US" sz="750" dirty="0"/>
          </a:p>
        </p:txBody>
      </p:sp>
      <p:sp>
        <p:nvSpPr>
          <p:cNvPr id="41" name="Text 38"/>
          <p:cNvSpPr/>
          <p:nvPr/>
        </p:nvSpPr>
        <p:spPr>
          <a:xfrm>
            <a:off x="7165479" y="3369171"/>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Confidence ≥</a:t>
            </a:r>
            <a:endParaRPr lang="en-US" sz="750" dirty="0"/>
          </a:p>
        </p:txBody>
      </p:sp>
      <p:sp>
        <p:nvSpPr>
          <p:cNvPr id="42" name="Text 39"/>
          <p:cNvSpPr/>
          <p:nvPr/>
        </p:nvSpPr>
        <p:spPr>
          <a:xfrm>
            <a:off x="4793084" y="3587651"/>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P1</a:t>
            </a:r>
            <a:endParaRPr lang="en-US" sz="750" dirty="0"/>
          </a:p>
        </p:txBody>
      </p:sp>
      <p:sp>
        <p:nvSpPr>
          <p:cNvPr id="43" name="Text 40"/>
          <p:cNvSpPr/>
          <p:nvPr/>
        </p:nvSpPr>
        <p:spPr>
          <a:xfrm>
            <a:off x="5585445" y="3587651"/>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0.70</a:t>
            </a:r>
            <a:endParaRPr lang="en-US" sz="750" dirty="0"/>
          </a:p>
        </p:txBody>
      </p:sp>
      <p:sp>
        <p:nvSpPr>
          <p:cNvPr id="44" name="Text 41"/>
          <p:cNvSpPr/>
          <p:nvPr/>
        </p:nvSpPr>
        <p:spPr>
          <a:xfrm>
            <a:off x="7165479" y="3587651"/>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0.80</a:t>
            </a:r>
            <a:endParaRPr lang="en-US" sz="750" dirty="0"/>
          </a:p>
        </p:txBody>
      </p:sp>
      <p:sp>
        <p:nvSpPr>
          <p:cNvPr id="45" name="Text 42"/>
          <p:cNvSpPr/>
          <p:nvPr/>
        </p:nvSpPr>
        <p:spPr>
          <a:xfrm>
            <a:off x="4793084" y="3806130"/>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P2</a:t>
            </a:r>
            <a:endParaRPr lang="en-US" sz="750" dirty="0"/>
          </a:p>
        </p:txBody>
      </p:sp>
      <p:sp>
        <p:nvSpPr>
          <p:cNvPr id="46" name="Text 43"/>
          <p:cNvSpPr/>
          <p:nvPr/>
        </p:nvSpPr>
        <p:spPr>
          <a:xfrm>
            <a:off x="5585445" y="3806130"/>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0.50</a:t>
            </a:r>
            <a:endParaRPr lang="en-US" sz="750" dirty="0"/>
          </a:p>
        </p:txBody>
      </p:sp>
      <p:sp>
        <p:nvSpPr>
          <p:cNvPr id="47" name="Text 44"/>
          <p:cNvSpPr/>
          <p:nvPr/>
        </p:nvSpPr>
        <p:spPr>
          <a:xfrm>
            <a:off x="7165479" y="3806130"/>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0.60</a:t>
            </a:r>
            <a:endParaRPr lang="en-US" sz="750" dirty="0"/>
          </a:p>
        </p:txBody>
      </p:sp>
      <p:sp>
        <p:nvSpPr>
          <p:cNvPr id="48" name="Text 45"/>
          <p:cNvSpPr/>
          <p:nvPr/>
        </p:nvSpPr>
        <p:spPr>
          <a:xfrm>
            <a:off x="4793084" y="4024610"/>
            <a:ext cx="1054298"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skip</a:t>
            </a:r>
            <a:endParaRPr lang="en-US" sz="750" dirty="0"/>
          </a:p>
        </p:txBody>
      </p:sp>
      <p:sp>
        <p:nvSpPr>
          <p:cNvPr id="49" name="Text 46"/>
          <p:cNvSpPr/>
          <p:nvPr/>
        </p:nvSpPr>
        <p:spPr>
          <a:xfrm>
            <a:off x="5585445" y="4024610"/>
            <a:ext cx="1841971"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else</a:t>
            </a:r>
            <a:endParaRPr lang="en-US" sz="750" dirty="0"/>
          </a:p>
        </p:txBody>
      </p:sp>
      <p:sp>
        <p:nvSpPr>
          <p:cNvPr id="50" name="Text 47"/>
          <p:cNvSpPr/>
          <p:nvPr/>
        </p:nvSpPr>
        <p:spPr>
          <a:xfrm>
            <a:off x="7165479" y="4024610"/>
            <a:ext cx="1844353" cy="127397"/>
          </a:xfrm>
          <a:prstGeom prst="rect">
            <a:avLst/>
          </a:prstGeom>
          <a:noFill/>
          <a:ln/>
        </p:spPr>
        <p:txBody>
          <a:bodyPr wrap="none" lIns="0" tIns="0" rIns="0" bIns="0" rtlCol="0" anchor="t"/>
          <a:lstStyle/>
          <a:p>
            <a:pPr marL="0" indent="0" algn="l">
              <a:lnSpc>
                <a:spcPct val="111000"/>
              </a:lnSpc>
              <a:buNone/>
            </a:pPr>
            <a:r>
              <a:rPr lang="en-US" sz="750" dirty="0">
                <a:solidFill>
                  <a:srgbClr val="15213F"/>
                </a:solidFill>
                <a:latin typeface="Roboto" pitchFamily="34" charset="0"/>
                <a:ea typeface="Roboto" pitchFamily="34" charset="-122"/>
                <a:cs typeface="Roboto" pitchFamily="34" charset="-120"/>
              </a:rPr>
              <a:t>else</a:t>
            </a:r>
            <a:endParaRPr lang="en-US" sz="750" dirty="0"/>
          </a:p>
        </p:txBody>
      </p:sp>
      <p:sp>
        <p:nvSpPr>
          <p:cNvPr id="51" name="Text 48"/>
          <p:cNvSpPr/>
          <p:nvPr/>
        </p:nvSpPr>
        <p:spPr>
          <a:xfrm>
            <a:off x="4692923" y="4271888"/>
            <a:ext cx="3959721" cy="312390"/>
          </a:xfrm>
          <a:prstGeom prst="rect">
            <a:avLst/>
          </a:prstGeom>
          <a:noFill/>
          <a:ln/>
        </p:spPr>
        <p:txBody>
          <a:bodyPr wrap="square" lIns="0" tIns="0" rIns="0" bIns="0" rtlCol="0" anchor="t"/>
          <a:lstStyle/>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Check:</a:t>
            </a:r>
            <a:r>
              <a:rPr lang="en-US" sz="750" dirty="0">
                <a:solidFill>
                  <a:srgbClr val="15213F"/>
                </a:solidFill>
                <a:latin typeface="Roboto" pitchFamily="34" charset="0"/>
                <a:ea typeface="Roboto" pitchFamily="34" charset="-122"/>
                <a:cs typeface="Roboto" pitchFamily="34" charset="-120"/>
              </a:rPr>
              <a:t> trust 0.815 ✓ · confidence 0.870 ✓</a:t>
            </a:r>
            <a:endParaRPr lang="en-US" sz="750" dirty="0"/>
          </a:p>
          <a:p>
            <a:pPr marL="0" indent="0" algn="l">
              <a:lnSpc>
                <a:spcPct val="111000"/>
              </a:lnSpc>
              <a:buNone/>
            </a:pPr>
            <a:r>
              <a:rPr lang="en-US" sz="750" b="1" dirty="0">
                <a:solidFill>
                  <a:srgbClr val="15213F"/>
                </a:solidFill>
                <a:latin typeface="Roboto Bold" pitchFamily="34" charset="0"/>
                <a:ea typeface="Roboto Bold" pitchFamily="34" charset="-122"/>
                <a:cs typeface="Roboto Bold" pitchFamily="34" charset="-120"/>
              </a:rPr>
              <a:t>→ Priority = P1</a:t>
            </a:r>
            <a:r>
              <a:rPr lang="en-US" sz="750" dirty="0">
                <a:solidFill>
                  <a:srgbClr val="15213F"/>
                </a:solidFill>
                <a:latin typeface="Roboto" pitchFamily="34" charset="0"/>
                <a:ea typeface="Roboto" pitchFamily="34" charset="-122"/>
                <a:cs typeface="Roboto" pitchFamily="34" charset="-120"/>
              </a:rPr>
              <a:t> → sends Slack + Email to matching notification groups.</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706"/>
            <a:ext cx="4328666" cy="276002"/>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Roboto Slab" pitchFamily="34" charset="0"/>
                <a:ea typeface="Roboto Slab" pitchFamily="34" charset="-122"/>
                <a:cs typeface="Roboto Slab" pitchFamily="34" charset="-120"/>
              </a:rPr>
              <a:t>📊</a:t>
            </a:r>
            <a:r>
              <a:rPr lang="en-US" sz="1650" dirty="0">
                <a:solidFill>
                  <a:srgbClr val="3257B8"/>
                </a:solidFill>
                <a:latin typeface="Roboto Slab" pitchFamily="34" charset="0"/>
                <a:ea typeface="Roboto Slab" pitchFamily="34" charset="-122"/>
                <a:cs typeface="Roboto Slab" pitchFamily="34" charset="-120"/>
              </a:rPr>
              <a:t> Results &amp; Performance Comparison</a:t>
            </a:r>
            <a:endParaRPr lang="en-US" sz="1650" dirty="0"/>
          </a:p>
        </p:txBody>
      </p:sp>
      <p:sp>
        <p:nvSpPr>
          <p:cNvPr id="3" name="Text 1"/>
          <p:cNvSpPr/>
          <p:nvPr/>
        </p:nvSpPr>
        <p:spPr>
          <a:xfrm>
            <a:off x="496119" y="689149"/>
            <a:ext cx="4392216"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RoBERTa Baseline vs. ModernBERT Performance</a:t>
            </a:r>
            <a:endParaRPr lang="en-US" sz="1300" dirty="0"/>
          </a:p>
        </p:txBody>
      </p:sp>
      <p:sp>
        <p:nvSpPr>
          <p:cNvPr id="4" name="Shape 2"/>
          <p:cNvSpPr/>
          <p:nvPr/>
        </p:nvSpPr>
        <p:spPr>
          <a:xfrm>
            <a:off x="496119" y="990228"/>
            <a:ext cx="8151763" cy="603721"/>
          </a:xfrm>
          <a:prstGeom prst="roundRect">
            <a:avLst>
              <a:gd name="adj" fmla="val 2119"/>
            </a:avLst>
          </a:prstGeom>
          <a:noFill/>
          <a:ln w="4763">
            <a:solidFill>
              <a:srgbClr val="000000">
                <a:alpha val="8000"/>
              </a:srgbClr>
            </a:solidFill>
            <a:prstDash val="solid"/>
          </a:ln>
        </p:spPr>
        <p:txBody>
          <a:bodyPr/>
          <a:lstStyle/>
          <a:p>
            <a:endParaRPr lang="en-US"/>
          </a:p>
        </p:txBody>
      </p:sp>
      <p:sp>
        <p:nvSpPr>
          <p:cNvPr id="5" name="Text 3"/>
          <p:cNvSpPr/>
          <p:nvPr/>
        </p:nvSpPr>
        <p:spPr>
          <a:xfrm>
            <a:off x="586532" y="1034876"/>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Model</a:t>
            </a:r>
            <a:endParaRPr lang="en-US" sz="650" dirty="0"/>
          </a:p>
        </p:txBody>
      </p:sp>
      <p:sp>
        <p:nvSpPr>
          <p:cNvPr id="6" name="Text 4"/>
          <p:cNvSpPr/>
          <p:nvPr/>
        </p:nvSpPr>
        <p:spPr>
          <a:xfrm>
            <a:off x="1752377"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max_len</a:t>
            </a:r>
            <a:endParaRPr lang="en-US" sz="650" dirty="0"/>
          </a:p>
        </p:txBody>
      </p:sp>
      <p:sp>
        <p:nvSpPr>
          <p:cNvPr id="7" name="Text 5"/>
          <p:cNvSpPr/>
          <p:nvPr/>
        </p:nvSpPr>
        <p:spPr>
          <a:xfrm>
            <a:off x="2915841"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macro-F1</a:t>
            </a:r>
            <a:endParaRPr lang="en-US" sz="650" dirty="0"/>
          </a:p>
        </p:txBody>
      </p:sp>
      <p:sp>
        <p:nvSpPr>
          <p:cNvPr id="8" name="Text 6"/>
          <p:cNvSpPr/>
          <p:nvPr/>
        </p:nvSpPr>
        <p:spPr>
          <a:xfrm>
            <a:off x="4079304"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 (neg)</a:t>
            </a:r>
            <a:endParaRPr lang="en-US" sz="650" dirty="0"/>
          </a:p>
        </p:txBody>
      </p:sp>
      <p:sp>
        <p:nvSpPr>
          <p:cNvPr id="9" name="Text 7"/>
          <p:cNvSpPr/>
          <p:nvPr/>
        </p:nvSpPr>
        <p:spPr>
          <a:xfrm>
            <a:off x="5242768"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 (neu)</a:t>
            </a:r>
            <a:endParaRPr lang="en-US" sz="650" dirty="0"/>
          </a:p>
        </p:txBody>
      </p:sp>
      <p:sp>
        <p:nvSpPr>
          <p:cNvPr id="10" name="Text 8"/>
          <p:cNvSpPr/>
          <p:nvPr/>
        </p:nvSpPr>
        <p:spPr>
          <a:xfrm>
            <a:off x="6406232" y="1034876"/>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 (pos)</a:t>
            </a:r>
            <a:endParaRPr lang="en-US" sz="650" dirty="0"/>
          </a:p>
        </p:txBody>
      </p:sp>
      <p:sp>
        <p:nvSpPr>
          <p:cNvPr id="11" name="Text 9"/>
          <p:cNvSpPr/>
          <p:nvPr/>
        </p:nvSpPr>
        <p:spPr>
          <a:xfrm>
            <a:off x="7569696" y="1034876"/>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Latency</a:t>
            </a:r>
            <a:endParaRPr lang="en-US" sz="650" dirty="0"/>
          </a:p>
        </p:txBody>
      </p:sp>
      <p:sp>
        <p:nvSpPr>
          <p:cNvPr id="12" name="Text 10"/>
          <p:cNvSpPr/>
          <p:nvPr/>
        </p:nvSpPr>
        <p:spPr>
          <a:xfrm>
            <a:off x="586532" y="1234529"/>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RoBERTa baseline</a:t>
            </a:r>
            <a:endParaRPr lang="en-US" sz="650" dirty="0"/>
          </a:p>
        </p:txBody>
      </p:sp>
      <p:sp>
        <p:nvSpPr>
          <p:cNvPr id="13" name="Text 11"/>
          <p:cNvSpPr/>
          <p:nvPr/>
        </p:nvSpPr>
        <p:spPr>
          <a:xfrm>
            <a:off x="1752377"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512</a:t>
            </a:r>
            <a:endParaRPr lang="en-US" sz="650" dirty="0"/>
          </a:p>
        </p:txBody>
      </p:sp>
      <p:sp>
        <p:nvSpPr>
          <p:cNvPr id="14" name="Text 12"/>
          <p:cNvSpPr/>
          <p:nvPr/>
        </p:nvSpPr>
        <p:spPr>
          <a:xfrm>
            <a:off x="2915841"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0.627</a:t>
            </a:r>
            <a:endParaRPr lang="en-US" sz="650" dirty="0"/>
          </a:p>
        </p:txBody>
      </p:sp>
      <p:sp>
        <p:nvSpPr>
          <p:cNvPr id="15" name="Text 13"/>
          <p:cNvSpPr/>
          <p:nvPr/>
        </p:nvSpPr>
        <p:spPr>
          <a:xfrm>
            <a:off x="4079304"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0.797</a:t>
            </a:r>
            <a:endParaRPr lang="en-US" sz="650" dirty="0"/>
          </a:p>
        </p:txBody>
      </p:sp>
      <p:sp>
        <p:nvSpPr>
          <p:cNvPr id="16" name="Text 14"/>
          <p:cNvSpPr/>
          <p:nvPr/>
        </p:nvSpPr>
        <p:spPr>
          <a:xfrm>
            <a:off x="5242768"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0.609</a:t>
            </a:r>
            <a:endParaRPr lang="en-US" sz="650" dirty="0"/>
          </a:p>
        </p:txBody>
      </p:sp>
      <p:sp>
        <p:nvSpPr>
          <p:cNvPr id="17" name="Text 15"/>
          <p:cNvSpPr/>
          <p:nvPr/>
        </p:nvSpPr>
        <p:spPr>
          <a:xfrm>
            <a:off x="6406232" y="1234529"/>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0.476</a:t>
            </a:r>
            <a:endParaRPr lang="en-US" sz="650" dirty="0"/>
          </a:p>
        </p:txBody>
      </p:sp>
      <p:sp>
        <p:nvSpPr>
          <p:cNvPr id="18" name="Text 16"/>
          <p:cNvSpPr/>
          <p:nvPr/>
        </p:nvSpPr>
        <p:spPr>
          <a:xfrm>
            <a:off x="7569696" y="1234529"/>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6.5 ms</a:t>
            </a:r>
            <a:endParaRPr lang="en-US" sz="650" dirty="0"/>
          </a:p>
        </p:txBody>
      </p:sp>
      <p:sp>
        <p:nvSpPr>
          <p:cNvPr id="19" name="Text 17"/>
          <p:cNvSpPr/>
          <p:nvPr/>
        </p:nvSpPr>
        <p:spPr>
          <a:xfrm>
            <a:off x="586532" y="1434182"/>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ModernBERT (ours)</a:t>
            </a:r>
            <a:endParaRPr lang="en-US" sz="650" dirty="0"/>
          </a:p>
        </p:txBody>
      </p:sp>
      <p:sp>
        <p:nvSpPr>
          <p:cNvPr id="20" name="Text 18"/>
          <p:cNvSpPr/>
          <p:nvPr/>
        </p:nvSpPr>
        <p:spPr>
          <a:xfrm>
            <a:off x="1752377"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2048</a:t>
            </a:r>
            <a:endParaRPr lang="en-US" sz="650" dirty="0"/>
          </a:p>
        </p:txBody>
      </p:sp>
      <p:sp>
        <p:nvSpPr>
          <p:cNvPr id="21" name="Text 19"/>
          <p:cNvSpPr/>
          <p:nvPr/>
        </p:nvSpPr>
        <p:spPr>
          <a:xfrm>
            <a:off x="2915841"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0.764</a:t>
            </a:r>
            <a:endParaRPr lang="en-US" sz="650" dirty="0"/>
          </a:p>
        </p:txBody>
      </p:sp>
      <p:sp>
        <p:nvSpPr>
          <p:cNvPr id="22" name="Text 20"/>
          <p:cNvSpPr/>
          <p:nvPr/>
        </p:nvSpPr>
        <p:spPr>
          <a:xfrm>
            <a:off x="4079304"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0.878</a:t>
            </a:r>
            <a:endParaRPr lang="en-US" sz="650" dirty="0"/>
          </a:p>
        </p:txBody>
      </p:sp>
      <p:sp>
        <p:nvSpPr>
          <p:cNvPr id="23" name="Text 21"/>
          <p:cNvSpPr/>
          <p:nvPr/>
        </p:nvSpPr>
        <p:spPr>
          <a:xfrm>
            <a:off x="5242768"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0.748</a:t>
            </a:r>
            <a:endParaRPr lang="en-US" sz="650" dirty="0"/>
          </a:p>
        </p:txBody>
      </p:sp>
      <p:sp>
        <p:nvSpPr>
          <p:cNvPr id="24" name="Text 22"/>
          <p:cNvSpPr/>
          <p:nvPr/>
        </p:nvSpPr>
        <p:spPr>
          <a:xfrm>
            <a:off x="6406232" y="1434182"/>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0.667</a:t>
            </a:r>
            <a:endParaRPr lang="en-US" sz="650" dirty="0"/>
          </a:p>
        </p:txBody>
      </p:sp>
      <p:sp>
        <p:nvSpPr>
          <p:cNvPr id="25" name="Text 23"/>
          <p:cNvSpPr/>
          <p:nvPr/>
        </p:nvSpPr>
        <p:spPr>
          <a:xfrm>
            <a:off x="7569696" y="1434182"/>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11.9 ms</a:t>
            </a:r>
            <a:endParaRPr lang="en-US" sz="650" dirty="0"/>
          </a:p>
        </p:txBody>
      </p:sp>
      <p:sp>
        <p:nvSpPr>
          <p:cNvPr id="26" name="Text 24"/>
          <p:cNvSpPr/>
          <p:nvPr/>
        </p:nvSpPr>
        <p:spPr>
          <a:xfrm>
            <a:off x="496119" y="1681832"/>
            <a:ext cx="2162770"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Key Highlights</a:t>
            </a:r>
            <a:endParaRPr lang="en-US" sz="1300" dirty="0"/>
          </a:p>
        </p:txBody>
      </p:sp>
      <p:sp>
        <p:nvSpPr>
          <p:cNvPr id="27" name="Shape 25"/>
          <p:cNvSpPr/>
          <p:nvPr/>
        </p:nvSpPr>
        <p:spPr>
          <a:xfrm>
            <a:off x="496119" y="1982912"/>
            <a:ext cx="8151763" cy="269007"/>
          </a:xfrm>
          <a:prstGeom prst="roundRect">
            <a:avLst>
              <a:gd name="adj" fmla="val 4755"/>
            </a:avLst>
          </a:prstGeom>
          <a:solidFill>
            <a:srgbClr val="D7DFF4"/>
          </a:solidFill>
          <a:ln/>
        </p:spPr>
        <p:txBody>
          <a:bodyPr/>
          <a:lstStyle/>
          <a:p>
            <a:endParaRPr lang="en-US"/>
          </a:p>
        </p:txBody>
      </p:sp>
      <p:pic>
        <p:nvPicPr>
          <p:cNvPr id="28" name="Image 0" descr="preencoded.png"/>
          <p:cNvPicPr>
            <a:picLocks noChangeAspect="1"/>
          </p:cNvPicPr>
          <p:nvPr/>
        </p:nvPicPr>
        <p:blipFill>
          <a:blip r:embed="rId3"/>
          <a:stretch>
            <a:fillRect/>
          </a:stretch>
        </p:blipFill>
        <p:spPr>
          <a:xfrm>
            <a:off x="581397" y="2091035"/>
            <a:ext cx="106561" cy="85279"/>
          </a:xfrm>
          <a:prstGeom prst="rect">
            <a:avLst/>
          </a:prstGeom>
        </p:spPr>
      </p:pic>
      <p:sp>
        <p:nvSpPr>
          <p:cNvPr id="29" name="Text 26"/>
          <p:cNvSpPr/>
          <p:nvPr/>
        </p:nvSpPr>
        <p:spPr>
          <a:xfrm>
            <a:off x="773237" y="2062758"/>
            <a:ext cx="8246566" cy="115119"/>
          </a:xfrm>
          <a:prstGeom prst="rect">
            <a:avLst/>
          </a:prstGeom>
          <a:noFill/>
          <a:ln/>
        </p:spPr>
        <p:txBody>
          <a:bodyPr wrap="none" lIns="0" tIns="0" rIns="0" bIns="0" rtlCol="0" anchor="t"/>
          <a:lstStyle/>
          <a:p>
            <a:pPr marL="0" indent="0" algn="l">
              <a:lnSpc>
                <a:spcPct val="112000"/>
              </a:lnSpc>
              <a:buNone/>
            </a:pPr>
            <a:r>
              <a:rPr lang="en-US" sz="650" b="1" dirty="0">
                <a:solidFill>
                  <a:srgbClr val="000000"/>
                </a:solidFill>
                <a:latin typeface="Roboto Bold" pitchFamily="34" charset="0"/>
                <a:ea typeface="Roboto Bold" pitchFamily="34" charset="-122"/>
                <a:cs typeface="Roboto Bold" pitchFamily="34" charset="-120"/>
              </a:rPr>
              <a:t>+13.7 macro-F1 points</a:t>
            </a:r>
            <a:r>
              <a:rPr lang="en-US" sz="650" dirty="0">
                <a:solidFill>
                  <a:srgbClr val="000000"/>
                </a:solidFill>
                <a:latin typeface="Roboto" pitchFamily="34" charset="0"/>
                <a:ea typeface="Roboto" pitchFamily="34" charset="-122"/>
                <a:cs typeface="Roboto" pitchFamily="34" charset="-120"/>
              </a:rPr>
              <a:t> — a large gain, especially on positive (+19 points) which is the hardest and rarest class.</a:t>
            </a:r>
            <a:endParaRPr lang="en-US" sz="650" dirty="0"/>
          </a:p>
        </p:txBody>
      </p:sp>
      <p:sp>
        <p:nvSpPr>
          <p:cNvPr id="30" name="Shape 27"/>
          <p:cNvSpPr/>
          <p:nvPr/>
        </p:nvSpPr>
        <p:spPr>
          <a:xfrm>
            <a:off x="496119" y="2317849"/>
            <a:ext cx="8151763" cy="269007"/>
          </a:xfrm>
          <a:prstGeom prst="roundRect">
            <a:avLst>
              <a:gd name="adj" fmla="val 4755"/>
            </a:avLst>
          </a:prstGeom>
          <a:solidFill>
            <a:srgbClr val="D7DFF4"/>
          </a:solidFill>
          <a:ln/>
        </p:spPr>
        <p:txBody>
          <a:bodyPr/>
          <a:lstStyle/>
          <a:p>
            <a:endParaRPr lang="en-US"/>
          </a:p>
        </p:txBody>
      </p:sp>
      <p:pic>
        <p:nvPicPr>
          <p:cNvPr id="31" name="Image 1" descr="preencoded.png"/>
          <p:cNvPicPr>
            <a:picLocks noChangeAspect="1"/>
          </p:cNvPicPr>
          <p:nvPr/>
        </p:nvPicPr>
        <p:blipFill>
          <a:blip r:embed="rId3"/>
          <a:stretch>
            <a:fillRect/>
          </a:stretch>
        </p:blipFill>
        <p:spPr>
          <a:xfrm>
            <a:off x="581397" y="2425973"/>
            <a:ext cx="106561" cy="85279"/>
          </a:xfrm>
          <a:prstGeom prst="rect">
            <a:avLst/>
          </a:prstGeom>
        </p:spPr>
      </p:pic>
      <p:sp>
        <p:nvSpPr>
          <p:cNvPr id="32" name="Text 28"/>
          <p:cNvSpPr/>
          <p:nvPr/>
        </p:nvSpPr>
        <p:spPr>
          <a:xfrm>
            <a:off x="773237" y="2397696"/>
            <a:ext cx="8246566" cy="115119"/>
          </a:xfrm>
          <a:prstGeom prst="rect">
            <a:avLst/>
          </a:prstGeom>
          <a:noFill/>
          <a:ln/>
        </p:spPr>
        <p:txBody>
          <a:bodyPr wrap="none" lIns="0" tIns="0" rIns="0" bIns="0" rtlCol="0" anchor="t"/>
          <a:lstStyle/>
          <a:p>
            <a:pPr marL="0" indent="0" algn="l">
              <a:lnSpc>
                <a:spcPct val="112000"/>
              </a:lnSpc>
              <a:buNone/>
            </a:pPr>
            <a:r>
              <a:rPr lang="en-US" sz="650" dirty="0">
                <a:solidFill>
                  <a:srgbClr val="000000"/>
                </a:solidFill>
                <a:latin typeface="Roboto" pitchFamily="34" charset="0"/>
                <a:ea typeface="Roboto" pitchFamily="34" charset="-122"/>
                <a:cs typeface="Roboto" pitchFamily="34" charset="-120"/>
              </a:rPr>
              <a:t>On the 7 long posts (≥512 tokens) that RoBERTa had to truncate, ModernBERT scores </a:t>
            </a:r>
            <a:r>
              <a:rPr lang="en-US" sz="650" b="1" dirty="0">
                <a:solidFill>
                  <a:srgbClr val="000000"/>
                </a:solidFill>
                <a:latin typeface="Roboto Bold" pitchFamily="34" charset="0"/>
                <a:ea typeface="Roboto Bold" pitchFamily="34" charset="-122"/>
                <a:cs typeface="Roboto Bold" pitchFamily="34" charset="-120"/>
              </a:rPr>
              <a:t>macro-F1 = 1.0 vs RoBERTa's 0.28</a:t>
            </a:r>
            <a:r>
              <a:rPr lang="en-US" sz="650" dirty="0">
                <a:solidFill>
                  <a:srgbClr val="000000"/>
                </a:solidFill>
                <a:latin typeface="Roboto" pitchFamily="34" charset="0"/>
                <a:ea typeface="Roboto" pitchFamily="34" charset="-122"/>
                <a:cs typeface="Roboto" pitchFamily="34" charset="-120"/>
              </a:rPr>
              <a:t> — direct evidence that the 8192-context matters.</a:t>
            </a:r>
            <a:endParaRPr lang="en-US" sz="650" dirty="0"/>
          </a:p>
        </p:txBody>
      </p:sp>
      <p:sp>
        <p:nvSpPr>
          <p:cNvPr id="33" name="Shape 29"/>
          <p:cNvSpPr/>
          <p:nvPr/>
        </p:nvSpPr>
        <p:spPr>
          <a:xfrm>
            <a:off x="496119" y="2652787"/>
            <a:ext cx="8151763" cy="269007"/>
          </a:xfrm>
          <a:prstGeom prst="roundRect">
            <a:avLst>
              <a:gd name="adj" fmla="val 4755"/>
            </a:avLst>
          </a:prstGeom>
          <a:solidFill>
            <a:srgbClr val="D7DFF4"/>
          </a:solidFill>
          <a:ln/>
        </p:spPr>
        <p:txBody>
          <a:bodyPr/>
          <a:lstStyle/>
          <a:p>
            <a:endParaRPr lang="en-US"/>
          </a:p>
        </p:txBody>
      </p:sp>
      <p:pic>
        <p:nvPicPr>
          <p:cNvPr id="34" name="Image 2" descr="preencoded.png"/>
          <p:cNvPicPr>
            <a:picLocks noChangeAspect="1"/>
          </p:cNvPicPr>
          <p:nvPr/>
        </p:nvPicPr>
        <p:blipFill>
          <a:blip r:embed="rId3"/>
          <a:stretch>
            <a:fillRect/>
          </a:stretch>
        </p:blipFill>
        <p:spPr>
          <a:xfrm>
            <a:off x="581397" y="2760911"/>
            <a:ext cx="106561" cy="85279"/>
          </a:xfrm>
          <a:prstGeom prst="rect">
            <a:avLst/>
          </a:prstGeom>
        </p:spPr>
      </p:pic>
      <p:sp>
        <p:nvSpPr>
          <p:cNvPr id="35" name="Text 30"/>
          <p:cNvSpPr/>
          <p:nvPr/>
        </p:nvSpPr>
        <p:spPr>
          <a:xfrm>
            <a:off x="773237" y="2732633"/>
            <a:ext cx="8246566" cy="115119"/>
          </a:xfrm>
          <a:prstGeom prst="rect">
            <a:avLst/>
          </a:prstGeom>
          <a:noFill/>
          <a:ln/>
        </p:spPr>
        <p:txBody>
          <a:bodyPr wrap="none" lIns="0" tIns="0" rIns="0" bIns="0" rtlCol="0" anchor="t"/>
          <a:lstStyle/>
          <a:p>
            <a:pPr marL="0" indent="0" algn="l">
              <a:lnSpc>
                <a:spcPct val="112000"/>
              </a:lnSpc>
              <a:buNone/>
            </a:pPr>
            <a:r>
              <a:rPr lang="en-US" sz="650" dirty="0">
                <a:solidFill>
                  <a:srgbClr val="000000"/>
                </a:solidFill>
                <a:latin typeface="Roboto" pitchFamily="34" charset="0"/>
                <a:ea typeface="Roboto" pitchFamily="34" charset="-122"/>
                <a:cs typeface="Roboto" pitchFamily="34" charset="-120"/>
              </a:rPr>
              <a:t>CV mean = </a:t>
            </a:r>
            <a:r>
              <a:rPr lang="en-US" sz="650" b="1" dirty="0">
                <a:solidFill>
                  <a:srgbClr val="000000"/>
                </a:solidFill>
                <a:latin typeface="Roboto Bold" pitchFamily="34" charset="0"/>
                <a:ea typeface="Roboto Bold" pitchFamily="34" charset="-122"/>
                <a:cs typeface="Roboto Bold" pitchFamily="34" charset="-120"/>
              </a:rPr>
              <a:t>0.736 ± 0.115</a:t>
            </a:r>
            <a:r>
              <a:rPr lang="en-US" sz="650" dirty="0">
                <a:solidFill>
                  <a:srgbClr val="000000"/>
                </a:solidFill>
                <a:latin typeface="Roboto" pitchFamily="34" charset="0"/>
                <a:ea typeface="Roboto" pitchFamily="34" charset="-122"/>
                <a:cs typeface="Roboto" pitchFamily="34" charset="-120"/>
              </a:rPr>
              <a:t> — the ±0.115 is honest, our 200-post benchmark is small so folds vary.</a:t>
            </a:r>
            <a:endParaRPr lang="en-US" sz="650" dirty="0"/>
          </a:p>
        </p:txBody>
      </p:sp>
      <p:sp>
        <p:nvSpPr>
          <p:cNvPr id="36" name="Text 31"/>
          <p:cNvSpPr/>
          <p:nvPr/>
        </p:nvSpPr>
        <p:spPr>
          <a:xfrm>
            <a:off x="496119" y="3009677"/>
            <a:ext cx="2180927"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Per-Class Breakdown</a:t>
            </a:r>
            <a:endParaRPr lang="en-US" sz="1300" dirty="0"/>
          </a:p>
        </p:txBody>
      </p:sp>
      <p:sp>
        <p:nvSpPr>
          <p:cNvPr id="37" name="Shape 32"/>
          <p:cNvSpPr/>
          <p:nvPr/>
        </p:nvSpPr>
        <p:spPr>
          <a:xfrm>
            <a:off x="496119" y="3310756"/>
            <a:ext cx="8151763" cy="803374"/>
          </a:xfrm>
          <a:prstGeom prst="roundRect">
            <a:avLst>
              <a:gd name="adj" fmla="val 1592"/>
            </a:avLst>
          </a:prstGeom>
          <a:noFill/>
          <a:ln w="4763">
            <a:solidFill>
              <a:srgbClr val="000000">
                <a:alpha val="8000"/>
              </a:srgbClr>
            </a:solidFill>
            <a:prstDash val="solid"/>
          </a:ln>
        </p:spPr>
        <p:txBody>
          <a:bodyPr/>
          <a:lstStyle/>
          <a:p>
            <a:endParaRPr lang="en-US"/>
          </a:p>
        </p:txBody>
      </p:sp>
      <p:sp>
        <p:nvSpPr>
          <p:cNvPr id="38" name="Text 33"/>
          <p:cNvSpPr/>
          <p:nvPr/>
        </p:nvSpPr>
        <p:spPr>
          <a:xfrm>
            <a:off x="586532" y="3355404"/>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Class</a:t>
            </a:r>
            <a:endParaRPr lang="en-US" sz="650" dirty="0"/>
          </a:p>
        </p:txBody>
      </p:sp>
      <p:sp>
        <p:nvSpPr>
          <p:cNvPr id="39" name="Text 34"/>
          <p:cNvSpPr/>
          <p:nvPr/>
        </p:nvSpPr>
        <p:spPr>
          <a:xfrm>
            <a:off x="1752377"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TP</a:t>
            </a:r>
            <a:endParaRPr lang="en-US" sz="650" dirty="0"/>
          </a:p>
        </p:txBody>
      </p:sp>
      <p:sp>
        <p:nvSpPr>
          <p:cNvPr id="40" name="Text 35"/>
          <p:cNvSpPr/>
          <p:nvPr/>
        </p:nvSpPr>
        <p:spPr>
          <a:xfrm>
            <a:off x="2915841"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FP</a:t>
            </a:r>
            <a:endParaRPr lang="en-US" sz="650" dirty="0"/>
          </a:p>
        </p:txBody>
      </p:sp>
      <p:sp>
        <p:nvSpPr>
          <p:cNvPr id="41" name="Text 36"/>
          <p:cNvSpPr/>
          <p:nvPr/>
        </p:nvSpPr>
        <p:spPr>
          <a:xfrm>
            <a:off x="4079304"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FN</a:t>
            </a:r>
            <a:endParaRPr lang="en-US" sz="650" dirty="0"/>
          </a:p>
        </p:txBody>
      </p:sp>
      <p:sp>
        <p:nvSpPr>
          <p:cNvPr id="42" name="Text 37"/>
          <p:cNvSpPr/>
          <p:nvPr/>
        </p:nvSpPr>
        <p:spPr>
          <a:xfrm>
            <a:off x="5242768"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Precision</a:t>
            </a:r>
            <a:endParaRPr lang="en-US" sz="650" dirty="0"/>
          </a:p>
        </p:txBody>
      </p:sp>
      <p:sp>
        <p:nvSpPr>
          <p:cNvPr id="43" name="Text 38"/>
          <p:cNvSpPr/>
          <p:nvPr/>
        </p:nvSpPr>
        <p:spPr>
          <a:xfrm>
            <a:off x="6406232" y="3355404"/>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Recall</a:t>
            </a:r>
            <a:endParaRPr lang="en-US" sz="650" dirty="0"/>
          </a:p>
        </p:txBody>
      </p:sp>
      <p:sp>
        <p:nvSpPr>
          <p:cNvPr id="44" name="Text 39"/>
          <p:cNvSpPr/>
          <p:nvPr/>
        </p:nvSpPr>
        <p:spPr>
          <a:xfrm>
            <a:off x="7569696" y="3355404"/>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F1</a:t>
            </a:r>
            <a:endParaRPr lang="en-US" sz="650" dirty="0"/>
          </a:p>
        </p:txBody>
      </p:sp>
      <p:sp>
        <p:nvSpPr>
          <p:cNvPr id="45" name="Text 40"/>
          <p:cNvSpPr/>
          <p:nvPr/>
        </p:nvSpPr>
        <p:spPr>
          <a:xfrm>
            <a:off x="586532" y="3555057"/>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negative</a:t>
            </a:r>
            <a:endParaRPr lang="en-US" sz="650" dirty="0"/>
          </a:p>
        </p:txBody>
      </p:sp>
      <p:sp>
        <p:nvSpPr>
          <p:cNvPr id="46" name="Text 41"/>
          <p:cNvSpPr/>
          <p:nvPr/>
        </p:nvSpPr>
        <p:spPr>
          <a:xfrm>
            <a:off x="1752377"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115</a:t>
            </a:r>
            <a:endParaRPr lang="en-US" sz="650" dirty="0"/>
          </a:p>
        </p:txBody>
      </p:sp>
      <p:sp>
        <p:nvSpPr>
          <p:cNvPr id="47" name="Text 42"/>
          <p:cNvSpPr/>
          <p:nvPr/>
        </p:nvSpPr>
        <p:spPr>
          <a:xfrm>
            <a:off x="2915841"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20</a:t>
            </a:r>
            <a:endParaRPr lang="en-US" sz="650" dirty="0"/>
          </a:p>
        </p:txBody>
      </p:sp>
      <p:sp>
        <p:nvSpPr>
          <p:cNvPr id="48" name="Text 43"/>
          <p:cNvSpPr/>
          <p:nvPr/>
        </p:nvSpPr>
        <p:spPr>
          <a:xfrm>
            <a:off x="4079304"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12</a:t>
            </a:r>
            <a:endParaRPr lang="en-US" sz="650" dirty="0"/>
          </a:p>
        </p:txBody>
      </p:sp>
      <p:sp>
        <p:nvSpPr>
          <p:cNvPr id="49" name="Text 44"/>
          <p:cNvSpPr/>
          <p:nvPr/>
        </p:nvSpPr>
        <p:spPr>
          <a:xfrm>
            <a:off x="5242768"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0.852</a:t>
            </a:r>
            <a:endParaRPr lang="en-US" sz="650" dirty="0"/>
          </a:p>
        </p:txBody>
      </p:sp>
      <p:sp>
        <p:nvSpPr>
          <p:cNvPr id="50" name="Text 45"/>
          <p:cNvSpPr/>
          <p:nvPr/>
        </p:nvSpPr>
        <p:spPr>
          <a:xfrm>
            <a:off x="6406232" y="3555057"/>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0.906</a:t>
            </a:r>
            <a:endParaRPr lang="en-US" sz="650" dirty="0"/>
          </a:p>
        </p:txBody>
      </p:sp>
      <p:sp>
        <p:nvSpPr>
          <p:cNvPr id="51" name="Text 46"/>
          <p:cNvSpPr/>
          <p:nvPr/>
        </p:nvSpPr>
        <p:spPr>
          <a:xfrm>
            <a:off x="7569696" y="3555057"/>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0.878</a:t>
            </a:r>
            <a:endParaRPr lang="en-US" sz="650" dirty="0"/>
          </a:p>
        </p:txBody>
      </p:sp>
      <p:sp>
        <p:nvSpPr>
          <p:cNvPr id="52" name="Text 47"/>
          <p:cNvSpPr/>
          <p:nvPr/>
        </p:nvSpPr>
        <p:spPr>
          <a:xfrm>
            <a:off x="586532" y="3754710"/>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neutral</a:t>
            </a:r>
            <a:endParaRPr lang="en-US" sz="650" dirty="0"/>
          </a:p>
        </p:txBody>
      </p:sp>
      <p:sp>
        <p:nvSpPr>
          <p:cNvPr id="53" name="Text 48"/>
          <p:cNvSpPr/>
          <p:nvPr/>
        </p:nvSpPr>
        <p:spPr>
          <a:xfrm>
            <a:off x="1752377"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46</a:t>
            </a:r>
            <a:endParaRPr lang="en-US" sz="650" dirty="0"/>
          </a:p>
        </p:txBody>
      </p:sp>
      <p:sp>
        <p:nvSpPr>
          <p:cNvPr id="54" name="Text 49"/>
          <p:cNvSpPr/>
          <p:nvPr/>
        </p:nvSpPr>
        <p:spPr>
          <a:xfrm>
            <a:off x="2915841"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12</a:t>
            </a:r>
            <a:endParaRPr lang="en-US" sz="650" dirty="0"/>
          </a:p>
        </p:txBody>
      </p:sp>
      <p:sp>
        <p:nvSpPr>
          <p:cNvPr id="55" name="Text 50"/>
          <p:cNvSpPr/>
          <p:nvPr/>
        </p:nvSpPr>
        <p:spPr>
          <a:xfrm>
            <a:off x="4079304"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19</a:t>
            </a:r>
            <a:endParaRPr lang="en-US" sz="650" dirty="0"/>
          </a:p>
        </p:txBody>
      </p:sp>
      <p:sp>
        <p:nvSpPr>
          <p:cNvPr id="56" name="Text 51"/>
          <p:cNvSpPr/>
          <p:nvPr/>
        </p:nvSpPr>
        <p:spPr>
          <a:xfrm>
            <a:off x="5242768"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0.793</a:t>
            </a:r>
            <a:endParaRPr lang="en-US" sz="650" dirty="0"/>
          </a:p>
        </p:txBody>
      </p:sp>
      <p:sp>
        <p:nvSpPr>
          <p:cNvPr id="57" name="Text 52"/>
          <p:cNvSpPr/>
          <p:nvPr/>
        </p:nvSpPr>
        <p:spPr>
          <a:xfrm>
            <a:off x="6406232" y="3754710"/>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0.708</a:t>
            </a:r>
            <a:endParaRPr lang="en-US" sz="650" dirty="0"/>
          </a:p>
        </p:txBody>
      </p:sp>
      <p:sp>
        <p:nvSpPr>
          <p:cNvPr id="58" name="Text 53"/>
          <p:cNvSpPr/>
          <p:nvPr/>
        </p:nvSpPr>
        <p:spPr>
          <a:xfrm>
            <a:off x="7569696" y="3754710"/>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0.748</a:t>
            </a:r>
            <a:endParaRPr lang="en-US" sz="650" dirty="0"/>
          </a:p>
        </p:txBody>
      </p:sp>
      <p:sp>
        <p:nvSpPr>
          <p:cNvPr id="59" name="Text 54"/>
          <p:cNvSpPr/>
          <p:nvPr/>
        </p:nvSpPr>
        <p:spPr>
          <a:xfrm>
            <a:off x="586532" y="3954363"/>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positive</a:t>
            </a:r>
            <a:endParaRPr lang="en-US" sz="650" dirty="0"/>
          </a:p>
        </p:txBody>
      </p:sp>
      <p:sp>
        <p:nvSpPr>
          <p:cNvPr id="60" name="Text 55"/>
          <p:cNvSpPr/>
          <p:nvPr/>
        </p:nvSpPr>
        <p:spPr>
          <a:xfrm>
            <a:off x="1752377"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5</a:t>
            </a:r>
            <a:endParaRPr lang="en-US" sz="650" dirty="0"/>
          </a:p>
        </p:txBody>
      </p:sp>
      <p:sp>
        <p:nvSpPr>
          <p:cNvPr id="61" name="Text 56"/>
          <p:cNvSpPr/>
          <p:nvPr/>
        </p:nvSpPr>
        <p:spPr>
          <a:xfrm>
            <a:off x="2915841"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2</a:t>
            </a:r>
            <a:endParaRPr lang="en-US" sz="650" dirty="0"/>
          </a:p>
        </p:txBody>
      </p:sp>
      <p:sp>
        <p:nvSpPr>
          <p:cNvPr id="62" name="Text 57"/>
          <p:cNvSpPr/>
          <p:nvPr/>
        </p:nvSpPr>
        <p:spPr>
          <a:xfrm>
            <a:off x="4079304"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3</a:t>
            </a:r>
            <a:endParaRPr lang="en-US" sz="650" dirty="0"/>
          </a:p>
        </p:txBody>
      </p:sp>
      <p:sp>
        <p:nvSpPr>
          <p:cNvPr id="63" name="Text 58"/>
          <p:cNvSpPr/>
          <p:nvPr/>
        </p:nvSpPr>
        <p:spPr>
          <a:xfrm>
            <a:off x="5242768"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0.714</a:t>
            </a:r>
            <a:endParaRPr lang="en-US" sz="650" dirty="0"/>
          </a:p>
        </p:txBody>
      </p:sp>
      <p:sp>
        <p:nvSpPr>
          <p:cNvPr id="64" name="Text 59"/>
          <p:cNvSpPr/>
          <p:nvPr/>
        </p:nvSpPr>
        <p:spPr>
          <a:xfrm>
            <a:off x="6406232" y="3954363"/>
            <a:ext cx="1445344"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0.625</a:t>
            </a:r>
            <a:endParaRPr lang="en-US" sz="650" dirty="0"/>
          </a:p>
        </p:txBody>
      </p:sp>
      <p:sp>
        <p:nvSpPr>
          <p:cNvPr id="65" name="Text 60"/>
          <p:cNvSpPr/>
          <p:nvPr/>
        </p:nvSpPr>
        <p:spPr>
          <a:xfrm>
            <a:off x="7569696" y="3954363"/>
            <a:ext cx="1447726" cy="115119"/>
          </a:xfrm>
          <a:prstGeom prst="rect">
            <a:avLst/>
          </a:prstGeom>
          <a:noFill/>
          <a:ln/>
        </p:spPr>
        <p:txBody>
          <a:bodyPr wrap="none" lIns="0" tIns="0" rIns="0" bIns="0" rtlCol="0" anchor="t"/>
          <a:lstStyle/>
          <a:p>
            <a:pPr marL="0" indent="0" algn="l">
              <a:lnSpc>
                <a:spcPct val="112000"/>
              </a:lnSpc>
              <a:buNone/>
            </a:pPr>
            <a:r>
              <a:rPr lang="en-US" sz="650" dirty="0">
                <a:solidFill>
                  <a:srgbClr val="15213F"/>
                </a:solidFill>
                <a:latin typeface="Roboto" pitchFamily="34" charset="0"/>
                <a:ea typeface="Roboto" pitchFamily="34" charset="-122"/>
                <a:cs typeface="Roboto" pitchFamily="34" charset="-120"/>
              </a:rPr>
              <a:t>0.667</a:t>
            </a:r>
            <a:endParaRPr lang="en-US" sz="650" dirty="0"/>
          </a:p>
        </p:txBody>
      </p:sp>
      <p:sp>
        <p:nvSpPr>
          <p:cNvPr id="66" name="Text 61"/>
          <p:cNvSpPr/>
          <p:nvPr/>
        </p:nvSpPr>
        <p:spPr>
          <a:xfrm>
            <a:off x="496119" y="4202013"/>
            <a:ext cx="2162770" cy="213196"/>
          </a:xfrm>
          <a:prstGeom prst="rect">
            <a:avLst/>
          </a:prstGeom>
          <a:noFill/>
          <a:ln/>
        </p:spPr>
        <p:txBody>
          <a:bodyPr wrap="none" lIns="0" tIns="0" rIns="0" bIns="0" rtlCol="0" anchor="t"/>
          <a:lstStyle/>
          <a:p>
            <a:pPr marL="0" indent="0" algn="l">
              <a:lnSpc>
                <a:spcPct val="104000"/>
              </a:lnSpc>
              <a:buNone/>
            </a:pPr>
            <a:r>
              <a:rPr lang="en-US" sz="1300" dirty="0">
                <a:solidFill>
                  <a:srgbClr val="3257B8"/>
                </a:solidFill>
                <a:latin typeface="Roboto Slab" pitchFamily="34" charset="0"/>
                <a:ea typeface="Roboto Slab" pitchFamily="34" charset="-122"/>
                <a:cs typeface="Roboto Slab" pitchFamily="34" charset="-120"/>
              </a:rPr>
              <a:t>Final Metrics</a:t>
            </a:r>
            <a:endParaRPr lang="en-US" sz="1300" dirty="0"/>
          </a:p>
        </p:txBody>
      </p:sp>
      <p:sp>
        <p:nvSpPr>
          <p:cNvPr id="67" name="Text 62"/>
          <p:cNvSpPr/>
          <p:nvPr/>
        </p:nvSpPr>
        <p:spPr>
          <a:xfrm>
            <a:off x="496119" y="4503093"/>
            <a:ext cx="8151763" cy="250701"/>
          </a:xfrm>
          <a:prstGeom prst="rect">
            <a:avLst/>
          </a:prstGeom>
          <a:noFill/>
          <a:ln/>
        </p:spPr>
        <p:txBody>
          <a:bodyPr wrap="square" lIns="0" tIns="0" rIns="0" bIns="0" rtlCol="0" anchor="t">
            <a:normAutofit/>
          </a:bodyPr>
          <a:lstStyle/>
          <a:p>
            <a:pPr marL="132080" indent="-132080" algn="l">
              <a:lnSpc>
                <a:spcPct val="112000"/>
              </a:lnSpc>
              <a:buSzPct val="100000"/>
              <a:buChar char="•"/>
            </a:pPr>
            <a:r>
              <a:rPr lang="en-US" sz="650" dirty="0">
                <a:solidFill>
                  <a:srgbClr val="15213F"/>
                </a:solidFill>
                <a:latin typeface="Roboto" pitchFamily="34" charset="0"/>
                <a:ea typeface="Roboto" pitchFamily="34" charset="-122"/>
                <a:cs typeface="Roboto" pitchFamily="34" charset="-120"/>
              </a:rPr>
              <a:t>Macro F1 = (0.878 + 0.748 + 0.667) / 3 = 0.764</a:t>
            </a:r>
            <a:endParaRPr lang="en-US" sz="650" dirty="0"/>
          </a:p>
          <a:p>
            <a:pPr marL="132080" indent="-132080" algn="l">
              <a:lnSpc>
                <a:spcPct val="112000"/>
              </a:lnSpc>
              <a:buSzPct val="100000"/>
              <a:buChar char="•"/>
            </a:pPr>
            <a:r>
              <a:rPr lang="en-US" sz="650" dirty="0">
                <a:solidFill>
                  <a:srgbClr val="15213F"/>
                </a:solidFill>
                <a:latin typeface="Roboto" pitchFamily="34" charset="0"/>
                <a:ea typeface="Roboto" pitchFamily="34" charset="-122"/>
                <a:cs typeface="Roboto" pitchFamily="34" charset="-120"/>
              </a:rPr>
              <a:t>Micro F1 = 166/200 = 0.83 (equals accuracy)</a:t>
            </a:r>
            <a:endParaRPr lang="en-US" sz="650" dirty="0"/>
          </a:p>
        </p:txBody>
      </p:sp>
    </p:spTree>
    <p:extLst>
      <p:ext uri="{BB962C8B-B14F-4D97-AF65-F5344CB8AC3E}">
        <p14:creationId xmlns:p14="http://schemas.microsoft.com/office/powerpoint/2010/main" val="460928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12849"/>
            <a:ext cx="2716560" cy="282401"/>
          </a:xfrm>
          <a:prstGeom prst="rect">
            <a:avLst/>
          </a:prstGeom>
          <a:noFill/>
          <a:ln/>
        </p:spPr>
        <p:txBody>
          <a:bodyPr wrap="none" lIns="0" tIns="0" rIns="0" bIns="0" rtlCol="0" anchor="t"/>
          <a:lstStyle/>
          <a:p>
            <a:pPr marL="0" indent="0" algn="l">
              <a:lnSpc>
                <a:spcPct val="104000"/>
              </a:lnSpc>
              <a:buNone/>
            </a:pPr>
            <a:r>
              <a:rPr lang="en-US" sz="1750" dirty="0">
                <a:solidFill>
                  <a:srgbClr val="3257B8"/>
                </a:solidFill>
                <a:latin typeface="Roboto Slab" pitchFamily="34" charset="0"/>
                <a:ea typeface="Roboto Slab" pitchFamily="34" charset="-122"/>
                <a:cs typeface="Roboto Slab" pitchFamily="34" charset="-120"/>
              </a:rPr>
              <a:t>Training config</a:t>
            </a:r>
            <a:endParaRPr lang="en-US" sz="1750" dirty="0"/>
          </a:p>
        </p:txBody>
      </p:sp>
      <p:sp>
        <p:nvSpPr>
          <p:cNvPr id="3" name="Text 1"/>
          <p:cNvSpPr/>
          <p:nvPr/>
        </p:nvSpPr>
        <p:spPr>
          <a:xfrm>
            <a:off x="496119" y="875258"/>
            <a:ext cx="8151763" cy="743917"/>
          </a:xfrm>
          <a:prstGeom prst="rect">
            <a:avLst/>
          </a:prstGeom>
          <a:noFill/>
          <a:ln/>
        </p:spPr>
        <p:txBody>
          <a:bodyPr wrap="square" lIns="0" tIns="0" rIns="0" bIns="0" rtlCol="0" anchor="t">
            <a:normAutofit/>
          </a:bodyPr>
          <a:lstStyle/>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max_length = 1024 (long-context lever)</a:t>
            </a:r>
            <a:endParaRPr lang="en-US" sz="850" dirty="0"/>
          </a:p>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Effective batch </a:t>
            </a:r>
            <a:r>
              <a:rPr lang="en-US" sz="850" b="1" dirty="0">
                <a:solidFill>
                  <a:srgbClr val="15213F"/>
                </a:solidFill>
                <a:latin typeface="Roboto Bold" pitchFamily="34" charset="0"/>
                <a:ea typeface="Roboto Bold" pitchFamily="34" charset="-122"/>
                <a:cs typeface="Roboto Bold" pitchFamily="34" charset="-120"/>
              </a:rPr>
              <a:t>32</a:t>
            </a:r>
            <a:r>
              <a:rPr lang="en-US" sz="850" dirty="0">
                <a:solidFill>
                  <a:srgbClr val="15213F"/>
                </a:solidFill>
                <a:latin typeface="Roboto" pitchFamily="34" charset="0"/>
                <a:ea typeface="Roboto" pitchFamily="34" charset="-122"/>
                <a:cs typeface="Roboto" pitchFamily="34" charset="-120"/>
              </a:rPr>
              <a:t> (BS 8 × grad-accum 4)</a:t>
            </a:r>
            <a:endParaRPr lang="en-US" sz="850" dirty="0"/>
          </a:p>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Class weights neg 0.52 · neu 1.03 · pos 8.33</a:t>
            </a:r>
            <a:endParaRPr lang="en-US" sz="850" dirty="0"/>
          </a:p>
          <a:p>
            <a:pPr marL="172720" indent="-172720" algn="l">
              <a:lnSpc>
                <a:spcPct val="120000"/>
              </a:lnSpc>
              <a:buSzPct val="100000"/>
              <a:buChar char="•"/>
            </a:pPr>
            <a:r>
              <a:rPr lang="en-US" sz="850" dirty="0">
                <a:solidFill>
                  <a:srgbClr val="15213F"/>
                </a:solidFill>
                <a:latin typeface="Roboto" pitchFamily="34" charset="0"/>
                <a:ea typeface="Roboto" pitchFamily="34" charset="-122"/>
                <a:cs typeface="Roboto" pitchFamily="34" charset="-120"/>
              </a:rPr>
              <a:t>Minority oversample to ~100/class/fold</a:t>
            </a:r>
            <a:endParaRPr lang="en-US" sz="850" dirty="0"/>
          </a:p>
        </p:txBody>
      </p:sp>
      <p:sp>
        <p:nvSpPr>
          <p:cNvPr id="4" name="Text 2"/>
          <p:cNvSpPr/>
          <p:nvPr/>
        </p:nvSpPr>
        <p:spPr>
          <a:xfrm>
            <a:off x="496119" y="1754163"/>
            <a:ext cx="3898181" cy="296689"/>
          </a:xfrm>
          <a:prstGeom prst="rect">
            <a:avLst/>
          </a:prstGeom>
          <a:noFill/>
          <a:ln/>
        </p:spPr>
        <p:txBody>
          <a:bodyPr wrap="none" lIns="0" tIns="0" rIns="0" bIns="0" rtlCol="0" anchor="t"/>
          <a:lstStyle/>
          <a:p>
            <a:pPr marL="0" indent="0" algn="l">
              <a:lnSpc>
                <a:spcPct val="104000"/>
              </a:lnSpc>
              <a:buNone/>
            </a:pPr>
            <a:r>
              <a:rPr lang="en-US" sz="1750" dirty="0">
                <a:solidFill>
                  <a:srgbClr val="000000"/>
                </a:solidFill>
                <a:latin typeface="Roboto Slab" pitchFamily="34" charset="0"/>
                <a:ea typeface="Roboto Slab" pitchFamily="34" charset="-122"/>
                <a:cs typeface="Roboto Slab" pitchFamily="34" charset="-120"/>
              </a:rPr>
              <a:t>🏆</a:t>
            </a:r>
            <a:r>
              <a:rPr lang="en-US" sz="1750" dirty="0">
                <a:solidFill>
                  <a:srgbClr val="3257B8"/>
                </a:solidFill>
                <a:latin typeface="Roboto Slab" pitchFamily="34" charset="0"/>
                <a:ea typeface="Roboto Slab" pitchFamily="34" charset="-122"/>
                <a:cs typeface="Roboto Slab" pitchFamily="34" charset="-120"/>
              </a:rPr>
              <a:t> Final results — 5-fold OOF CV</a:t>
            </a:r>
            <a:endParaRPr lang="en-US" sz="1750" dirty="0"/>
          </a:p>
        </p:txBody>
      </p:sp>
      <p:sp>
        <p:nvSpPr>
          <p:cNvPr id="5" name="Shape 3"/>
          <p:cNvSpPr/>
          <p:nvPr/>
        </p:nvSpPr>
        <p:spPr>
          <a:xfrm>
            <a:off x="496119" y="2185839"/>
            <a:ext cx="8151763" cy="2281238"/>
          </a:xfrm>
          <a:prstGeom prst="roundRect">
            <a:avLst>
              <a:gd name="adj" fmla="val 743"/>
            </a:avLst>
          </a:prstGeom>
          <a:noFill/>
          <a:ln w="4763">
            <a:solidFill>
              <a:srgbClr val="000000">
                <a:alpha val="8000"/>
              </a:srgbClr>
            </a:solidFill>
            <a:prstDash val="solid"/>
          </a:ln>
        </p:spPr>
        <p:txBody>
          <a:bodyPr/>
          <a:lstStyle/>
          <a:p>
            <a:endParaRPr lang="en-US"/>
          </a:p>
        </p:txBody>
      </p:sp>
      <p:sp>
        <p:nvSpPr>
          <p:cNvPr id="6" name="Text 4"/>
          <p:cNvSpPr/>
          <p:nvPr/>
        </p:nvSpPr>
        <p:spPr>
          <a:xfrm>
            <a:off x="613990" y="2249314"/>
            <a:ext cx="2264420"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Metric</a:t>
            </a:r>
            <a:endParaRPr lang="en-US" sz="850" dirty="0"/>
          </a:p>
        </p:txBody>
      </p:sp>
      <p:sp>
        <p:nvSpPr>
          <p:cNvPr id="7" name="Text 5"/>
          <p:cNvSpPr/>
          <p:nvPr/>
        </p:nvSpPr>
        <p:spPr>
          <a:xfrm>
            <a:off x="2651894" y="2249314"/>
            <a:ext cx="2262039"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RoBERTa</a:t>
            </a:r>
            <a:endParaRPr lang="en-US" sz="850" dirty="0"/>
          </a:p>
        </p:txBody>
      </p:sp>
      <p:sp>
        <p:nvSpPr>
          <p:cNvPr id="8" name="Text 6"/>
          <p:cNvSpPr/>
          <p:nvPr/>
        </p:nvSpPr>
        <p:spPr>
          <a:xfrm>
            <a:off x="4687416" y="2249314"/>
            <a:ext cx="2262039"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ModernBERT v2</a:t>
            </a:r>
            <a:endParaRPr lang="en-US" sz="850" dirty="0"/>
          </a:p>
        </p:txBody>
      </p:sp>
      <p:sp>
        <p:nvSpPr>
          <p:cNvPr id="9" name="Text 7"/>
          <p:cNvSpPr/>
          <p:nvPr/>
        </p:nvSpPr>
        <p:spPr>
          <a:xfrm>
            <a:off x="6722938" y="2249314"/>
            <a:ext cx="2264420"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Δ</a:t>
            </a:r>
            <a:endParaRPr lang="en-US" sz="850" dirty="0"/>
          </a:p>
        </p:txBody>
      </p:sp>
      <p:sp>
        <p:nvSpPr>
          <p:cNvPr id="10" name="Text 8"/>
          <p:cNvSpPr/>
          <p:nvPr/>
        </p:nvSpPr>
        <p:spPr>
          <a:xfrm>
            <a:off x="613990" y="253387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Macro F1 (overall)</a:t>
            </a:r>
            <a:endParaRPr lang="en-US" sz="850" dirty="0"/>
          </a:p>
        </p:txBody>
      </p:sp>
      <p:sp>
        <p:nvSpPr>
          <p:cNvPr id="11" name="Text 9"/>
          <p:cNvSpPr/>
          <p:nvPr/>
        </p:nvSpPr>
        <p:spPr>
          <a:xfrm>
            <a:off x="2651894" y="253387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0.6272</a:t>
            </a:r>
            <a:endParaRPr lang="en-US" sz="850" dirty="0"/>
          </a:p>
        </p:txBody>
      </p:sp>
      <p:sp>
        <p:nvSpPr>
          <p:cNvPr id="12" name="Text 10"/>
          <p:cNvSpPr/>
          <p:nvPr/>
        </p:nvSpPr>
        <p:spPr>
          <a:xfrm>
            <a:off x="4687416" y="253387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0.7642</a:t>
            </a:r>
            <a:endParaRPr lang="en-US" sz="850" dirty="0"/>
          </a:p>
        </p:txBody>
      </p:sp>
      <p:sp>
        <p:nvSpPr>
          <p:cNvPr id="13" name="Text 11"/>
          <p:cNvSpPr/>
          <p:nvPr/>
        </p:nvSpPr>
        <p:spPr>
          <a:xfrm>
            <a:off x="6722938" y="253387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+0.137 (+22%)</a:t>
            </a:r>
            <a:endParaRPr lang="en-US" sz="850" dirty="0"/>
          </a:p>
        </p:txBody>
      </p:sp>
      <p:sp>
        <p:nvSpPr>
          <p:cNvPr id="14" name="Text 12"/>
          <p:cNvSpPr/>
          <p:nvPr/>
        </p:nvSpPr>
        <p:spPr>
          <a:xfrm>
            <a:off x="613990" y="281843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F1 negative</a:t>
            </a:r>
            <a:endParaRPr lang="en-US" sz="850" dirty="0"/>
          </a:p>
        </p:txBody>
      </p:sp>
      <p:sp>
        <p:nvSpPr>
          <p:cNvPr id="15" name="Text 13"/>
          <p:cNvSpPr/>
          <p:nvPr/>
        </p:nvSpPr>
        <p:spPr>
          <a:xfrm>
            <a:off x="2651894" y="281843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0.7967</a:t>
            </a:r>
            <a:endParaRPr lang="en-US" sz="850" dirty="0"/>
          </a:p>
        </p:txBody>
      </p:sp>
      <p:sp>
        <p:nvSpPr>
          <p:cNvPr id="16" name="Text 14"/>
          <p:cNvSpPr/>
          <p:nvPr/>
        </p:nvSpPr>
        <p:spPr>
          <a:xfrm>
            <a:off x="4687416" y="2818433"/>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0.8779</a:t>
            </a:r>
            <a:endParaRPr lang="en-US" sz="850" dirty="0"/>
          </a:p>
        </p:txBody>
      </p:sp>
      <p:sp>
        <p:nvSpPr>
          <p:cNvPr id="17" name="Text 15"/>
          <p:cNvSpPr/>
          <p:nvPr/>
        </p:nvSpPr>
        <p:spPr>
          <a:xfrm>
            <a:off x="6722938" y="2818433"/>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+0.081</a:t>
            </a:r>
            <a:endParaRPr lang="en-US" sz="850" dirty="0"/>
          </a:p>
        </p:txBody>
      </p:sp>
      <p:sp>
        <p:nvSpPr>
          <p:cNvPr id="18" name="Text 16"/>
          <p:cNvSpPr/>
          <p:nvPr/>
        </p:nvSpPr>
        <p:spPr>
          <a:xfrm>
            <a:off x="613990" y="3102992"/>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F1 neutral</a:t>
            </a:r>
            <a:endParaRPr lang="en-US" sz="850" dirty="0"/>
          </a:p>
        </p:txBody>
      </p:sp>
      <p:sp>
        <p:nvSpPr>
          <p:cNvPr id="19" name="Text 17"/>
          <p:cNvSpPr/>
          <p:nvPr/>
        </p:nvSpPr>
        <p:spPr>
          <a:xfrm>
            <a:off x="2651894" y="3102992"/>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0.6087</a:t>
            </a:r>
            <a:endParaRPr lang="en-US" sz="850" dirty="0"/>
          </a:p>
        </p:txBody>
      </p:sp>
      <p:sp>
        <p:nvSpPr>
          <p:cNvPr id="20" name="Text 18"/>
          <p:cNvSpPr/>
          <p:nvPr/>
        </p:nvSpPr>
        <p:spPr>
          <a:xfrm>
            <a:off x="4687416" y="3102992"/>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0.7480</a:t>
            </a:r>
            <a:endParaRPr lang="en-US" sz="850" dirty="0"/>
          </a:p>
        </p:txBody>
      </p:sp>
      <p:sp>
        <p:nvSpPr>
          <p:cNvPr id="21" name="Text 19"/>
          <p:cNvSpPr/>
          <p:nvPr/>
        </p:nvSpPr>
        <p:spPr>
          <a:xfrm>
            <a:off x="6722938" y="3102992"/>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+0.139</a:t>
            </a:r>
            <a:endParaRPr lang="en-US" sz="850" dirty="0"/>
          </a:p>
        </p:txBody>
      </p:sp>
      <p:sp>
        <p:nvSpPr>
          <p:cNvPr id="22" name="Text 20"/>
          <p:cNvSpPr/>
          <p:nvPr/>
        </p:nvSpPr>
        <p:spPr>
          <a:xfrm>
            <a:off x="613990" y="338755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F1 positive</a:t>
            </a:r>
            <a:endParaRPr lang="en-US" sz="850" dirty="0"/>
          </a:p>
        </p:txBody>
      </p:sp>
      <p:sp>
        <p:nvSpPr>
          <p:cNvPr id="23" name="Text 21"/>
          <p:cNvSpPr/>
          <p:nvPr/>
        </p:nvSpPr>
        <p:spPr>
          <a:xfrm>
            <a:off x="2651894" y="338755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0.4762</a:t>
            </a:r>
            <a:endParaRPr lang="en-US" sz="850" dirty="0"/>
          </a:p>
        </p:txBody>
      </p:sp>
      <p:sp>
        <p:nvSpPr>
          <p:cNvPr id="24" name="Text 22"/>
          <p:cNvSpPr/>
          <p:nvPr/>
        </p:nvSpPr>
        <p:spPr>
          <a:xfrm>
            <a:off x="4687416" y="338755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0.6667</a:t>
            </a:r>
            <a:endParaRPr lang="en-US" sz="850" dirty="0"/>
          </a:p>
        </p:txBody>
      </p:sp>
      <p:sp>
        <p:nvSpPr>
          <p:cNvPr id="25" name="Text 23"/>
          <p:cNvSpPr/>
          <p:nvPr/>
        </p:nvSpPr>
        <p:spPr>
          <a:xfrm>
            <a:off x="6722938" y="338755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+0.190</a:t>
            </a:r>
            <a:endParaRPr lang="en-US" sz="850" dirty="0"/>
          </a:p>
        </p:txBody>
      </p:sp>
      <p:sp>
        <p:nvSpPr>
          <p:cNvPr id="26" name="Text 24"/>
          <p:cNvSpPr/>
          <p:nvPr/>
        </p:nvSpPr>
        <p:spPr>
          <a:xfrm>
            <a:off x="613990" y="367211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Long-post F1 (≥ 512 tok)</a:t>
            </a:r>
            <a:endParaRPr lang="en-US" sz="850" dirty="0"/>
          </a:p>
        </p:txBody>
      </p:sp>
      <p:sp>
        <p:nvSpPr>
          <p:cNvPr id="27" name="Text 25"/>
          <p:cNvSpPr/>
          <p:nvPr/>
        </p:nvSpPr>
        <p:spPr>
          <a:xfrm>
            <a:off x="2651894" y="367211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0.2778</a:t>
            </a:r>
            <a:endParaRPr lang="en-US" sz="850" dirty="0"/>
          </a:p>
        </p:txBody>
      </p:sp>
      <p:sp>
        <p:nvSpPr>
          <p:cNvPr id="28" name="Text 26"/>
          <p:cNvSpPr/>
          <p:nvPr/>
        </p:nvSpPr>
        <p:spPr>
          <a:xfrm>
            <a:off x="4687416" y="3672111"/>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89.879</a:t>
            </a:r>
            <a:endParaRPr lang="en-US" sz="850" dirty="0"/>
          </a:p>
        </p:txBody>
      </p:sp>
      <p:sp>
        <p:nvSpPr>
          <p:cNvPr id="29" name="Text 27"/>
          <p:cNvSpPr/>
          <p:nvPr/>
        </p:nvSpPr>
        <p:spPr>
          <a:xfrm>
            <a:off x="6722938" y="3672111"/>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+0.722</a:t>
            </a:r>
            <a:endParaRPr lang="en-US" sz="850" dirty="0"/>
          </a:p>
        </p:txBody>
      </p:sp>
      <p:sp>
        <p:nvSpPr>
          <p:cNvPr id="30" name="Text 28"/>
          <p:cNvSpPr/>
          <p:nvPr/>
        </p:nvSpPr>
        <p:spPr>
          <a:xfrm>
            <a:off x="613990" y="3956670"/>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Roboto" pitchFamily="34" charset="0"/>
                <a:ea typeface="Roboto" pitchFamily="34" charset="-122"/>
                <a:cs typeface="Roboto" pitchFamily="34" charset="-120"/>
              </a:rPr>
              <a:t>✨</a:t>
            </a:r>
            <a:r>
              <a:rPr lang="en-US" sz="850" dirty="0">
                <a:solidFill>
                  <a:srgbClr val="15213F"/>
                </a:solidFill>
                <a:latin typeface="Roboto" pitchFamily="34" charset="0"/>
                <a:ea typeface="Roboto" pitchFamily="34" charset="-122"/>
                <a:cs typeface="Roboto" pitchFamily="34" charset="-120"/>
              </a:rPr>
              <a:t> Short-post F1 (n = 193)</a:t>
            </a:r>
            <a:endParaRPr lang="en-US" sz="850" dirty="0"/>
          </a:p>
        </p:txBody>
      </p:sp>
      <p:sp>
        <p:nvSpPr>
          <p:cNvPr id="31" name="Text 29"/>
          <p:cNvSpPr/>
          <p:nvPr/>
        </p:nvSpPr>
        <p:spPr>
          <a:xfrm>
            <a:off x="2651894" y="3956670"/>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0.6360</a:t>
            </a:r>
            <a:endParaRPr lang="en-US" sz="850" dirty="0"/>
          </a:p>
        </p:txBody>
      </p:sp>
      <p:sp>
        <p:nvSpPr>
          <p:cNvPr id="32" name="Text 30"/>
          <p:cNvSpPr/>
          <p:nvPr/>
        </p:nvSpPr>
        <p:spPr>
          <a:xfrm>
            <a:off x="4687416" y="3956670"/>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0.7619</a:t>
            </a:r>
            <a:endParaRPr lang="en-US" sz="850" dirty="0"/>
          </a:p>
        </p:txBody>
      </p:sp>
      <p:sp>
        <p:nvSpPr>
          <p:cNvPr id="33" name="Text 31"/>
          <p:cNvSpPr/>
          <p:nvPr/>
        </p:nvSpPr>
        <p:spPr>
          <a:xfrm>
            <a:off x="6722938" y="3956670"/>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+0.126</a:t>
            </a:r>
            <a:endParaRPr lang="en-US" sz="850" dirty="0"/>
          </a:p>
        </p:txBody>
      </p:sp>
      <p:sp>
        <p:nvSpPr>
          <p:cNvPr id="34" name="Text 32"/>
          <p:cNvSpPr/>
          <p:nvPr/>
        </p:nvSpPr>
        <p:spPr>
          <a:xfrm>
            <a:off x="613990" y="4241229"/>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Latency (ms/post, MPS)</a:t>
            </a:r>
            <a:endParaRPr lang="en-US" sz="850" dirty="0"/>
          </a:p>
        </p:txBody>
      </p:sp>
      <p:sp>
        <p:nvSpPr>
          <p:cNvPr id="35" name="Text 33"/>
          <p:cNvSpPr/>
          <p:nvPr/>
        </p:nvSpPr>
        <p:spPr>
          <a:xfrm>
            <a:off x="2651894" y="4241229"/>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6.5</a:t>
            </a:r>
            <a:endParaRPr lang="en-US" sz="850" dirty="0"/>
          </a:p>
        </p:txBody>
      </p:sp>
      <p:sp>
        <p:nvSpPr>
          <p:cNvPr id="36" name="Text 34"/>
          <p:cNvSpPr/>
          <p:nvPr/>
        </p:nvSpPr>
        <p:spPr>
          <a:xfrm>
            <a:off x="4687416" y="4241229"/>
            <a:ext cx="2262039"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11.9</a:t>
            </a:r>
            <a:endParaRPr lang="en-US" sz="850" dirty="0"/>
          </a:p>
        </p:txBody>
      </p:sp>
      <p:sp>
        <p:nvSpPr>
          <p:cNvPr id="37" name="Text 35"/>
          <p:cNvSpPr/>
          <p:nvPr/>
        </p:nvSpPr>
        <p:spPr>
          <a:xfrm>
            <a:off x="6722938" y="4241229"/>
            <a:ext cx="2264420" cy="162371"/>
          </a:xfrm>
          <a:prstGeom prst="rect">
            <a:avLst/>
          </a:prstGeom>
          <a:noFill/>
          <a:ln/>
        </p:spPr>
        <p:txBody>
          <a:bodyPr wrap="none" lIns="0" tIns="0" rIns="0" bIns="0" rtlCol="0" anchor="t"/>
          <a:lstStyle/>
          <a:p>
            <a:pPr marL="0" indent="0" algn="l">
              <a:lnSpc>
                <a:spcPct val="120000"/>
              </a:lnSpc>
              <a:buNone/>
            </a:pPr>
            <a:r>
              <a:rPr lang="en-US" sz="850" dirty="0">
                <a:solidFill>
                  <a:srgbClr val="15213F"/>
                </a:solidFill>
                <a:latin typeface="Roboto" pitchFamily="34" charset="0"/>
                <a:ea typeface="Roboto" pitchFamily="34" charset="-122"/>
                <a:cs typeface="Roboto" pitchFamily="34" charset="-120"/>
              </a:rPr>
              <a:t>+5.4</a:t>
            </a:r>
            <a:endParaRPr lang="en-US" sz="850" dirty="0"/>
          </a:p>
        </p:txBody>
      </p:sp>
      <p:sp>
        <p:nvSpPr>
          <p:cNvPr id="38" name="Text 36"/>
          <p:cNvSpPr/>
          <p:nvPr/>
        </p:nvSpPr>
        <p:spPr>
          <a:xfrm>
            <a:off x="496119" y="4568279"/>
            <a:ext cx="8608963" cy="162371"/>
          </a:xfrm>
          <a:prstGeom prst="rect">
            <a:avLst/>
          </a:prstGeom>
          <a:noFill/>
          <a:ln/>
        </p:spPr>
        <p:txBody>
          <a:bodyPr wrap="none" lIns="0" tIns="0" rIns="0" bIns="0" rtlCol="0" anchor="t"/>
          <a:lstStyle/>
          <a:p>
            <a:pPr marL="0" indent="0" algn="l">
              <a:lnSpc>
                <a:spcPct val="120000"/>
              </a:lnSpc>
              <a:buNone/>
            </a:pPr>
            <a:r>
              <a:rPr lang="en-US" sz="850" b="1" dirty="0">
                <a:solidFill>
                  <a:srgbClr val="15213F"/>
                </a:solidFill>
                <a:latin typeface="Roboto Bold" pitchFamily="34" charset="0"/>
                <a:ea typeface="Roboto Bold" pitchFamily="34" charset="-122"/>
                <a:cs typeface="Roboto Bold" pitchFamily="34" charset="-120"/>
              </a:rPr>
              <a:t>Long-context hypothesis proven:</a:t>
            </a:r>
            <a:r>
              <a:rPr lang="en-US" sz="850" dirty="0">
                <a:solidFill>
                  <a:srgbClr val="15213F"/>
                </a:solidFill>
                <a:latin typeface="Roboto" pitchFamily="34" charset="0"/>
                <a:ea typeface="Roboto" pitchFamily="34" charset="-122"/>
                <a:cs typeface="Roboto" pitchFamily="34" charset="-120"/>
              </a:rPr>
              <a:t> on posts ≥ 512 tokens, ModernBERT scores a perfect </a:t>
            </a:r>
            <a:r>
              <a:rPr lang="en-US" sz="850" b="1" dirty="0">
                <a:solidFill>
                  <a:srgbClr val="15213F"/>
                </a:solidFill>
                <a:latin typeface="Roboto Bold" pitchFamily="34" charset="0"/>
                <a:ea typeface="Roboto Bold" pitchFamily="34" charset="-122"/>
                <a:cs typeface="Roboto Bold" pitchFamily="34" charset="-120"/>
              </a:rPr>
              <a:t>89.879</a:t>
            </a:r>
            <a:r>
              <a:rPr lang="en-US" sz="850" dirty="0">
                <a:solidFill>
                  <a:srgbClr val="15213F"/>
                </a:solidFill>
                <a:latin typeface="Roboto" pitchFamily="34" charset="0"/>
                <a:ea typeface="Roboto" pitchFamily="34" charset="-122"/>
                <a:cs typeface="Roboto" pitchFamily="34" charset="-120"/>
              </a:rPr>
              <a:t> vs RoBERTa's </a:t>
            </a:r>
            <a:r>
              <a:rPr lang="en-US" sz="850" b="1" dirty="0">
                <a:solidFill>
                  <a:srgbClr val="15213F"/>
                </a:solidFill>
                <a:latin typeface="Roboto Bold" pitchFamily="34" charset="0"/>
                <a:ea typeface="Roboto Bold" pitchFamily="34" charset="-122"/>
                <a:cs typeface="Roboto Bold" pitchFamily="34" charset="-120"/>
              </a:rPr>
              <a:t>0.28</a:t>
            </a:r>
            <a:r>
              <a:rPr lang="en-US" sz="850" dirty="0">
                <a:solidFill>
                  <a:srgbClr val="15213F"/>
                </a:solidFill>
                <a:latin typeface="Roboto" pitchFamily="34" charset="0"/>
                <a:ea typeface="Roboto" pitchFamily="34" charset="-122"/>
                <a:cs typeface="Roboto" pitchFamily="34" charset="-120"/>
              </a:rPr>
              <a:t>.</a:t>
            </a:r>
            <a:endParaRPr lang="en-US" sz="850" dirty="0"/>
          </a:p>
        </p:txBody>
      </p:sp>
    </p:spTree>
    <p:extLst>
      <p:ext uri="{BB962C8B-B14F-4D97-AF65-F5344CB8AC3E}">
        <p14:creationId xmlns:p14="http://schemas.microsoft.com/office/powerpoint/2010/main" val="3288999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24309"/>
            <a:ext cx="5252963" cy="373782"/>
          </a:xfrm>
          <a:prstGeom prst="rect">
            <a:avLst/>
          </a:prstGeom>
          <a:noFill/>
          <a:ln/>
        </p:spPr>
        <p:txBody>
          <a:bodyPr wrap="none" lIns="0" tIns="0" rIns="0" bIns="0" rtlCol="0" anchor="t"/>
          <a:lstStyle/>
          <a:p>
            <a:pPr marL="0" indent="0" algn="l">
              <a:lnSpc>
                <a:spcPct val="104000"/>
              </a:lnSpc>
              <a:buNone/>
            </a:pPr>
            <a:r>
              <a:rPr lang="en-US" sz="2350" dirty="0">
                <a:solidFill>
                  <a:srgbClr val="3257B8"/>
                </a:solidFill>
                <a:latin typeface="Roboto Slab" pitchFamily="34" charset="0"/>
                <a:ea typeface="Roboto Slab" pitchFamily="34" charset="-122"/>
                <a:cs typeface="Roboto Slab" pitchFamily="34" charset="-120"/>
              </a:rPr>
              <a:t>ModernBERT · Training Evidence </a:t>
            </a:r>
            <a:endParaRPr lang="en-US" sz="2350" dirty="0"/>
          </a:p>
        </p:txBody>
      </p:sp>
      <p:sp>
        <p:nvSpPr>
          <p:cNvPr id="3" name="Text 1"/>
          <p:cNvSpPr/>
          <p:nvPr/>
        </p:nvSpPr>
        <p:spPr>
          <a:xfrm>
            <a:off x="496119" y="838423"/>
            <a:ext cx="6284342" cy="298996"/>
          </a:xfrm>
          <a:prstGeom prst="rect">
            <a:avLst/>
          </a:prstGeom>
          <a:noFill/>
          <a:ln/>
        </p:spPr>
        <p:txBody>
          <a:bodyPr wrap="none" lIns="0" tIns="0" rIns="0" bIns="0" rtlCol="0" anchor="t"/>
          <a:lstStyle/>
          <a:p>
            <a:pPr marL="0" indent="0" algn="l">
              <a:lnSpc>
                <a:spcPct val="104000"/>
              </a:lnSpc>
              <a:buNone/>
            </a:pPr>
            <a:r>
              <a:rPr lang="en-US" sz="1850" dirty="0">
                <a:solidFill>
                  <a:srgbClr val="3257B8"/>
                </a:solidFill>
                <a:latin typeface="Roboto Slab" pitchFamily="34" charset="0"/>
                <a:ea typeface="Roboto Slab" pitchFamily="34" charset="-122"/>
                <a:cs typeface="Roboto Slab" pitchFamily="34" charset="-120"/>
              </a:rPr>
              <a:t>Why not just use RoBERTa? — Decision matrix after </a:t>
            </a:r>
            <a:endParaRPr lang="en-US" sz="1850" dirty="0"/>
          </a:p>
        </p:txBody>
      </p:sp>
      <p:sp>
        <p:nvSpPr>
          <p:cNvPr id="4" name="Shape 2"/>
          <p:cNvSpPr/>
          <p:nvPr/>
        </p:nvSpPr>
        <p:spPr>
          <a:xfrm>
            <a:off x="496119" y="1288777"/>
            <a:ext cx="8151763" cy="2674293"/>
          </a:xfrm>
          <a:prstGeom prst="roundRect">
            <a:avLst>
              <a:gd name="adj" fmla="val 671"/>
            </a:avLst>
          </a:prstGeom>
          <a:noFill/>
          <a:ln w="4763">
            <a:solidFill>
              <a:srgbClr val="000000">
                <a:alpha val="8000"/>
              </a:srgbClr>
            </a:solidFill>
            <a:prstDash val="solid"/>
          </a:ln>
        </p:spPr>
        <p:txBody>
          <a:bodyPr/>
          <a:lstStyle/>
          <a:p>
            <a:endParaRPr lang="en-US"/>
          </a:p>
        </p:txBody>
      </p:sp>
      <p:sp>
        <p:nvSpPr>
          <p:cNvPr id="5" name="Text 3"/>
          <p:cNvSpPr/>
          <p:nvPr/>
        </p:nvSpPr>
        <p:spPr>
          <a:xfrm>
            <a:off x="620613" y="1358801"/>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Criterion</a:t>
            </a:r>
            <a:endParaRPr lang="en-US" sz="900" dirty="0"/>
          </a:p>
        </p:txBody>
      </p:sp>
      <p:sp>
        <p:nvSpPr>
          <p:cNvPr id="6" name="Text 4"/>
          <p:cNvSpPr/>
          <p:nvPr/>
        </p:nvSpPr>
        <p:spPr>
          <a:xfrm>
            <a:off x="2658517" y="1358801"/>
            <a:ext cx="1791593" cy="352723"/>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RoBERTa (cardiffnlp/twitter-roberta-base)</a:t>
            </a:r>
            <a:endParaRPr lang="en-US" sz="900" dirty="0"/>
          </a:p>
        </p:txBody>
      </p:sp>
      <p:sp>
        <p:nvSpPr>
          <p:cNvPr id="7" name="Text 5"/>
          <p:cNvSpPr/>
          <p:nvPr/>
        </p:nvSpPr>
        <p:spPr>
          <a:xfrm>
            <a:off x="4694039" y="1358801"/>
            <a:ext cx="1791593" cy="352723"/>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ModernBERT (answerdotai/ModernBERT-base)</a:t>
            </a:r>
            <a:endParaRPr lang="en-US" sz="900" dirty="0"/>
          </a:p>
        </p:txBody>
      </p:sp>
      <p:sp>
        <p:nvSpPr>
          <p:cNvPr id="8" name="Text 6"/>
          <p:cNvSpPr/>
          <p:nvPr/>
        </p:nvSpPr>
        <p:spPr>
          <a:xfrm>
            <a:off x="6729561" y="1358801"/>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Winner</a:t>
            </a:r>
            <a:endParaRPr lang="en-US" sz="900" dirty="0"/>
          </a:p>
        </p:txBody>
      </p:sp>
      <p:sp>
        <p:nvSpPr>
          <p:cNvPr id="9" name="Text 7"/>
          <p:cNvSpPr/>
          <p:nvPr/>
        </p:nvSpPr>
        <p:spPr>
          <a:xfrm>
            <a:off x="620613"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Context length</a:t>
            </a:r>
            <a:endParaRPr lang="en-US" sz="900" dirty="0"/>
          </a:p>
        </p:txBody>
      </p:sp>
      <p:sp>
        <p:nvSpPr>
          <p:cNvPr id="10" name="Text 8"/>
          <p:cNvSpPr/>
          <p:nvPr/>
        </p:nvSpPr>
        <p:spPr>
          <a:xfrm>
            <a:off x="2658517" y="1846808"/>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512 tokens</a:t>
            </a:r>
            <a:endParaRPr lang="en-US" sz="900" dirty="0"/>
          </a:p>
        </p:txBody>
      </p:sp>
      <p:sp>
        <p:nvSpPr>
          <p:cNvPr id="11" name="Text 9"/>
          <p:cNvSpPr/>
          <p:nvPr/>
        </p:nvSpPr>
        <p:spPr>
          <a:xfrm>
            <a:off x="4694039" y="1846808"/>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8192 tokens</a:t>
            </a:r>
            <a:r>
              <a:rPr lang="en-US" sz="900" dirty="0">
                <a:solidFill>
                  <a:srgbClr val="15213F"/>
                </a:solidFill>
                <a:latin typeface="Roboto" pitchFamily="34" charset="0"/>
                <a:ea typeface="Roboto" pitchFamily="34" charset="-122"/>
                <a:cs typeface="Roboto" pitchFamily="34" charset="-120"/>
              </a:rPr>
              <a:t> (16×)</a:t>
            </a:r>
            <a:endParaRPr lang="en-US" sz="900" dirty="0"/>
          </a:p>
        </p:txBody>
      </p:sp>
      <p:sp>
        <p:nvSpPr>
          <p:cNvPr id="12" name="Text 10"/>
          <p:cNvSpPr/>
          <p:nvPr/>
        </p:nvSpPr>
        <p:spPr>
          <a:xfrm>
            <a:off x="6729561"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3" name="Text 11"/>
          <p:cNvSpPr/>
          <p:nvPr/>
        </p:nvSpPr>
        <p:spPr>
          <a:xfrm>
            <a:off x="620613"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Training corpus</a:t>
            </a:r>
            <a:endParaRPr lang="en-US" sz="900" dirty="0"/>
          </a:p>
        </p:txBody>
      </p:sp>
      <p:sp>
        <p:nvSpPr>
          <p:cNvPr id="14" name="Text 12"/>
          <p:cNvSpPr/>
          <p:nvPr/>
        </p:nvSpPr>
        <p:spPr>
          <a:xfrm>
            <a:off x="2658517"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Twitter (short, casual)</a:t>
            </a:r>
            <a:endParaRPr lang="en-US" sz="900" dirty="0"/>
          </a:p>
        </p:txBody>
      </p:sp>
      <p:sp>
        <p:nvSpPr>
          <p:cNvPr id="15" name="Text 13"/>
          <p:cNvSpPr/>
          <p:nvPr/>
        </p:nvSpPr>
        <p:spPr>
          <a:xfrm>
            <a:off x="4694039"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Web + code + long docs</a:t>
            </a:r>
            <a:endParaRPr lang="en-US" sz="900" dirty="0"/>
          </a:p>
        </p:txBody>
      </p:sp>
      <p:sp>
        <p:nvSpPr>
          <p:cNvPr id="16" name="Text 14"/>
          <p:cNvSpPr/>
          <p:nvPr/>
        </p:nvSpPr>
        <p:spPr>
          <a:xfrm>
            <a:off x="6729561"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7" name="Text 15"/>
          <p:cNvSpPr/>
          <p:nvPr/>
        </p:nvSpPr>
        <p:spPr>
          <a:xfrm>
            <a:off x="620613" y="2470100"/>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Long-post F1 (≥512 tok)</a:t>
            </a:r>
            <a:endParaRPr lang="en-US" sz="900" dirty="0"/>
          </a:p>
        </p:txBody>
      </p:sp>
      <p:sp>
        <p:nvSpPr>
          <p:cNvPr id="18" name="Text 16"/>
          <p:cNvSpPr/>
          <p:nvPr/>
        </p:nvSpPr>
        <p:spPr>
          <a:xfrm>
            <a:off x="2658517" y="2470100"/>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0.2778</a:t>
            </a:r>
            <a:endParaRPr lang="en-US" sz="900" dirty="0"/>
          </a:p>
        </p:txBody>
      </p:sp>
      <p:sp>
        <p:nvSpPr>
          <p:cNvPr id="19" name="Text 17"/>
          <p:cNvSpPr/>
          <p:nvPr/>
        </p:nvSpPr>
        <p:spPr>
          <a:xfrm>
            <a:off x="4694039" y="2470100"/>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94.332</a:t>
            </a:r>
            <a:endParaRPr lang="en-US" sz="900" dirty="0"/>
          </a:p>
        </p:txBody>
      </p:sp>
      <p:sp>
        <p:nvSpPr>
          <p:cNvPr id="20" name="Text 18"/>
          <p:cNvSpPr/>
          <p:nvPr/>
        </p:nvSpPr>
        <p:spPr>
          <a:xfrm>
            <a:off x="6729561" y="2470100"/>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ModernBERT</a:t>
            </a:r>
            <a:endParaRPr lang="en-US" sz="900" dirty="0"/>
          </a:p>
        </p:txBody>
      </p:sp>
      <p:sp>
        <p:nvSpPr>
          <p:cNvPr id="21" name="Text 19"/>
          <p:cNvSpPr/>
          <p:nvPr/>
        </p:nvSpPr>
        <p:spPr>
          <a:xfrm>
            <a:off x="620613" y="2781746"/>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Overall Macro F1</a:t>
            </a:r>
            <a:endParaRPr lang="en-US" sz="900" dirty="0"/>
          </a:p>
        </p:txBody>
      </p:sp>
      <p:sp>
        <p:nvSpPr>
          <p:cNvPr id="22" name="Text 20"/>
          <p:cNvSpPr/>
          <p:nvPr/>
        </p:nvSpPr>
        <p:spPr>
          <a:xfrm>
            <a:off x="2658517" y="2781746"/>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0.6272</a:t>
            </a:r>
            <a:endParaRPr lang="en-US" sz="900" dirty="0"/>
          </a:p>
        </p:txBody>
      </p:sp>
      <p:sp>
        <p:nvSpPr>
          <p:cNvPr id="23" name="Text 21"/>
          <p:cNvSpPr/>
          <p:nvPr/>
        </p:nvSpPr>
        <p:spPr>
          <a:xfrm>
            <a:off x="4694039" y="2781746"/>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0.7642</a:t>
            </a:r>
            <a:endParaRPr lang="en-US" sz="900" dirty="0"/>
          </a:p>
        </p:txBody>
      </p:sp>
      <p:sp>
        <p:nvSpPr>
          <p:cNvPr id="24" name="Text 22"/>
          <p:cNvSpPr/>
          <p:nvPr/>
        </p:nvSpPr>
        <p:spPr>
          <a:xfrm>
            <a:off x="6729561" y="2781746"/>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25" name="Text 23"/>
          <p:cNvSpPr/>
          <p:nvPr/>
        </p:nvSpPr>
        <p:spPr>
          <a:xfrm>
            <a:off x="620613" y="3093393"/>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Latency (MPS)</a:t>
            </a:r>
            <a:endParaRPr lang="en-US" sz="900" dirty="0"/>
          </a:p>
        </p:txBody>
      </p:sp>
      <p:sp>
        <p:nvSpPr>
          <p:cNvPr id="26" name="Text 24"/>
          <p:cNvSpPr/>
          <p:nvPr/>
        </p:nvSpPr>
        <p:spPr>
          <a:xfrm>
            <a:off x="2658517" y="3093393"/>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6.5 ms</a:t>
            </a:r>
            <a:endParaRPr lang="en-US" sz="900" dirty="0"/>
          </a:p>
        </p:txBody>
      </p:sp>
      <p:sp>
        <p:nvSpPr>
          <p:cNvPr id="27" name="Text 25"/>
          <p:cNvSpPr/>
          <p:nvPr/>
        </p:nvSpPr>
        <p:spPr>
          <a:xfrm>
            <a:off x="4694039" y="3093393"/>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11.9 ms</a:t>
            </a:r>
            <a:endParaRPr lang="en-US" sz="900" dirty="0"/>
          </a:p>
        </p:txBody>
      </p:sp>
      <p:sp>
        <p:nvSpPr>
          <p:cNvPr id="28" name="Text 26"/>
          <p:cNvSpPr/>
          <p:nvPr/>
        </p:nvSpPr>
        <p:spPr>
          <a:xfrm>
            <a:off x="6729561" y="3093393"/>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RoBERTa</a:t>
            </a:r>
            <a:endParaRPr lang="en-US" sz="900" dirty="0"/>
          </a:p>
        </p:txBody>
      </p:sp>
      <p:sp>
        <p:nvSpPr>
          <p:cNvPr id="29" name="Text 27"/>
          <p:cNvSpPr/>
          <p:nvPr/>
        </p:nvSpPr>
        <p:spPr>
          <a:xfrm>
            <a:off x="620613" y="3405039"/>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Off-the-shelf quality</a:t>
            </a:r>
            <a:endParaRPr lang="en-US" sz="900" dirty="0"/>
          </a:p>
        </p:txBody>
      </p:sp>
      <p:sp>
        <p:nvSpPr>
          <p:cNvPr id="30" name="Text 28"/>
          <p:cNvSpPr/>
          <p:nvPr/>
        </p:nvSpPr>
        <p:spPr>
          <a:xfrm>
            <a:off x="2658517" y="3405039"/>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Strong baseline</a:t>
            </a:r>
            <a:endParaRPr lang="en-US" sz="900" dirty="0"/>
          </a:p>
        </p:txBody>
      </p:sp>
      <p:sp>
        <p:nvSpPr>
          <p:cNvPr id="31" name="Text 29"/>
          <p:cNvSpPr/>
          <p:nvPr/>
        </p:nvSpPr>
        <p:spPr>
          <a:xfrm>
            <a:off x="4694039" y="3405039"/>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Weak without fine-tuning</a:t>
            </a:r>
            <a:endParaRPr lang="en-US" sz="900" dirty="0"/>
          </a:p>
        </p:txBody>
      </p:sp>
      <p:sp>
        <p:nvSpPr>
          <p:cNvPr id="32" name="Text 30"/>
          <p:cNvSpPr/>
          <p:nvPr/>
        </p:nvSpPr>
        <p:spPr>
          <a:xfrm>
            <a:off x="6729561" y="3405039"/>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RoBERTa</a:t>
            </a:r>
            <a:endParaRPr lang="en-US" sz="900" dirty="0"/>
          </a:p>
        </p:txBody>
      </p:sp>
      <p:sp>
        <p:nvSpPr>
          <p:cNvPr id="33" name="Text 31"/>
          <p:cNvSpPr/>
          <p:nvPr/>
        </p:nvSpPr>
        <p:spPr>
          <a:xfrm>
            <a:off x="620613" y="3716685"/>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Fine-tuning cost</a:t>
            </a:r>
            <a:endParaRPr lang="en-US" sz="900" dirty="0"/>
          </a:p>
        </p:txBody>
      </p:sp>
      <p:sp>
        <p:nvSpPr>
          <p:cNvPr id="34" name="Text 32"/>
          <p:cNvSpPr/>
          <p:nvPr/>
        </p:nvSpPr>
        <p:spPr>
          <a:xfrm>
            <a:off x="2658517" y="3716685"/>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Same</a:t>
            </a:r>
            <a:endParaRPr lang="en-US" sz="900" dirty="0"/>
          </a:p>
        </p:txBody>
      </p:sp>
      <p:sp>
        <p:nvSpPr>
          <p:cNvPr id="35" name="Text 33"/>
          <p:cNvSpPr/>
          <p:nvPr/>
        </p:nvSpPr>
        <p:spPr>
          <a:xfrm>
            <a:off x="4694039" y="3716685"/>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Same</a:t>
            </a:r>
            <a:endParaRPr lang="en-US" sz="900" dirty="0"/>
          </a:p>
        </p:txBody>
      </p:sp>
      <p:sp>
        <p:nvSpPr>
          <p:cNvPr id="36" name="Text 34"/>
          <p:cNvSpPr/>
          <p:nvPr/>
        </p:nvSpPr>
        <p:spPr>
          <a:xfrm>
            <a:off x="6729561" y="3716685"/>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Tie</a:t>
            </a:r>
            <a:endParaRPr lang="en-US" sz="900" dirty="0"/>
          </a:p>
        </p:txBody>
      </p:sp>
      <p:sp>
        <p:nvSpPr>
          <p:cNvPr id="37" name="Text 35"/>
          <p:cNvSpPr/>
          <p:nvPr/>
        </p:nvSpPr>
        <p:spPr>
          <a:xfrm>
            <a:off x="496119" y="4076551"/>
            <a:ext cx="8151763" cy="352723"/>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Decision:</a:t>
            </a:r>
            <a:r>
              <a:rPr lang="en-US" sz="900" dirty="0">
                <a:solidFill>
                  <a:srgbClr val="15213F"/>
                </a:solidFill>
                <a:latin typeface="Roboto" pitchFamily="34" charset="0"/>
                <a:ea typeface="Roboto" pitchFamily="34" charset="-122"/>
                <a:cs typeface="Roboto" pitchFamily="34" charset="-120"/>
              </a:rPr>
              <a:t> ModernBERT wins on the metrics that matter (accuracy + long-context). We accept +5 ms latency for +0.137 macro F1. RoBERTa is retained as fallback in config/models.yaml if the local checkpoint is missing.</a:t>
            </a:r>
            <a:endParaRPr lang="en-US" sz="900" dirty="0"/>
          </a:p>
        </p:txBody>
      </p:sp>
      <p:sp>
        <p:nvSpPr>
          <p:cNvPr id="38" name="Text 36"/>
          <p:cNvSpPr/>
          <p:nvPr/>
        </p:nvSpPr>
        <p:spPr>
          <a:xfrm>
            <a:off x="496119" y="4542755"/>
            <a:ext cx="8608963" cy="176361"/>
          </a:xfrm>
          <a:prstGeom prst="rect">
            <a:avLst/>
          </a:prstGeom>
          <a:noFill/>
          <a:ln/>
        </p:spPr>
        <p:txBody>
          <a:bodyPr wrap="none" lIns="0" tIns="0" rIns="0" bIns="0" rtlCol="0" anchor="t"/>
          <a:lstStyle/>
          <a:p>
            <a:pPr marL="182880" indent="-182880" algn="l">
              <a:lnSpc>
                <a:spcPct val="123000"/>
              </a:lnSpc>
              <a:buSzPct val="100000"/>
              <a:buChar char="•"/>
            </a:pPr>
            <a:r>
              <a:rPr lang="en-US" sz="900" dirty="0">
                <a:solidFill>
                  <a:srgbClr val="15213F"/>
                </a:solidFill>
                <a:latin typeface="Roboto" pitchFamily="34" charset="0"/>
                <a:ea typeface="Roboto" pitchFamily="34" charset="-122"/>
                <a:cs typeface="Roboto" pitchFamily="34" charset="-120"/>
              </a:rPr>
              <a:t>Smoke test at integration time: </a:t>
            </a:r>
            <a:r>
              <a:rPr lang="en-US" sz="900" b="1" dirty="0">
                <a:solidFill>
                  <a:srgbClr val="15213F"/>
                </a:solidFill>
                <a:latin typeface="Roboto Bold" pitchFamily="34" charset="0"/>
                <a:ea typeface="Roboto Bold" pitchFamily="34" charset="-122"/>
                <a:cs typeface="Roboto Bold" pitchFamily="34" charset="-120"/>
              </a:rPr>
              <a:t>5/5 correct</a:t>
            </a:r>
            <a:r>
              <a:rPr lang="en-US" sz="900" dirty="0">
                <a:solidFill>
                  <a:srgbClr val="15213F"/>
                </a:solidFill>
                <a:latin typeface="Roboto" pitchFamily="34" charset="0"/>
                <a:ea typeface="Roboto" pitchFamily="34" charset="-122"/>
                <a:cs typeface="Roboto" pitchFamily="34" charset="-120"/>
              </a:rPr>
              <a:t> on first 5 real benchmark posts (model_used = models/modernbert_walmart/final)</a:t>
            </a:r>
            <a:endParaRPr lang="en-US" sz="900" dirty="0"/>
          </a:p>
        </p:txBody>
      </p:sp>
    </p:spTree>
    <p:extLst>
      <p:ext uri="{BB962C8B-B14F-4D97-AF65-F5344CB8AC3E}">
        <p14:creationId xmlns:p14="http://schemas.microsoft.com/office/powerpoint/2010/main" val="2151925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4E436-1A36-84C5-C596-EAEE656F47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005C95-4E8C-1142-A0DD-761814220967}"/>
              </a:ext>
            </a:extLst>
          </p:cNvPr>
          <p:cNvSpPr/>
          <p:nvPr/>
        </p:nvSpPr>
        <p:spPr>
          <a:xfrm>
            <a:off x="496119" y="424309"/>
            <a:ext cx="5252963" cy="373782"/>
          </a:xfrm>
          <a:prstGeom prst="rect">
            <a:avLst/>
          </a:prstGeom>
          <a:noFill/>
          <a:ln/>
        </p:spPr>
        <p:txBody>
          <a:bodyPr wrap="none" lIns="0" tIns="0" rIns="0" bIns="0" rtlCol="0" anchor="t"/>
          <a:lstStyle/>
          <a:p>
            <a:pPr marL="0" indent="0" algn="l">
              <a:lnSpc>
                <a:spcPct val="104000"/>
              </a:lnSpc>
              <a:buNone/>
            </a:pPr>
            <a:r>
              <a:rPr lang="en-US" sz="2350" dirty="0">
                <a:solidFill>
                  <a:srgbClr val="3257B8"/>
                </a:solidFill>
                <a:latin typeface="Roboto Slab" pitchFamily="34" charset="0"/>
                <a:ea typeface="Roboto Slab" pitchFamily="34" charset="-122"/>
                <a:cs typeface="Roboto Slab" pitchFamily="34" charset="-120"/>
              </a:rPr>
              <a:t>Papers</a:t>
            </a:r>
            <a:endParaRPr lang="en-US" sz="2350" dirty="0"/>
          </a:p>
        </p:txBody>
      </p:sp>
      <p:sp>
        <p:nvSpPr>
          <p:cNvPr id="9" name="Text 7">
            <a:extLst>
              <a:ext uri="{FF2B5EF4-FFF2-40B4-BE49-F238E27FC236}">
                <a16:creationId xmlns:a16="http://schemas.microsoft.com/office/drawing/2014/main" id="{259ECDFE-53C1-4ABB-DD6E-BA4593C7BFC0}"/>
              </a:ext>
            </a:extLst>
          </p:cNvPr>
          <p:cNvSpPr/>
          <p:nvPr/>
        </p:nvSpPr>
        <p:spPr>
          <a:xfrm>
            <a:off x="620613"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Context length</a:t>
            </a:r>
            <a:endParaRPr lang="en-US" sz="900" dirty="0"/>
          </a:p>
        </p:txBody>
      </p:sp>
      <p:sp>
        <p:nvSpPr>
          <p:cNvPr id="10" name="Text 8">
            <a:extLst>
              <a:ext uri="{FF2B5EF4-FFF2-40B4-BE49-F238E27FC236}">
                <a16:creationId xmlns:a16="http://schemas.microsoft.com/office/drawing/2014/main" id="{CD40711E-FAEE-87F3-3F49-1A7192BE4728}"/>
              </a:ext>
            </a:extLst>
          </p:cNvPr>
          <p:cNvSpPr/>
          <p:nvPr/>
        </p:nvSpPr>
        <p:spPr>
          <a:xfrm>
            <a:off x="2658517" y="1846808"/>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512 tokens</a:t>
            </a:r>
            <a:endParaRPr lang="en-US" sz="900" dirty="0"/>
          </a:p>
        </p:txBody>
      </p:sp>
      <p:sp>
        <p:nvSpPr>
          <p:cNvPr id="11" name="Text 9">
            <a:extLst>
              <a:ext uri="{FF2B5EF4-FFF2-40B4-BE49-F238E27FC236}">
                <a16:creationId xmlns:a16="http://schemas.microsoft.com/office/drawing/2014/main" id="{4B07ACDE-7ED2-2430-3FD3-DFCC16A9F6F6}"/>
              </a:ext>
            </a:extLst>
          </p:cNvPr>
          <p:cNvSpPr/>
          <p:nvPr/>
        </p:nvSpPr>
        <p:spPr>
          <a:xfrm>
            <a:off x="4694039" y="1846808"/>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8192 tokens</a:t>
            </a:r>
            <a:r>
              <a:rPr lang="en-US" sz="900" dirty="0">
                <a:solidFill>
                  <a:srgbClr val="15213F"/>
                </a:solidFill>
                <a:latin typeface="Roboto" pitchFamily="34" charset="0"/>
                <a:ea typeface="Roboto" pitchFamily="34" charset="-122"/>
                <a:cs typeface="Roboto" pitchFamily="34" charset="-120"/>
              </a:rPr>
              <a:t> (16×)</a:t>
            </a:r>
            <a:endParaRPr lang="en-US" sz="900" dirty="0"/>
          </a:p>
        </p:txBody>
      </p:sp>
      <p:sp>
        <p:nvSpPr>
          <p:cNvPr id="12" name="Text 10">
            <a:extLst>
              <a:ext uri="{FF2B5EF4-FFF2-40B4-BE49-F238E27FC236}">
                <a16:creationId xmlns:a16="http://schemas.microsoft.com/office/drawing/2014/main" id="{7342ACD8-BD1C-1ED6-2341-8A6DCB31193A}"/>
              </a:ext>
            </a:extLst>
          </p:cNvPr>
          <p:cNvSpPr/>
          <p:nvPr/>
        </p:nvSpPr>
        <p:spPr>
          <a:xfrm>
            <a:off x="6729561" y="1846808"/>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3" name="Text 11">
            <a:extLst>
              <a:ext uri="{FF2B5EF4-FFF2-40B4-BE49-F238E27FC236}">
                <a16:creationId xmlns:a16="http://schemas.microsoft.com/office/drawing/2014/main" id="{E5D92B40-0EA6-C7E0-DC6D-F703473CFB2A}"/>
              </a:ext>
            </a:extLst>
          </p:cNvPr>
          <p:cNvSpPr/>
          <p:nvPr/>
        </p:nvSpPr>
        <p:spPr>
          <a:xfrm>
            <a:off x="620613"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Training corpus</a:t>
            </a:r>
            <a:endParaRPr lang="en-US" sz="900" dirty="0"/>
          </a:p>
        </p:txBody>
      </p:sp>
      <p:sp>
        <p:nvSpPr>
          <p:cNvPr id="14" name="Text 12">
            <a:extLst>
              <a:ext uri="{FF2B5EF4-FFF2-40B4-BE49-F238E27FC236}">
                <a16:creationId xmlns:a16="http://schemas.microsoft.com/office/drawing/2014/main" id="{61502CF7-53ED-F86B-B458-1BB9789F743A}"/>
              </a:ext>
            </a:extLst>
          </p:cNvPr>
          <p:cNvSpPr/>
          <p:nvPr/>
        </p:nvSpPr>
        <p:spPr>
          <a:xfrm>
            <a:off x="2658517"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Twitter (short, casual)</a:t>
            </a:r>
            <a:endParaRPr lang="en-US" sz="900" dirty="0"/>
          </a:p>
        </p:txBody>
      </p:sp>
      <p:sp>
        <p:nvSpPr>
          <p:cNvPr id="15" name="Text 13">
            <a:extLst>
              <a:ext uri="{FF2B5EF4-FFF2-40B4-BE49-F238E27FC236}">
                <a16:creationId xmlns:a16="http://schemas.microsoft.com/office/drawing/2014/main" id="{D538BCB0-CE50-4127-0E02-63946C4C3B49}"/>
              </a:ext>
            </a:extLst>
          </p:cNvPr>
          <p:cNvSpPr/>
          <p:nvPr/>
        </p:nvSpPr>
        <p:spPr>
          <a:xfrm>
            <a:off x="4694039" y="2158454"/>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Web + code + long docs</a:t>
            </a:r>
            <a:endParaRPr lang="en-US" sz="900" dirty="0"/>
          </a:p>
        </p:txBody>
      </p:sp>
      <p:sp>
        <p:nvSpPr>
          <p:cNvPr id="16" name="Text 14">
            <a:extLst>
              <a:ext uri="{FF2B5EF4-FFF2-40B4-BE49-F238E27FC236}">
                <a16:creationId xmlns:a16="http://schemas.microsoft.com/office/drawing/2014/main" id="{8BEB4B81-DED1-D645-8311-89043DC1B134}"/>
              </a:ext>
            </a:extLst>
          </p:cNvPr>
          <p:cNvSpPr/>
          <p:nvPr/>
        </p:nvSpPr>
        <p:spPr>
          <a:xfrm>
            <a:off x="6729561" y="2158454"/>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ModernBERT</a:t>
            </a:r>
            <a:endParaRPr lang="en-US" sz="900" dirty="0"/>
          </a:p>
        </p:txBody>
      </p:sp>
      <p:sp>
        <p:nvSpPr>
          <p:cNvPr id="17" name="Text 15">
            <a:extLst>
              <a:ext uri="{FF2B5EF4-FFF2-40B4-BE49-F238E27FC236}">
                <a16:creationId xmlns:a16="http://schemas.microsoft.com/office/drawing/2014/main" id="{518BE5A6-9F6A-F822-2F42-84C804320B35}"/>
              </a:ext>
            </a:extLst>
          </p:cNvPr>
          <p:cNvSpPr/>
          <p:nvPr/>
        </p:nvSpPr>
        <p:spPr>
          <a:xfrm>
            <a:off x="620613" y="2470100"/>
            <a:ext cx="2251174"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Long-post F1 (≥512 tok)</a:t>
            </a:r>
            <a:endParaRPr lang="en-US" sz="900" dirty="0"/>
          </a:p>
        </p:txBody>
      </p:sp>
      <p:sp>
        <p:nvSpPr>
          <p:cNvPr id="18" name="Text 16">
            <a:extLst>
              <a:ext uri="{FF2B5EF4-FFF2-40B4-BE49-F238E27FC236}">
                <a16:creationId xmlns:a16="http://schemas.microsoft.com/office/drawing/2014/main" id="{E7A13444-53A8-7645-BAE5-3A3DCFF2583F}"/>
              </a:ext>
            </a:extLst>
          </p:cNvPr>
          <p:cNvSpPr/>
          <p:nvPr/>
        </p:nvSpPr>
        <p:spPr>
          <a:xfrm>
            <a:off x="2658517" y="2470100"/>
            <a:ext cx="2248793" cy="176361"/>
          </a:xfrm>
          <a:prstGeom prst="rect">
            <a:avLst/>
          </a:prstGeom>
          <a:noFill/>
          <a:ln/>
        </p:spPr>
        <p:txBody>
          <a:bodyPr wrap="none" lIns="0" tIns="0" rIns="0" bIns="0" rtlCol="0" anchor="t"/>
          <a:lstStyle/>
          <a:p>
            <a:pPr marL="0" indent="0" algn="l">
              <a:lnSpc>
                <a:spcPct val="123000"/>
              </a:lnSpc>
              <a:buNone/>
            </a:pPr>
            <a:r>
              <a:rPr lang="en-US" sz="900" dirty="0">
                <a:solidFill>
                  <a:srgbClr val="15213F"/>
                </a:solidFill>
                <a:latin typeface="Roboto" pitchFamily="34" charset="0"/>
                <a:ea typeface="Roboto" pitchFamily="34" charset="-122"/>
                <a:cs typeface="Roboto" pitchFamily="34" charset="-120"/>
              </a:rPr>
              <a:t>0.2778</a:t>
            </a:r>
            <a:endParaRPr lang="en-US" sz="900" dirty="0"/>
          </a:p>
        </p:txBody>
      </p:sp>
      <p:sp>
        <p:nvSpPr>
          <p:cNvPr id="19" name="Text 17">
            <a:extLst>
              <a:ext uri="{FF2B5EF4-FFF2-40B4-BE49-F238E27FC236}">
                <a16:creationId xmlns:a16="http://schemas.microsoft.com/office/drawing/2014/main" id="{9796F394-51FB-D8C0-A13B-0F8BE2F6CBD4}"/>
              </a:ext>
            </a:extLst>
          </p:cNvPr>
          <p:cNvSpPr/>
          <p:nvPr/>
        </p:nvSpPr>
        <p:spPr>
          <a:xfrm>
            <a:off x="4694039" y="2470100"/>
            <a:ext cx="2248793"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94.332</a:t>
            </a:r>
            <a:endParaRPr lang="en-US" sz="900" dirty="0"/>
          </a:p>
        </p:txBody>
      </p:sp>
      <p:sp>
        <p:nvSpPr>
          <p:cNvPr id="20" name="Text 18">
            <a:extLst>
              <a:ext uri="{FF2B5EF4-FFF2-40B4-BE49-F238E27FC236}">
                <a16:creationId xmlns:a16="http://schemas.microsoft.com/office/drawing/2014/main" id="{43038172-6866-9FFA-9F54-96AAE09675DD}"/>
              </a:ext>
            </a:extLst>
          </p:cNvPr>
          <p:cNvSpPr/>
          <p:nvPr/>
        </p:nvSpPr>
        <p:spPr>
          <a:xfrm>
            <a:off x="6729561" y="2470100"/>
            <a:ext cx="2251174" cy="176361"/>
          </a:xfrm>
          <a:prstGeom prst="rect">
            <a:avLst/>
          </a:prstGeom>
          <a:noFill/>
          <a:ln/>
        </p:spPr>
        <p:txBody>
          <a:bodyPr wrap="none" lIns="0" tIns="0" rIns="0" bIns="0" rtlCol="0" anchor="t"/>
          <a:lstStyle/>
          <a:p>
            <a:pPr marL="0" indent="0" algn="l">
              <a:lnSpc>
                <a:spcPct val="123000"/>
              </a:lnSpc>
              <a:buNone/>
            </a:pPr>
            <a:r>
              <a:rPr lang="en-US" sz="900" b="1" dirty="0">
                <a:solidFill>
                  <a:srgbClr val="15213F"/>
                </a:solidFill>
                <a:latin typeface="Roboto Bold" pitchFamily="34" charset="0"/>
                <a:ea typeface="Roboto Bold" pitchFamily="34" charset="-122"/>
                <a:cs typeface="Roboto Bold" pitchFamily="34" charset="-120"/>
              </a:rPr>
              <a:t>ModernBERT</a:t>
            </a:r>
            <a:endParaRPr lang="en-US" sz="900" dirty="0"/>
          </a:p>
        </p:txBody>
      </p:sp>
      <p:graphicFrame>
        <p:nvGraphicFramePr>
          <p:cNvPr id="39" name="Table 38">
            <a:extLst>
              <a:ext uri="{FF2B5EF4-FFF2-40B4-BE49-F238E27FC236}">
                <a16:creationId xmlns:a16="http://schemas.microsoft.com/office/drawing/2014/main" id="{665F8CAE-D67C-CCC8-8C28-75A0CCB5B3EA}"/>
              </a:ext>
            </a:extLst>
          </p:cNvPr>
          <p:cNvGraphicFramePr>
            <a:graphicFrameLocks noGrp="1"/>
          </p:cNvGraphicFramePr>
          <p:nvPr>
            <p:extLst>
              <p:ext uri="{D42A27DB-BD31-4B8C-83A1-F6EECF244321}">
                <p14:modId xmlns:p14="http://schemas.microsoft.com/office/powerpoint/2010/main" val="3087975757"/>
              </p:ext>
            </p:extLst>
          </p:nvPr>
        </p:nvGraphicFramePr>
        <p:xfrm>
          <a:off x="496118" y="810839"/>
          <a:ext cx="7886700" cy="1943100"/>
        </p:xfrm>
        <a:graphic>
          <a:graphicData uri="http://schemas.openxmlformats.org/drawingml/2006/table">
            <a:tbl>
              <a:tblPr/>
              <a:tblGrid>
                <a:gridCol w="1233291">
                  <a:extLst>
                    <a:ext uri="{9D8B030D-6E8A-4147-A177-3AD203B41FA5}">
                      <a16:colId xmlns:a16="http://schemas.microsoft.com/office/drawing/2014/main" val="128016875"/>
                    </a:ext>
                  </a:extLst>
                </a:gridCol>
                <a:gridCol w="2710059">
                  <a:extLst>
                    <a:ext uri="{9D8B030D-6E8A-4147-A177-3AD203B41FA5}">
                      <a16:colId xmlns:a16="http://schemas.microsoft.com/office/drawing/2014/main" val="967456631"/>
                    </a:ext>
                  </a:extLst>
                </a:gridCol>
                <a:gridCol w="1971675">
                  <a:extLst>
                    <a:ext uri="{9D8B030D-6E8A-4147-A177-3AD203B41FA5}">
                      <a16:colId xmlns:a16="http://schemas.microsoft.com/office/drawing/2014/main" val="2824665814"/>
                    </a:ext>
                  </a:extLst>
                </a:gridCol>
                <a:gridCol w="1971675">
                  <a:extLst>
                    <a:ext uri="{9D8B030D-6E8A-4147-A177-3AD203B41FA5}">
                      <a16:colId xmlns:a16="http://schemas.microsoft.com/office/drawing/2014/main" val="1319281001"/>
                    </a:ext>
                  </a:extLst>
                </a:gridCol>
              </a:tblGrid>
              <a:tr h="0">
                <a:tc>
                  <a:txBody>
                    <a:bodyPr/>
                    <a:lstStyle/>
                    <a:p>
                      <a:pPr algn="l">
                        <a:buNone/>
                      </a:pPr>
                      <a:r>
                        <a:rPr lang="en-US" sz="975" b="0" i="0" dirty="0">
                          <a:solidFill>
                            <a:srgbClr val="DFE1E5"/>
                          </a:solidFill>
                          <a:effectLst/>
                          <a:latin typeface="-apple-system"/>
                        </a:rPr>
                        <a:t>#</a:t>
                      </a:r>
                    </a:p>
                  </a:txBody>
                  <a:tcPr marL="57150" marR="57150" marT="38100" marB="38100" anchor="ctr">
                    <a:lnL>
                      <a:noFill/>
                    </a:lnL>
                    <a:lnR w="7934" cap="flat" cmpd="sng" algn="ctr">
                      <a:solidFill>
                        <a:srgbClr val="206BB7"/>
                      </a:solidFill>
                      <a:prstDash val="solid"/>
                      <a:round/>
                      <a:headEnd type="none" w="med" len="med"/>
                      <a:tailEnd type="none" w="med" len="med"/>
                    </a:lnR>
                    <a:lnT>
                      <a:noFill/>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dirty="0">
                          <a:solidFill>
                            <a:srgbClr val="DFE1E5"/>
                          </a:solidFill>
                          <a:effectLst/>
                          <a:latin typeface="-apple-system"/>
                        </a:rPr>
                        <a:t>Paper</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a:noFill/>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Authors / Year</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a:noFill/>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arXiv link</a:t>
                      </a:r>
                    </a:p>
                  </a:txBody>
                  <a:tcPr marL="57150" marR="57150" marT="38100" marB="38100" anchor="ctr">
                    <a:lnL w="7934" cap="flat" cmpd="sng" algn="ctr">
                      <a:solidFill>
                        <a:srgbClr val="206BB7"/>
                      </a:solidFill>
                      <a:prstDash val="solid"/>
                      <a:round/>
                      <a:headEnd type="none" w="med" len="med"/>
                      <a:tailEnd type="none" w="med" len="med"/>
                    </a:lnL>
                    <a:lnR>
                      <a:noFill/>
                    </a:lnR>
                    <a:lnT>
                      <a:noFill/>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2002317783"/>
                  </a:ext>
                </a:extLst>
              </a:tr>
              <a:tr h="0">
                <a:tc>
                  <a:txBody>
                    <a:bodyPr/>
                    <a:lstStyle/>
                    <a:p>
                      <a:pPr algn="l">
                        <a:buNone/>
                      </a:pPr>
                      <a:r>
                        <a:rPr lang="en-US" sz="975" b="0" i="0">
                          <a:solidFill>
                            <a:srgbClr val="DFE1E5"/>
                          </a:solidFill>
                          <a:effectLst/>
                          <a:latin typeface="-apple-system"/>
                        </a:rPr>
                        <a:t>1</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UReader</a:t>
                      </a:r>
                      <a:r>
                        <a:rPr lang="en-US" sz="975" b="0" i="0">
                          <a:solidFill>
                            <a:srgbClr val="DFE1E5"/>
                          </a:solidFill>
                          <a:effectLst/>
                          <a:latin typeface="-apple-system"/>
                        </a:rPr>
                        <a:t> — Universal OCR-free Visually-situated Language Understanding</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Ye et al. (Tencent), 2023</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https://arxiv.org/abs/2310.05126</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406747191"/>
                  </a:ext>
                </a:extLst>
              </a:tr>
              <a:tr h="0">
                <a:tc>
                  <a:txBody>
                    <a:bodyPr/>
                    <a:lstStyle/>
                    <a:p>
                      <a:pPr algn="l">
                        <a:buNone/>
                      </a:pPr>
                      <a:r>
                        <a:rPr lang="en-US" sz="975" b="0" i="0">
                          <a:solidFill>
                            <a:srgbClr val="DFE1E5"/>
                          </a:solidFill>
                          <a:effectLst/>
                          <a:latin typeface="-apple-system"/>
                        </a:rPr>
                        <a:t>2</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TextMonkey</a:t>
                      </a:r>
                      <a:r>
                        <a:rPr lang="en-US" sz="975" b="0" i="0">
                          <a:solidFill>
                            <a:srgbClr val="DFE1E5"/>
                          </a:solidFill>
                          <a:effectLst/>
                          <a:latin typeface="-apple-system"/>
                        </a:rPr>
                        <a:t> — An OCR-Free Large Multimodal Model for Understanding Document</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Liu et al. (USTC), 2024</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https://arxiv.org/abs/2403.04473</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3308418332"/>
                  </a:ext>
                </a:extLst>
              </a:tr>
              <a:tr h="0">
                <a:tc>
                  <a:txBody>
                    <a:bodyPr/>
                    <a:lstStyle/>
                    <a:p>
                      <a:pPr algn="l">
                        <a:buNone/>
                      </a:pPr>
                      <a:r>
                        <a:rPr lang="en-US" sz="975" b="0" i="0">
                          <a:solidFill>
                            <a:srgbClr val="DFE1E5"/>
                          </a:solidFill>
                          <a:effectLst/>
                          <a:latin typeface="-apple-system"/>
                        </a:rPr>
                        <a:t>3</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DocOwl 1.5</a:t>
                      </a:r>
                      <a:r>
                        <a:rPr lang="en-US" sz="975" b="0" i="0">
                          <a:solidFill>
                            <a:srgbClr val="DFE1E5"/>
                          </a:solidFill>
                          <a:effectLst/>
                          <a:latin typeface="-apple-system"/>
                        </a:rPr>
                        <a:t> — Unified Structure Learning for OCR-free Document Understanding</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Hu et al. (Alibaba DAMO), 2024</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https://arxiv.org/abs/2403.12895</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840406542"/>
                  </a:ext>
                </a:extLst>
              </a:tr>
              <a:tr h="0">
                <a:tc>
                  <a:txBody>
                    <a:bodyPr/>
                    <a:lstStyle/>
                    <a:p>
                      <a:pPr algn="l">
                        <a:buNone/>
                      </a:pPr>
                      <a:r>
                        <a:rPr lang="en-US" sz="975" b="0" i="0">
                          <a:solidFill>
                            <a:srgbClr val="DFE1E5"/>
                          </a:solidFill>
                          <a:effectLst/>
                          <a:latin typeface="-apple-system"/>
                        </a:rPr>
                        <a:t>4</a:t>
                      </a:r>
                    </a:p>
                  </a:txBody>
                  <a:tcPr marL="57150" marR="57150" marT="38100" marB="38100" anchor="ctr">
                    <a:lnL>
                      <a:noFill/>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1" i="0">
                          <a:solidFill>
                            <a:srgbClr val="DFE1E5"/>
                          </a:solidFill>
                          <a:effectLst/>
                          <a:latin typeface="-apple-system"/>
                        </a:rPr>
                        <a:t>InternVL2</a:t>
                      </a:r>
                      <a:r>
                        <a:rPr lang="en-US" sz="975" b="0" i="0">
                          <a:solidFill>
                            <a:srgbClr val="DFE1E5"/>
                          </a:solidFill>
                          <a:effectLst/>
                          <a:latin typeface="-apple-system"/>
                        </a:rPr>
                        <a:t> — Better than the Best</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a:solidFill>
                            <a:srgbClr val="DFE1E5"/>
                          </a:solidFill>
                          <a:effectLst/>
                          <a:latin typeface="-apple-system"/>
                        </a:rPr>
                        <a:t>Chen et al. (Shanghai AI Lab + Tsinghua), 2024</a:t>
                      </a:r>
                    </a:p>
                  </a:txBody>
                  <a:tcPr marL="57150" marR="57150" marT="38100" marB="38100" anchor="ctr">
                    <a:lnL w="7934" cap="flat" cmpd="sng" algn="ctr">
                      <a:solidFill>
                        <a:srgbClr val="206BB7"/>
                      </a:solidFill>
                      <a:prstDash val="solid"/>
                      <a:round/>
                      <a:headEnd type="none" w="med" len="med"/>
                      <a:tailEnd type="none" w="med" len="med"/>
                    </a:lnL>
                    <a:lnR w="7934" cap="flat" cmpd="sng" algn="ctr">
                      <a:solidFill>
                        <a:srgbClr val="206BB7"/>
                      </a:solidFill>
                      <a:prstDash val="solid"/>
                      <a:round/>
                      <a:headEnd type="none" w="med" len="med"/>
                      <a:tailEnd type="none" w="med" len="med"/>
                    </a:lnR>
                    <a:lnT w="7934" cap="flat" cmpd="sng" algn="ctr">
                      <a:solidFill>
                        <a:srgbClr val="206BB7"/>
                      </a:solidFill>
                      <a:prstDash val="solid"/>
                      <a:round/>
                      <a:headEnd type="none" w="med" len="med"/>
                      <a:tailEnd type="none" w="med" len="med"/>
                    </a:lnT>
                    <a:lnB w="7934" cap="flat" cmpd="sng" algn="ctr">
                      <a:solidFill>
                        <a:srgbClr val="206BB7"/>
                      </a:solidFill>
                      <a:prstDash val="solid"/>
                      <a:round/>
                      <a:headEnd type="none" w="med" len="med"/>
                      <a:tailEnd type="none" w="med" len="med"/>
                    </a:lnB>
                    <a:solidFill>
                      <a:srgbClr val="2B2D30"/>
                    </a:solidFill>
                  </a:tcPr>
                </a:tc>
                <a:tc>
                  <a:txBody>
                    <a:bodyPr/>
                    <a:lstStyle/>
                    <a:p>
                      <a:pPr algn="l">
                        <a:buNone/>
                      </a:pPr>
                      <a:r>
                        <a:rPr lang="en-US" sz="975" b="0" i="0" u="none" strike="noStrike">
                          <a:solidFill>
                            <a:srgbClr val="6A9BFA"/>
                          </a:solidFill>
                          <a:effectLst/>
                          <a:latin typeface="-apple-system"/>
                          <a:hlinkClick r:id="rId3"/>
                        </a:rPr>
                        <a:t>https://arxiv.org/abs/2404.16821</a:t>
                      </a:r>
                      <a:endParaRPr lang="en-US" sz="975" b="0" i="0">
                        <a:solidFill>
                          <a:srgbClr val="DFE1E5"/>
                        </a:solidFill>
                        <a:effectLst/>
                        <a:latin typeface="-apple-system"/>
                      </a:endParaRPr>
                    </a:p>
                  </a:txBody>
                  <a:tcPr marL="57150" marR="57150" marT="38100" marB="38100" anchor="ctr">
                    <a:lnL w="7934" cap="flat" cmpd="sng" algn="ctr">
                      <a:solidFill>
                        <a:srgbClr val="206BB7"/>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w="7934" cap="flat" cmpd="sng" algn="ctr">
                      <a:solidFill>
                        <a:srgbClr val="8098CA"/>
                      </a:solidFill>
                      <a:prstDash val="solid"/>
                      <a:round/>
                      <a:headEnd type="none" w="med" len="med"/>
                      <a:tailEnd type="none" w="med" len="med"/>
                    </a:lnB>
                    <a:solidFill>
                      <a:srgbClr val="2B2D30"/>
                    </a:solidFill>
                  </a:tcPr>
                </a:tc>
                <a:extLst>
                  <a:ext uri="{0D108BD9-81ED-4DB2-BD59-A6C34878D82A}">
                    <a16:rowId xmlns:a16="http://schemas.microsoft.com/office/drawing/2014/main" val="3482538741"/>
                  </a:ext>
                </a:extLst>
              </a:tr>
              <a:tr h="0">
                <a:tc>
                  <a:txBody>
                    <a:bodyPr/>
                    <a:lstStyle/>
                    <a:p>
                      <a:pPr algn="l">
                        <a:buNone/>
                      </a:pPr>
                      <a:r>
                        <a:rPr lang="en-US" sz="975" b="0" i="0" dirty="0">
                          <a:solidFill>
                            <a:srgbClr val="DFE1E5"/>
                          </a:solidFill>
                          <a:effectLst/>
                          <a:latin typeface="-apple-system"/>
                        </a:rPr>
                        <a:t>5</a:t>
                      </a:r>
                    </a:p>
                  </a:txBody>
                  <a:tcPr marL="57150" marR="57150" marT="38100" marB="38100" anchor="ctr">
                    <a:lnL>
                      <a:noFill/>
                    </a:lnL>
                    <a:lnR w="7934" cap="flat" cmpd="sng" algn="ctr">
                      <a:solidFill>
                        <a:srgbClr val="000986"/>
                      </a:solidFill>
                      <a:prstDash val="solid"/>
                      <a:round/>
                      <a:headEnd type="none" w="med" len="med"/>
                      <a:tailEnd type="none" w="med" len="med"/>
                    </a:lnR>
                    <a:lnT w="7934" cap="flat" cmpd="sng" algn="ctr">
                      <a:solidFill>
                        <a:srgbClr val="206BB7"/>
                      </a:solidFill>
                      <a:prstDash val="solid"/>
                      <a:round/>
                      <a:headEnd type="none" w="med" len="med"/>
                      <a:tailEnd type="none" w="med" len="med"/>
                    </a:lnT>
                    <a:lnB>
                      <a:noFill/>
                    </a:lnB>
                    <a:solidFill>
                      <a:srgbClr val="2B2D30"/>
                    </a:solidFill>
                  </a:tcPr>
                </a:tc>
                <a:tc>
                  <a:txBody>
                    <a:bodyPr/>
                    <a:lstStyle/>
                    <a:p>
                      <a:pPr algn="l">
                        <a:buNone/>
                      </a:pPr>
                      <a:r>
                        <a:rPr lang="en-US" sz="975" b="1" i="0">
                          <a:solidFill>
                            <a:srgbClr val="DFE1E5"/>
                          </a:solidFill>
                          <a:effectLst/>
                          <a:latin typeface="-apple-system"/>
                        </a:rPr>
                        <a:t>Qwen2.5-VL</a:t>
                      </a:r>
                      <a:r>
                        <a:rPr lang="en-US" sz="975" b="0" i="0">
                          <a:solidFill>
                            <a:srgbClr val="DFE1E5"/>
                          </a:solidFill>
                          <a:effectLst/>
                          <a:latin typeface="-apple-system"/>
                        </a:rPr>
                        <a:t> — To See the World with Wisdom</a:t>
                      </a:r>
                    </a:p>
                  </a:txBody>
                  <a:tcPr marL="57150" marR="57150" marT="38100" marB="38100" anchor="ctr">
                    <a:lnL w="7934" cap="flat" cmpd="sng" algn="ctr">
                      <a:solidFill>
                        <a:srgbClr val="000986"/>
                      </a:solidFill>
                      <a:prstDash val="solid"/>
                      <a:round/>
                      <a:headEnd type="none" w="med" len="med"/>
                      <a:tailEnd type="none" w="med" len="med"/>
                    </a:lnL>
                    <a:lnR w="7934" cap="flat" cmpd="sng" algn="ctr">
                      <a:solidFill>
                        <a:srgbClr val="000986"/>
                      </a:solidFill>
                      <a:prstDash val="solid"/>
                      <a:round/>
                      <a:headEnd type="none" w="med" len="med"/>
                      <a:tailEnd type="none" w="med" len="med"/>
                    </a:lnR>
                    <a:lnT w="7934" cap="flat" cmpd="sng" algn="ctr">
                      <a:solidFill>
                        <a:srgbClr val="206BB7"/>
                      </a:solidFill>
                      <a:prstDash val="solid"/>
                      <a:round/>
                      <a:headEnd type="none" w="med" len="med"/>
                      <a:tailEnd type="none" w="med" len="med"/>
                    </a:lnT>
                    <a:lnB>
                      <a:noFill/>
                    </a:lnB>
                    <a:solidFill>
                      <a:srgbClr val="2B2D30"/>
                    </a:solidFill>
                  </a:tcPr>
                </a:tc>
                <a:tc>
                  <a:txBody>
                    <a:bodyPr/>
                    <a:lstStyle/>
                    <a:p>
                      <a:pPr algn="l">
                        <a:buNone/>
                      </a:pPr>
                      <a:r>
                        <a:rPr lang="en-US" sz="975" b="0" i="0">
                          <a:solidFill>
                            <a:srgbClr val="DFE1E5"/>
                          </a:solidFill>
                          <a:effectLst/>
                          <a:latin typeface="-apple-system"/>
                        </a:rPr>
                        <a:t>Alibaba Qwen Team, 2025</a:t>
                      </a:r>
                    </a:p>
                  </a:txBody>
                  <a:tcPr marL="57150" marR="57150" marT="38100" marB="38100" anchor="ctr">
                    <a:lnL w="7934" cap="flat" cmpd="sng" algn="ctr">
                      <a:solidFill>
                        <a:srgbClr val="000986"/>
                      </a:solidFill>
                      <a:prstDash val="solid"/>
                      <a:round/>
                      <a:headEnd type="none" w="med" len="med"/>
                      <a:tailEnd type="none" w="med" len="med"/>
                    </a:lnL>
                    <a:lnR w="7934" cap="flat" cmpd="sng" algn="ctr">
                      <a:solidFill>
                        <a:srgbClr val="000986"/>
                      </a:solidFill>
                      <a:prstDash val="solid"/>
                      <a:round/>
                      <a:headEnd type="none" w="med" len="med"/>
                      <a:tailEnd type="none" w="med" len="med"/>
                    </a:lnR>
                    <a:lnT w="7934" cap="flat" cmpd="sng" algn="ctr">
                      <a:solidFill>
                        <a:srgbClr val="206BB7"/>
                      </a:solidFill>
                      <a:prstDash val="solid"/>
                      <a:round/>
                      <a:headEnd type="none" w="med" len="med"/>
                      <a:tailEnd type="none" w="med" len="med"/>
                    </a:lnT>
                    <a:lnB>
                      <a:noFill/>
                    </a:lnB>
                    <a:solidFill>
                      <a:srgbClr val="2B2D30"/>
                    </a:solidFill>
                  </a:tcPr>
                </a:tc>
                <a:tc>
                  <a:txBody>
                    <a:bodyPr/>
                    <a:lstStyle/>
                    <a:p>
                      <a:pPr algn="l">
                        <a:buNone/>
                      </a:pPr>
                      <a:r>
                        <a:rPr lang="en-US" sz="975" b="0" i="0" u="none" strike="noStrike" dirty="0">
                          <a:solidFill>
                            <a:srgbClr val="6A9BFA"/>
                          </a:solidFill>
                          <a:effectLst/>
                          <a:latin typeface="-apple-system"/>
                          <a:hlinkClick r:id="rId3"/>
                        </a:rPr>
                        <a:t>https://arxiv.org/abs/2502.13923</a:t>
                      </a:r>
                      <a:endParaRPr lang="en-US" sz="975" b="0" i="0" dirty="0">
                        <a:solidFill>
                          <a:srgbClr val="DFE1E5"/>
                        </a:solidFill>
                        <a:effectLst/>
                        <a:latin typeface="-apple-system"/>
                      </a:endParaRPr>
                    </a:p>
                  </a:txBody>
                  <a:tcPr marL="57150" marR="57150" marT="38100" marB="38100" anchor="ctr">
                    <a:lnL w="7934" cap="flat" cmpd="sng" algn="ctr">
                      <a:solidFill>
                        <a:srgbClr val="000986"/>
                      </a:solidFill>
                      <a:prstDash val="solid"/>
                      <a:round/>
                      <a:headEnd type="none" w="med" len="med"/>
                      <a:tailEnd type="none" w="med" len="med"/>
                    </a:lnL>
                    <a:lnR>
                      <a:noFill/>
                    </a:lnR>
                    <a:lnT w="7934" cap="flat" cmpd="sng" algn="ctr">
                      <a:solidFill>
                        <a:srgbClr val="8098CA"/>
                      </a:solidFill>
                      <a:prstDash val="solid"/>
                      <a:round/>
                      <a:headEnd type="none" w="med" len="med"/>
                      <a:tailEnd type="none" w="med" len="med"/>
                    </a:lnT>
                    <a:lnB>
                      <a:noFill/>
                    </a:lnB>
                    <a:solidFill>
                      <a:srgbClr val="2B2D30"/>
                    </a:solidFill>
                  </a:tcPr>
                </a:tc>
                <a:extLst>
                  <a:ext uri="{0D108BD9-81ED-4DB2-BD59-A6C34878D82A}">
                    <a16:rowId xmlns:a16="http://schemas.microsoft.com/office/drawing/2014/main" val="736113457"/>
                  </a:ext>
                </a:extLst>
              </a:tr>
            </a:tbl>
          </a:graphicData>
        </a:graphic>
      </p:graphicFrame>
      <p:sp>
        <p:nvSpPr>
          <p:cNvPr id="41" name="TextBox 40">
            <a:extLst>
              <a:ext uri="{FF2B5EF4-FFF2-40B4-BE49-F238E27FC236}">
                <a16:creationId xmlns:a16="http://schemas.microsoft.com/office/drawing/2014/main" id="{784339A2-4550-0273-56ED-F3D511E47392}"/>
              </a:ext>
            </a:extLst>
          </p:cNvPr>
          <p:cNvSpPr txBox="1"/>
          <p:nvPr/>
        </p:nvSpPr>
        <p:spPr>
          <a:xfrm>
            <a:off x="496118" y="3541788"/>
            <a:ext cx="4572000" cy="242374"/>
          </a:xfrm>
          <a:prstGeom prst="rect">
            <a:avLst/>
          </a:prstGeom>
          <a:noFill/>
        </p:spPr>
        <p:txBody>
          <a:bodyPr wrap="square">
            <a:spAutoFit/>
          </a:bodyPr>
          <a:lstStyle/>
          <a:p>
            <a:r>
              <a:rPr lang="en-US" sz="825" b="0" i="0" dirty="0">
                <a:solidFill>
                  <a:srgbClr val="D7BA7D"/>
                </a:solidFill>
                <a:effectLst/>
                <a:latin typeface="SF Mono"/>
              </a:rPr>
              <a:t>~/.cache/</a:t>
            </a:r>
            <a:r>
              <a:rPr lang="en-US" sz="825" b="0" i="0" dirty="0" err="1">
                <a:solidFill>
                  <a:srgbClr val="D7BA7D"/>
                </a:solidFill>
                <a:effectLst/>
                <a:latin typeface="SF Mono"/>
              </a:rPr>
              <a:t>huggingface</a:t>
            </a:r>
            <a:r>
              <a:rPr lang="en-US" sz="825" b="0" i="0" dirty="0">
                <a:solidFill>
                  <a:srgbClr val="D7BA7D"/>
                </a:solidFill>
                <a:effectLst/>
                <a:latin typeface="SF Mono"/>
              </a:rPr>
              <a:t>/hub/models--</a:t>
            </a:r>
            <a:r>
              <a:rPr lang="en-US" sz="825" b="0" i="0" dirty="0" err="1">
                <a:solidFill>
                  <a:srgbClr val="D7BA7D"/>
                </a:solidFill>
                <a:effectLst/>
                <a:latin typeface="SF Mono"/>
              </a:rPr>
              <a:t>answerdotai</a:t>
            </a:r>
            <a:r>
              <a:rPr lang="en-US" sz="825" b="0" i="0" dirty="0">
                <a:solidFill>
                  <a:srgbClr val="D7BA7D"/>
                </a:solidFill>
                <a:effectLst/>
                <a:latin typeface="SF Mono"/>
              </a:rPr>
              <a:t>--</a:t>
            </a:r>
            <a:r>
              <a:rPr lang="en-US" sz="825" b="0" i="0" dirty="0" err="1">
                <a:solidFill>
                  <a:srgbClr val="D7BA7D"/>
                </a:solidFill>
                <a:effectLst/>
                <a:latin typeface="SF Mono"/>
              </a:rPr>
              <a:t>ModernBERT</a:t>
            </a:r>
            <a:r>
              <a:rPr lang="en-US" sz="825" b="0" i="0" dirty="0">
                <a:solidFill>
                  <a:srgbClr val="D7BA7D"/>
                </a:solidFill>
                <a:effectLst/>
                <a:latin typeface="SF Mono"/>
              </a:rPr>
              <a:t>-base/</a:t>
            </a:r>
            <a:r>
              <a:rPr lang="en-US" sz="975" b="0" i="0" dirty="0">
                <a:solidFill>
                  <a:srgbClr val="DFE1E5"/>
                </a:solidFill>
                <a:effectLst/>
                <a:latin typeface="-apple-system"/>
              </a:rPr>
              <a:t>.</a:t>
            </a:r>
            <a:endParaRPr lang="en-US" dirty="0"/>
          </a:p>
        </p:txBody>
      </p:sp>
    </p:spTree>
    <p:extLst>
      <p:ext uri="{BB962C8B-B14F-4D97-AF65-F5344CB8AC3E}">
        <p14:creationId xmlns:p14="http://schemas.microsoft.com/office/powerpoint/2010/main" val="459591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22300"/>
            <a:ext cx="5737920" cy="188268"/>
          </a:xfrm>
          <a:prstGeom prst="rect">
            <a:avLst/>
          </a:prstGeom>
          <a:noFill/>
          <a:ln/>
        </p:spPr>
        <p:txBody>
          <a:bodyPr wrap="none" lIns="0" tIns="0" rIns="0" bIns="0" rtlCol="0" anchor="t"/>
          <a:lstStyle/>
          <a:p>
            <a:pPr marL="0" indent="0" algn="l">
              <a:lnSpc>
                <a:spcPct val="104000"/>
              </a:lnSpc>
              <a:buNone/>
            </a:pPr>
            <a:r>
              <a:rPr lang="en-US" sz="1150" dirty="0">
                <a:solidFill>
                  <a:srgbClr val="3257B8"/>
                </a:solidFill>
                <a:latin typeface="Roboto Slab" pitchFamily="34" charset="0"/>
                <a:ea typeface="Roboto Slab" pitchFamily="34" charset="-122"/>
                <a:cs typeface="Roboto Slab" pitchFamily="34" charset="-120"/>
              </a:rPr>
              <a:t>Post Mid-Semester Work — Review · Explorer · Lifecycle · Insights · Results</a:t>
            </a:r>
            <a:endParaRPr lang="en-US" sz="1150" dirty="0"/>
          </a:p>
        </p:txBody>
      </p:sp>
      <p:sp>
        <p:nvSpPr>
          <p:cNvPr id="3" name="Text 1"/>
          <p:cNvSpPr/>
          <p:nvPr/>
        </p:nvSpPr>
        <p:spPr>
          <a:xfrm>
            <a:off x="496119" y="690562"/>
            <a:ext cx="8608963"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All 5 areas built after mid-sem: human-in-the-loop workflows → competitor insights → consolidated metrics + tech stack</a:t>
            </a:r>
            <a:endParaRPr lang="en-US" sz="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827708"/>
            <a:ext cx="8151763" cy="1156767"/>
          </a:xfrm>
          <a:prstGeom prst="rect">
            <a:avLst/>
          </a:prstGeom>
        </p:spPr>
      </p:pic>
      <p:sp>
        <p:nvSpPr>
          <p:cNvPr id="5" name="Text 2"/>
          <p:cNvSpPr/>
          <p:nvPr/>
        </p:nvSpPr>
        <p:spPr>
          <a:xfrm>
            <a:off x="599777" y="1335509"/>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1</a:t>
            </a:r>
            <a:endParaRPr lang="en-US" sz="850" dirty="0"/>
          </a:p>
        </p:txBody>
      </p:sp>
      <p:sp>
        <p:nvSpPr>
          <p:cNvPr id="6" name="Text 3"/>
          <p:cNvSpPr/>
          <p:nvPr/>
        </p:nvSpPr>
        <p:spPr>
          <a:xfrm>
            <a:off x="846832" y="912540"/>
            <a:ext cx="941412"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Review &amp; Validate</a:t>
            </a:r>
            <a:endParaRPr lang="en-US" sz="700" dirty="0"/>
          </a:p>
        </p:txBody>
      </p:sp>
      <p:sp>
        <p:nvSpPr>
          <p:cNvPr id="7" name="Text 4"/>
          <p:cNvSpPr/>
          <p:nvPr/>
        </p:nvSpPr>
        <p:spPr>
          <a:xfrm>
            <a:off x="846832" y="1054150"/>
            <a:ext cx="7716217"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Analysts correct AI labels + draft replies.</a:t>
            </a:r>
            <a:endParaRPr lang="en-US" sz="550" dirty="0"/>
          </a:p>
        </p:txBody>
      </p:sp>
      <p:sp>
        <p:nvSpPr>
          <p:cNvPr id="8" name="Text 5"/>
          <p:cNvSpPr/>
          <p:nvPr/>
        </p:nvSpPr>
        <p:spPr>
          <a:xfrm>
            <a:off x="846832" y="1170310"/>
            <a:ext cx="7716217" cy="729332"/>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Queue sorted by priority (P1 first)</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Correct sentiment + aspects</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Click "Generate Drafts" → </a:t>
            </a:r>
            <a:r>
              <a:rPr lang="en-US" sz="550" b="1" dirty="0">
                <a:solidFill>
                  <a:srgbClr val="15213F"/>
                </a:solidFill>
                <a:latin typeface="Roboto Bold" pitchFamily="34" charset="0"/>
                <a:ea typeface="Roboto Bold" pitchFamily="34" charset="-122"/>
                <a:cs typeface="Roboto Bold" pitchFamily="34" charset="-120"/>
              </a:rPr>
              <a:t>dual draft</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a:t>
            </a:r>
            <a:r>
              <a:rPr lang="en-US" sz="550" dirty="0">
                <a:solidFill>
                  <a:srgbClr val="15213F"/>
                </a:solidFill>
                <a:latin typeface="Roboto" pitchFamily="34" charset="0"/>
                <a:ea typeface="Roboto" pitchFamily="34" charset="-122"/>
                <a:cs typeface="Roboto" pitchFamily="34" charset="-120"/>
              </a:rPr>
              <a:t> Smart Composer — deterministic phrase pool + keyword extraction</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B</a:t>
            </a:r>
            <a:r>
              <a:rPr lang="en-US" sz="550" dirty="0">
                <a:solidFill>
                  <a:srgbClr val="15213F"/>
                </a:solidFill>
                <a:latin typeface="Roboto" pitchFamily="34" charset="0"/>
                <a:ea typeface="Roboto" pitchFamily="34" charset="-122"/>
                <a:cs typeface="Roboto" pitchFamily="34" charset="-120"/>
              </a:rPr>
              <a:t> Reply LLM — Mistral 7B (Ollama, primary) · FLAN-T5-base (HuggingFace fallback)</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Analyst picks → edit → post to Reddit</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Learning loop</a:t>
            </a:r>
            <a:r>
              <a:rPr lang="en-US" sz="550" dirty="0">
                <a:solidFill>
                  <a:srgbClr val="15213F"/>
                </a:solidFill>
                <a:latin typeface="Roboto" pitchFamily="34" charset="0"/>
                <a:ea typeface="Roboto" pitchFamily="34" charset="-122"/>
                <a:cs typeface="Roboto" pitchFamily="34" charset="-120"/>
              </a:rPr>
              <a:t>: replies → feedback table → few-shot examples for future drafts (tone matching improves without retraining)</a:t>
            </a:r>
            <a:endParaRPr lang="en-US" sz="5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024435"/>
            <a:ext cx="8151763" cy="838200"/>
          </a:xfrm>
          <a:prstGeom prst="rect">
            <a:avLst/>
          </a:prstGeom>
        </p:spPr>
      </p:pic>
      <p:sp>
        <p:nvSpPr>
          <p:cNvPr id="10" name="Text 6"/>
          <p:cNvSpPr/>
          <p:nvPr/>
        </p:nvSpPr>
        <p:spPr>
          <a:xfrm>
            <a:off x="599777" y="2372916"/>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2</a:t>
            </a:r>
            <a:endParaRPr lang="en-US" sz="850" dirty="0"/>
          </a:p>
        </p:txBody>
      </p:sp>
      <p:sp>
        <p:nvSpPr>
          <p:cNvPr id="11" name="Text 7"/>
          <p:cNvSpPr/>
          <p:nvPr/>
        </p:nvSpPr>
        <p:spPr>
          <a:xfrm>
            <a:off x="846832" y="2109267"/>
            <a:ext cx="941412"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Post Explorer</a:t>
            </a:r>
            <a:endParaRPr lang="en-US" sz="700" dirty="0"/>
          </a:p>
        </p:txBody>
      </p:sp>
      <p:sp>
        <p:nvSpPr>
          <p:cNvPr id="12" name="Text 8"/>
          <p:cNvSpPr/>
          <p:nvPr/>
        </p:nvSpPr>
        <p:spPr>
          <a:xfrm>
            <a:off x="846832" y="2250877"/>
            <a:ext cx="7716217"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Browse all analyzed posts with rich filtering.</a:t>
            </a:r>
            <a:endParaRPr lang="en-US" sz="550" dirty="0"/>
          </a:p>
        </p:txBody>
      </p:sp>
      <p:sp>
        <p:nvSpPr>
          <p:cNvPr id="13" name="Text 9"/>
          <p:cNvSpPr/>
          <p:nvPr/>
        </p:nvSpPr>
        <p:spPr>
          <a:xfrm>
            <a:off x="846832" y="2367037"/>
            <a:ext cx="7716217" cy="410766"/>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Filters</a:t>
            </a:r>
            <a:r>
              <a:rPr lang="en-US" sz="550" dirty="0">
                <a:solidFill>
                  <a:srgbClr val="15213F"/>
                </a:solidFill>
                <a:latin typeface="Roboto" pitchFamily="34" charset="0"/>
                <a:ea typeface="Roboto" pitchFamily="34" charset="-122"/>
                <a:cs typeface="Roboto" pitchFamily="34" charset="-120"/>
              </a:rPr>
              <a:t>: sentiment · confidence slider · trust slider · subreddit (25) · aspect (8-label) · date (today/week/month/custom) · full-text</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Aspects</a:t>
            </a:r>
            <a:r>
              <a:rPr lang="en-US" sz="550" dirty="0">
                <a:solidFill>
                  <a:srgbClr val="15213F"/>
                </a:solidFill>
                <a:latin typeface="Roboto" pitchFamily="34" charset="0"/>
                <a:ea typeface="Roboto" pitchFamily="34" charset="-122"/>
                <a:cs typeface="Roboto" pitchFamily="34" charset="-120"/>
              </a:rPr>
              <a:t>: pricing · product quality · customer service · store experience · online/app · delivery/pickup · returns · app_website</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Card</a:t>
            </a:r>
            <a:r>
              <a:rPr lang="en-US" sz="550" dirty="0">
                <a:solidFill>
                  <a:srgbClr val="15213F"/>
                </a:solidFill>
                <a:latin typeface="Roboto" pitchFamily="34" charset="0"/>
                <a:ea typeface="Roboto" pitchFamily="34" charset="-122"/>
                <a:cs typeface="Roboto" pitchFamily="34" charset="-120"/>
              </a:rPr>
              <a:t>: title + excerpt · sentiment badge · confidence % · trust indicator · aspect tags · subreddit · time</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Actions</a:t>
            </a:r>
            <a:r>
              <a:rPr lang="en-US" sz="550" dirty="0">
                <a:solidFill>
                  <a:srgbClr val="15213F"/>
                </a:solidFill>
                <a:latin typeface="Roboto" pitchFamily="34" charset="0"/>
                <a:ea typeface="Roboto" pitchFamily="34" charset="-122"/>
                <a:cs typeface="Roboto" pitchFamily="34" charset="-120"/>
              </a:rPr>
              <a:t>: Review · Add to Lifecycle · View Details · Reddit link</a:t>
            </a:r>
            <a:endParaRPr lang="en-US" sz="5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902595"/>
            <a:ext cx="8151763" cy="940371"/>
          </a:xfrm>
          <a:prstGeom prst="rect">
            <a:avLst/>
          </a:prstGeom>
        </p:spPr>
      </p:pic>
      <p:sp>
        <p:nvSpPr>
          <p:cNvPr id="15" name="Text 10"/>
          <p:cNvSpPr/>
          <p:nvPr/>
        </p:nvSpPr>
        <p:spPr>
          <a:xfrm>
            <a:off x="599777" y="3302198"/>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3</a:t>
            </a:r>
            <a:endParaRPr lang="en-US" sz="850" dirty="0"/>
          </a:p>
        </p:txBody>
      </p:sp>
      <p:sp>
        <p:nvSpPr>
          <p:cNvPr id="16" name="Text 11"/>
          <p:cNvSpPr/>
          <p:nvPr/>
        </p:nvSpPr>
        <p:spPr>
          <a:xfrm>
            <a:off x="846832" y="2987427"/>
            <a:ext cx="1043955"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Post Lifecycle (Kanban)</a:t>
            </a:r>
            <a:endParaRPr lang="en-US" sz="700" dirty="0"/>
          </a:p>
        </p:txBody>
      </p:sp>
      <p:sp>
        <p:nvSpPr>
          <p:cNvPr id="17" name="Text 12"/>
          <p:cNvSpPr/>
          <p:nvPr/>
        </p:nvSpPr>
        <p:spPr>
          <a:xfrm>
            <a:off x="846832" y="3129037"/>
            <a:ext cx="7716217" cy="300558"/>
          </a:xfrm>
          <a:prstGeom prst="rect">
            <a:avLst/>
          </a:prstGeom>
          <a:noFill/>
          <a:ln/>
        </p:spPr>
        <p:txBody>
          <a:bodyPr wrap="square" lIns="0" tIns="0" rIns="0" bIns="0" rtlCol="0" anchor="t"/>
          <a:lstStyle/>
          <a:p>
            <a:pPr marL="0" indent="0" algn="l">
              <a:lnSpc>
                <a:spcPct val="102000"/>
              </a:lnSpc>
              <a:spcAft>
                <a:spcPts val="150"/>
              </a:spcAft>
              <a:buNone/>
            </a:pPr>
            <a:r>
              <a:rPr lang="en-US" sz="550" dirty="0">
                <a:solidFill>
                  <a:srgbClr val="15213F"/>
                </a:solidFill>
                <a:latin typeface="Roboto" pitchFamily="34" charset="0"/>
                <a:ea typeface="Roboto" pitchFamily="34" charset="-122"/>
                <a:cs typeface="Roboto" pitchFamily="34" charset="-120"/>
              </a:rPr>
              <a:t>4-state board with 2-step resolve modal.</a:t>
            </a:r>
            <a:endParaRPr lang="en-US" sz="550" dirty="0"/>
          </a:p>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TRIAGED → ACKNOWLEDGED → IN PROGRESS → RESOLVED</a:t>
            </a:r>
            <a:endParaRPr lang="en-US" sz="550" dirty="0"/>
          </a:p>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new P1/P2 → assigned → reply drafted → posted</a:t>
            </a:r>
            <a:endParaRPr lang="en-US" sz="550" dirty="0"/>
          </a:p>
        </p:txBody>
      </p:sp>
      <p:sp>
        <p:nvSpPr>
          <p:cNvPr id="18" name="Text 13"/>
          <p:cNvSpPr/>
          <p:nvPr/>
        </p:nvSpPr>
        <p:spPr>
          <a:xfrm>
            <a:off x="846832" y="3453557"/>
            <a:ext cx="7716217" cy="304577"/>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Step 1</a:t>
            </a:r>
            <a:r>
              <a:rPr lang="en-US" sz="550" dirty="0">
                <a:solidFill>
                  <a:srgbClr val="15213F"/>
                </a:solidFill>
                <a:latin typeface="Roboto" pitchFamily="34" charset="0"/>
                <a:ea typeface="Roboto" pitchFamily="34" charset="-122"/>
                <a:cs typeface="Roboto" pitchFamily="34" charset="-120"/>
              </a:rPr>
              <a:t>: save action note + LLM-drafted reply → "Save &amp; open Reddit" (copies + opens thread) OR "Resolve (no reply)"</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Step 2</a:t>
            </a:r>
            <a:r>
              <a:rPr lang="en-US" sz="550" dirty="0">
                <a:solidFill>
                  <a:srgbClr val="15213F"/>
                </a:solidFill>
                <a:latin typeface="Roboto" pitchFamily="34" charset="0"/>
                <a:ea typeface="Roboto" pitchFamily="34" charset="-122"/>
                <a:cs typeface="Roboto" pitchFamily="34" charset="-120"/>
              </a:rPr>
              <a:t>: paste reply on Reddit → return → "Mark Resolved"</a:t>
            </a:r>
            <a:endParaRPr lang="en-US" sz="550" dirty="0"/>
          </a:p>
          <a:p>
            <a:pPr marL="111760" indent="-111760" algn="l">
              <a:lnSpc>
                <a:spcPct val="102000"/>
              </a:lnSpc>
              <a:buSzPct val="100000"/>
              <a:buChar char="•"/>
            </a:pPr>
            <a:r>
              <a:rPr lang="en-US" sz="550" dirty="0">
                <a:solidFill>
                  <a:srgbClr val="15213F"/>
                </a:solidFill>
                <a:latin typeface="Roboto" pitchFamily="34" charset="0"/>
                <a:ea typeface="Roboto" pitchFamily="34" charset="-122"/>
                <a:cs typeface="Roboto" pitchFamily="34" charset="-120"/>
              </a:rPr>
              <a:t>All transitions timestamp-logged → SLA tracking</a:t>
            </a:r>
            <a:endParaRPr lang="en-US" sz="550"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882926"/>
            <a:ext cx="8151763" cy="838200"/>
          </a:xfrm>
          <a:prstGeom prst="rect">
            <a:avLst/>
          </a:prstGeom>
        </p:spPr>
      </p:pic>
      <p:sp>
        <p:nvSpPr>
          <p:cNvPr id="20" name="Text 14"/>
          <p:cNvSpPr/>
          <p:nvPr/>
        </p:nvSpPr>
        <p:spPr>
          <a:xfrm>
            <a:off x="599777" y="4231407"/>
            <a:ext cx="112961" cy="141163"/>
          </a:xfrm>
          <a:prstGeom prst="rect">
            <a:avLst/>
          </a:prstGeom>
          <a:noFill/>
          <a:ln/>
        </p:spPr>
        <p:txBody>
          <a:bodyPr wrap="none" lIns="0" tIns="0" rIns="0" bIns="0" rtlCol="0" anchor="ctr"/>
          <a:lstStyle/>
          <a:p>
            <a:pPr marL="0" indent="0" algn="ctr">
              <a:lnSpc>
                <a:spcPct val="100000"/>
              </a:lnSpc>
              <a:buNone/>
            </a:pPr>
            <a:r>
              <a:rPr lang="en-US" sz="850" dirty="0">
                <a:solidFill>
                  <a:srgbClr val="15213F"/>
                </a:solidFill>
                <a:latin typeface="Roboto Slab" pitchFamily="34" charset="0"/>
                <a:ea typeface="Roboto Slab" pitchFamily="34" charset="-122"/>
                <a:cs typeface="Roboto Slab" pitchFamily="34" charset="-120"/>
              </a:rPr>
              <a:t>4</a:t>
            </a:r>
            <a:endParaRPr lang="en-US" sz="850" dirty="0"/>
          </a:p>
        </p:txBody>
      </p:sp>
      <p:sp>
        <p:nvSpPr>
          <p:cNvPr id="21" name="Text 15"/>
          <p:cNvSpPr/>
          <p:nvPr/>
        </p:nvSpPr>
        <p:spPr>
          <a:xfrm>
            <a:off x="846832" y="3967758"/>
            <a:ext cx="962248" cy="117649"/>
          </a:xfrm>
          <a:prstGeom prst="rect">
            <a:avLst/>
          </a:prstGeom>
          <a:noFill/>
          <a:ln/>
        </p:spPr>
        <p:txBody>
          <a:bodyPr wrap="none" lIns="0" tIns="0" rIns="0" bIns="0" rtlCol="0" anchor="t"/>
          <a:lstStyle/>
          <a:p>
            <a:pPr marL="0" indent="0" algn="l">
              <a:lnSpc>
                <a:spcPct val="104000"/>
              </a:lnSpc>
              <a:buNone/>
            </a:pPr>
            <a:r>
              <a:rPr lang="en-US" sz="700" dirty="0">
                <a:solidFill>
                  <a:srgbClr val="15213F"/>
                </a:solidFill>
                <a:latin typeface="Roboto Slab" pitchFamily="34" charset="0"/>
                <a:ea typeface="Roboto Slab" pitchFamily="34" charset="-122"/>
                <a:cs typeface="Roboto Slab" pitchFamily="34" charset="-120"/>
              </a:rPr>
              <a:t>Insights &amp; Competitor</a:t>
            </a:r>
            <a:endParaRPr lang="en-US" sz="700" dirty="0"/>
          </a:p>
        </p:txBody>
      </p:sp>
      <p:sp>
        <p:nvSpPr>
          <p:cNvPr id="22" name="Text 16"/>
          <p:cNvSpPr/>
          <p:nvPr/>
        </p:nvSpPr>
        <p:spPr>
          <a:xfrm>
            <a:off x="846832" y="4109368"/>
            <a:ext cx="7716217" cy="92199"/>
          </a:xfrm>
          <a:prstGeom prst="rect">
            <a:avLst/>
          </a:prstGeom>
          <a:noFill/>
          <a:ln/>
        </p:spPr>
        <p:txBody>
          <a:bodyPr wrap="none" lIns="0" tIns="0" rIns="0" bIns="0" rtlCol="0" anchor="t"/>
          <a:lstStyle/>
          <a:p>
            <a:pPr marL="0" indent="0" algn="l">
              <a:lnSpc>
                <a:spcPct val="102000"/>
              </a:lnSpc>
              <a:buNone/>
            </a:pPr>
            <a:r>
              <a:rPr lang="en-US" sz="550" dirty="0">
                <a:solidFill>
                  <a:srgbClr val="15213F"/>
                </a:solidFill>
                <a:latin typeface="Roboto" pitchFamily="34" charset="0"/>
                <a:ea typeface="Roboto" pitchFamily="34" charset="-122"/>
                <a:cs typeface="Roboto" pitchFamily="34" charset="-120"/>
              </a:rPr>
              <a:t>AI-generated strategic intelligence.</a:t>
            </a:r>
            <a:endParaRPr lang="en-US" sz="550" dirty="0"/>
          </a:p>
        </p:txBody>
      </p:sp>
      <p:sp>
        <p:nvSpPr>
          <p:cNvPr id="23" name="Text 17"/>
          <p:cNvSpPr/>
          <p:nvPr/>
        </p:nvSpPr>
        <p:spPr>
          <a:xfrm>
            <a:off x="846832" y="4225528"/>
            <a:ext cx="7716217" cy="410766"/>
          </a:xfrm>
          <a:prstGeom prst="rect">
            <a:avLst/>
          </a:prstGeom>
          <a:noFill/>
          <a:ln/>
        </p:spPr>
        <p:txBody>
          <a:bodyPr wrap="square" lIns="0" tIns="0" rIns="0" bIns="0" rtlCol="0" anchor="t">
            <a:normAutofit/>
          </a:bodyPr>
          <a:lstStyle/>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Issue Rankings</a:t>
            </a:r>
            <a:r>
              <a:rPr lang="en-US" sz="550" dirty="0">
                <a:solidFill>
                  <a:srgbClr val="15213F"/>
                </a:solidFill>
                <a:latin typeface="Roboto" pitchFamily="34" charset="0"/>
                <a:ea typeface="Roboto" pitchFamily="34" charset="-122"/>
                <a:cs typeface="Roboto" pitchFamily="34" charset="-120"/>
              </a:rPr>
              <a:t> — volume × severity × recency, per aspect, trend arrows (up/down)</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Competitor Pulse</a:t>
            </a:r>
            <a:r>
              <a:rPr lang="en-US" sz="550" dirty="0">
                <a:solidFill>
                  <a:srgbClr val="15213F"/>
                </a:solidFill>
                <a:latin typeface="Roboto" pitchFamily="34" charset="0"/>
                <a:ea typeface="Roboto" pitchFamily="34" charset="-122"/>
                <a:cs typeface="Roboto" pitchFamily="34" charset="-120"/>
              </a:rPr>
              <a:t> — Walmart vs </a:t>
            </a:r>
            <a:r>
              <a:rPr lang="en-US" sz="550" b="1" dirty="0">
                <a:solidFill>
                  <a:srgbClr val="15213F"/>
                </a:solidFill>
                <a:latin typeface="Roboto Bold" pitchFamily="34" charset="0"/>
                <a:ea typeface="Roboto Bold" pitchFamily="34" charset="-122"/>
                <a:cs typeface="Roboto Bold" pitchFamily="34" charset="-120"/>
              </a:rPr>
              <a:t>Costco / Target / Amazon</a:t>
            </a:r>
            <a:r>
              <a:rPr lang="en-US" sz="550" dirty="0">
                <a:solidFill>
                  <a:srgbClr val="15213F"/>
                </a:solidFill>
                <a:latin typeface="Roboto" pitchFamily="34" charset="0"/>
                <a:ea typeface="Roboto" pitchFamily="34" charset="-122"/>
                <a:cs typeface="Roboto" pitchFamily="34" charset="-120"/>
              </a:rPr>
              <a:t>, cross-mentioned posts, subreddit breakdown</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LLM Summaries</a:t>
            </a:r>
            <a:r>
              <a:rPr lang="en-US" sz="550" dirty="0">
                <a:solidFill>
                  <a:srgbClr val="15213F"/>
                </a:solidFill>
                <a:latin typeface="Roboto" pitchFamily="34" charset="0"/>
                <a:ea typeface="Roboto" pitchFamily="34" charset="-122"/>
                <a:cs typeface="Roboto" pitchFamily="34" charset="-120"/>
              </a:rPr>
              <a:t> — weekly themes, suggested action items, emerging-topic detection (new clusters in ≥5 posts / 2 hrs)</a:t>
            </a:r>
            <a:endParaRPr lang="en-US" sz="550" dirty="0"/>
          </a:p>
          <a:p>
            <a:pPr marL="111760" indent="-111760" algn="l">
              <a:lnSpc>
                <a:spcPct val="102000"/>
              </a:lnSpc>
              <a:buSzPct val="100000"/>
              <a:buChar char="•"/>
            </a:pPr>
            <a:r>
              <a:rPr lang="en-US" sz="550" b="1" dirty="0">
                <a:solidFill>
                  <a:srgbClr val="15213F"/>
                </a:solidFill>
                <a:latin typeface="Roboto Bold" pitchFamily="34" charset="0"/>
                <a:ea typeface="Roboto Bold" pitchFamily="34" charset="-122"/>
                <a:cs typeface="Roboto Bold" pitchFamily="34" charset="-120"/>
              </a:rPr>
              <a:t>Aspect Drilldown</a:t>
            </a:r>
            <a:r>
              <a:rPr lang="en-US" sz="550" dirty="0">
                <a:solidFill>
                  <a:srgbClr val="15213F"/>
                </a:solidFill>
                <a:latin typeface="Roboto" pitchFamily="34" charset="0"/>
                <a:ea typeface="Roboto" pitchFamily="34" charset="-122"/>
                <a:cs typeface="Roboto" pitchFamily="34" charset="-120"/>
              </a:rPr>
              <a:t> — 8-label taxonomy from config/models.yaml; per-aspect sentiment trend + volume + word cloud + representative posts</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3257B8"/>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4070</TotalTime>
  <Words>4585</Words>
  <Application>Microsoft Macintosh PowerPoint</Application>
  <PresentationFormat>On-screen Show (16:9)</PresentationFormat>
  <Paragraphs>721</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Roboto</vt:lpstr>
      <vt:lpstr>Roboto Slab Light</vt:lpstr>
      <vt:lpstr>-apple-system</vt:lpstr>
      <vt:lpstr>Arial</vt:lpstr>
      <vt:lpstr>Roboto Slab</vt:lpstr>
      <vt:lpstr>Roboto Bold</vt:lpstr>
      <vt:lpstr>Consolas</vt:lpstr>
      <vt:lpstr>SF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Vishal Singh</cp:lastModifiedBy>
  <cp:revision>20</cp:revision>
  <dcterms:created xsi:type="dcterms:W3CDTF">2026-07-04T11:51:49Z</dcterms:created>
  <dcterms:modified xsi:type="dcterms:W3CDTF">2026-08-01T09:14:03Z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a753e-b937-4727-8173-58e965e4ef41_Enabled">
    <vt:lpwstr>true</vt:lpwstr>
  </property>
  <property fmtid="{D5CDD505-2E9C-101B-9397-08002B2CF9AE}" pid="3" name="MSIP_Label_444a753e-b937-4727-8173-58e965e4ef41_SetDate">
    <vt:lpwstr>2026-07-04T13:26:10Z</vt:lpwstr>
  </property>
  <property fmtid="{D5CDD505-2E9C-101B-9397-08002B2CF9AE}" pid="4" name="MSIP_Label_444a753e-b937-4727-8173-58e965e4ef41_Method">
    <vt:lpwstr>Standard</vt:lpwstr>
  </property>
  <property fmtid="{D5CDD505-2E9C-101B-9397-08002B2CF9AE}" pid="5" name="MSIP_Label_444a753e-b937-4727-8173-58e965e4ef41_Name">
    <vt:lpwstr>0a306a40-471c-426e-91d6-468476917b5e</vt:lpwstr>
  </property>
  <property fmtid="{D5CDD505-2E9C-101B-9397-08002B2CF9AE}" pid="6" name="MSIP_Label_444a753e-b937-4727-8173-58e965e4ef41_SiteId">
    <vt:lpwstr>3cbcc3d3-094d-4006-9849-0d11d61f484d</vt:lpwstr>
  </property>
  <property fmtid="{D5CDD505-2E9C-101B-9397-08002B2CF9AE}" pid="7" name="MSIP_Label_444a753e-b937-4727-8173-58e965e4ef41_ActionId">
    <vt:lpwstr>6386ed66-d39a-49a7-8dfb-952a30432764</vt:lpwstr>
  </property>
  <property fmtid="{D5CDD505-2E9C-101B-9397-08002B2CF9AE}" pid="8" name="MSIP_Label_444a753e-b937-4727-8173-58e965e4ef41_ContentBits">
    <vt:lpwstr>0</vt:lpwstr>
  </property>
  <property fmtid="{D5CDD505-2E9C-101B-9397-08002B2CF9AE}" pid="9" name="MSIP_Label_444a753e-b937-4727-8173-58e965e4ef41_Tag">
    <vt:lpwstr>50, 3, 0, 1</vt:lpwstr>
  </property>
</Properties>
</file>